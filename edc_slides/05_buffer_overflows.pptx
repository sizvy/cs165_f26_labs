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75" r:id="rId6"/>
    <p:sldId id="261" r:id="rId7"/>
    <p:sldId id="262" r:id="rId8"/>
    <p:sldId id="276" r:id="rId9"/>
    <p:sldId id="264" r:id="rId10"/>
    <p:sldId id="265" r:id="rId11"/>
    <p:sldId id="277" r:id="rId12"/>
    <p:sldId id="278" r:id="rId13"/>
    <p:sldId id="268" r:id="rId14"/>
    <p:sldId id="269" r:id="rId15"/>
    <p:sldId id="279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2459"/>
  </p:normalViewPr>
  <p:slideViewPr>
    <p:cSldViewPr snapToGrid="0">
      <p:cViewPr varScale="1">
        <p:scale>
          <a:sx n="132" d="100"/>
          <a:sy n="132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Buffer Overflows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dirty="0"/>
              <a:t>Emiliano De Cristofaro</a:t>
            </a:r>
          </a:p>
          <a:p>
            <a:pPr marL="0" indent="0" algn="l">
              <a:buNone/>
            </a:pPr>
            <a:r>
              <a:rPr dirty="0"/>
              <a:t>University of California, Riverside</a:t>
            </a:r>
          </a:p>
          <a:p>
            <a:pPr marL="0" indent="0" algn="l">
              <a:buNone/>
            </a:pPr>
            <a:r>
              <a:rPr dirty="0"/>
              <a:t>Fall 2026</a:t>
            </a:r>
            <a:r>
              <a:rPr lang="en-US" dirty="0"/>
              <a:t> | Monday</a:t>
            </a:r>
            <a:r>
              <a:rPr lang="en-US"/>
              <a:t>, October </a:t>
            </a:r>
            <a:r>
              <a:rPr lang="en-US" dirty="0"/>
              <a:t>12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we left off: a spatial error writes past the buffer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What actually sits past the buffer - the saved return address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Overwriting it: hijacking control flow (32-bit cdecl)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same attack on x86-64 - exactly what Lab 2 asks you to do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Why it worked: a first look at the defenses we will dismantle later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6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Overflow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past the buffer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7080" y="36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Overwrite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the return address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65520" y="36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Redirect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to code you choose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Recap: a Spatial Error Has Somewhere to Land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Last lecture: writing past a buffer is a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spatial memory error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C performs no bounds check - the write simply continues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Today's question: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what lives just past a local buffer?</a:t>
            </a:r>
          </a:p>
          <a:p>
            <a:pPr lvl="1"/>
            <a:r>
              <a:rPr sz="1700" b="0" i="0">
                <a:solidFill>
                  <a:srgbClr val="202020"/>
                </a:solidFill>
                <a:latin typeface="Arial"/>
              </a:rPr>
              <a:t>On the stack, the answer is the data that controls where the function returns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400000"/>
            <a:ext cx="804672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A8A8A"/>
                </a:solidFill>
                <a:latin typeface="Arial"/>
              </a:rPr>
              <a:t>A local buffer and the function's saved return address live in the same stack frame - a few bytes apart.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The Stack Frame (32-bit cdecl)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68400"/>
            <a:ext cx="8046720" cy="3383280"/>
          </a:xfrm>
        </p:spPr>
        <p:txBody>
          <a:bodyPr wrap="square" lIns="0" tIns="0" rIns="0" bIns="0"/>
          <a:lstStyle/>
          <a:p>
            <a:r>
              <a:rPr sz="1800" b="0" i="0" dirty="0">
                <a:solidFill>
                  <a:srgbClr val="202020"/>
                </a:solidFill>
                <a:latin typeface="Arial"/>
              </a:rPr>
              <a:t>A function call builds a frame: arguments, the </a:t>
            </a:r>
            <a:r>
              <a:rPr sz="1800" b="1" i="0" dirty="0">
                <a:solidFill>
                  <a:srgbClr val="C0392B"/>
                </a:solidFill>
                <a:latin typeface="Arial"/>
              </a:rPr>
              <a:t>return address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, the saved frame pointer (</a:t>
            </a:r>
            <a:r>
              <a:rPr sz="1800" b="0" i="0" dirty="0" err="1">
                <a:solidFill>
                  <a:srgbClr val="202020"/>
                </a:solidFill>
                <a:latin typeface="Arial"/>
              </a:rPr>
              <a:t>ebp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, extended base pointer), then locals</a:t>
            </a:r>
          </a:p>
          <a:p>
            <a:r>
              <a:rPr sz="1800" b="0" i="0" dirty="0" err="1">
                <a:solidFill>
                  <a:srgbClr val="202020"/>
                </a:solidFill>
                <a:latin typeface="Arial"/>
              </a:rPr>
              <a:t>cdecl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 (C declaration) convention on Linux with </a:t>
            </a:r>
            <a:r>
              <a:rPr sz="1800" b="0" i="0" dirty="0" err="1">
                <a:solidFill>
                  <a:srgbClr val="202020"/>
                </a:solidFill>
                <a:latin typeface="Arial"/>
              </a:rPr>
              <a:t>gcc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 and </a:t>
            </a:r>
            <a:r>
              <a:rPr sz="1800" b="0" i="0" dirty="0">
                <a:solidFill>
                  <a:srgbClr val="202020"/>
                </a:solidFill>
                <a:latin typeface="Courier New"/>
              </a:rPr>
              <a:t>-m32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: arguments pushed on the stack; </a:t>
            </a:r>
            <a:r>
              <a:rPr sz="1800" b="0" i="0" dirty="0">
                <a:solidFill>
                  <a:srgbClr val="202020"/>
                </a:solidFill>
                <a:latin typeface="Courier New"/>
              </a:rPr>
              <a:t>ret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 pops the return address into </a:t>
            </a:r>
            <a:r>
              <a:rPr sz="1800" b="0" i="0" dirty="0" err="1">
                <a:solidFill>
                  <a:srgbClr val="202020"/>
                </a:solidFill>
                <a:latin typeface="Courier New"/>
              </a:rPr>
              <a:t>eip</a:t>
            </a:r>
            <a:r>
              <a:rPr sz="1800" b="0" i="0" dirty="0">
                <a:solidFill>
                  <a:srgbClr val="202020"/>
                </a:solidFill>
                <a:latin typeface="Arial"/>
              </a:rPr>
              <a:t> (extended instruction pointer)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00000" y="2950000"/>
            <a:ext cx="2250000" cy="30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8A8A8A"/>
                </a:solidFill>
                <a:latin typeface="Arial"/>
              </a:rPr>
              <a:t>…  (caller’s frame)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0000" y="3250000"/>
            <a:ext cx="225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arguments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0000" y="3550000"/>
            <a:ext cx="2250000" cy="30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return address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0000" y="355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saved eip - where ret() goes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0000" y="3850000"/>
            <a:ext cx="225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saved ebp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0000" y="4150000"/>
            <a:ext cx="2250000" cy="56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Courier New"/>
              </a:rPr>
              <a:t>char buf[64]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40000" y="4150000"/>
            <a:ext cx="23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the local buffer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0000" y="292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00000" y="450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50000" y="2980000"/>
            <a:ext cx="0" cy="1690000"/>
          </a:xfrm>
          <a:prstGeom prst="bentConnector3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420000" y="3600000"/>
            <a:ext cx="7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  <a:latin typeface="Arial"/>
              </a:rPr>
              <a:t>stack</a:t>
            </a:r>
          </a:p>
          <a:p>
            <a:pPr algn="l"/>
            <a:r>
              <a:rPr sz="950" b="0" i="0">
                <a:solidFill>
                  <a:srgbClr val="C0392B"/>
                </a:solidFill>
                <a:latin typeface="Arial"/>
              </a:rPr>
              <a:t>grows</a:t>
            </a:r>
          </a:p>
        </p:txBody>
      </p:sp>
    </p:spTree>
    <p:extLst>
      <p:ext uri="{BB962C8B-B14F-4D97-AF65-F5344CB8AC3E}">
        <p14:creationId xmlns:p14="http://schemas.microsoft.com/office/powerpoint/2010/main" val="415054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The Buffer and the Return Address Are Neighbors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strcpy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into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buf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writes upward, from low addresses toward high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Write more than 64 bytes and the copy runs straight through:</a:t>
            </a:r>
          </a:p>
          <a:p>
            <a:pPr lvl="1"/>
            <a:r>
              <a:rPr sz="1700" b="0" i="0">
                <a:solidFill>
                  <a:srgbClr val="202020"/>
                </a:solidFill>
                <a:latin typeface="Arial"/>
              </a:rPr>
              <a:t>the saved frame pointer, then the saved return address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Control the bytes that land on the return address → control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where the function returns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350000"/>
            <a:ext cx="5200000" cy="105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4EC9B0"/>
                </a:solidFill>
                <a:latin typeface="Courier New"/>
              </a:rPr>
              <a:t>int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main(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int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argc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**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argv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buf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[</a:t>
            </a:r>
            <a:r>
              <a:rPr sz="1050" b="0" i="0" dirty="0">
                <a:solidFill>
                  <a:srgbClr val="B5CEA8"/>
                </a:solidFill>
                <a:latin typeface="Courier New"/>
              </a:rPr>
              <a:t>64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strcpy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buf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,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argv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[</a:t>
            </a:r>
            <a:r>
              <a:rPr sz="1050" b="0" i="0" dirty="0">
                <a:solidFill>
                  <a:srgbClr val="B5CEA8"/>
                </a:solidFill>
                <a:latin typeface="Courier New"/>
              </a:rPr>
              <a:t>1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]);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no length limit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845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Normal Input Stays Inside the Buffer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Input </a:t>
            </a:r>
            <a:r>
              <a:rPr sz="2000" b="0" i="0">
                <a:solidFill>
                  <a:srgbClr val="1A7F37"/>
                </a:solidFill>
                <a:latin typeface="Courier New"/>
              </a:rPr>
              <a:t>"123456"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- 6 bytes plus a terminator, well within 64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return address is untouched; the function returns normally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550000" y="2550000"/>
            <a:ext cx="23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arguments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0000" y="2850000"/>
            <a:ext cx="23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return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0000" y="285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2E7D32"/>
                </a:solidFill>
                <a:latin typeface="Arial"/>
              </a:rPr>
              <a:t>intact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0000" y="3150000"/>
            <a:ext cx="23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saved ebp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50000" y="3450000"/>
            <a:ext cx="2300000" cy="56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Courier New"/>
              </a:rPr>
              <a:t>123456\0  . . . . 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0000" y="3450000"/>
            <a:ext cx="23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58 bytes still free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0000" y="252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0000" y="380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Too Much Input Overwrites the Return Address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68 filler bytes reach the saved return address; the next 4 bytes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replace it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copy never stops - C checked nothing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50000" y="2500000"/>
            <a:ext cx="2300000" cy="300000"/>
          </a:xfrm>
          <a:prstGeom prst="rect">
            <a:avLst/>
          </a:prstGeom>
          <a:solidFill>
            <a:srgbClr val="DDDDDD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8A8A8A"/>
                </a:solidFill>
                <a:latin typeface="Arial"/>
              </a:rPr>
              <a:t>arguments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0000" y="2800000"/>
            <a:ext cx="2300000" cy="30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B B B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0000" y="280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return address overwritten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50000" y="3100000"/>
            <a:ext cx="2300000" cy="30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A A A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0000" y="310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saved ebp overwritten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50000" y="3400000"/>
            <a:ext cx="2300000" cy="56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A A A A …  (64 bytes)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0000" y="3400000"/>
            <a:ext cx="23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buffer filled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0000" y="247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0000" y="375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600000" y="2560000"/>
            <a:ext cx="0" cy="1340000"/>
          </a:xfrm>
          <a:prstGeom prst="bentConnector3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750000" y="4188600"/>
            <a:ext cx="606571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202020"/>
                </a:solidFill>
                <a:latin typeface="Courier New"/>
              </a:rPr>
              <a:t>payload  =  "A" × 68  +  4 bytes for the new return address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On ret, Execution Jumps Where You Chose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Courier New"/>
              </a:rPr>
              <a:t>ret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pops the overwritten slot into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eip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Garbage bytes →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eip = 0x41414141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→ crash</a:t>
            </a:r>
            <a:r>
              <a:rPr sz="2000" b="0" i="0">
                <a:solidFill>
                  <a:srgbClr val="8A8A8A"/>
                </a:solidFill>
                <a:latin typeface="Arial"/>
              </a:rPr>
              <a:t> - already a denial of service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Chosen bytes → </a:t>
            </a:r>
            <a:r>
              <a:rPr sz="2000" b="1" i="0">
                <a:solidFill>
                  <a:srgbClr val="C0392B"/>
                </a:solidFill>
                <a:latin typeface="Courier New"/>
              </a:rPr>
              <a:t>eip = an address you name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- control flow is now yours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150000"/>
            <a:ext cx="4200000" cy="90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leave    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esp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 =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ebp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; pop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ebp</a:t>
            </a:r>
            <a:endParaRPr sz="1050" b="0" i="0" dirty="0">
              <a:solidFill>
                <a:srgbClr val="6A9955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ret      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pop return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addr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 -&gt; </a:t>
            </a:r>
            <a:r>
              <a:rPr sz="1050" b="0" i="0" dirty="0" err="1">
                <a:solidFill>
                  <a:srgbClr val="6A9955"/>
                </a:solidFill>
                <a:latin typeface="Courier New"/>
              </a:rPr>
              <a:t>eip</a:t>
            </a:r>
            <a:endParaRPr sz="1050" b="0" i="0" dirty="0">
              <a:solidFill>
                <a:srgbClr val="6A9955"/>
              </a:solidFill>
              <a:latin typeface="Courier New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           </a:t>
            </a:r>
            <a:r>
              <a:rPr sz="1050" b="0" i="0" dirty="0">
                <a:solidFill>
                  <a:srgbClr val="6A9955"/>
                </a:solidFill>
                <a:latin typeface="Courier New"/>
              </a:rPr>
              <a:t>//   = whatever we wrote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00000" y="3200000"/>
            <a:ext cx="3200000" cy="760000"/>
          </a:xfrm>
          <a:prstGeom prst="roundRect">
            <a:avLst>
              <a:gd name="adj" fmla="val 8000"/>
            </a:avLst>
          </a:prstGeom>
          <a:solidFill>
            <a:srgbClr val="F6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202020"/>
                </a:solidFill>
                <a:latin typeface="Arial"/>
              </a:rPr>
              <a:t>computation  +  control</a:t>
            </a:r>
          </a:p>
          <a:p>
            <a:pPr algn="ctr"/>
            <a:r>
              <a:rPr sz="1100" b="0" i="1">
                <a:solidFill>
                  <a:srgbClr val="C0392B"/>
                </a:solidFill>
                <a:latin typeface="Arial"/>
              </a:rPr>
              <a:t>every overflow exploit = reach the return slot, then choose the target</a:t>
            </a:r>
          </a:p>
        </p:txBody>
      </p:sp>
    </p:spTree>
    <p:extLst>
      <p:ext uri="{BB962C8B-B14F-4D97-AF65-F5344CB8AC3E}">
        <p14:creationId xmlns:p14="http://schemas.microsoft.com/office/powerpoint/2010/main" val="26134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02020"/>
                </a:solidFill>
                <a:latin typeface="Arial"/>
              </a:rPr>
              <a:t>The Same Attack on x86-64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 i="0">
                <a:solidFill>
                  <a:srgbClr val="E47932"/>
                </a:solidFill>
                <a:latin typeface="Arial"/>
              </a:rPr>
              <a:t>what changes, and what Lab 2 asks you to do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What Changes on x86-64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Slots are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8 bytes</a:t>
            </a:r>
            <a:r>
              <a:rPr sz="2000" b="0" i="0">
                <a:solidFill>
                  <a:srgbClr val="202020"/>
                </a:solidFill>
                <a:latin typeface="Arial"/>
              </a:rPr>
              <a:t>; the registers are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rsp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/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rbp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/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rip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System V ABI: the first integer/pointer arguments arrive in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registers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(rdi, rsi, rdx, …), not on the stack</a:t>
            </a:r>
          </a:p>
          <a:p>
            <a:pPr lvl="1"/>
            <a:r>
              <a:rPr sz="1700" b="0" i="0">
                <a:solidFill>
                  <a:srgbClr val="202020"/>
                </a:solidFill>
                <a:latin typeface="Arial"/>
              </a:rPr>
              <a:t>so a plain return-address overwrite still works; passing arguments takes more care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structure is identical: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buffer → saved rbp → return address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a few bytes apart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65884" y="3608190"/>
            <a:ext cx="2250000" cy="30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ourier New"/>
              </a:rPr>
              <a:t>return address  (8B)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884" y="360819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saved rip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5884" y="3908190"/>
            <a:ext cx="225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Courier New"/>
              </a:rPr>
              <a:t>saved rbp  (8B)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5884" y="4208190"/>
            <a:ext cx="2250000" cy="52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Courier New"/>
              </a:rPr>
              <a:t>char buf[N]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5884" y="4208190"/>
            <a:ext cx="230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rsp points into here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5884" y="357819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5884" y="451819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Lab 2: Return to win()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Courier New"/>
              </a:rPr>
              <a:t>vault.c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reads a binary request into a fixed stack buffer with an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unchecked copy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It also contains a harmless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win()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that prints your build's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LAB2-WIN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token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Your goal: make the overflow set the return address to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win()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- </a:t>
            </a:r>
            <a:r>
              <a:rPr sz="2000" b="1" i="0">
                <a:solidFill>
                  <a:srgbClr val="2E7D32"/>
                </a:solidFill>
                <a:latin typeface="Arial"/>
              </a:rPr>
              <a:t>no shellcode, no shell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550000"/>
            <a:ext cx="6100000" cy="105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4EC9B0"/>
                </a:solidFill>
                <a:latin typeface="Courier New"/>
              </a:rPr>
              <a:t>void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win(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void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        { /* prints the LAB2-WIN token */ 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4EC9B0"/>
                </a:solidFill>
                <a:latin typeface="Courier New"/>
              </a:rPr>
              <a:t>void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check_request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void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>
                <a:solidFill>
                  <a:srgbClr val="4EC9B0"/>
                </a:solidFill>
                <a:latin typeface="Courier New"/>
              </a:rPr>
              <a:t>char</a:t>
            </a:r>
            <a:r>
              <a:rPr sz="1050" b="0" i="0" dirty="0">
                <a:solidFill>
                  <a:srgbClr val="D4D4D4"/>
                </a:solidFill>
                <a:latin typeface="Courier New"/>
              </a:rPr>
              <a:t> req[/* seeded size */];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50" b="0" i="0" dirty="0" err="1">
                <a:solidFill>
                  <a:srgbClr val="D4D4D4"/>
                </a:solidFill>
                <a:latin typeface="Courier New"/>
              </a:rPr>
              <a:t>read_request</a:t>
            </a:r>
            <a:r>
              <a:rPr sz="1050" b="0" i="0">
                <a:solidFill>
                  <a:srgbClr val="D4D4D4"/>
                </a:solidFill>
                <a:latin typeface="Courier New"/>
              </a:rPr>
              <a:t>(req);     </a:t>
            </a:r>
            <a:r>
              <a:rPr sz="1050" b="0" i="0">
                <a:solidFill>
                  <a:srgbClr val="6A9955"/>
                </a:solidFill>
                <a:latin typeface="Courier New"/>
              </a:rPr>
              <a:t>// copies past req on long input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662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Step 1 - Find the Offset in GDB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distance from the buffer to the saved return address is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build-specific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- measure it, do not guess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Break in the function, then read the stack around rsp / rbp: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2650000"/>
            <a:ext cx="5400000" cy="145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(gdb) </a:t>
            </a:r>
            <a:r>
              <a:rPr sz="1050" b="0" i="0">
                <a:solidFill>
                  <a:srgbClr val="569CD6"/>
                </a:solidFill>
                <a:latin typeface="Courier New"/>
              </a:rPr>
              <a:t>break</a:t>
            </a:r>
            <a:r>
              <a:rPr sz="1050" b="0" i="0">
                <a:solidFill>
                  <a:srgbClr val="D4D4D4"/>
                </a:solidFill>
                <a:latin typeface="Courier New"/>
              </a:rPr>
              <a:t> check_request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(gdb) run &lt; tests/accept.bin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(gdb) info frame            </a:t>
            </a:r>
            <a:r>
              <a:rPr sz="1050" b="0" i="0">
                <a:solidFill>
                  <a:srgbClr val="6A9955"/>
                </a:solidFill>
                <a:latin typeface="Courier New"/>
              </a:rPr>
              <a:t>// saved rip location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(gdb) print &amp;req            </a:t>
            </a:r>
            <a:r>
              <a:rPr sz="1050" b="0" i="0">
                <a:solidFill>
                  <a:srgbClr val="6A9955"/>
                </a:solidFill>
                <a:latin typeface="Courier New"/>
              </a:rPr>
              <a:t>// buffer start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(gdb) x/32gx $rsp           </a:t>
            </a:r>
            <a:r>
              <a:rPr sz="1050" b="0" i="0">
                <a:solidFill>
                  <a:srgbClr val="6A9955"/>
                </a:solidFill>
                <a:latin typeface="Courier New"/>
              </a:rPr>
              <a:t>// inspect the frame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0000"/>
            <a:ext cx="8046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Courier New"/>
              </a:rPr>
              <a:t>offset  =  (address of saved rip)  −  (address of buffer)</a:t>
            </a:r>
          </a:p>
        </p:txBody>
      </p:sp>
    </p:spTree>
    <p:extLst>
      <p:ext uri="{BB962C8B-B14F-4D97-AF65-F5344CB8AC3E}">
        <p14:creationId xmlns:p14="http://schemas.microsoft.com/office/powerpoint/2010/main" val="350693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Step 2 - Build payload.bin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Fill exactly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offset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bytes, then append the address of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win()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in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little-endian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Find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win</a:t>
            </a:r>
            <a:r>
              <a:rPr sz="2000" b="0" i="0">
                <a:solidFill>
                  <a:srgbClr val="202020"/>
                </a:solidFill>
                <a:latin typeface="Arial"/>
              </a:rPr>
              <a:t>'s address with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objdump -d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or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nm</a:t>
            </a:r>
            <a:r>
              <a:rPr sz="2000" b="0" i="0">
                <a:solidFill>
                  <a:srgbClr val="202020"/>
                </a:solidFill>
                <a:latin typeface="Arial"/>
              </a:rPr>
              <a:t>; the teaching Makefile keeps it stable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3200000"/>
            <a:ext cx="2600000" cy="34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ourier New"/>
              </a:rPr>
              <a:t>&amp;win  (8 bytes,</a:t>
            </a:r>
            <a:br>
              <a:rPr lang="en-US" sz="1100" b="1" i="0" dirty="0">
                <a:solidFill>
                  <a:srgbClr val="FFFFFF"/>
                </a:solidFill>
                <a:latin typeface="Courier New"/>
              </a:rPr>
            </a:br>
            <a:r>
              <a:rPr sz="1100" b="1" i="0" dirty="0">
                <a:solidFill>
                  <a:srgbClr val="FFFFFF"/>
                </a:solidFill>
                <a:latin typeface="Courier New"/>
              </a:rPr>
              <a:t>little-endian)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0000" y="3200000"/>
            <a:ext cx="23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lands on saved rip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3540000"/>
            <a:ext cx="2600000" cy="56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Courier New"/>
              </a:rPr>
              <a:t>filler  ×  offset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0000" y="3540000"/>
            <a:ext cx="23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reaches the return slot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50000" y="317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50000" y="3890000"/>
            <a:ext cx="1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300000"/>
            <a:ext cx="804672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ourier New"/>
              </a:rPr>
              <a:t>./vault &lt; payload.bin   →   prints your LAB2-WIN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Beyond return-to-win: Code Injection (Concept)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Historically, attackers placed their own instructions in the buffer, then pointed the return address at them</a:t>
            </a:r>
          </a:p>
          <a:p>
            <a:pPr lvl="1"/>
            <a:r>
              <a:rPr sz="1700" b="0" i="1" dirty="0">
                <a:solidFill>
                  <a:srgbClr val="202020"/>
                </a:solidFill>
                <a:latin typeface="Arial"/>
              </a:rPr>
              <a:t>Aleph One, "Smashing the Stack for Fun and Profit" (</a:t>
            </a:r>
            <a:r>
              <a:rPr sz="1700" b="0" i="1" dirty="0" err="1">
                <a:solidFill>
                  <a:srgbClr val="202020"/>
                </a:solidFill>
                <a:latin typeface="Arial"/>
              </a:rPr>
              <a:t>Phrack</a:t>
            </a:r>
            <a:r>
              <a:rPr sz="1700" b="0" i="1" dirty="0">
                <a:solidFill>
                  <a:srgbClr val="202020"/>
                </a:solidFill>
                <a:latin typeface="Arial"/>
              </a:rPr>
              <a:t> 49, 1996)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We cover this as </a:t>
            </a:r>
            <a:r>
              <a:rPr sz="2000" b="1" i="0" dirty="0">
                <a:solidFill>
                  <a:srgbClr val="202020"/>
                </a:solidFill>
                <a:latin typeface="Arial"/>
              </a:rPr>
              <a:t>principle only</a:t>
            </a:r>
            <a:endParaRPr sz="2000" b="0" i="0" dirty="0">
              <a:solidFill>
                <a:srgbClr val="202020"/>
              </a:solidFill>
              <a:latin typeface="Arial"/>
            </a:endParaRP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It stopped working by default once the stack became </a:t>
            </a:r>
            <a:r>
              <a:rPr sz="2000" b="1" i="0" dirty="0">
                <a:solidFill>
                  <a:srgbClr val="C0392B"/>
                </a:solidFill>
                <a:latin typeface="Arial"/>
              </a:rPr>
              <a:t>non-executable (NX / DEP)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- next lectures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4050000"/>
            <a:ext cx="8046720" cy="780000"/>
          </a:xfrm>
          <a:prstGeom prst="roundRect">
            <a:avLst>
              <a:gd name="adj" fmla="val 6000"/>
            </a:avLst>
          </a:prstGeom>
          <a:solidFill>
            <a:srgbClr val="F6D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202020"/>
                </a:solidFill>
                <a:latin typeface="Arial"/>
              </a:rPr>
              <a:t>Same principle, different mechanism</a:t>
            </a:r>
          </a:p>
          <a:p>
            <a:pPr algn="ctr"/>
            <a:r>
              <a:rPr sz="1100" b="0" i="1">
                <a:solidFill>
                  <a:srgbClr val="202020"/>
                </a:solidFill>
                <a:latin typeface="Arial"/>
              </a:rPr>
              <a:t>return-to-function (Lab 2)  ·  return-to-libc  ·  return-oriented programming - all reuse the overwritten return address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Why This Worked - and What Stops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teaching build deliberately leaves the classic defenses off: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22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No stack canary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a guard value would detect the overwrite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7080" y="22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No ASLR / PIE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addresses are predictable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65520" y="2250000"/>
            <a:ext cx="2529840" cy="64008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Executable stack</a:t>
            </a:r>
          </a:p>
          <a:p>
            <a:pPr algn="ctr"/>
            <a:r>
              <a:rPr sz="950" b="0" i="1">
                <a:solidFill>
                  <a:srgbClr val="202020"/>
                </a:solidFill>
                <a:latin typeface="Arial"/>
              </a:rPr>
              <a:t>injected code could run (not in Lab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50000"/>
            <a:ext cx="804672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Each defense blocks this exploit on its own - </a:t>
            </a:r>
            <a:r>
              <a:rPr sz="2000" b="1" i="0" dirty="0">
                <a:solidFill>
                  <a:srgbClr val="202020"/>
                </a:solidFill>
                <a:latin typeface="Arial"/>
              </a:rPr>
              <a:t>we cover how they work in the second half of the course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Lab 2 also has you rebuild with </a:t>
            </a:r>
            <a:r>
              <a:rPr sz="2000" b="0" i="0" dirty="0">
                <a:solidFill>
                  <a:srgbClr val="202020"/>
                </a:solidFill>
                <a:latin typeface="Courier New"/>
              </a:rPr>
              <a:t>mak</a:t>
            </a:r>
            <a:r>
              <a:rPr lang="en-US" sz="2000" b="0" i="0" dirty="0">
                <a:solidFill>
                  <a:srgbClr val="202020"/>
                </a:solidFill>
                <a:latin typeface="Courier New"/>
              </a:rPr>
              <a:t>e </a:t>
            </a:r>
            <a:r>
              <a:rPr sz="2000" b="0" i="0" dirty="0">
                <a:solidFill>
                  <a:srgbClr val="202020"/>
                </a:solidFill>
                <a:latin typeface="Courier New"/>
              </a:rPr>
              <a:t>harden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 and explain the difference</a:t>
            </a:r>
          </a:p>
        </p:txBody>
      </p:sp>
    </p:spTree>
    <p:extLst>
      <p:ext uri="{BB962C8B-B14F-4D97-AF65-F5344CB8AC3E}">
        <p14:creationId xmlns:p14="http://schemas.microsoft.com/office/powerpoint/2010/main" val="824101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 buffer overflow turns a spatial memory error into control of the program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mechanism is always the same:</a:t>
            </a:r>
          </a:p>
          <a:p>
            <a:pPr lvl="1"/>
            <a:r>
              <a:rPr sz="1700" b="0" i="0">
                <a:solidFill>
                  <a:srgbClr val="202020"/>
                </a:solidFill>
                <a:latin typeface="Arial"/>
              </a:rPr>
              <a:t>reach the saved return address, then replace it with a target you choose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32-bit and 64-bit differ in slot size and argument passing, not in principle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Lab 2 (Thu Oct 15): measure the offset, return to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win()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then harden</a:t>
            </a:r>
          </a:p>
          <a:p>
            <a:r>
              <a:rPr sz="2000" b="0" i="0">
                <a:solidFill>
                  <a:srgbClr val="8A8A8A"/>
                </a:solidFill>
                <a:latin typeface="Arial"/>
              </a:rPr>
              <a:t>Next: heap attacks, then the defenses that make all of this hard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Questions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100000" y="2550000"/>
            <a:ext cx="950000" cy="950000"/>
          </a:xfrm>
          <a:prstGeom prst="roundRect">
            <a:avLst>
              <a:gd name="adj" fmla="val 50000"/>
            </a:avLst>
          </a:prstGeom>
          <a:solidFill>
            <a:srgbClr val="E4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C8EEBA-5DA8-7D47-82FE-6BF0AA5895B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2959b69-e4d1-4706-9177-f2afa9085f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2364</Words>
  <Application>Microsoft Macintosh PowerPoint</Application>
  <PresentationFormat>On-screen Show (16:9)</PresentationFormat>
  <Paragraphs>180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 [1790301506474]</vt:lpstr>
      <vt:lpstr>CS 165: Computer Security</vt:lpstr>
      <vt:lpstr>Outline</vt:lpstr>
      <vt:lpstr>Recap: a Spatial Error Has Somewhere to Land</vt:lpstr>
      <vt:lpstr>The Stack Frame (32-bit cdecl)</vt:lpstr>
      <vt:lpstr>The Buffer and the Return Address Are Neighbors</vt:lpstr>
      <vt:lpstr>Normal Input Stays Inside the Buffer</vt:lpstr>
      <vt:lpstr>Too Much Input Overwrites the Return Address</vt:lpstr>
      <vt:lpstr>On ret, Execution Jumps Where You Chose</vt:lpstr>
      <vt:lpstr>The Same Attack on x86-64</vt:lpstr>
      <vt:lpstr>What Changes on x86-64</vt:lpstr>
      <vt:lpstr>Lab 2: Return to win()</vt:lpstr>
      <vt:lpstr>Step 1 - Find the Offset in GDB</vt:lpstr>
      <vt:lpstr>Step 2 - Build payload.bin</vt:lpstr>
      <vt:lpstr>Beyond return-to-win: Code Injection (Concept)</vt:lpstr>
      <vt:lpstr>Why This Worked - and What Stops It</vt:lpstr>
      <vt:lpstr>Conclusions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10</cp:revision>
  <dcterms:modified xsi:type="dcterms:W3CDTF">2026-10-12T20:02:25Z</dcterms:modified>
</cp:coreProperties>
</file>