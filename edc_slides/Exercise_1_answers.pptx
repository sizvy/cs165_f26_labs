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96F481-76FE-430A-8033-0D9017D95D37}">
  <a:tblStyle styleId="{9096F481-76FE-430A-8033-0D9017D95D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1F7BAC6-EEA7-4524-A375-4FD7C61763D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159" d="100"/>
          <a:sy n="159" d="100"/>
        </p:scale>
        <p:origin x="8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3602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548640" y="1600200"/>
            <a:ext cx="80467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48640" y="245059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2"/>
          </p:nvPr>
        </p:nvSpPr>
        <p:spPr>
          <a:xfrm>
            <a:off x="548640" y="324612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700"/>
              <a:buNone/>
              <a:defRPr sz="1700">
                <a:solidFill>
                  <a:srgbClr val="8A8A8A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548640" y="1298448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48640" y="19659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548640" y="276148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00"/>
              <a:buNone/>
              <a:defRPr sz="1900">
                <a:solidFill>
                  <a:srgbClr val="8A8A8A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8640" y="1298448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55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65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65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655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indent="0" algn="l">
              <a:buNone/>
            </a:pPr>
            <a:r>
              <a:t>CS 165: Computer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t>Tutorial 1: Answers and Discussion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 algn="l">
              <a:buNone/>
            </a:pPr>
            <a:r>
              <a:t>Emiliano De Cristofaro</a:t>
            </a:r>
          </a:p>
          <a:p>
            <a:pPr marL="0" indent="0" algn="l">
              <a:buNone/>
            </a:pPr>
            <a:r>
              <a:t>University of California, Riverside</a:t>
            </a:r>
          </a:p>
          <a:p>
            <a:pPr marL="0" indent="0" algn="l">
              <a:buNone/>
            </a:pPr>
            <a:r>
              <a:t>Fall 2026  |  Lectures 1–4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568" y="0"/>
            <a:ext cx="2868864" cy="9796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Q1: CIA for the Campus ID Card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000"/>
          </a:bodyPr>
          <a:lstStyle/>
          <a:p>
            <a:pPr marL="0" indent="0">
              <a:buNone/>
            </a:pPr>
            <a:r>
              <a:t>Campus ID card system: students tap to enter their dorm, pay for meals from a prepaid balance, and release library print jobs. Readers talk to a central server holding each student's photo, dorm assignment and balance.</a:t>
            </a:r>
          </a:p>
          <a:p>
            <a:r>
              <a:t>Give examples of confidentiality, integrity and availability requirements for this system.</a:t>
            </a:r>
          </a:p>
          <a:p>
            <a:r>
              <a:t>Which ones matter most, and to whom?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Q1: CIA for the Campus ID Card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48640" y="1143000"/>
            <a:ext cx="2560320" cy="457200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Confidentiality</a:t>
            </a:r>
          </a:p>
        </p:txBody>
      </p:sp>
      <p:sp>
        <p:nvSpPr>
          <p:cNvPr id="43" name="Oval 42"/>
          <p:cNvSpPr/>
          <p:nvPr/>
        </p:nvSpPr>
        <p:spPr>
          <a:xfrm>
            <a:off x="594360" y="1837943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" y="178308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Room numbers not visible to others</a:t>
            </a:r>
          </a:p>
        </p:txBody>
      </p:sp>
      <p:sp>
        <p:nvSpPr>
          <p:cNvPr id="45" name="Oval 44"/>
          <p:cNvSpPr/>
          <p:nvPr/>
        </p:nvSpPr>
        <p:spPr>
          <a:xfrm>
            <a:off x="594360" y="2340864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" y="228600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Where and when a card was used: staff only</a:t>
            </a:r>
          </a:p>
        </p:txBody>
      </p:sp>
      <p:sp>
        <p:nvSpPr>
          <p:cNvPr id="47" name="Oval 46"/>
          <p:cNvSpPr/>
          <p:nvPr/>
        </p:nvSpPr>
        <p:spPr>
          <a:xfrm>
            <a:off x="594360" y="2843784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" y="278892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Payment details not leaked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73552" y="1143000"/>
            <a:ext cx="2560320" cy="457200"/>
          </a:xfrm>
          <a:prstGeom prst="roundRect">
            <a:avLst>
              <a:gd name="adj" fmla="val 18000"/>
            </a:avLst>
          </a:prstGeom>
          <a:solidFill>
            <a:srgbClr val="E4793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Integrity</a:t>
            </a:r>
          </a:p>
        </p:txBody>
      </p:sp>
      <p:sp>
        <p:nvSpPr>
          <p:cNvPr id="50" name="Oval 49"/>
          <p:cNvSpPr/>
          <p:nvPr/>
        </p:nvSpPr>
        <p:spPr>
          <a:xfrm>
            <a:off x="3319272" y="1837943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21024" y="178308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Balance changes only by real purchases</a:t>
            </a:r>
          </a:p>
        </p:txBody>
      </p:sp>
      <p:sp>
        <p:nvSpPr>
          <p:cNvPr id="52" name="Oval 51"/>
          <p:cNvSpPr/>
          <p:nvPr/>
        </p:nvSpPr>
        <p:spPr>
          <a:xfrm>
            <a:off x="3319272" y="2340864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21024" y="228600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A copied card cannot open the dorm</a:t>
            </a:r>
          </a:p>
        </p:txBody>
      </p:sp>
      <p:sp>
        <p:nvSpPr>
          <p:cNvPr id="54" name="Oval 53"/>
          <p:cNvSpPr/>
          <p:nvPr/>
        </p:nvSpPr>
        <p:spPr>
          <a:xfrm>
            <a:off x="3319272" y="2843784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21024" y="278892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Only housing staff edit door access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98464" y="1143000"/>
            <a:ext cx="2560320" cy="457200"/>
          </a:xfrm>
          <a:prstGeom prst="roundRect">
            <a:avLst>
              <a:gd name="adj" fmla="val 18000"/>
            </a:avLst>
          </a:prstGeom>
          <a:solidFill>
            <a:srgbClr val="1E2430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Availability</a:t>
            </a:r>
          </a:p>
        </p:txBody>
      </p:sp>
      <p:sp>
        <p:nvSpPr>
          <p:cNvPr id="57" name="Oval 56"/>
          <p:cNvSpPr/>
          <p:nvPr/>
        </p:nvSpPr>
        <p:spPr>
          <a:xfrm>
            <a:off x="6044183" y="1837943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45936" y="178308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Get into the dorm at any hour</a:t>
            </a:r>
          </a:p>
        </p:txBody>
      </p:sp>
      <p:sp>
        <p:nvSpPr>
          <p:cNvPr id="59" name="Oval 58"/>
          <p:cNvSpPr/>
          <p:nvPr/>
        </p:nvSpPr>
        <p:spPr>
          <a:xfrm>
            <a:off x="6044183" y="2340864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45936" y="228600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Pay at meal times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" y="3429000"/>
            <a:ext cx="3931920" cy="640080"/>
          </a:xfrm>
          <a:prstGeom prst="roundRect">
            <a:avLst>
              <a:gd name="adj" fmla="val 18000"/>
            </a:avLst>
          </a:prstGeom>
          <a:solidFill>
            <a:srgbClr val="D9E5EF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200" b="1" i="0">
                <a:solidFill>
                  <a:srgbClr val="000000"/>
                </a:solidFill>
              </a:rPr>
              <a:t>Students care about safety</a:t>
            </a:r>
          </a:p>
          <a:p>
            <a:pPr algn="ctr"/>
            <a:r>
              <a:rPr sz="1000" b="0" i="1">
                <a:solidFill>
                  <a:srgbClr val="000000"/>
                </a:solidFill>
              </a:rPr>
              <a:t>locked out at 2am, or a stranger gets in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663440" y="3429000"/>
            <a:ext cx="3931920" cy="640080"/>
          </a:xfrm>
          <a:prstGeom prst="roundRect">
            <a:avLst>
              <a:gd name="adj" fmla="val 18000"/>
            </a:avLst>
          </a:prstGeom>
          <a:solidFill>
            <a:srgbClr val="D9E5EF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200" b="1" i="0">
                <a:solidFill>
                  <a:srgbClr val="000000"/>
                </a:solidFill>
              </a:rPr>
              <a:t>The university cares about money</a:t>
            </a:r>
          </a:p>
          <a:p>
            <a:pPr algn="ctr"/>
            <a:r>
              <a:rPr sz="1000" b="0" i="1">
                <a:solidFill>
                  <a:srgbClr val="000000"/>
                </a:solidFill>
              </a:rPr>
              <a:t>balances that only change legitimately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Q2: STRIDE on the Campus Card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000"/>
          </a:bodyPr>
          <a:lstStyle/>
          <a:p>
            <a:pPr marL="0" indent="0">
              <a:buNone/>
            </a:pPr>
            <a:r>
              <a:t>For each incident, name the STRIDE threat and the security property it violates:</a:t>
            </a:r>
          </a:p>
          <a:p>
            <a:pPr lvl="1"/>
            <a:r>
              <a:t>(a) Someone copies a friend's card and uses it to enter their dorm</a:t>
            </a:r>
          </a:p>
          <a:p>
            <a:pPr lvl="1"/>
            <a:r>
              <a:t>(b) A student edits the balance stored on their own card to add $200</a:t>
            </a:r>
          </a:p>
          <a:p>
            <a:pPr lvl="1"/>
            <a:r>
              <a:t>(c) On move-in day, someone floods the central server and no reader works for hours</a:t>
            </a:r>
          </a:p>
          <a:p>
            <a:pPr lvl="1"/>
            <a:r>
              <a:t>(d) A misconfigured web page lists every student's dorm and room number</a:t>
            </a:r>
          </a:p>
          <a:p>
            <a:pPr lvl="1"/>
            <a:r>
              <a:t>(e) A bug lets an ordinary student account change other students' print quotas</a:t>
            </a:r>
          </a:p>
          <a:p>
            <a:pPr lvl="1"/>
            <a:r>
              <a:t>(f) A disputed $40 charge: the system records the amount but not which card or reader</a:t>
            </a:r>
          </a:p>
          <a:p>
            <a:pPr lvl="1"/>
            <a:r>
              <a:t>(g) An attacker on the network changes a payment message from $12 to $1</a:t>
            </a:r>
          </a:p>
          <a:p>
            <a:pPr lvl="1"/>
            <a:r>
              <a:t>(h) A former employee whose account was never disabled logs in and opens doors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Q2: STRIDE on the Campus Card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1097280"/>
            <a:ext cx="320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8A8A8A"/>
                </a:solidFill>
              </a:rPr>
              <a:t>(a)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1097280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Copies a friend’s card to enter their dorm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1124712"/>
            <a:ext cx="1828800" cy="274320"/>
          </a:xfrm>
          <a:prstGeom prst="roundRect">
            <a:avLst>
              <a:gd name="adj" fmla="val 18000"/>
            </a:avLst>
          </a:prstGeom>
          <a:solidFill>
            <a:srgbClr val="D9E5EF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E47932"/>
                </a:solidFill>
              </a:rPr>
              <a:t>S</a:t>
            </a:r>
            <a:r>
              <a:rPr sz="1000" b="1" i="0">
                <a:solidFill>
                  <a:srgbClr val="000000"/>
                </a:solidFill>
              </a:rPr>
              <a:t>poofing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95160" y="1124712"/>
            <a:ext cx="1600200" cy="274320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Authenticity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1481328"/>
            <a:ext cx="320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8A8A8A"/>
                </a:solidFill>
              </a:rPr>
              <a:t>(b)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1481328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Edits the balance on their own card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74920" y="1508760"/>
            <a:ext cx="1828800" cy="274320"/>
          </a:xfrm>
          <a:prstGeom prst="roundRect">
            <a:avLst>
              <a:gd name="adj" fmla="val 18000"/>
            </a:avLst>
          </a:prstGeom>
          <a:solidFill>
            <a:srgbClr val="D9E5EF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E47932"/>
                </a:solidFill>
              </a:rPr>
              <a:t>T</a:t>
            </a:r>
            <a:r>
              <a:rPr sz="1000" b="1" i="0">
                <a:solidFill>
                  <a:srgbClr val="000000"/>
                </a:solidFill>
              </a:rPr>
              <a:t>ampering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95160" y="1508760"/>
            <a:ext cx="1600200" cy="274320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Integrity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1865376"/>
            <a:ext cx="320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8A8A8A"/>
                </a:solidFill>
              </a:rPr>
              <a:t>(c)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1865376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Floods the server on move-in day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74920" y="1892807"/>
            <a:ext cx="1828800" cy="274320"/>
          </a:xfrm>
          <a:prstGeom prst="roundRect">
            <a:avLst>
              <a:gd name="adj" fmla="val 18000"/>
            </a:avLst>
          </a:prstGeom>
          <a:solidFill>
            <a:srgbClr val="D9E5EF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E47932"/>
                </a:solidFill>
              </a:rPr>
              <a:t>D</a:t>
            </a:r>
            <a:r>
              <a:rPr sz="1000" b="1" i="0">
                <a:solidFill>
                  <a:srgbClr val="000000"/>
                </a:solidFill>
              </a:rPr>
              <a:t>enial of service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995160" y="1892807"/>
            <a:ext cx="1600200" cy="274320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Availability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2249424"/>
            <a:ext cx="320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8A8A8A"/>
                </a:solidFill>
              </a:rPr>
              <a:t>(d)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2249424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Web page lists every room number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74920" y="2276856"/>
            <a:ext cx="1828800" cy="274320"/>
          </a:xfrm>
          <a:prstGeom prst="roundRect">
            <a:avLst>
              <a:gd name="adj" fmla="val 18000"/>
            </a:avLst>
          </a:prstGeom>
          <a:solidFill>
            <a:srgbClr val="D9E5EF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E47932"/>
                </a:solidFill>
              </a:rPr>
              <a:t>I</a:t>
            </a:r>
            <a:r>
              <a:rPr sz="1000" b="1" i="0">
                <a:solidFill>
                  <a:srgbClr val="000000"/>
                </a:solidFill>
              </a:rPr>
              <a:t>nfo disclosure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995160" y="2276856"/>
            <a:ext cx="1600200" cy="274320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Confidentiality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2633472"/>
            <a:ext cx="320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8A8A8A"/>
                </a:solidFill>
              </a:rPr>
              <a:t>(e)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" y="2633472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Student changes others’ print quotas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74920" y="2660903"/>
            <a:ext cx="1828800" cy="274320"/>
          </a:xfrm>
          <a:prstGeom prst="roundRect">
            <a:avLst>
              <a:gd name="adj" fmla="val 18000"/>
            </a:avLst>
          </a:prstGeom>
          <a:solidFill>
            <a:srgbClr val="D9E5EF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E47932"/>
                </a:solidFill>
              </a:rPr>
              <a:t>E</a:t>
            </a:r>
            <a:r>
              <a:rPr sz="1000" b="1" i="0">
                <a:solidFill>
                  <a:srgbClr val="000000"/>
                </a:solidFill>
              </a:rPr>
              <a:t>levation of priv.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995160" y="2660903"/>
            <a:ext cx="1600200" cy="274320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Authorization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3017520"/>
            <a:ext cx="320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8A8A8A"/>
                </a:solidFill>
              </a:rPr>
              <a:t>(f)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" y="3017520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Disputed charge, no record of which card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74920" y="3044951"/>
            <a:ext cx="1828800" cy="274320"/>
          </a:xfrm>
          <a:prstGeom prst="roundRect">
            <a:avLst>
              <a:gd name="adj" fmla="val 18000"/>
            </a:avLst>
          </a:prstGeom>
          <a:solidFill>
            <a:srgbClr val="D9E5EF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E47932"/>
                </a:solidFill>
              </a:rPr>
              <a:t>R</a:t>
            </a:r>
            <a:r>
              <a:rPr sz="1000" b="1" i="0">
                <a:solidFill>
                  <a:srgbClr val="000000"/>
                </a:solidFill>
              </a:rPr>
              <a:t>epudiation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995160" y="3044951"/>
            <a:ext cx="1600200" cy="274320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Non-repudiation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3401568"/>
            <a:ext cx="320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8A8A8A"/>
                </a:solidFill>
              </a:rPr>
              <a:t>(g)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" y="3401568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Changes $12 to $1 on the network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74920" y="3428999"/>
            <a:ext cx="1828800" cy="274320"/>
          </a:xfrm>
          <a:prstGeom prst="roundRect">
            <a:avLst>
              <a:gd name="adj" fmla="val 18000"/>
            </a:avLst>
          </a:prstGeom>
          <a:solidFill>
            <a:srgbClr val="D9E5EF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E47932"/>
                </a:solidFill>
              </a:rPr>
              <a:t>T</a:t>
            </a:r>
            <a:r>
              <a:rPr sz="1000" b="1" i="0">
                <a:solidFill>
                  <a:srgbClr val="000000"/>
                </a:solidFill>
              </a:rPr>
              <a:t>ampering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995160" y="3428999"/>
            <a:ext cx="1600200" cy="274320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Integrity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3785615"/>
            <a:ext cx="320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8A8A8A"/>
                </a:solidFill>
              </a:rPr>
              <a:t>(h)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" y="3785615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Ex-employee’s account still opens doors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074920" y="3813048"/>
            <a:ext cx="1828800" cy="274320"/>
          </a:xfrm>
          <a:prstGeom prst="roundRect">
            <a:avLst>
              <a:gd name="adj" fmla="val 18000"/>
            </a:avLst>
          </a:prstGeom>
          <a:solidFill>
            <a:srgbClr val="D9E5EF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E47932"/>
                </a:solidFill>
              </a:rPr>
              <a:t>E</a:t>
            </a:r>
            <a:r>
              <a:rPr sz="1000" b="1" i="0">
                <a:solidFill>
                  <a:srgbClr val="000000"/>
                </a:solidFill>
              </a:rPr>
              <a:t>oP / Spoofing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95160" y="3813048"/>
            <a:ext cx="1600200" cy="274320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Authorization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Q3: Climb the Ladder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000"/>
          </a:bodyPr>
          <a:lstStyle/>
          <a:p>
            <a:pPr marL="0" indent="0">
              <a:buNone/>
            </a:pPr>
            <a:r>
              <a:t>Place each item on the ladder weakness &lt; vulnerability &lt; exploit &lt; attack. Justify.</a:t>
            </a:r>
          </a:p>
          <a:p>
            <a:pPr lvl="1"/>
            <a:r>
              <a:t>(a) A program uses gets(), but input only ever comes from an admin-only config file</a:t>
            </a:r>
          </a:p>
          <a:p>
            <a:pPr lvl="1"/>
            <a:r>
              <a:t>(b) The same program is changed to read its input from a network connection</a:t>
            </a:r>
          </a:p>
          <a:p>
            <a:pPr lvl="1"/>
            <a:r>
              <a:t>(c) A crafted 300-byte input that makes that program run code of the attacker's choosing</a:t>
            </a:r>
          </a:p>
          <a:p>
            <a:pPr lvl="1"/>
            <a:r>
              <a:t>(d) Sending that input to every machine on the Internet running the program</a:t>
            </a:r>
          </a:p>
          <a:p>
            <a:pPr lvl="1"/>
            <a:r>
              <a:t>(e) The Morris worm sending a long request to fingerd in 1988</a:t>
            </a:r>
          </a:p>
          <a:p>
            <a:pPr lvl="1"/>
            <a:r>
              <a:t>(f) Every user's password stored in a file any user of the machine can read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Q3: Climb the Ladder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48640" y="2331720"/>
            <a:ext cx="1874519" cy="594360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Weakness</a:t>
            </a:r>
          </a:p>
          <a:p>
            <a:pPr algn="ctr"/>
            <a:r>
              <a:rPr sz="900" b="0" i="1">
                <a:solidFill>
                  <a:srgbClr val="000000"/>
                </a:solidFill>
              </a:rPr>
              <a:t>a flaw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3017520"/>
            <a:ext cx="187451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(a) gets(), input only from an admin-only file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2441448" y="2331720"/>
            <a:ext cx="118872" cy="292607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</p:spPr>
      </p:cxnSp>
      <p:sp>
        <p:nvSpPr>
          <p:cNvPr id="45" name="Rounded Rectangle 44"/>
          <p:cNvSpPr/>
          <p:nvPr/>
        </p:nvSpPr>
        <p:spPr>
          <a:xfrm>
            <a:off x="2578608" y="2039112"/>
            <a:ext cx="1874519" cy="594360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Vulnerability</a:t>
            </a:r>
          </a:p>
          <a:p>
            <a:pPr algn="ctr"/>
            <a:r>
              <a:rPr sz="900" b="0" i="1">
                <a:solidFill>
                  <a:srgbClr val="000000"/>
                </a:solidFill>
              </a:rPr>
              <a:t>flaw + accessible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78608" y="2724912"/>
            <a:ext cx="187451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(b) same program, input from the network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4471416" y="2039112"/>
            <a:ext cx="118872" cy="292608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</p:spPr>
      </p:cxnSp>
      <p:sp>
        <p:nvSpPr>
          <p:cNvPr id="48" name="Rounded Rectangle 47"/>
          <p:cNvSpPr/>
          <p:nvPr/>
        </p:nvSpPr>
        <p:spPr>
          <a:xfrm>
            <a:off x="4608576" y="1746503"/>
            <a:ext cx="1874519" cy="594360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Exploit</a:t>
            </a:r>
          </a:p>
          <a:p>
            <a:pPr algn="ctr"/>
            <a:r>
              <a:rPr sz="900" b="0" i="1">
                <a:solidFill>
                  <a:srgbClr val="000000"/>
                </a:solidFill>
              </a:rPr>
              <a:t>the input that does 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08576" y="2432303"/>
            <a:ext cx="187451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(c) the crafted 300-byte input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6501383" y="1746503"/>
            <a:ext cx="118873" cy="292608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</p:spPr>
      </p:cxnSp>
      <p:sp>
        <p:nvSpPr>
          <p:cNvPr id="51" name="Rounded Rectangle 50"/>
          <p:cNvSpPr/>
          <p:nvPr/>
        </p:nvSpPr>
        <p:spPr>
          <a:xfrm>
            <a:off x="6638544" y="1453895"/>
            <a:ext cx="1874519" cy="594360"/>
          </a:xfrm>
          <a:prstGeom prst="roundRect">
            <a:avLst>
              <a:gd name="adj" fmla="val 18000"/>
            </a:avLst>
          </a:prstGeom>
          <a:solidFill>
            <a:srgbClr val="E4793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Attack</a:t>
            </a:r>
          </a:p>
          <a:p>
            <a:pPr algn="ctr"/>
            <a:r>
              <a:rPr sz="900" b="0" i="1">
                <a:solidFill>
                  <a:srgbClr val="000000"/>
                </a:solidFill>
              </a:rPr>
              <a:t>someone uses 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38544" y="2139696"/>
            <a:ext cx="187451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(d) sent to every machine</a:t>
            </a:r>
          </a:p>
          <a:p>
            <a:pPr algn="l"/>
            <a:r>
              <a:rPr sz="1000">
                <a:solidFill>
                  <a:srgbClr val="000000"/>
                </a:solidFill>
              </a:rPr>
              <a:t>(e) Morris worm vs fingerd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1097280"/>
            <a:ext cx="3657600" cy="566928"/>
          </a:xfrm>
          <a:prstGeom prst="roundRect">
            <a:avLst>
              <a:gd name="adj" fmla="val 18000"/>
            </a:avLst>
          </a:prstGeom>
          <a:solidFill>
            <a:srgbClr val="D9E5EF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100" b="1" i="0">
                <a:solidFill>
                  <a:srgbClr val="000000"/>
                </a:solidFill>
              </a:rPr>
              <a:t>Same flaw in (a) and (b)</a:t>
            </a:r>
          </a:p>
          <a:p>
            <a:pPr algn="ctr"/>
            <a:r>
              <a:rPr sz="900" b="0" i="1">
                <a:solidFill>
                  <a:srgbClr val="000000"/>
                </a:solidFill>
              </a:rPr>
              <a:t>what changed is who can reach it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3657600"/>
            <a:ext cx="8046720" cy="502920"/>
          </a:xfrm>
          <a:prstGeom prst="roundRect">
            <a:avLst>
              <a:gd name="adj" fmla="val 18000"/>
            </a:avLst>
          </a:prstGeom>
          <a:solidFill>
            <a:srgbClr val="D9E5EF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100" b="1" i="0">
                <a:solidFill>
                  <a:srgbClr val="000000"/>
                </a:solidFill>
              </a:rPr>
              <a:t>(f) world-readable passwords: it depends on the threat model</a:t>
            </a:r>
          </a:p>
          <a:p>
            <a:pPr algn="ctr"/>
            <a:r>
              <a:rPr sz="900" b="0" i="1">
                <a:solidFill>
                  <a:srgbClr val="000000"/>
                </a:solidFill>
              </a:rPr>
              <a:t>shared lab server: vulnerability.   Single-user machine, no network: closer to a weakness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Q4: Thinking Like an Adversary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For each situation, is there an adversary? If so, what would a security-minded person worry about?</a:t>
            </a:r>
          </a:p>
          <a:p>
            <a:pPr lvl="1"/>
            <a:r>
              <a:rPr dirty="0"/>
              <a:t>(a) A parking garage charges $25 for a lost ticket, but $40 for a full day</a:t>
            </a:r>
          </a:p>
          <a:p>
            <a:pPr lvl="1"/>
            <a:r>
              <a:rPr dirty="0"/>
              <a:t>(b) A hard drive in the department server fails after five years</a:t>
            </a:r>
          </a:p>
          <a:p>
            <a:pPr lvl="1"/>
            <a:r>
              <a:rPr dirty="0"/>
              <a:t>(c) A website resets your password by asking “What city were you born in?”</a:t>
            </a:r>
          </a:p>
          <a:p>
            <a:pPr lvl="1"/>
            <a:r>
              <a:rPr dirty="0"/>
              <a:t>(d) A photo editor crashes on images larger than 4 GB; only its author uses it, on their laptop</a:t>
            </a:r>
          </a:p>
          <a:p>
            <a:pPr lvl="1"/>
            <a:r>
              <a:rPr dirty="0"/>
              <a:t>(e) The same program is now used by a website to process images uploaded by anyone</a:t>
            </a:r>
          </a:p>
          <a:p>
            <a:pPr lvl="1"/>
            <a:r>
              <a:rPr dirty="0"/>
              <a:t>(f) An online game lets players walk through walls if they jump at a specific spot</a:t>
            </a:r>
          </a:p>
          <a:p>
            <a:pPr lvl="1"/>
            <a:r>
              <a:rPr dirty="0"/>
              <a:t>(g) A text: “Your package could not be delivered, confirm your address here” with a link</a:t>
            </a:r>
          </a:p>
          <a:p>
            <a:pPr lvl="1"/>
            <a:r>
              <a:rPr dirty="0"/>
              <a:t>(h) A vending machine gives two snacks when the building's power flickers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Q4: Thinking Like an Adversary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1097280"/>
            <a:ext cx="320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8A8A8A"/>
                </a:solidFill>
              </a:rPr>
              <a:t>(a)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1097280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Lost ticket $25, full day $40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1124712"/>
            <a:ext cx="960120" cy="274320"/>
          </a:xfrm>
          <a:prstGeom prst="roundRect">
            <a:avLst>
              <a:gd name="adj" fmla="val 18000"/>
            </a:avLst>
          </a:prstGeom>
          <a:solidFill>
            <a:srgbClr val="E4793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Yes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1097280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i="1">
                <a:solidFill>
                  <a:srgbClr val="8A8A8A"/>
                </a:solidFill>
              </a:rPr>
              <a:t>everyone “loses” their ticket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1481328"/>
            <a:ext cx="320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8A8A8A"/>
                </a:solidFill>
              </a:rPr>
              <a:t>(b)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1481328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Server hard drive fails after 5 years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74920" y="1508760"/>
            <a:ext cx="960120" cy="274320"/>
          </a:xfrm>
          <a:prstGeom prst="roundRect">
            <a:avLst>
              <a:gd name="adj" fmla="val 18000"/>
            </a:avLst>
          </a:prstGeom>
          <a:solidFill>
            <a:srgbClr val="E6E6E6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No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1481328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i="1">
                <a:solidFill>
                  <a:srgbClr val="8A8A8A"/>
                </a:solidFill>
              </a:rPr>
              <a:t>wear and tear, not an adversary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1865376"/>
            <a:ext cx="320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8A8A8A"/>
                </a:solidFill>
              </a:rPr>
              <a:t>(c)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1865376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Reset password via “city you were born in”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74920" y="1892807"/>
            <a:ext cx="960120" cy="274320"/>
          </a:xfrm>
          <a:prstGeom prst="roundRect">
            <a:avLst>
              <a:gd name="adj" fmla="val 18000"/>
            </a:avLst>
          </a:prstGeom>
          <a:solidFill>
            <a:srgbClr val="E4793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Yes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1865376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i="1">
                <a:solidFill>
                  <a:srgbClr val="8A8A8A"/>
                </a:solidFill>
              </a:rPr>
              <a:t>often on social media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2249424"/>
            <a:ext cx="320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8A8A8A"/>
                </a:solidFill>
              </a:rPr>
              <a:t>(d)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2249424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Crashes on 4 GB images; only the author uses it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74920" y="2276856"/>
            <a:ext cx="960120" cy="274320"/>
          </a:xfrm>
          <a:prstGeom prst="roundRect">
            <a:avLst>
              <a:gd name="adj" fmla="val 18000"/>
            </a:avLst>
          </a:prstGeom>
          <a:solidFill>
            <a:srgbClr val="E6E6E6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Not really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72200" y="2249424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i="1">
                <a:solidFill>
                  <a:srgbClr val="8A8A8A"/>
                </a:solidFill>
              </a:rPr>
              <a:t>nobody else can reach the bug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2633472"/>
            <a:ext cx="320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8A8A8A"/>
                </a:solidFill>
              </a:rPr>
              <a:t>(e)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" y="2633472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Same program, on uploads from anyone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74920" y="2660903"/>
            <a:ext cx="960120" cy="274320"/>
          </a:xfrm>
          <a:prstGeom prst="roundRect">
            <a:avLst>
              <a:gd name="adj" fmla="val 18000"/>
            </a:avLst>
          </a:prstGeom>
          <a:solidFill>
            <a:srgbClr val="E4793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Yes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72200" y="2633472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i="1">
                <a:solidFill>
                  <a:srgbClr val="8A8A8A"/>
                </a:solidFill>
              </a:rPr>
              <a:t>the same bug is now accessible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3017520"/>
            <a:ext cx="320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8A8A8A"/>
                </a:solidFill>
              </a:rPr>
              <a:t>(f)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" y="3017520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Walk through walls in an online game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74920" y="3044951"/>
            <a:ext cx="960120" cy="274320"/>
          </a:xfrm>
          <a:prstGeom prst="roundRect">
            <a:avLst>
              <a:gd name="adj" fmla="val 18000"/>
            </a:avLst>
          </a:prstGeom>
          <a:solidFill>
            <a:srgbClr val="E4793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Yes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2200" y="3017520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i="1">
                <a:solidFill>
                  <a:srgbClr val="8A8A8A"/>
                </a:solidFill>
              </a:rPr>
              <a:t>players will share it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3401568"/>
            <a:ext cx="320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8A8A8A"/>
                </a:solidFill>
              </a:rPr>
              <a:t>(g)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" y="3401568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“Confirm your address here” text with link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74920" y="3428999"/>
            <a:ext cx="960120" cy="274320"/>
          </a:xfrm>
          <a:prstGeom prst="roundRect">
            <a:avLst>
              <a:gd name="adj" fmla="val 18000"/>
            </a:avLst>
          </a:prstGeom>
          <a:solidFill>
            <a:srgbClr val="E4793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Yes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2200" y="3401568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i="1">
                <a:solidFill>
                  <a:srgbClr val="8A8A8A"/>
                </a:solidFill>
              </a:rPr>
              <a:t>phishing: people are the weakest link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3785615"/>
            <a:ext cx="320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8A8A8A"/>
                </a:solidFill>
              </a:rPr>
              <a:t>(h)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" y="3785615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Two snacks when the power flickers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074920" y="3813048"/>
            <a:ext cx="960120" cy="274320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Depends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72200" y="3785615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i="1">
                <a:solidFill>
                  <a:srgbClr val="8A8A8A"/>
                </a:solidFill>
              </a:rPr>
              <a:t>can someone cause the flicker?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Q5: The gradebook Attack Surface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000"/>
          </a:bodyPr>
          <a:lstStyle/>
          <a:p>
            <a:pPr marL="0" indent="0">
              <a:buNone/>
            </a:pPr>
            <a:r>
              <a:t>gradebook runs on a department server and makes these calls: (1) reads the roster from a file only the instructor can modify; (2) reads homework uploaded by students; (3) listens on a network port where TAs enter grades; (4) reads its own executable and libraries, installed by the admin.</a:t>
            </a:r>
          </a:p>
          <a:p>
            <a:pPr lvl="1"/>
            <a:r>
              <a:t>(a) If the adversary is a student in the class, which calls are on the attack surface?</a:t>
            </a:r>
          </a:p>
          <a:p>
            <a:pPr lvl="1"/>
            <a:r>
              <a:t>(b) What changes if the adversary is anyone on the Internet and the server is reachable?</a:t>
            </a:r>
          </a:p>
          <a:p>
            <a:pPr lvl="1"/>
            <a:r>
              <a:t>(c) Suggest one change that makes the attack surface smaller.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Q5: The gradebook Attack Surface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3520440" y="2194560"/>
            <a:ext cx="2103120" cy="777240"/>
          </a:xfrm>
          <a:prstGeom prst="roundRect">
            <a:avLst>
              <a:gd name="adj" fmla="val 18000"/>
            </a:avLst>
          </a:prstGeom>
          <a:solidFill>
            <a:srgbClr val="1E2430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gradebook</a:t>
            </a:r>
          </a:p>
          <a:p>
            <a:pPr algn="ctr"/>
            <a:r>
              <a:rPr sz="1000" b="0" i="1">
                <a:solidFill>
                  <a:srgbClr val="FFFFFF"/>
                </a:solidFill>
              </a:rPr>
              <a:t>department server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1143000"/>
            <a:ext cx="2560320" cy="640080"/>
          </a:xfrm>
          <a:prstGeom prst="roundRect">
            <a:avLst>
              <a:gd name="adj" fmla="val 18000"/>
            </a:avLst>
          </a:prstGeom>
          <a:solidFill>
            <a:srgbClr val="E6E6E6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100" b="1" i="0">
                <a:solidFill>
                  <a:srgbClr val="000000"/>
                </a:solidFill>
              </a:rPr>
              <a:t>(1) Class roster</a:t>
            </a:r>
          </a:p>
          <a:p>
            <a:pPr algn="ctr"/>
            <a:r>
              <a:rPr sz="900" b="0" i="1">
                <a:solidFill>
                  <a:srgbClr val="000000"/>
                </a:solidFill>
              </a:rPr>
              <a:t>only the instructor can modify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1819656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8A8A8A"/>
                </a:solidFill>
              </a:rPr>
              <a:t>not on the surface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3063240"/>
            <a:ext cx="2560320" cy="640080"/>
          </a:xfrm>
          <a:prstGeom prst="roundRect">
            <a:avLst>
              <a:gd name="adj" fmla="val 18000"/>
            </a:avLst>
          </a:prstGeom>
          <a:solidFill>
            <a:srgbClr val="E4793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100" b="1" i="0">
                <a:solidFill>
                  <a:srgbClr val="000000"/>
                </a:solidFill>
              </a:rPr>
              <a:t>(2) Homework submissions</a:t>
            </a:r>
          </a:p>
          <a:p>
            <a:pPr algn="ctr"/>
            <a:r>
              <a:rPr sz="900" b="0" i="1">
                <a:solidFill>
                  <a:srgbClr val="000000"/>
                </a:solidFill>
              </a:rPr>
              <a:t>uploaded by students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739896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1">
                <a:solidFill>
                  <a:srgbClr val="C0392B"/>
                </a:solidFill>
              </a:rPr>
              <a:t>student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0" y="1143000"/>
            <a:ext cx="2560320" cy="640080"/>
          </a:xfrm>
          <a:prstGeom prst="roundRect">
            <a:avLst>
              <a:gd name="adj" fmla="val 18000"/>
            </a:avLst>
          </a:prstGeom>
          <a:solidFill>
            <a:srgbClr val="E4793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100" b="1" i="0">
                <a:solidFill>
                  <a:srgbClr val="000000"/>
                </a:solidFill>
              </a:rPr>
              <a:t>(3) Network port for TAs</a:t>
            </a:r>
          </a:p>
          <a:p>
            <a:pPr algn="ctr"/>
            <a:r>
              <a:rPr sz="900" b="0" i="1">
                <a:solidFill>
                  <a:srgbClr val="000000"/>
                </a:solidFill>
              </a:rPr>
              <a:t>anyone who can connect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1819656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1">
                <a:solidFill>
                  <a:srgbClr val="C0392B"/>
                </a:solidFill>
              </a:rPr>
              <a:t>student, maybe Internet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35040" y="3063240"/>
            <a:ext cx="2560320" cy="640080"/>
          </a:xfrm>
          <a:prstGeom prst="roundRect">
            <a:avLst>
              <a:gd name="adj" fmla="val 18000"/>
            </a:avLst>
          </a:prstGeom>
          <a:solidFill>
            <a:srgbClr val="E6E6E6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100" b="1" i="0">
                <a:solidFill>
                  <a:srgbClr val="000000"/>
                </a:solidFill>
              </a:rPr>
              <a:t>(4) Executable and libraries</a:t>
            </a:r>
          </a:p>
          <a:p>
            <a:pPr algn="ctr"/>
            <a:r>
              <a:rPr sz="900" b="0" i="1">
                <a:solidFill>
                  <a:srgbClr val="000000"/>
                </a:solidFill>
              </a:rPr>
              <a:t>installed by the admin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3739896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8A8A8A"/>
                </a:solidFill>
              </a:rPr>
              <a:t>not on the surface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108960" y="1600200"/>
            <a:ext cx="411480" cy="731520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</p:spPr>
      </p:cxnSp>
      <p:cxnSp>
        <p:nvCxnSpPr>
          <p:cNvPr id="52" name="Connector 51"/>
          <p:cNvCxnSpPr/>
          <p:nvPr/>
        </p:nvCxnSpPr>
        <p:spPr>
          <a:xfrm flipV="1">
            <a:off x="3108960" y="2834640"/>
            <a:ext cx="411480" cy="457200"/>
          </a:xfrm>
          <a:prstGeom prst="line">
            <a:avLst/>
          </a:prstGeom>
          <a:ln w="19050">
            <a:solidFill>
              <a:srgbClr val="E47932"/>
            </a:solidFill>
            <a:tailEnd type="triangle" w="med" len="med"/>
          </a:ln>
        </p:spPr>
      </p:cxnSp>
      <p:cxnSp>
        <p:nvCxnSpPr>
          <p:cNvPr id="53" name="Connector 52"/>
          <p:cNvCxnSpPr/>
          <p:nvPr/>
        </p:nvCxnSpPr>
        <p:spPr>
          <a:xfrm flipH="1">
            <a:off x="5623560" y="1600200"/>
            <a:ext cx="411480" cy="731520"/>
          </a:xfrm>
          <a:prstGeom prst="line">
            <a:avLst/>
          </a:prstGeom>
          <a:ln w="19050">
            <a:solidFill>
              <a:srgbClr val="E47932"/>
            </a:solidFill>
            <a:tailEnd type="triangle" w="med" len="med"/>
          </a:ln>
        </p:spPr>
      </p:cxnSp>
      <p:cxnSp>
        <p:nvCxnSpPr>
          <p:cNvPr id="54" name="Connector 53"/>
          <p:cNvCxnSpPr/>
          <p:nvPr/>
        </p:nvCxnSpPr>
        <p:spPr>
          <a:xfrm flipH="1" flipV="1">
            <a:off x="5623560" y="2834640"/>
            <a:ext cx="411480" cy="457200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</p:spPr>
      </p:cxnSp>
      <p:sp>
        <p:nvSpPr>
          <p:cNvPr id="55" name="TextBox 54"/>
          <p:cNvSpPr txBox="1"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1">
                <a:solidFill>
                  <a:srgbClr val="C0392B"/>
                </a:solidFill>
              </a:rPr>
              <a:t>Smaller surface: restrict who reaches the port, check submissions first, run with fewer privileges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Q6: The Morris Worm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000"/>
          </a:bodyPr>
          <a:lstStyle/>
          <a:p>
            <a:pPr marL="0" indent="0">
              <a:buNone/>
            </a:pPr>
            <a:r>
              <a:t>The Morris worm (1988) used a buffer overflow in fingerd, cracked passwords, and spread to other hosts. It did not steal or modify data, but reinfected machines until they slowed to a halt.</a:t>
            </a:r>
          </a:p>
          <a:p>
            <a:pPr lvl="1"/>
            <a:r>
              <a:t>(a) Which of confidentiality, integrity and availability did the worm violate?</a:t>
            </a:r>
          </a:p>
          <a:p>
            <a:pPr lvl="1"/>
            <a:r>
              <a:t>(b) Morris said it was an experiment. Does intent matter? Would a similar experiment against machines you do not own be acceptable today?</a:t>
            </a:r>
          </a:p>
          <a:p>
            <a:pPr lvl="1"/>
            <a:r>
              <a:t>(c) Code Red (2001) and SQL Slammer (2003) later exploited the same type of flaw, with patches already available. Why did the same kind of attack keep working?</a:t>
            </a:r>
          </a:p>
          <a:p>
            <a:pPr lvl="1"/>
            <a:r>
              <a:t>(d) Defenses that followed: no services as root; firewalls / AV rules; making injected code harder to run. For each, what does it limit, and what does it not fix?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Q6: The Morris Worm (1/2)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</a:rPr>
              <a:t>(a) Which properties did it violate?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1463040"/>
            <a:ext cx="2560320" cy="777240"/>
          </a:xfrm>
          <a:prstGeom prst="roundRect">
            <a:avLst>
              <a:gd name="adj" fmla="val 18000"/>
            </a:avLst>
          </a:prstGeom>
          <a:solidFill>
            <a:srgbClr val="1E2430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Availability</a:t>
            </a:r>
          </a:p>
          <a:p>
            <a:pPr algn="ctr"/>
            <a:r>
              <a:rPr sz="1000" b="0" i="1">
                <a:solidFill>
                  <a:srgbClr val="FFFFFF"/>
                </a:solidFill>
              </a:rPr>
              <a:t>the main one: reinfection slowed machines to a halt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73552" y="1463040"/>
            <a:ext cx="2560320" cy="777240"/>
          </a:xfrm>
          <a:prstGeom prst="roundRect">
            <a:avLst>
              <a:gd name="adj" fmla="val 18000"/>
            </a:avLst>
          </a:prstGeom>
          <a:solidFill>
            <a:srgbClr val="E4793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Integrity</a:t>
            </a:r>
          </a:p>
          <a:p>
            <a:pPr algn="ctr"/>
            <a:r>
              <a:rPr sz="1000" b="0" i="1">
                <a:solidFill>
                  <a:srgbClr val="000000"/>
                </a:solidFill>
              </a:rPr>
              <a:t>of the fingerd process, which ran the worm’s code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98464" y="1463040"/>
            <a:ext cx="2560320" cy="777240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Confidentiality</a:t>
            </a:r>
          </a:p>
          <a:p>
            <a:pPr algn="ctr"/>
            <a:r>
              <a:rPr sz="1000" b="0" i="1">
                <a:solidFill>
                  <a:srgbClr val="000000"/>
                </a:solidFill>
              </a:rPr>
              <a:t>cracked passwords, even though no data was taken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2514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</a:rPr>
              <a:t>(b) “It was just an experiment.” Does intent matter?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2880360"/>
            <a:ext cx="3931920" cy="822960"/>
          </a:xfrm>
          <a:prstGeom prst="roundRect">
            <a:avLst>
              <a:gd name="adj" fmla="val 18000"/>
            </a:avLst>
          </a:prstGeom>
          <a:solidFill>
            <a:srgbClr val="D9E5EF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200" b="1" i="0">
                <a:solidFill>
                  <a:srgbClr val="000000"/>
                </a:solidFill>
              </a:rPr>
              <a:t>For judging the person: yes</a:t>
            </a:r>
          </a:p>
          <a:p>
            <a:pPr algn="ctr"/>
            <a:r>
              <a:rPr sz="1000" b="0" i="1">
                <a:solidFill>
                  <a:srgbClr val="000000"/>
                </a:solidFill>
              </a:rPr>
              <a:t>an accident is not the same as malice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63440" y="2880360"/>
            <a:ext cx="3931920" cy="822960"/>
          </a:xfrm>
          <a:prstGeom prst="roundRect">
            <a:avLst>
              <a:gd name="adj" fmla="val 18000"/>
            </a:avLst>
          </a:prstGeom>
          <a:solidFill>
            <a:srgbClr val="E4793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200" b="1" i="0">
                <a:solidFill>
                  <a:srgbClr val="000000"/>
                </a:solidFill>
              </a:rPr>
              <a:t>For the harm and the law: no</a:t>
            </a:r>
          </a:p>
          <a:p>
            <a:pPr algn="ctr"/>
            <a:r>
              <a:rPr sz="1000" b="0" i="1">
                <a:solidFill>
                  <a:srgbClr val="000000"/>
                </a:solidFill>
              </a:rPr>
              <a:t>unauthorized access is illegal either way (CFAA). Only attack what we give you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Q6: The Morris Worm (2/2)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</a:rPr>
              <a:t>(c) Why did the same kind of attack keep working (Code Red 2001, Slammer 2003)?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1463040"/>
            <a:ext cx="1874519" cy="685800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200" b="1" i="0">
                <a:solidFill>
                  <a:srgbClr val="000000"/>
                </a:solidFill>
              </a:rPr>
              <a:t>Easy to make</a:t>
            </a:r>
          </a:p>
          <a:p>
            <a:pPr algn="ctr"/>
            <a:r>
              <a:rPr sz="900" b="0" i="1">
                <a:solidFill>
                  <a:srgbClr val="000000"/>
                </a:solidFill>
              </a:rPr>
              <a:t>memory errors in C stayed common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78608" y="1463040"/>
            <a:ext cx="1874519" cy="685800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200" b="1" i="0">
                <a:solidFill>
                  <a:srgbClr val="000000"/>
                </a:solidFill>
              </a:rPr>
              <a:t>Not patched</a:t>
            </a:r>
          </a:p>
          <a:p>
            <a:pPr algn="ctr"/>
            <a:r>
              <a:rPr sz="900" b="0" i="1">
                <a:solidFill>
                  <a:srgbClr val="000000"/>
                </a:solidFill>
              </a:rPr>
              <a:t>fixes existed but were not installed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08576" y="1463040"/>
            <a:ext cx="1874519" cy="685800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200" b="1" i="0">
                <a:solidFill>
                  <a:srgbClr val="000000"/>
                </a:solidFill>
              </a:rPr>
              <a:t>Too much privilege</a:t>
            </a:r>
          </a:p>
          <a:p>
            <a:pPr algn="ctr"/>
            <a:r>
              <a:rPr sz="900" b="0" i="1">
                <a:solidFill>
                  <a:srgbClr val="000000"/>
                </a:solidFill>
              </a:rPr>
              <a:t>one bug gave full control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38544" y="1463040"/>
            <a:ext cx="1874519" cy="685800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200" b="1" i="0">
                <a:solidFill>
                  <a:srgbClr val="000000"/>
                </a:solidFill>
              </a:rPr>
              <a:t>Reactive</a:t>
            </a:r>
          </a:p>
          <a:p>
            <a:pPr algn="ctr"/>
            <a:r>
              <a:rPr sz="900" b="0" i="1">
                <a:solidFill>
                  <a:srgbClr val="000000"/>
                </a:solidFill>
              </a:rPr>
              <a:t>fix the last attack, not the class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237744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</a:rPr>
              <a:t>(d) What does each defense limit, and what does it not fix?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2670048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A8A8A"/>
                </a:solidFill>
              </a:rPr>
              <a:t>Limits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2670048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A8A8A"/>
                </a:solidFill>
              </a:rPr>
              <a:t>Does not fix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2926080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</a:rPr>
              <a:t>Don’t run services as root</a:t>
            </a:r>
          </a:p>
        </p:txBody>
      </p:sp>
      <p:sp>
        <p:nvSpPr>
          <p:cNvPr id="51" name="Oval 50"/>
          <p:cNvSpPr/>
          <p:nvPr/>
        </p:nvSpPr>
        <p:spPr>
          <a:xfrm>
            <a:off x="3017520" y="2971800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292608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what a compromise gives</a:t>
            </a:r>
          </a:p>
        </p:txBody>
      </p:sp>
      <p:sp>
        <p:nvSpPr>
          <p:cNvPr id="53" name="Oval 52"/>
          <p:cNvSpPr/>
          <p:nvPr/>
        </p:nvSpPr>
        <p:spPr>
          <a:xfrm>
            <a:off x="5669280" y="2971800"/>
            <a:ext cx="201168" cy="20116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292608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the bug is still there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3255264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</a:rPr>
              <a:t>Firewalls, antivirus rules</a:t>
            </a:r>
          </a:p>
        </p:txBody>
      </p:sp>
      <p:sp>
        <p:nvSpPr>
          <p:cNvPr id="56" name="Oval 55"/>
          <p:cNvSpPr/>
          <p:nvPr/>
        </p:nvSpPr>
        <p:spPr>
          <a:xfrm>
            <a:off x="3017520" y="3300984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91840" y="3255264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known attacks</a:t>
            </a:r>
          </a:p>
        </p:txBody>
      </p:sp>
      <p:sp>
        <p:nvSpPr>
          <p:cNvPr id="58" name="Oval 57"/>
          <p:cNvSpPr/>
          <p:nvPr/>
        </p:nvSpPr>
        <p:spPr>
          <a:xfrm>
            <a:off x="5669280" y="3300984"/>
            <a:ext cx="201168" cy="20116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0" y="3255264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new (zero-day) attacks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3584448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</a:rPr>
              <a:t>Harder to run injected code</a:t>
            </a:r>
          </a:p>
        </p:txBody>
      </p:sp>
      <p:sp>
        <p:nvSpPr>
          <p:cNvPr id="61" name="Oval 60"/>
          <p:cNvSpPr/>
          <p:nvPr/>
        </p:nvSpPr>
        <p:spPr>
          <a:xfrm>
            <a:off x="3017520" y="3630168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91840" y="358444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how easy exploits are</a:t>
            </a:r>
          </a:p>
        </p:txBody>
      </p:sp>
      <p:sp>
        <p:nvSpPr>
          <p:cNvPr id="63" name="Oval 62"/>
          <p:cNvSpPr/>
          <p:nvPr/>
        </p:nvSpPr>
        <p:spPr>
          <a:xfrm>
            <a:off x="5669280" y="3630168"/>
            <a:ext cx="201168" cy="20116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358444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</a:rPr>
              <a:t>the memory error itself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1">
                <a:solidFill>
                  <a:srgbClr val="C0392B"/>
                </a:solidFill>
              </a:rPr>
              <a:t>None of them removes the flaw: that takes fixing the code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Q7: Memory Errors in Real Life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000"/>
          </a:bodyPr>
          <a:lstStyle/>
          <a:p>
            <a:pPr marL="0" indent="0">
              <a:buNone/>
            </a:pPr>
            <a:r>
              <a:t>Lecture 4 classified memory errors as spatial, type, or temporal (use-before-initialization, use-after-free). Match each everyday analogy:</a:t>
            </a:r>
          </a:p>
          <a:p>
            <a:pPr lvl="1"/>
            <a:r>
              <a:t>(a) You keep stacking boxes in a 10-shelf locker and they end up in your neighbor's</a:t>
            </a:r>
          </a:p>
          <a:p>
            <a:pPr lvl="1"/>
            <a:r>
              <a:t>(b) You keep your hotel key card after checkout; it still opens the room, now someone else's</a:t>
            </a:r>
          </a:p>
          <a:p>
            <a:pPr lvl="1"/>
            <a:r>
              <a:t>(c) You read a letter from your bank as a birthday card, treating the account number as a date</a:t>
            </a:r>
          </a:p>
          <a:p>
            <a:pPr lvl="1"/>
            <a:r>
              <a:t>(d) You use a locker before being assigned one, using a number from an old sticky note</a:t>
            </a:r>
          </a:p>
          <a:p>
            <a:r>
              <a:t>Why does C let all of these happen, while Python or Java do not?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Q7: Memory Errors in Real Life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48640" y="1188720"/>
            <a:ext cx="3931920" cy="868680"/>
          </a:xfrm>
          <a:prstGeom prst="roundRect">
            <a:avLst>
              <a:gd name="adj" fmla="val 18000"/>
            </a:avLst>
          </a:prstGeom>
          <a:solidFill>
            <a:srgbClr val="E4793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Spatial</a:t>
            </a:r>
          </a:p>
          <a:p>
            <a:pPr algn="ctr"/>
            <a:r>
              <a:rPr sz="1000" b="0" i="1">
                <a:solidFill>
                  <a:srgbClr val="000000"/>
                </a:solidFill>
              </a:rPr>
              <a:t>Boxes spill from your locker into your neighbor’s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63440" y="1188720"/>
            <a:ext cx="3931920" cy="868680"/>
          </a:xfrm>
          <a:prstGeom prst="roundRect">
            <a:avLst>
              <a:gd name="adj" fmla="val 18000"/>
            </a:avLst>
          </a:prstGeom>
          <a:solidFill>
            <a:srgbClr val="1E2430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Use-after-free</a:t>
            </a:r>
          </a:p>
          <a:p>
            <a:pPr algn="ctr"/>
            <a:r>
              <a:rPr sz="1000" b="0" i="1">
                <a:solidFill>
                  <a:srgbClr val="FFFFFF"/>
                </a:solidFill>
              </a:rPr>
              <a:t>Your old hotel key still opens the room, now someone else’s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2240280"/>
            <a:ext cx="3931920" cy="868680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Type error</a:t>
            </a:r>
          </a:p>
          <a:p>
            <a:pPr algn="ctr"/>
            <a:r>
              <a:rPr sz="1000" b="0" i="1">
                <a:solidFill>
                  <a:srgbClr val="000000"/>
                </a:solidFill>
              </a:rPr>
              <a:t>Reading a bank letter as a birthday card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63440" y="2240280"/>
            <a:ext cx="3931920" cy="868680"/>
          </a:xfrm>
          <a:prstGeom prst="roundRect">
            <a:avLst>
              <a:gd name="adj" fmla="val 18000"/>
            </a:avLst>
          </a:prstGeom>
          <a:solidFill>
            <a:srgbClr val="1E2430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Use-before-init</a:t>
            </a:r>
          </a:p>
          <a:p>
            <a:pPr algn="ctr"/>
            <a:r>
              <a:rPr sz="1000" b="0" i="1">
                <a:solidFill>
                  <a:srgbClr val="FFFFFF"/>
                </a:solidFill>
              </a:rPr>
              <a:t>Using a locker number from an old sticky note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3429000"/>
            <a:ext cx="8046720" cy="640080"/>
          </a:xfrm>
          <a:prstGeom prst="roundRect">
            <a:avLst>
              <a:gd name="adj" fmla="val 18000"/>
            </a:avLst>
          </a:prstGeom>
          <a:solidFill>
            <a:srgbClr val="D9E5EF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200" b="1" i="0">
                <a:solidFill>
                  <a:srgbClr val="000000"/>
                </a:solidFill>
              </a:rPr>
              <a:t>Why C? Nothing keeps pointers and objects in sync</a:t>
            </a:r>
          </a:p>
          <a:p>
            <a:pPr algn="ctr"/>
            <a:r>
              <a:rPr sz="1000" b="0" i="1">
                <a:solidFill>
                  <a:srgbClr val="000000"/>
                </a:solidFill>
              </a:rPr>
              <a:t>no bounds or type checks, for speed. Python and Java check at run time and manage memory for you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 Away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Security is about an adversary who makes things fail on purpose</a:t>
            </a:r>
          </a:p>
          <a:p>
            <a:r>
              <a:t>Name the property at stake, and the threat (CIA, STRIDE)</a:t>
            </a:r>
          </a:p>
          <a:p>
            <a:r>
              <a:t>A flaw is a vulnerability only if an adversary can reach it</a:t>
            </a:r>
          </a:p>
          <a:p>
            <a:r>
              <a:t>“Is it secure?” needs a threat model: secure against whom?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48640" y="3291840"/>
            <a:ext cx="2514600" cy="640080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Weakness</a:t>
            </a:r>
          </a:p>
          <a:p>
            <a:pPr algn="ctr"/>
            <a:r>
              <a:rPr sz="900" b="0" i="1">
                <a:solidFill>
                  <a:srgbClr val="000000"/>
                </a:solidFill>
              </a:rPr>
              <a:t>a flaw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10128" y="3291840"/>
            <a:ext cx="2514600" cy="640080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Vulnerability</a:t>
            </a:r>
          </a:p>
          <a:p>
            <a:pPr algn="ctr"/>
            <a:r>
              <a:rPr sz="900" b="0" i="1">
                <a:solidFill>
                  <a:srgbClr val="000000"/>
                </a:solidFill>
              </a:rPr>
              <a:t>a flaw an adversary can reach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80760" y="3291840"/>
            <a:ext cx="2514600" cy="640080"/>
          </a:xfrm>
          <a:prstGeom prst="roundRect">
            <a:avLst>
              <a:gd name="adj" fmla="val 18000"/>
            </a:avLst>
          </a:prstGeom>
          <a:solidFill>
            <a:srgbClr val="E4793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Exploit → Attack</a:t>
            </a:r>
          </a:p>
          <a:p>
            <a:pPr algn="ctr"/>
            <a:r>
              <a:rPr sz="900" b="0" i="1">
                <a:solidFill>
                  <a:srgbClr val="000000"/>
                </a:solidFill>
              </a:rPr>
              <a:t>the input, then using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90301506474]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2512</Words>
  <Application>Microsoft Macintosh PowerPoint</Application>
  <PresentationFormat>On-screen Show (16:9)</PresentationFormat>
  <Paragraphs>269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 [1790301506474]</vt:lpstr>
      <vt:lpstr>CS 165: Computer Security</vt:lpstr>
      <vt:lpstr>Q1: CIA for the Campus ID Card</vt:lpstr>
      <vt:lpstr>Q1: CIA for the Campus ID Card</vt:lpstr>
      <vt:lpstr>Q2: STRIDE on the Campus Card</vt:lpstr>
      <vt:lpstr>Q2: STRIDE on the Campus Card</vt:lpstr>
      <vt:lpstr>Q3: Climb the Ladder</vt:lpstr>
      <vt:lpstr>Q3: Climb the Ladder</vt:lpstr>
      <vt:lpstr>Q4: Thinking Like an Adversary</vt:lpstr>
      <vt:lpstr>Q4: Thinking Like an Adversary</vt:lpstr>
      <vt:lpstr>Q5: The gradebook Attack Surface</vt:lpstr>
      <vt:lpstr>Q5: The gradebook Attack Surface</vt:lpstr>
      <vt:lpstr>Q6: The Morris Worm</vt:lpstr>
      <vt:lpstr>Q6: The Morris Worm (1/2)</vt:lpstr>
      <vt:lpstr>Q6: The Morris Worm (2/2)</vt:lpstr>
      <vt:lpstr>Q7: Memory Errors in Real Life</vt:lpstr>
      <vt:lpstr>Q7: Memory Errors in Real Life</vt:lpstr>
      <vt:lpstr>Take Away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Emiliano De Cristofaro</cp:lastModifiedBy>
  <cp:revision>6</cp:revision>
  <dcterms:modified xsi:type="dcterms:W3CDTF">2026-10-12T19:57:49Z</dcterms:modified>
</cp:coreProperties>
</file>