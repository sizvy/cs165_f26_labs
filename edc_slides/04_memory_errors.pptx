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sldIdLst>
    <p:sldId id="256" r:id="rId1000"/>
    <p:sldId id="257" r:id="rId1001"/>
    <p:sldId id="258" r:id="rId1002"/>
    <p:sldId id="259" r:id="rId1003"/>
    <p:sldId id="260" r:id="rId1004"/>
    <p:sldId id="261" r:id="rId1005"/>
    <p:sldId id="262" r:id="rId1006"/>
    <p:sldId id="263" r:id="rId1007"/>
    <p:sldId id="264" r:id="rId1008"/>
    <p:sldId id="265" r:id="rId1009"/>
    <p:sldId id="266" r:id="rId1010"/>
    <p:sldId id="267" r:id="rId1011"/>
    <p:sldId id="268" r:id="rId1012"/>
    <p:sldId id="269" r:id="rId1013"/>
    <p:sldId id="270" r:id="rId1014"/>
    <p:sldId id="271" r:id="rId1015"/>
    <p:sldId id="272" r:id="rId1016"/>
    <p:sldId id="273" r:id="rId1017"/>
    <p:sldId id="274" r:id="rId1018"/>
    <p:sldId id="275" r:id="rId1019"/>
    <p:sldId id="276" r:id="rId1020"/>
    <p:sldId id="277" r:id="rId1021"/>
    <p:sldId id="278" r:id="rId1022"/>
    <p:sldId id="279" r:id="rId1023"/>
    <p:sldId id="280" r:id="rId1024"/>
    <p:sldId id="281" r:id="rId1025"/>
    <p:sldId id="282" r:id="rId1026"/>
    <p:sldId id="283" r:id="rId1027"/>
    <p:sldId id="284" r:id="rId1028"/>
    <p:sldId id="285" r:id="rId1029"/>
    <p:sldId id="286" r:id="rId1030"/>
    <p:sldId id="287" r:id="rId1031"/>
    <p:sldId id="288" r:id="rId1032"/>
    <p:sldId id="289" r:id="rId103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96F481-76FE-430A-8033-0D9017D95D37}">
  <a:tblStyle styleId="{9096F481-76FE-430A-8033-0D9017D95D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1F7BAC6-EEA7-4524-A375-4FD7C61763D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9"/>
  </p:normalViewPr>
  <p:slideViewPr>
    <p:cSldViewPr snapToGrid="0">
      <p:cViewPr varScale="1">
        <p:scale>
          <a:sx n="153" d="100"/>
          <a:sy n="153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9" Type="http://schemas.openxmlformats.org/officeDocument/2006/relationships/viewProps" Target="viewProps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40" Type="http://schemas.openxmlformats.org/officeDocument/2006/relationships/theme" Target="theme/theme1.xml"/><Relationship Id="rId38" Type="http://schemas.openxmlformats.org/officeDocument/2006/relationships/presProps" Target="presProps.xml"/><Relationship Id="rId1000" Type="http://schemas.openxmlformats.org/officeDocument/2006/relationships/slide" Target="slides/slide1.xml"/><Relationship Id="rId1001" Type="http://schemas.openxmlformats.org/officeDocument/2006/relationships/slide" Target="slides/slide2.xml"/><Relationship Id="rId1002" Type="http://schemas.openxmlformats.org/officeDocument/2006/relationships/slide" Target="slides/slide3.xml"/><Relationship Id="rId1003" Type="http://schemas.openxmlformats.org/officeDocument/2006/relationships/slide" Target="slides/slide4.xml"/><Relationship Id="rId1004" Type="http://schemas.openxmlformats.org/officeDocument/2006/relationships/slide" Target="slides/slide5.xml"/><Relationship Id="rId1005" Type="http://schemas.openxmlformats.org/officeDocument/2006/relationships/slide" Target="slides/slide6.xml"/><Relationship Id="rId1006" Type="http://schemas.openxmlformats.org/officeDocument/2006/relationships/slide" Target="slides/slide7.xml"/><Relationship Id="rId1007" Type="http://schemas.openxmlformats.org/officeDocument/2006/relationships/slide" Target="slides/slide8.xml"/><Relationship Id="rId1008" Type="http://schemas.openxmlformats.org/officeDocument/2006/relationships/slide" Target="slides/slide9.xml"/><Relationship Id="rId1009" Type="http://schemas.openxmlformats.org/officeDocument/2006/relationships/slide" Target="slides/slide10.xml"/><Relationship Id="rId1010" Type="http://schemas.openxmlformats.org/officeDocument/2006/relationships/slide" Target="slides/slide11.xml"/><Relationship Id="rId1011" Type="http://schemas.openxmlformats.org/officeDocument/2006/relationships/slide" Target="slides/slide12.xml"/><Relationship Id="rId1012" Type="http://schemas.openxmlformats.org/officeDocument/2006/relationships/slide" Target="slides/slide13.xml"/><Relationship Id="rId1013" Type="http://schemas.openxmlformats.org/officeDocument/2006/relationships/slide" Target="slides/slide14.xml"/><Relationship Id="rId1014" Type="http://schemas.openxmlformats.org/officeDocument/2006/relationships/slide" Target="slides/slide15.xml"/><Relationship Id="rId1015" Type="http://schemas.openxmlformats.org/officeDocument/2006/relationships/slide" Target="slides/slide16.xml"/><Relationship Id="rId1016" Type="http://schemas.openxmlformats.org/officeDocument/2006/relationships/slide" Target="slides/slide17.xml"/><Relationship Id="rId1017" Type="http://schemas.openxmlformats.org/officeDocument/2006/relationships/slide" Target="slides/slide18.xml"/><Relationship Id="rId1018" Type="http://schemas.openxmlformats.org/officeDocument/2006/relationships/slide" Target="slides/slide19.xml"/><Relationship Id="rId1019" Type="http://schemas.openxmlformats.org/officeDocument/2006/relationships/slide" Target="slides/slide20.xml"/><Relationship Id="rId1020" Type="http://schemas.openxmlformats.org/officeDocument/2006/relationships/slide" Target="slides/slide21.xml"/><Relationship Id="rId1021" Type="http://schemas.openxmlformats.org/officeDocument/2006/relationships/slide" Target="slides/slide22.xml"/><Relationship Id="rId1022" Type="http://schemas.openxmlformats.org/officeDocument/2006/relationships/slide" Target="slides/slide23.xml"/><Relationship Id="rId1023" Type="http://schemas.openxmlformats.org/officeDocument/2006/relationships/slide" Target="slides/slide24.xml"/><Relationship Id="rId1024" Type="http://schemas.openxmlformats.org/officeDocument/2006/relationships/slide" Target="slides/slide25.xml"/><Relationship Id="rId1025" Type="http://schemas.openxmlformats.org/officeDocument/2006/relationships/slide" Target="slides/slide26.xml"/><Relationship Id="rId1026" Type="http://schemas.openxmlformats.org/officeDocument/2006/relationships/slide" Target="slides/slide27.xml"/><Relationship Id="rId1027" Type="http://schemas.openxmlformats.org/officeDocument/2006/relationships/slide" Target="slides/slide28.xml"/><Relationship Id="rId1028" Type="http://schemas.openxmlformats.org/officeDocument/2006/relationships/slide" Target="slides/slide29.xml"/><Relationship Id="rId1029" Type="http://schemas.openxmlformats.org/officeDocument/2006/relationships/slide" Target="slides/slide30.xml"/><Relationship Id="rId1030" Type="http://schemas.openxmlformats.org/officeDocument/2006/relationships/slide" Target="slides/slide31.xml"/><Relationship Id="rId1031" Type="http://schemas.openxmlformats.org/officeDocument/2006/relationships/slide" Target="slides/slide32.xml"/><Relationship Id="rId1032" Type="http://schemas.openxmlformats.org/officeDocument/2006/relationships/slide" Target="slides/slide33.xml"/><Relationship Id="rId1033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48640" y="160020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8640" y="2450592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548640" y="324612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700"/>
              <a:buNone/>
              <a:defRPr sz="17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48640" y="196596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548640" y="276148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900"/>
              <a:buNone/>
              <a:defRPr sz="1900">
                <a:solidFill>
                  <a:srgbClr val="8A8A8A"/>
                </a:solidFill>
              </a:defRPr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Clr>
                <a:srgbClr val="8A8A8A"/>
              </a:buClr>
              <a:buSzPts val="1200"/>
              <a:buFont typeface="Arial"/>
              <a:buNone/>
              <a:defRPr sz="1200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48640" y="1298448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55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65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655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 algn="l">
              <a:buNone/>
            </a:pPr>
            <a:r>
              <a:t>CS 165: Computer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t>Memory Errors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0" indent="0" algn="l">
              <a:buNone/>
            </a:pPr>
            <a:r>
              <a:t>Emiliano De Cristofaro</a:t>
            </a:r>
          </a:p>
          <a:p>
            <a:pPr marL="0" indent="0" algn="l">
              <a:buNone/>
            </a:pPr>
            <a:r>
              <a:t>University of California, Riverside</a:t>
            </a:r>
          </a:p>
          <a:p>
            <a:pPr marL="0" indent="0" algn="l">
              <a:buNone/>
            </a:pPr>
            <a:r>
              <a:t>Fall 2026  |  Wednesday, October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568" y="0"/>
            <a:ext cx="2868864" cy="979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Why memory errors still dominate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C/C++ memory model: objects vs. pointers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1"/>
              <a:t>Spatial errors</a:t>
            </a:r>
            <a:r>
              <a:t> — strings, bounds, overflows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Writing string code that is actually safe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1"/>
              <a:t>Type errors</a:t>
            </a:r>
            <a:r>
              <a:t> — casts, downcasts, type confusion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1"/>
              <a:t>Temporal errors</a:t>
            </a:r>
            <a:r>
              <a:t> — use-before-initialization, use-after-free</a:t>
            </a:r>
          </a:p>
        </p:txBody>
      </p:sp>
      <p:sp>
        <p:nvSpPr>
          <p:cNvPr id="9001" name="Viz roundRect 9001"/>
          <p:cNvSpPr/>
          <p:nvPr/>
        </p:nvSpPr>
        <p:spPr>
          <a:xfrm>
            <a:off x="685800" y="406908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Spatial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out-of-bounds access</a:t>
            </a:r>
          </a:p>
        </p:txBody>
      </p:sp>
      <p:sp>
        <p:nvSpPr>
          <p:cNvPr id="9002" name="Viz roundRect 9002"/>
          <p:cNvSpPr/>
          <p:nvPr/>
        </p:nvSpPr>
        <p:spPr>
          <a:xfrm>
            <a:off x="3383280" y="406908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Type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wrong interpretation</a:t>
            </a:r>
          </a:p>
        </p:txBody>
      </p:sp>
      <p:sp>
        <p:nvSpPr>
          <p:cNvPr id="9003" name="Viz roundRect 9003"/>
          <p:cNvSpPr/>
          <p:nvPr/>
        </p:nvSpPr>
        <p:spPr>
          <a:xfrm>
            <a:off x="6080760" y="406908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Temporal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wrong time: UBI, UAF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Errors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Bugs in C/C++ can violate </a:t>
            </a:r>
            <a:r>
              <a:rPr lang="en-US" b="1"/>
              <a:t>memory safety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C/C++ does not ensure it — by design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Known and exploited for over 50 years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In practice since the Morris worm (1988)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And still the dominant class of vulnerability today</a:t>
            </a:r>
          </a:p>
        </p:txBody>
      </p:sp>
      <p:sp>
        <p:nvSpPr>
          <p:cNvPr id="9004" name="Viz rect 9004"/>
          <p:cNvSpPr/>
          <p:nvPr/>
        </p:nvSpPr>
        <p:spPr>
          <a:xfrm>
            <a:off x="1051560" y="3291840"/>
            <a:ext cx="173736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3400" b="1" i="0">
                <a:solidFill>
                  <a:srgbClr val="E47932"/>
                </a:solidFill>
              </a:rPr>
              <a:t>~70%</a:t>
            </a:r>
          </a:p>
        </p:txBody>
      </p:sp>
      <p:sp>
        <p:nvSpPr>
          <p:cNvPr id="9005" name="Viz rect 9005"/>
          <p:cNvSpPr/>
          <p:nvPr/>
        </p:nvSpPr>
        <p:spPr>
          <a:xfrm>
            <a:off x="2880360" y="3291840"/>
            <a:ext cx="4937760" cy="8686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1150" b="0" i="0">
                <a:solidFill>
                  <a:srgbClr val="000000"/>
                </a:solidFill>
              </a:rPr>
              <a:t>of vulnerabilities reported by Google</a:t>
            </a:r>
          </a:p>
          <a:p>
            <a:pPr algn="l"/>
            <a:r>
              <a:rPr lang="en-US" sz="1150" b="0" i="0">
                <a:solidFill>
                  <a:srgbClr val="000000"/>
                </a:solidFill>
              </a:rPr>
              <a:t>and Microsoft are still memory errors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Cause: Objects vs. Pointers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1"/>
              <a:t>Objects</a:t>
            </a:r>
            <a:r>
              <a:t>: memory regions, allocated on the stack and heap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1"/>
              <a:t>References</a:t>
            </a:r>
            <a:r>
              <a:t>: pointers that hold memory locations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C/C++ manages the two independently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 pointer’s value can be set with no regard for any allocation</a:t>
            </a:r>
          </a:p>
        </p:txBody>
      </p:sp>
      <p:sp>
        <p:nvSpPr>
          <p:cNvPr id="9006" name="Viz roundRect 9006"/>
          <p:cNvSpPr/>
          <p:nvPr/>
        </p:nvSpPr>
        <p:spPr>
          <a:xfrm>
            <a:off x="1280160" y="3246120"/>
            <a:ext cx="1828800" cy="685800"/>
          </a:xfrm>
          <a:prstGeom prst="roundRect">
            <a:avLst>
              <a:gd name="adj" fmla="val 18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pointer x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holds a location</a:t>
            </a:r>
          </a:p>
        </p:txBody>
      </p:sp>
      <p:sp>
        <p:nvSpPr>
          <p:cNvPr id="9007" name="Viz rightArrow 9007"/>
          <p:cNvSpPr/>
          <p:nvPr/>
        </p:nvSpPr>
        <p:spPr>
          <a:xfrm>
            <a:off x="3246120" y="3474720"/>
            <a:ext cx="914400" cy="228600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08" name="Viz roundRect 9008"/>
          <p:cNvSpPr/>
          <p:nvPr/>
        </p:nvSpPr>
        <p:spPr>
          <a:xfrm>
            <a:off x="4297680" y="3246120"/>
            <a:ext cx="2377440" cy="685800"/>
          </a:xfrm>
          <a:prstGeom prst="roundRect">
            <a:avLst>
              <a:gd name="adj" fmla="val 18000"/>
            </a:avLst>
          </a:prstGeom>
          <a:solidFill>
            <a:srgbClr val="F4AB70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object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a memory region</a:t>
            </a:r>
          </a:p>
        </p:txBody>
      </p:sp>
      <p:sp>
        <p:nvSpPr>
          <p:cNvPr id="9009" name="Viz rect 9009"/>
          <p:cNvSpPr/>
          <p:nvPr/>
        </p:nvSpPr>
        <p:spPr>
          <a:xfrm>
            <a:off x="1280160" y="411480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50" b="1" i="1">
                <a:solidFill>
                  <a:srgbClr val="C0392B"/>
                </a:solidFill>
              </a:rPr>
              <a:t>nothing keeps them in sync — that is the programmer’s job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C/C++ Memory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Memory is one giant array of bytes (virtual memory)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char *x = (char *)malloc(size);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>
                <a:latin typeface="Courier New"/>
              </a:rPr>
              <a:t>x</a:t>
            </a:r>
            <a:r>
              <a:t> holds the location of your object somewhere in that array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Keeping </a:t>
            </a:r>
            <a:r>
              <a:rPr lang="en-US">
                <a:latin typeface="Courier New"/>
              </a:rPr>
              <a:t>x</a:t>
            </a:r>
            <a:r>
              <a:t> “in sync” with the object is entirely up to you</a:t>
            </a:r>
          </a:p>
        </p:txBody>
      </p:sp>
      <p:sp>
        <p:nvSpPr>
          <p:cNvPr id="9010" name="Viz rect 9010"/>
          <p:cNvSpPr/>
          <p:nvPr/>
        </p:nvSpPr>
        <p:spPr>
          <a:xfrm>
            <a:off x="822960" y="3520440"/>
            <a:ext cx="7498079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11" name="Viz rect 9011"/>
          <p:cNvSpPr/>
          <p:nvPr/>
        </p:nvSpPr>
        <p:spPr>
          <a:xfrm>
            <a:off x="3108960" y="3520440"/>
            <a:ext cx="1554480" cy="457200"/>
          </a:xfrm>
          <a:prstGeom prst="rect">
            <a:avLst/>
          </a:prstGeom>
          <a:solidFill>
            <a:srgbClr val="F4AB70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9012" name="Viz rect 9012"/>
          <p:cNvSpPr/>
          <p:nvPr/>
        </p:nvSpPr>
        <p:spPr>
          <a:xfrm>
            <a:off x="777240" y="403250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85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013" name="Viz rect 9013"/>
          <p:cNvSpPr/>
          <p:nvPr/>
        </p:nvSpPr>
        <p:spPr>
          <a:xfrm>
            <a:off x="7589520" y="403250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r"/>
            <a:r>
              <a:rPr lang="en-US" sz="850" b="0" i="0">
                <a:solidFill>
                  <a:srgbClr val="000000"/>
                </a:solidFill>
              </a:rPr>
              <a:t>2ⁿ–1</a:t>
            </a:r>
          </a:p>
        </p:txBody>
      </p:sp>
      <p:sp>
        <p:nvSpPr>
          <p:cNvPr id="9014" name="Viz downArrow 9014"/>
          <p:cNvSpPr/>
          <p:nvPr/>
        </p:nvSpPr>
        <p:spPr>
          <a:xfrm>
            <a:off x="3127248" y="3227832"/>
            <a:ext cx="146304" cy="256032"/>
          </a:xfrm>
          <a:prstGeom prst="downArrow">
            <a:avLst/>
          </a:prstGeom>
          <a:solidFill>
            <a:srgbClr val="2E5F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15" name="Viz rect 9015"/>
          <p:cNvSpPr/>
          <p:nvPr/>
        </p:nvSpPr>
        <p:spPr>
          <a:xfrm>
            <a:off x="2743200" y="2953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1" i="0">
                <a:solidFill>
                  <a:srgbClr val="2E5F8A"/>
                </a:solidFill>
              </a:rPr>
              <a:t>x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and Type Safety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Two guarantees a language can give you:</a:t>
            </a:r>
          </a:p>
        </p:txBody>
      </p:sp>
      <p:sp>
        <p:nvSpPr>
          <p:cNvPr id="9016" name="Viz roundRect 9016"/>
          <p:cNvSpPr/>
          <p:nvPr/>
        </p:nvSpPr>
        <p:spPr>
          <a:xfrm>
            <a:off x="822960" y="21031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Memory safety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a reference stays within its object’s bounds and lifetime</a:t>
            </a:r>
          </a:p>
        </p:txBody>
      </p:sp>
      <p:sp>
        <p:nvSpPr>
          <p:cNvPr id="9017" name="Viz roundRect 9017"/>
          <p:cNvSpPr/>
          <p:nvPr/>
        </p:nvSpPr>
        <p:spPr>
          <a:xfrm>
            <a:off x="4754880" y="210312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Type safety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memory is only accessed as the type stored there</a:t>
            </a:r>
          </a:p>
        </p:txBody>
      </p:sp>
      <p:sp>
        <p:nvSpPr>
          <p:cNvPr id="9018" name="Viz rect 9018"/>
          <p:cNvSpPr/>
          <p:nvPr/>
        </p:nvSpPr>
        <p:spPr>
          <a:xfrm>
            <a:off x="822960" y="3474720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200" b="1" i="0">
                <a:solidFill>
                  <a:srgbClr val="C0392B"/>
                </a:solidFill>
              </a:rPr>
              <a:t>C/C++ enforces neither — leading to spatial, type, and temporal errors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 Arithmetic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x = x + i;</a:t>
            </a:r>
            <a:r>
              <a:t>   offsets </a:t>
            </a:r>
            <a:r>
              <a:rPr lang="en-US">
                <a:latin typeface="Courier New"/>
              </a:rPr>
              <a:t>x</a:t>
            </a:r>
            <a:r>
              <a:t> by </a:t>
            </a:r>
            <a:r>
              <a:rPr lang="en-US">
                <a:latin typeface="Courier New"/>
              </a:rPr>
              <a:t>i</a:t>
            </a:r>
            <a:r>
              <a:t> bytes from the start of the object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In theory </a:t>
            </a:r>
            <a:r>
              <a:rPr lang="en-US">
                <a:latin typeface="Courier New"/>
              </a:rPr>
              <a:t>i</a:t>
            </a:r>
            <a:r>
              <a:t> can be </a:t>
            </a:r>
            <a:r>
              <a:rPr lang="en-US" b="1"/>
              <a:t>any</a:t>
            </a:r>
            <a:r>
              <a:t> value — positive, negative, overflowing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Where can </a:t>
            </a:r>
            <a:r>
              <a:rPr lang="en-US">
                <a:latin typeface="Courier New"/>
              </a:rPr>
              <a:t>x</a:t>
            </a:r>
            <a:r>
              <a:t> end up?</a:t>
            </a:r>
          </a:p>
        </p:txBody>
      </p:sp>
      <p:sp>
        <p:nvSpPr>
          <p:cNvPr id="9023" name="Viz rect 9023"/>
          <p:cNvSpPr/>
          <p:nvPr/>
        </p:nvSpPr>
        <p:spPr>
          <a:xfrm>
            <a:off x="822960" y="3520440"/>
            <a:ext cx="7498079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24" name="Viz rect 9024"/>
          <p:cNvSpPr/>
          <p:nvPr/>
        </p:nvSpPr>
        <p:spPr>
          <a:xfrm>
            <a:off x="3108960" y="3520440"/>
            <a:ext cx="1554480" cy="457200"/>
          </a:xfrm>
          <a:prstGeom prst="rect">
            <a:avLst/>
          </a:prstGeom>
          <a:solidFill>
            <a:srgbClr val="F4AB70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object</a:t>
            </a:r>
          </a:p>
        </p:txBody>
      </p:sp>
      <p:sp>
        <p:nvSpPr>
          <p:cNvPr id="9025" name="Viz rect 9025"/>
          <p:cNvSpPr/>
          <p:nvPr/>
        </p:nvSpPr>
        <p:spPr>
          <a:xfrm>
            <a:off x="777240" y="403250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85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026" name="Viz rect 9026"/>
          <p:cNvSpPr/>
          <p:nvPr/>
        </p:nvSpPr>
        <p:spPr>
          <a:xfrm>
            <a:off x="7589520" y="403250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r"/>
            <a:r>
              <a:rPr lang="en-US" sz="850" b="0" i="0">
                <a:solidFill>
                  <a:srgbClr val="000000"/>
                </a:solidFill>
              </a:rPr>
              <a:t>2ⁿ–1</a:t>
            </a:r>
          </a:p>
        </p:txBody>
      </p:sp>
      <p:sp>
        <p:nvSpPr>
          <p:cNvPr id="9027" name="Viz downArrow 9027"/>
          <p:cNvSpPr/>
          <p:nvPr/>
        </p:nvSpPr>
        <p:spPr>
          <a:xfrm>
            <a:off x="3127248" y="3227832"/>
            <a:ext cx="146304" cy="256032"/>
          </a:xfrm>
          <a:prstGeom prst="downArrow">
            <a:avLst/>
          </a:prstGeom>
          <a:solidFill>
            <a:srgbClr val="2E5F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28" name="Viz rect 9028"/>
          <p:cNvSpPr/>
          <p:nvPr/>
        </p:nvSpPr>
        <p:spPr>
          <a:xfrm>
            <a:off x="2743200" y="2953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1" i="0">
                <a:solidFill>
                  <a:srgbClr val="2E5F8A"/>
                </a:solidFill>
              </a:rPr>
              <a:t>x</a:t>
            </a:r>
          </a:p>
        </p:txBody>
      </p:sp>
      <p:sp>
        <p:nvSpPr>
          <p:cNvPr id="9019" name="Viz downArrow 9019"/>
          <p:cNvSpPr/>
          <p:nvPr/>
        </p:nvSpPr>
        <p:spPr>
          <a:xfrm>
            <a:off x="5870448" y="3227832"/>
            <a:ext cx="146304" cy="256032"/>
          </a:xfrm>
          <a:prstGeom prst="downArrow">
            <a:avLst/>
          </a:prstGeom>
          <a:solidFill>
            <a:srgbClr val="C0392B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20" name="Viz rect 9020"/>
          <p:cNvSpPr/>
          <p:nvPr/>
        </p:nvSpPr>
        <p:spPr>
          <a:xfrm>
            <a:off x="5486400" y="2953512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1" i="0">
                <a:solidFill>
                  <a:srgbClr val="C0392B"/>
                </a:solidFill>
              </a:rPr>
              <a:t>x + i</a:t>
            </a:r>
          </a:p>
        </p:txBody>
      </p:sp>
      <p:sp>
        <p:nvSpPr>
          <p:cNvPr id="9021" name="Viz rightArrow 9021"/>
          <p:cNvSpPr/>
          <p:nvPr/>
        </p:nvSpPr>
        <p:spPr>
          <a:xfrm>
            <a:off x="3310128" y="3127248"/>
            <a:ext cx="2468880" cy="100584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22" name="Viz rect 9022"/>
          <p:cNvSpPr/>
          <p:nvPr/>
        </p:nvSpPr>
        <p:spPr>
          <a:xfrm>
            <a:off x="4846320" y="403250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50" b="1" i="1">
                <a:solidFill>
                  <a:srgbClr val="C0392B"/>
                </a:solidFill>
              </a:rPr>
              <a:t>outside the object — and C does not care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Deallocation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free(x);</a:t>
            </a:r>
            <a:r>
              <a:t>  releases the region for reuse — but </a:t>
            </a:r>
            <a:r>
              <a:rPr lang="en-US">
                <a:latin typeface="Courier New"/>
              </a:rPr>
              <a:t>x</a:t>
            </a:r>
            <a:r>
              <a:t> itself is unchanged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strcpy(x, "string");</a:t>
            </a:r>
            <a:r>
              <a:t>  after the free still writes there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… even if something else has been allocated in that region</a:t>
            </a:r>
          </a:p>
        </p:txBody>
      </p:sp>
      <p:sp>
        <p:nvSpPr>
          <p:cNvPr id="9030" name="Viz rect 9030"/>
          <p:cNvSpPr/>
          <p:nvPr/>
        </p:nvSpPr>
        <p:spPr>
          <a:xfrm>
            <a:off x="822960" y="3520440"/>
            <a:ext cx="7498079" cy="457200"/>
          </a:xfrm>
          <a:prstGeom prst="rect">
            <a:avLst/>
          </a:prstGeom>
          <a:solidFill>
            <a:srgbClr val="F2F2F2"/>
          </a:solidFill>
          <a:ln w="9525">
            <a:solidFill>
              <a:srgbClr val="8A8A8A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31" name="Viz rect 9031"/>
          <p:cNvSpPr/>
          <p:nvPr/>
        </p:nvSpPr>
        <p:spPr>
          <a:xfrm>
            <a:off x="3108960" y="3520440"/>
            <a:ext cx="1554480" cy="45720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freed — may be reused</a:t>
            </a:r>
          </a:p>
        </p:txBody>
      </p:sp>
      <p:sp>
        <p:nvSpPr>
          <p:cNvPr id="9032" name="Viz rect 9032"/>
          <p:cNvSpPr/>
          <p:nvPr/>
        </p:nvSpPr>
        <p:spPr>
          <a:xfrm>
            <a:off x="777240" y="4032504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850" b="0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033" name="Viz rect 9033"/>
          <p:cNvSpPr/>
          <p:nvPr/>
        </p:nvSpPr>
        <p:spPr>
          <a:xfrm>
            <a:off x="7589520" y="4032504"/>
            <a:ext cx="77724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r"/>
            <a:r>
              <a:rPr lang="en-US" sz="850" b="0" i="0">
                <a:solidFill>
                  <a:srgbClr val="000000"/>
                </a:solidFill>
              </a:rPr>
              <a:t>2ⁿ–1</a:t>
            </a:r>
          </a:p>
        </p:txBody>
      </p:sp>
      <p:sp>
        <p:nvSpPr>
          <p:cNvPr id="9034" name="Viz downArrow 9034"/>
          <p:cNvSpPr/>
          <p:nvPr/>
        </p:nvSpPr>
        <p:spPr>
          <a:xfrm>
            <a:off x="3127248" y="3227832"/>
            <a:ext cx="146304" cy="256032"/>
          </a:xfrm>
          <a:prstGeom prst="downArrow">
            <a:avLst/>
          </a:prstGeom>
          <a:solidFill>
            <a:srgbClr val="2E5F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35" name="Viz rect 9035"/>
          <p:cNvSpPr/>
          <p:nvPr/>
        </p:nvSpPr>
        <p:spPr>
          <a:xfrm>
            <a:off x="2743200" y="2953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1" i="0">
                <a:solidFill>
                  <a:srgbClr val="2E5F8A"/>
                </a:solidFill>
              </a:rPr>
              <a:t>x</a:t>
            </a:r>
          </a:p>
        </p:txBody>
      </p:sp>
      <p:sp>
        <p:nvSpPr>
          <p:cNvPr id="9029" name="Viz rect 9029"/>
          <p:cNvSpPr/>
          <p:nvPr/>
        </p:nvSpPr>
        <p:spPr>
          <a:xfrm>
            <a:off x="4846320" y="403250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50" b="1" i="1">
                <a:solidFill>
                  <a:srgbClr val="C0392B"/>
                </a:solidFill>
              </a:rPr>
              <a:t>the write goes through anyway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Casts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cast makes a </a:t>
            </a:r>
            <a:r>
              <a:rPr lang="en-US" b="1"/>
              <a:t>new pointer to the same memory</a:t>
            </a:r>
            <a:r>
              <a:t> with a new interpretation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>
                <a:latin typeface="Courier New"/>
              </a:rPr>
              <a:t>int *y = (int *)x;</a:t>
            </a:r>
            <a:r>
              <a:t>   — reads the same bytes as a 4-byte integer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Nothing in C limits this; many languages forbid such casts</a:t>
            </a:r>
          </a:p>
        </p:txBody>
      </p:sp>
      <p:sp>
        <p:nvSpPr>
          <p:cNvPr id="9036" name="Viz rect 9036"/>
          <p:cNvSpPr/>
          <p:nvPr/>
        </p:nvSpPr>
        <p:spPr>
          <a:xfrm>
            <a:off x="960120" y="320040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9037" name="Viz rect 9037"/>
          <p:cNvSpPr/>
          <p:nvPr/>
        </p:nvSpPr>
        <p:spPr>
          <a:xfrm>
            <a:off x="1252728" y="320040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9038" name="Viz rect 9038"/>
          <p:cNvSpPr/>
          <p:nvPr/>
        </p:nvSpPr>
        <p:spPr>
          <a:xfrm>
            <a:off x="1545336" y="320040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9039" name="Viz rect 9039"/>
          <p:cNvSpPr/>
          <p:nvPr/>
        </p:nvSpPr>
        <p:spPr>
          <a:xfrm>
            <a:off x="1837944" y="320040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9040" name="Viz rect 9040"/>
          <p:cNvSpPr/>
          <p:nvPr/>
        </p:nvSpPr>
        <p:spPr>
          <a:xfrm>
            <a:off x="2130552" y="320040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</a:t>
            </a:r>
          </a:p>
        </p:txBody>
      </p:sp>
      <p:sp>
        <p:nvSpPr>
          <p:cNvPr id="9041" name="Viz rect 9041"/>
          <p:cNvSpPr/>
          <p:nvPr/>
        </p:nvSpPr>
        <p:spPr>
          <a:xfrm>
            <a:off x="2423160" y="3200400"/>
            <a:ext cx="274320" cy="365760"/>
          </a:xfrm>
          <a:prstGeom prst="rect">
            <a:avLst/>
          </a:prstGeom>
          <a:solidFill>
            <a:srgbClr val="1E243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\0</a:t>
            </a:r>
          </a:p>
        </p:txBody>
      </p:sp>
      <p:sp>
        <p:nvSpPr>
          <p:cNvPr id="9042" name="Viz rect 9042"/>
          <p:cNvSpPr/>
          <p:nvPr/>
        </p:nvSpPr>
        <p:spPr>
          <a:xfrm>
            <a:off x="2715768" y="320040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43" name="Viz rect 9043"/>
          <p:cNvSpPr/>
          <p:nvPr/>
        </p:nvSpPr>
        <p:spPr>
          <a:xfrm>
            <a:off x="3008375" y="320040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44" name="Viz rect 9044"/>
          <p:cNvSpPr/>
          <p:nvPr/>
        </p:nvSpPr>
        <p:spPr>
          <a:xfrm>
            <a:off x="3300983" y="320040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45" name="Viz rect 9045"/>
          <p:cNvSpPr/>
          <p:nvPr/>
        </p:nvSpPr>
        <p:spPr>
          <a:xfrm>
            <a:off x="3593591" y="320040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46" name="Viz rect 9046"/>
          <p:cNvSpPr/>
          <p:nvPr/>
        </p:nvSpPr>
        <p:spPr>
          <a:xfrm>
            <a:off x="960120" y="2724912"/>
            <a:ext cx="292608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2E5F8A"/>
                </a:solidFill>
              </a:rPr>
              <a:t>x : char* — one byte at a time</a:t>
            </a:r>
          </a:p>
        </p:txBody>
      </p:sp>
      <p:sp>
        <p:nvSpPr>
          <p:cNvPr id="9047" name="Viz rect 9047"/>
          <p:cNvSpPr/>
          <p:nvPr/>
        </p:nvSpPr>
        <p:spPr>
          <a:xfrm>
            <a:off x="941832" y="3145536"/>
            <a:ext cx="1188720" cy="475488"/>
          </a:xfrm>
          <a:prstGeom prst="rect">
            <a:avLst/>
          </a:prstGeom>
          <a:noFill/>
          <a:ln w="28575">
            <a:solidFill>
              <a:srgbClr val="E47932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48" name="Viz rect 9048"/>
          <p:cNvSpPr/>
          <p:nvPr/>
        </p:nvSpPr>
        <p:spPr>
          <a:xfrm>
            <a:off x="960120" y="365760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E47932"/>
                </a:solidFill>
              </a:rPr>
              <a:t>y : int* — first 4 bytes as one integer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Familiar Flaw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From last lecture: the adversary supplies </a:t>
            </a:r>
            <a:r>
              <a:rPr lang="en-US">
                <a:latin typeface="Courier New"/>
              </a:rPr>
              <a:t>source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… which may be </a:t>
            </a:r>
            <a:r>
              <a:rPr lang="en-US" b="1"/>
              <a:t>larger than buffer’s 10 bytes</a:t>
            </a:r>
          </a:p>
        </p:txBody>
      </p:sp>
      <p:sp>
        <p:nvSpPr>
          <p:cNvPr id="9049" name="Viz roundRect 9049"/>
          <p:cNvSpPr/>
          <p:nvPr/>
        </p:nvSpPr>
        <p:spPr>
          <a:xfrm>
            <a:off x="822960" y="2057400"/>
            <a:ext cx="3657600" cy="181737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50" name="Viz rect 9050"/>
          <p:cNvSpPr/>
          <p:nvPr/>
        </p:nvSpPr>
        <p:spPr>
          <a:xfrm>
            <a:off x="914400" y="3186684"/>
            <a:ext cx="347472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51" name="Viz code 9051"/>
          <p:cNvSpPr/>
          <p:nvPr/>
        </p:nvSpPr>
        <p:spPr>
          <a:xfrm>
            <a:off x="987552" y="2157984"/>
            <a:ext cx="3383280" cy="16527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C586C0"/>
                </a:solidFill>
                <a:latin typeface="Courier New"/>
              </a:rPr>
              <a:t>#include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&lt;stdio.h&gt;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function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*source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buffer[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10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];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source,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buffer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return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</a:t>
            </a:r>
          </a:p>
        </p:txBody>
      </p:sp>
      <p:sp>
        <p:nvSpPr>
          <p:cNvPr id="9052" name="Viz roundRect 9052"/>
          <p:cNvSpPr/>
          <p:nvPr/>
        </p:nvSpPr>
        <p:spPr>
          <a:xfrm>
            <a:off x="4892040" y="2834640"/>
            <a:ext cx="32004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what exactly happens as this copies?</a:t>
            </a:r>
          </a:p>
        </p:txBody>
      </p:sp>
      <p:sp>
        <p:nvSpPr>
          <p:cNvPr id="9053" name="Viz leftArrow 9053"/>
          <p:cNvSpPr/>
          <p:nvPr/>
        </p:nvSpPr>
        <p:spPr>
          <a:xfrm>
            <a:off x="4517136" y="3212973"/>
            <a:ext cx="33832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Happening?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sscanf</a:t>
            </a:r>
            <a:r>
              <a:t> copies from </a:t>
            </a:r>
            <a:r>
              <a:rPr lang="en-US">
                <a:latin typeface="Courier New"/>
              </a:rPr>
              <a:t>source</a:t>
            </a:r>
            <a:r>
              <a:t> until it finds a null byte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5-character string needs </a:t>
            </a:r>
            <a:r>
              <a:rPr lang="en-US" b="1"/>
              <a:t>6 bytes</a:t>
            </a:r>
            <a:r>
              <a:t> — the terminator fits</a:t>
            </a:r>
          </a:p>
        </p:txBody>
      </p:sp>
      <p:sp>
        <p:nvSpPr>
          <p:cNvPr id="9054" name="Viz rect 9054"/>
          <p:cNvSpPr/>
          <p:nvPr/>
        </p:nvSpPr>
        <p:spPr>
          <a:xfrm>
            <a:off x="960120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9055" name="Viz rect 9055"/>
          <p:cNvSpPr/>
          <p:nvPr/>
        </p:nvSpPr>
        <p:spPr>
          <a:xfrm>
            <a:off x="1252728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9056" name="Viz rect 9056"/>
          <p:cNvSpPr/>
          <p:nvPr/>
        </p:nvSpPr>
        <p:spPr>
          <a:xfrm>
            <a:off x="1545336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9057" name="Viz rect 9057"/>
          <p:cNvSpPr/>
          <p:nvPr/>
        </p:nvSpPr>
        <p:spPr>
          <a:xfrm>
            <a:off x="1837944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l</a:t>
            </a:r>
          </a:p>
        </p:txBody>
      </p:sp>
      <p:sp>
        <p:nvSpPr>
          <p:cNvPr id="9058" name="Viz rect 9058"/>
          <p:cNvSpPr/>
          <p:nvPr/>
        </p:nvSpPr>
        <p:spPr>
          <a:xfrm>
            <a:off x="2130552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</a:t>
            </a:r>
          </a:p>
        </p:txBody>
      </p:sp>
      <p:sp>
        <p:nvSpPr>
          <p:cNvPr id="9059" name="Viz rect 9059"/>
          <p:cNvSpPr/>
          <p:nvPr/>
        </p:nvSpPr>
        <p:spPr>
          <a:xfrm>
            <a:off x="2423160" y="3017520"/>
            <a:ext cx="274320" cy="365760"/>
          </a:xfrm>
          <a:prstGeom prst="rect">
            <a:avLst/>
          </a:prstGeom>
          <a:solidFill>
            <a:srgbClr val="1E243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\0</a:t>
            </a:r>
          </a:p>
        </p:txBody>
      </p:sp>
      <p:sp>
        <p:nvSpPr>
          <p:cNvPr id="9060" name="Viz rect 9060"/>
          <p:cNvSpPr/>
          <p:nvPr/>
        </p:nvSpPr>
        <p:spPr>
          <a:xfrm>
            <a:off x="2715768" y="301752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61" name="Viz rect 9061"/>
          <p:cNvSpPr/>
          <p:nvPr/>
        </p:nvSpPr>
        <p:spPr>
          <a:xfrm>
            <a:off x="3008375" y="301752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62" name="Viz rect 9062"/>
          <p:cNvSpPr/>
          <p:nvPr/>
        </p:nvSpPr>
        <p:spPr>
          <a:xfrm>
            <a:off x="3300983" y="301752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63" name="Viz rect 9063"/>
          <p:cNvSpPr/>
          <p:nvPr/>
        </p:nvSpPr>
        <p:spPr>
          <a:xfrm>
            <a:off x="3593591" y="3017520"/>
            <a:ext cx="27432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64" name="Viz rect 9064"/>
          <p:cNvSpPr/>
          <p:nvPr/>
        </p:nvSpPr>
        <p:spPr>
          <a:xfrm>
            <a:off x="960120" y="343814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input “hello” — terminated, in bounds</a:t>
            </a:r>
          </a:p>
        </p:txBody>
      </p:sp>
      <p:sp>
        <p:nvSpPr>
          <p:cNvPr id="9065" name="Viz rect 9065"/>
          <p:cNvSpPr/>
          <p:nvPr/>
        </p:nvSpPr>
        <p:spPr>
          <a:xfrm>
            <a:off x="960120" y="26517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50" b="0" i="0">
                <a:solidFill>
                  <a:srgbClr val="000000"/>
                </a:solidFill>
              </a:rPr>
              <a:t>source = “hello”  (5 bytes + \0)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Happening?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10-character string fills </a:t>
            </a:r>
            <a:r>
              <a:rPr lang="en-US" b="1"/>
              <a:t>all 10 bytes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No room left for the terminator — where does \0 go?</a:t>
            </a:r>
          </a:p>
        </p:txBody>
      </p:sp>
      <p:sp>
        <p:nvSpPr>
          <p:cNvPr id="9066" name="Viz rect 9066"/>
          <p:cNvSpPr/>
          <p:nvPr/>
        </p:nvSpPr>
        <p:spPr>
          <a:xfrm>
            <a:off x="960120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067" name="Viz rect 9067"/>
          <p:cNvSpPr/>
          <p:nvPr/>
        </p:nvSpPr>
        <p:spPr>
          <a:xfrm>
            <a:off x="1252728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068" name="Viz rect 9068"/>
          <p:cNvSpPr/>
          <p:nvPr/>
        </p:nvSpPr>
        <p:spPr>
          <a:xfrm>
            <a:off x="1545336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069" name="Viz rect 9069"/>
          <p:cNvSpPr/>
          <p:nvPr/>
        </p:nvSpPr>
        <p:spPr>
          <a:xfrm>
            <a:off x="1837944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070" name="Viz rect 9070"/>
          <p:cNvSpPr/>
          <p:nvPr/>
        </p:nvSpPr>
        <p:spPr>
          <a:xfrm>
            <a:off x="2130552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071" name="Viz rect 9071"/>
          <p:cNvSpPr/>
          <p:nvPr/>
        </p:nvSpPr>
        <p:spPr>
          <a:xfrm>
            <a:off x="2423160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072" name="Viz rect 9072"/>
          <p:cNvSpPr/>
          <p:nvPr/>
        </p:nvSpPr>
        <p:spPr>
          <a:xfrm>
            <a:off x="2715768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9073" name="Viz rect 9073"/>
          <p:cNvSpPr/>
          <p:nvPr/>
        </p:nvSpPr>
        <p:spPr>
          <a:xfrm>
            <a:off x="3008375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074" name="Viz rect 9074"/>
          <p:cNvSpPr/>
          <p:nvPr/>
        </p:nvSpPr>
        <p:spPr>
          <a:xfrm>
            <a:off x="3300983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075" name="Viz rect 9075"/>
          <p:cNvSpPr/>
          <p:nvPr/>
        </p:nvSpPr>
        <p:spPr>
          <a:xfrm>
            <a:off x="3593591" y="30175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076" name="Viz rect 9076"/>
          <p:cNvSpPr/>
          <p:nvPr/>
        </p:nvSpPr>
        <p:spPr>
          <a:xfrm>
            <a:off x="3904487" y="3017520"/>
            <a:ext cx="274320" cy="365760"/>
          </a:xfrm>
          <a:prstGeom prst="rect">
            <a:avLst/>
          </a:prstGeom>
          <a:solidFill>
            <a:srgbClr val="F5CCC4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C0392B"/>
                </a:solidFill>
              </a:rPr>
              <a:t>\0</a:t>
            </a:r>
          </a:p>
        </p:txBody>
      </p:sp>
      <p:sp>
        <p:nvSpPr>
          <p:cNvPr id="9077" name="Viz rect 9077"/>
          <p:cNvSpPr/>
          <p:nvPr/>
        </p:nvSpPr>
        <p:spPr>
          <a:xfrm>
            <a:off x="960120" y="3438144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input “0123456789” — full</a:t>
            </a:r>
          </a:p>
        </p:txBody>
      </p:sp>
      <p:sp>
        <p:nvSpPr>
          <p:cNvPr id="9078" name="Viz rect 9078"/>
          <p:cNvSpPr/>
          <p:nvPr/>
        </p:nvSpPr>
        <p:spPr>
          <a:xfrm>
            <a:off x="3657600" y="3438144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0" i="1">
                <a:solidFill>
                  <a:srgbClr val="C0392B"/>
                </a:solidFill>
              </a:rPr>
              <a:t>terminator lands outside the buffer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10 Bytes: a Spatial Error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longer source just keeps writing — nothing stops it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Writing outside the allocated region is a </a:t>
            </a:r>
            <a:r>
              <a:rPr lang="en-US" b="1"/>
              <a:t>spatial memory error</a:t>
            </a:r>
          </a:p>
        </p:txBody>
      </p:sp>
      <p:sp>
        <p:nvSpPr>
          <p:cNvPr id="9079" name="Viz rect 9079"/>
          <p:cNvSpPr/>
          <p:nvPr/>
        </p:nvSpPr>
        <p:spPr>
          <a:xfrm>
            <a:off x="960120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080" name="Viz rect 9080"/>
          <p:cNvSpPr/>
          <p:nvPr/>
        </p:nvSpPr>
        <p:spPr>
          <a:xfrm>
            <a:off x="1252728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081" name="Viz rect 9081"/>
          <p:cNvSpPr/>
          <p:nvPr/>
        </p:nvSpPr>
        <p:spPr>
          <a:xfrm>
            <a:off x="1545336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082" name="Viz rect 9082"/>
          <p:cNvSpPr/>
          <p:nvPr/>
        </p:nvSpPr>
        <p:spPr>
          <a:xfrm>
            <a:off x="1837944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083" name="Viz rect 9083"/>
          <p:cNvSpPr/>
          <p:nvPr/>
        </p:nvSpPr>
        <p:spPr>
          <a:xfrm>
            <a:off x="2130552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084" name="Viz rect 9084"/>
          <p:cNvSpPr/>
          <p:nvPr/>
        </p:nvSpPr>
        <p:spPr>
          <a:xfrm>
            <a:off x="2423160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085" name="Viz rect 9085"/>
          <p:cNvSpPr/>
          <p:nvPr/>
        </p:nvSpPr>
        <p:spPr>
          <a:xfrm>
            <a:off x="2715768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9086" name="Viz rect 9086"/>
          <p:cNvSpPr/>
          <p:nvPr/>
        </p:nvSpPr>
        <p:spPr>
          <a:xfrm>
            <a:off x="3008375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087" name="Viz rect 9087"/>
          <p:cNvSpPr/>
          <p:nvPr/>
        </p:nvSpPr>
        <p:spPr>
          <a:xfrm>
            <a:off x="3300983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088" name="Viz rect 9088"/>
          <p:cNvSpPr/>
          <p:nvPr/>
        </p:nvSpPr>
        <p:spPr>
          <a:xfrm>
            <a:off x="3593591" y="312724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089" name="Viz rect 9089"/>
          <p:cNvSpPr/>
          <p:nvPr/>
        </p:nvSpPr>
        <p:spPr>
          <a:xfrm>
            <a:off x="3922775" y="3127248"/>
            <a:ext cx="10058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090" name="Viz rect 9090"/>
          <p:cNvSpPr/>
          <p:nvPr/>
        </p:nvSpPr>
        <p:spPr>
          <a:xfrm>
            <a:off x="4946903" y="3127248"/>
            <a:ext cx="118872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091" name="Viz rect 9091"/>
          <p:cNvSpPr/>
          <p:nvPr/>
        </p:nvSpPr>
        <p:spPr>
          <a:xfrm>
            <a:off x="6153912" y="3127248"/>
            <a:ext cx="1463040" cy="36576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8A8A8A"/>
                </a:solidFill>
              </a:rPr>
              <a:t>?</a:t>
            </a:r>
          </a:p>
        </p:txBody>
      </p:sp>
      <p:sp>
        <p:nvSpPr>
          <p:cNvPr id="9092" name="Viz rightArrow 9092"/>
          <p:cNvSpPr/>
          <p:nvPr/>
        </p:nvSpPr>
        <p:spPr>
          <a:xfrm>
            <a:off x="960120" y="2944368"/>
            <a:ext cx="5120640" cy="12801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093" name="Viz rect 9093"/>
          <p:cNvSpPr/>
          <p:nvPr/>
        </p:nvSpPr>
        <p:spPr>
          <a:xfrm>
            <a:off x="6172200" y="2862072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C0392B"/>
                </a:solidFill>
              </a:rPr>
              <a:t>… past the end!</a:t>
            </a:r>
          </a:p>
        </p:txBody>
      </p:sp>
      <p:sp>
        <p:nvSpPr>
          <p:cNvPr id="9094" name="Viz rect 9094"/>
          <p:cNvSpPr/>
          <p:nvPr/>
        </p:nvSpPr>
        <p:spPr>
          <a:xfrm>
            <a:off x="960120" y="3547872"/>
            <a:ext cx="2926080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0" i="1">
                <a:solidFill>
                  <a:srgbClr val="8A8A8A"/>
                </a:solidFill>
              </a:rPr>
              <a:t>char buffer[10]</a:t>
            </a:r>
          </a:p>
        </p:txBody>
      </p:sp>
      <p:sp>
        <p:nvSpPr>
          <p:cNvPr id="9095" name="Viz roundRect 9095"/>
          <p:cNvSpPr/>
          <p:nvPr/>
        </p:nvSpPr>
        <p:spPr>
          <a:xfrm>
            <a:off x="5852160" y="3977639"/>
            <a:ext cx="2651760" cy="640080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Spatial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out-of-bounds access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String, Really?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 </a:t>
            </a:r>
            <a:r>
              <a:rPr lang="en-US" b="1"/>
              <a:t>sequence of bytes ending in a null byte</a:t>
            </a:r>
            <a:r>
              <a:t> — that’s all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C/C++ does not distinguish strings from byte arrays (</a:t>
            </a:r>
            <a:r>
              <a:rPr lang="en-US">
                <a:latin typeface="Courier New"/>
              </a:rPr>
              <a:t>char *</a:t>
            </a:r>
            <a:r>
              <a:t>)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Reading one without a terminator keeps reading until some 0 byte</a:t>
            </a:r>
          </a:p>
        </p:txBody>
      </p:sp>
      <p:sp>
        <p:nvSpPr>
          <p:cNvPr id="9096" name="Viz rect 9096"/>
          <p:cNvSpPr/>
          <p:nvPr/>
        </p:nvSpPr>
        <p:spPr>
          <a:xfrm>
            <a:off x="960120" y="269748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9097" name="Viz rect 9097"/>
          <p:cNvSpPr/>
          <p:nvPr/>
        </p:nvSpPr>
        <p:spPr>
          <a:xfrm>
            <a:off x="1252728" y="269748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9098" name="Viz rect 9098"/>
          <p:cNvSpPr/>
          <p:nvPr/>
        </p:nvSpPr>
        <p:spPr>
          <a:xfrm>
            <a:off x="1545336" y="2697480"/>
            <a:ext cx="274320" cy="365760"/>
          </a:xfrm>
          <a:prstGeom prst="rect">
            <a:avLst/>
          </a:prstGeom>
          <a:solidFill>
            <a:srgbClr val="1E243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\0</a:t>
            </a:r>
          </a:p>
        </p:txBody>
      </p:sp>
      <p:sp>
        <p:nvSpPr>
          <p:cNvPr id="9104" name="Viz rect 9104"/>
          <p:cNvSpPr/>
          <p:nvPr/>
        </p:nvSpPr>
        <p:spPr>
          <a:xfrm>
            <a:off x="1956816" y="27432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0" i="1">
                <a:solidFill>
                  <a:srgbClr val="2E7D32"/>
                </a:solidFill>
              </a:rPr>
              <a:t>terminated — reads stop here</a:t>
            </a:r>
          </a:p>
        </p:txBody>
      </p:sp>
      <p:sp>
        <p:nvSpPr>
          <p:cNvPr id="9099" name="Viz rect 9099"/>
          <p:cNvSpPr/>
          <p:nvPr/>
        </p:nvSpPr>
        <p:spPr>
          <a:xfrm>
            <a:off x="960120" y="37033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h</a:t>
            </a:r>
          </a:p>
        </p:txBody>
      </p:sp>
      <p:sp>
        <p:nvSpPr>
          <p:cNvPr id="9100" name="Viz rect 9100"/>
          <p:cNvSpPr/>
          <p:nvPr/>
        </p:nvSpPr>
        <p:spPr>
          <a:xfrm>
            <a:off x="1252728" y="37033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i</a:t>
            </a:r>
          </a:p>
        </p:txBody>
      </p:sp>
      <p:sp>
        <p:nvSpPr>
          <p:cNvPr id="9101" name="Viz rect 9101"/>
          <p:cNvSpPr/>
          <p:nvPr/>
        </p:nvSpPr>
        <p:spPr>
          <a:xfrm>
            <a:off x="1545336" y="37033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9102" name="Viz rect 9102"/>
          <p:cNvSpPr/>
          <p:nvPr/>
        </p:nvSpPr>
        <p:spPr>
          <a:xfrm>
            <a:off x="1837944" y="37033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9103" name="Viz rect 9103"/>
          <p:cNvSpPr/>
          <p:nvPr/>
        </p:nvSpPr>
        <p:spPr>
          <a:xfrm>
            <a:off x="2130552" y="3703320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!</a:t>
            </a:r>
          </a:p>
        </p:txBody>
      </p:sp>
      <p:sp>
        <p:nvSpPr>
          <p:cNvPr id="9105" name="Viz rightArrow 9105"/>
          <p:cNvSpPr/>
          <p:nvPr/>
        </p:nvSpPr>
        <p:spPr>
          <a:xfrm>
            <a:off x="2459736" y="3803904"/>
            <a:ext cx="1463040" cy="12801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06" name="Viz rect 9106"/>
          <p:cNvSpPr/>
          <p:nvPr/>
        </p:nvSpPr>
        <p:spPr>
          <a:xfrm>
            <a:off x="4005072" y="374903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0" i="1">
                <a:solidFill>
                  <a:srgbClr val="C0392B"/>
                </a:solidFill>
              </a:rPr>
              <a:t>no \0 — reads continue into other memory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Strings Go Wrong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Every C string bug is one of these:</a:t>
            </a:r>
          </a:p>
        </p:txBody>
      </p:sp>
      <p:sp>
        <p:nvSpPr>
          <p:cNvPr id="9107" name="Viz roundRect 9107"/>
          <p:cNvSpPr/>
          <p:nvPr/>
        </p:nvSpPr>
        <p:spPr>
          <a:xfrm>
            <a:off x="777240" y="228600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Too long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overflows the region (bounds)</a:t>
            </a:r>
          </a:p>
        </p:txBody>
      </p:sp>
      <p:sp>
        <p:nvSpPr>
          <p:cNvPr id="9108" name="Viz roundRect 9108"/>
          <p:cNvSpPr/>
          <p:nvPr/>
        </p:nvSpPr>
        <p:spPr>
          <a:xfrm>
            <a:off x="3474720" y="228600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Never terminated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reads run off the end (bounds)</a:t>
            </a:r>
          </a:p>
        </p:txBody>
      </p:sp>
      <p:sp>
        <p:nvSpPr>
          <p:cNvPr id="9109" name="Viz roundRect 9109"/>
          <p:cNvSpPr/>
          <p:nvPr/>
        </p:nvSpPr>
        <p:spPr>
          <a:xfrm>
            <a:off x="6172200" y="228600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Ends too early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silent truncation, malformed data</a:t>
            </a:r>
          </a:p>
        </p:txBody>
      </p:sp>
      <p:sp>
        <p:nvSpPr>
          <p:cNvPr id="9110" name="Viz rect 9110"/>
          <p:cNvSpPr/>
          <p:nvPr/>
        </p:nvSpPr>
        <p:spPr>
          <a:xfrm>
            <a:off x="777240" y="338328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50" b="1" i="1">
                <a:solidFill>
                  <a:srgbClr val="C0392B"/>
                </a:solidFill>
              </a:rPr>
              <a:t>each one can cause problems if undetected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Without Bounds Checks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gets(3)</a:t>
            </a:r>
            <a:r>
              <a:t> — reads input with no limit at all. </a:t>
            </a:r>
            <a:r>
              <a:rPr lang="en-US" b="1">
                <a:solidFill>
                  <a:srgbClr val="C0392B"/>
                </a:solidFill>
              </a:rPr>
              <a:t>Never use it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strcpy(3)</a:t>
            </a:r>
            <a:r>
              <a:t> / </a:t>
            </a:r>
            <a:r>
              <a:rPr lang="en-US">
                <a:latin typeface="Courier New"/>
              </a:rPr>
              <a:t>strcat(3)</a:t>
            </a:r>
            <a:r>
              <a:t> — if </a:t>
            </a:r>
            <a:r>
              <a:rPr lang="en-US">
                <a:latin typeface="Courier New"/>
              </a:rPr>
              <a:t>src</a:t>
            </a:r>
            <a:r>
              <a:t> is longer than </a:t>
            </a:r>
            <a:r>
              <a:rPr lang="en-US">
                <a:latin typeface="Courier New"/>
              </a:rPr>
              <a:t>dest</a:t>
            </a:r>
            <a:r>
              <a:t>, they keep writing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Many more: </a:t>
            </a:r>
            <a:r>
              <a:rPr lang="en-US">
                <a:latin typeface="Courier New"/>
              </a:rPr>
              <a:t>realpath</a:t>
            </a:r>
            <a:r>
              <a:t>, </a:t>
            </a:r>
            <a:r>
              <a:rPr lang="en-US">
                <a:latin typeface="Courier New"/>
              </a:rPr>
              <a:t>getopt</a:t>
            </a:r>
            <a:r>
              <a:t>, </a:t>
            </a:r>
            <a:r>
              <a:rPr lang="en-US">
                <a:latin typeface="Courier New"/>
              </a:rPr>
              <a:t>getpass</a:t>
            </a:r>
            <a:r>
              <a:t>, </a:t>
            </a:r>
            <a:r>
              <a:rPr lang="en-US">
                <a:latin typeface="Courier New"/>
              </a:rPr>
              <a:t>streadd</a:t>
            </a:r>
            <a:r>
              <a:t>, </a:t>
            </a:r>
            <a:r>
              <a:rPr lang="en-US">
                <a:latin typeface="Courier New"/>
              </a:rPr>
              <a:t>strecpy</a:t>
            </a:r>
            <a:r>
              <a:t>, </a:t>
            </a:r>
            <a:r>
              <a:rPr lang="en-US">
                <a:latin typeface="Courier New"/>
              </a:rPr>
              <a:t>strtrns</a:t>
            </a:r>
            <a:r>
              <a:t>, …</a:t>
            </a:r>
          </a:p>
        </p:txBody>
      </p:sp>
      <p:sp>
        <p:nvSpPr>
          <p:cNvPr id="9111" name="Viz roundRect 9111"/>
          <p:cNvSpPr/>
          <p:nvPr/>
        </p:nvSpPr>
        <p:spPr>
          <a:xfrm>
            <a:off x="2103120" y="3429000"/>
            <a:ext cx="4937760" cy="685800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400" b="1" i="0">
                <a:solidFill>
                  <a:srgbClr val="FFFFFF"/>
                </a:solidFill>
              </a:rPr>
              <a:t>Don’t use these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they cannot be used safely on untrusted input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/>
              </a:rPr>
              <a:t>strncpy</a:t>
            </a:r>
            <a:r>
              <a:t> — Better, Not Correct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strncpy(buffer, "0123456789", 10)</a:t>
            </a:r>
            <a:r>
              <a:t>  stops after 10 bytes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Prevents the overflow — if the size argument is right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But: fills the region </a:t>
            </a:r>
            <a:r>
              <a:rPr lang="en-US" b="1"/>
              <a:t>without a terminator</a:t>
            </a:r>
            <a:r>
              <a:t>, and truncates silently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The result may not be a C string at all — not a correct solution</a:t>
            </a:r>
          </a:p>
        </p:txBody>
      </p:sp>
      <p:sp>
        <p:nvSpPr>
          <p:cNvPr id="9112" name="Viz rect 9112"/>
          <p:cNvSpPr/>
          <p:nvPr/>
        </p:nvSpPr>
        <p:spPr>
          <a:xfrm>
            <a:off x="960120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9113" name="Viz rect 9113"/>
          <p:cNvSpPr/>
          <p:nvPr/>
        </p:nvSpPr>
        <p:spPr>
          <a:xfrm>
            <a:off x="1252728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114" name="Viz rect 9114"/>
          <p:cNvSpPr/>
          <p:nvPr/>
        </p:nvSpPr>
        <p:spPr>
          <a:xfrm>
            <a:off x="1545336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115" name="Viz rect 9115"/>
          <p:cNvSpPr/>
          <p:nvPr/>
        </p:nvSpPr>
        <p:spPr>
          <a:xfrm>
            <a:off x="1837944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116" name="Viz rect 9116"/>
          <p:cNvSpPr/>
          <p:nvPr/>
        </p:nvSpPr>
        <p:spPr>
          <a:xfrm>
            <a:off x="2130552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117" name="Viz rect 9117"/>
          <p:cNvSpPr/>
          <p:nvPr/>
        </p:nvSpPr>
        <p:spPr>
          <a:xfrm>
            <a:off x="2423160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9118" name="Viz rect 9118"/>
          <p:cNvSpPr/>
          <p:nvPr/>
        </p:nvSpPr>
        <p:spPr>
          <a:xfrm>
            <a:off x="2715768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9119" name="Viz rect 9119"/>
          <p:cNvSpPr/>
          <p:nvPr/>
        </p:nvSpPr>
        <p:spPr>
          <a:xfrm>
            <a:off x="3008375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9120" name="Viz rect 9120"/>
          <p:cNvSpPr/>
          <p:nvPr/>
        </p:nvSpPr>
        <p:spPr>
          <a:xfrm>
            <a:off x="3300983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9121" name="Viz rect 9121"/>
          <p:cNvSpPr/>
          <p:nvPr/>
        </p:nvSpPr>
        <p:spPr>
          <a:xfrm>
            <a:off x="3593591" y="3310128"/>
            <a:ext cx="2743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9</a:t>
            </a:r>
          </a:p>
        </p:txBody>
      </p:sp>
      <p:sp>
        <p:nvSpPr>
          <p:cNvPr id="9122" name="Viz rect 9122"/>
          <p:cNvSpPr/>
          <p:nvPr/>
        </p:nvSpPr>
        <p:spPr>
          <a:xfrm>
            <a:off x="3904487" y="3310128"/>
            <a:ext cx="274320" cy="365760"/>
          </a:xfrm>
          <a:prstGeom prst="rect">
            <a:avLst/>
          </a:prstGeom>
          <a:solidFill>
            <a:srgbClr val="F5CCC4"/>
          </a:solidFill>
          <a:ln w="12700">
            <a:solidFill>
              <a:srgbClr val="C0392B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C0392B"/>
                </a:solidFill>
              </a:rPr>
              <a:t>\0</a:t>
            </a:r>
          </a:p>
        </p:txBody>
      </p:sp>
      <p:sp>
        <p:nvSpPr>
          <p:cNvPr id="9123" name="Viz rect 9123"/>
          <p:cNvSpPr/>
          <p:nvPr/>
        </p:nvSpPr>
        <p:spPr>
          <a:xfrm>
            <a:off x="4279392" y="3355848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0" i="1">
                <a:solidFill>
                  <a:srgbClr val="C0392B"/>
                </a:solidFill>
              </a:rPr>
              <a:t>never written — still not a string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/>
              </a:rPr>
              <a:t>snprintf</a:t>
            </a:r>
            <a:r>
              <a:t> — the Fix That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Writes at most </a:t>
            </a:r>
            <a:r>
              <a:rPr lang="en-US">
                <a:latin typeface="Courier New"/>
              </a:rPr>
              <a:t>N</a:t>
            </a:r>
            <a:r>
              <a:t> bytes, </a:t>
            </a:r>
            <a:r>
              <a:rPr lang="en-US" b="1"/>
              <a:t>always</a:t>
            </a:r>
            <a:r>
              <a:t> null-terminates (if N ≥ 1)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Returns the length it would have written — truncation is detectable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Use this in your labs — it replaces </a:t>
            </a:r>
            <a:r>
              <a:rPr lang="en-US">
                <a:latin typeface="Courier New"/>
              </a:rPr>
              <a:t>strcpy</a:t>
            </a:r>
            <a:r>
              <a:t> and friends directly</a:t>
            </a:r>
          </a:p>
        </p:txBody>
      </p:sp>
      <p:sp>
        <p:nvSpPr>
          <p:cNvPr id="9124" name="Viz roundRect 9124"/>
          <p:cNvSpPr/>
          <p:nvPr/>
        </p:nvSpPr>
        <p:spPr>
          <a:xfrm>
            <a:off x="822960" y="2926080"/>
            <a:ext cx="5120640" cy="78867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25" name="Viz code 9125"/>
          <p:cNvSpPr/>
          <p:nvPr/>
        </p:nvSpPr>
        <p:spPr>
          <a:xfrm>
            <a:off x="987552" y="3026664"/>
            <a:ext cx="4846320" cy="624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int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len =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snprintf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buf, buflen,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value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if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len &lt;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0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 || len &gt;= buflen 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  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/* handle error or truncation */</a:t>
            </a:r>
          </a:p>
        </p:txBody>
      </p:sp>
      <p:sp>
        <p:nvSpPr>
          <p:cNvPr id="9126" name="Viz ellipse 9126"/>
          <p:cNvSpPr/>
          <p:nvPr/>
        </p:nvSpPr>
        <p:spPr>
          <a:xfrm>
            <a:off x="6172200" y="303580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127" name="Viz rect 9127"/>
          <p:cNvSpPr/>
          <p:nvPr/>
        </p:nvSpPr>
        <p:spPr>
          <a:xfrm>
            <a:off x="6537960" y="30358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50" b="0" i="0">
                <a:solidFill>
                  <a:srgbClr val="000000"/>
                </a:solidFill>
              </a:rPr>
              <a:t>enforces bounds</a:t>
            </a:r>
          </a:p>
        </p:txBody>
      </p:sp>
      <p:sp>
        <p:nvSpPr>
          <p:cNvPr id="9128" name="Viz ellipse 9128"/>
          <p:cNvSpPr/>
          <p:nvPr/>
        </p:nvSpPr>
        <p:spPr>
          <a:xfrm>
            <a:off x="6172200" y="340156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129" name="Viz rect 9129"/>
          <p:cNvSpPr/>
          <p:nvPr/>
        </p:nvSpPr>
        <p:spPr>
          <a:xfrm>
            <a:off x="6537960" y="34015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50" b="0" i="0">
                <a:solidFill>
                  <a:srgbClr val="000000"/>
                </a:solidFill>
              </a:rPr>
              <a:t>guarantees a C string</a:t>
            </a:r>
          </a:p>
        </p:txBody>
      </p:sp>
      <p:sp>
        <p:nvSpPr>
          <p:cNvPr id="9130" name="Viz ellipse 9130"/>
          <p:cNvSpPr/>
          <p:nvPr/>
        </p:nvSpPr>
        <p:spPr>
          <a:xfrm>
            <a:off x="6172200" y="3767328"/>
            <a:ext cx="274320" cy="27432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131" name="Viz rect 9131"/>
          <p:cNvSpPr/>
          <p:nvPr/>
        </p:nvSpPr>
        <p:spPr>
          <a:xfrm>
            <a:off x="6537960" y="37673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50" b="0" i="0">
                <a:solidFill>
                  <a:srgbClr val="000000"/>
                </a:solidFill>
              </a:rPr>
              <a:t>reports truncation</a:t>
            </a:r>
          </a:p>
        </p:txBody>
      </p:sp>
      <p:sp>
        <p:nvSpPr>
          <p:cNvPr id="9132" name="Viz rect 9132"/>
          <p:cNvSpPr/>
          <p:nvPr/>
        </p:nvSpPr>
        <p:spPr>
          <a:xfrm>
            <a:off x="822960" y="3806189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900" b="0" i="1">
                <a:solidFill>
                  <a:srgbClr val="8A8A8A"/>
                </a:solidFill>
              </a:rPr>
              <a:t>same family: vsnprintf(3)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scanf and Friends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scanf</a:t>
            </a:r>
            <a:r>
              <a:t>, </a:t>
            </a:r>
            <a:r>
              <a:rPr lang="en-US">
                <a:latin typeface="Courier New"/>
              </a:rPr>
              <a:t>fscanf</a:t>
            </a:r>
            <a:r>
              <a:t>, </a:t>
            </a:r>
            <a:r>
              <a:rPr lang="en-US">
                <a:latin typeface="Courier New"/>
              </a:rPr>
              <a:t>sscanf</a:t>
            </a:r>
            <a:r>
              <a:t>, …  are </a:t>
            </a:r>
            <a:r>
              <a:rPr lang="en-US" b="1"/>
              <a:t>unsafe by default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fix: </a:t>
            </a:r>
            <a:r>
              <a:rPr lang="en-US" b="1">
                <a:latin typeface="Courier New"/>
              </a:rPr>
              <a:t>%ms</a:t>
            </a:r>
            <a:r>
              <a:t> auto-allocates a buffer sized to the input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Null-terminated, never truncated — but you must free it</a:t>
            </a:r>
          </a:p>
        </p:txBody>
      </p:sp>
      <p:sp>
        <p:nvSpPr>
          <p:cNvPr id="9133" name="Viz roundRect 9133"/>
          <p:cNvSpPr/>
          <p:nvPr/>
        </p:nvSpPr>
        <p:spPr>
          <a:xfrm>
            <a:off x="822960" y="292608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34" name="Viz code 9134"/>
          <p:cNvSpPr/>
          <p:nvPr/>
        </p:nvSpPr>
        <p:spPr>
          <a:xfrm>
            <a:off x="987552" y="3026664"/>
            <a:ext cx="4846320" cy="7955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*buffer = </a:t>
            </a:r>
            <a:r>
              <a:rPr lang="en-US" sz="1000">
                <a:solidFill>
                  <a:srgbClr val="B5CEA8"/>
                </a:solidFill>
                <a:latin typeface="Courier New"/>
              </a:rPr>
              <a:t>NULL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scanf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"%ms"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&amp;buffer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// allocates to fit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…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free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buffer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// your job, later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Errors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Accessing memory with </a:t>
            </a:r>
            <a:r>
              <a:rPr lang="en-US" b="1"/>
              <a:t>multiple, incompatible formats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Usually enabled by simple, ordinary-looking code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Let’s see how they happen — and how to avoid them</a:t>
            </a:r>
          </a:p>
        </p:txBody>
      </p:sp>
      <p:sp>
        <p:nvSpPr>
          <p:cNvPr id="9135" name="Viz roundRect 9135"/>
          <p:cNvSpPr/>
          <p:nvPr/>
        </p:nvSpPr>
        <p:spPr>
          <a:xfrm>
            <a:off x="685800" y="356616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Spatial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out-of-bounds access</a:t>
            </a:r>
          </a:p>
        </p:txBody>
      </p:sp>
      <p:sp>
        <p:nvSpPr>
          <p:cNvPr id="9136" name="Viz roundRect 9136"/>
          <p:cNvSpPr/>
          <p:nvPr/>
        </p:nvSpPr>
        <p:spPr>
          <a:xfrm>
            <a:off x="3383280" y="356616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Type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wrong interpretation</a:t>
            </a:r>
          </a:p>
        </p:txBody>
      </p:sp>
      <p:sp>
        <p:nvSpPr>
          <p:cNvPr id="9137" name="Viz roundRect 9137"/>
          <p:cNvSpPr/>
          <p:nvPr/>
        </p:nvSpPr>
        <p:spPr>
          <a:xfrm>
            <a:off x="6080760" y="356616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Temporal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wrong time: UBI, UAF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Downcasts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Casting to a </a:t>
            </a:r>
            <a:r>
              <a:rPr lang="en-US" b="1"/>
              <a:t>larger</a:t>
            </a:r>
            <a:r>
              <a:t> type: the pointer now “sees” more than was allocated</a:t>
            </a:r>
          </a:p>
        </p:txBody>
      </p:sp>
      <p:sp>
        <p:nvSpPr>
          <p:cNvPr id="9138" name="Viz roundRect 9138"/>
          <p:cNvSpPr/>
          <p:nvPr/>
        </p:nvSpPr>
        <p:spPr>
          <a:xfrm>
            <a:off x="822960" y="2286000"/>
            <a:ext cx="5897880" cy="113157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39" name="Viz rect 9139"/>
          <p:cNvSpPr/>
          <p:nvPr/>
        </p:nvSpPr>
        <p:spPr>
          <a:xfrm>
            <a:off x="914400" y="2900934"/>
            <a:ext cx="571500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40" name="Viz rect 9140"/>
          <p:cNvSpPr/>
          <p:nvPr/>
        </p:nvSpPr>
        <p:spPr>
          <a:xfrm>
            <a:off x="914400" y="3072384"/>
            <a:ext cx="571500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41" name="Viz code 9141"/>
          <p:cNvSpPr/>
          <p:nvPr/>
        </p:nvSpPr>
        <p:spPr>
          <a:xfrm>
            <a:off x="987552" y="2386584"/>
            <a:ext cx="5623560" cy="9669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t1 *p;  t2 *q;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// t2 extends t1 with ‘extra’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p = (t1 *)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malloc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sizeof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(t1)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// allocate a t1 object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p-&gt;field = value;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q = (t2 *) p;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// downcast: t2 is larger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q-&gt;extra = value2;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// overflows the object</a:t>
            </a:r>
          </a:p>
        </p:txBody>
      </p:sp>
      <p:sp>
        <p:nvSpPr>
          <p:cNvPr id="9142" name="Viz roundRect 9142"/>
          <p:cNvSpPr/>
          <p:nvPr/>
        </p:nvSpPr>
        <p:spPr>
          <a:xfrm>
            <a:off x="7040880" y="320040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out of bounds — via the type</a:t>
            </a:r>
          </a:p>
        </p:txBody>
      </p:sp>
      <p:sp>
        <p:nvSpPr>
          <p:cNvPr id="9143" name="Viz leftArrow 9143"/>
          <p:cNvSpPr/>
          <p:nvPr/>
        </p:nvSpPr>
        <p:spPr>
          <a:xfrm>
            <a:off x="6757416" y="3098673"/>
            <a:ext cx="246888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Downcasts Overflow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Only </a:t>
            </a:r>
            <a:r>
              <a:rPr lang="en-US">
                <a:latin typeface="Courier New"/>
              </a:rPr>
              <a:t>sizeof(t1)</a:t>
            </a:r>
            <a:r>
              <a:t> bytes were ever allocated</a:t>
            </a:r>
          </a:p>
        </p:txBody>
      </p:sp>
      <p:sp>
        <p:nvSpPr>
          <p:cNvPr id="9151" name="Viz rect 9151"/>
          <p:cNvSpPr/>
          <p:nvPr/>
        </p:nvSpPr>
        <p:spPr>
          <a:xfrm>
            <a:off x="1371600" y="212140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2E5F8A"/>
                </a:solidFill>
              </a:rPr>
              <a:t>p : t1*  — the allocated object</a:t>
            </a:r>
          </a:p>
        </p:txBody>
      </p:sp>
      <p:sp>
        <p:nvSpPr>
          <p:cNvPr id="9144" name="Viz rect 9144"/>
          <p:cNvSpPr/>
          <p:nvPr/>
        </p:nvSpPr>
        <p:spPr>
          <a:xfrm>
            <a:off x="1371600" y="2514600"/>
            <a:ext cx="11887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F1: int</a:t>
            </a:r>
          </a:p>
        </p:txBody>
      </p:sp>
      <p:sp>
        <p:nvSpPr>
          <p:cNvPr id="9145" name="Viz rect 9145"/>
          <p:cNvSpPr/>
          <p:nvPr/>
        </p:nvSpPr>
        <p:spPr>
          <a:xfrm>
            <a:off x="2578608" y="2514600"/>
            <a:ext cx="11887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F2: int</a:t>
            </a:r>
          </a:p>
        </p:txBody>
      </p:sp>
      <p:sp>
        <p:nvSpPr>
          <p:cNvPr id="9146" name="Viz rect 9146"/>
          <p:cNvSpPr/>
          <p:nvPr/>
        </p:nvSpPr>
        <p:spPr>
          <a:xfrm>
            <a:off x="3785616" y="2514600"/>
            <a:ext cx="118872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F3: int</a:t>
            </a:r>
          </a:p>
        </p:txBody>
      </p:sp>
      <p:sp>
        <p:nvSpPr>
          <p:cNvPr id="9152" name="Viz rect 9152"/>
          <p:cNvSpPr/>
          <p:nvPr/>
        </p:nvSpPr>
        <p:spPr>
          <a:xfrm>
            <a:off x="1371600" y="3941063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E47932"/>
                </a:solidFill>
              </a:rPr>
              <a:t>q : t2*  — what the cast pretends exists</a:t>
            </a:r>
          </a:p>
        </p:txBody>
      </p:sp>
      <p:sp>
        <p:nvSpPr>
          <p:cNvPr id="9147" name="Viz rect 9147"/>
          <p:cNvSpPr/>
          <p:nvPr/>
        </p:nvSpPr>
        <p:spPr>
          <a:xfrm>
            <a:off x="1371600" y="3520440"/>
            <a:ext cx="1188720" cy="365760"/>
          </a:xfrm>
          <a:prstGeom prst="rect">
            <a:avLst/>
          </a:prstGeom>
          <a:solidFill>
            <a:srgbClr val="D6E4F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F1</a:t>
            </a:r>
          </a:p>
        </p:txBody>
      </p:sp>
      <p:sp>
        <p:nvSpPr>
          <p:cNvPr id="9148" name="Viz rect 9148"/>
          <p:cNvSpPr/>
          <p:nvPr/>
        </p:nvSpPr>
        <p:spPr>
          <a:xfrm>
            <a:off x="2578608" y="3520440"/>
            <a:ext cx="1188720" cy="365760"/>
          </a:xfrm>
          <a:prstGeom prst="rect">
            <a:avLst/>
          </a:prstGeom>
          <a:solidFill>
            <a:srgbClr val="D6E4F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F2</a:t>
            </a:r>
          </a:p>
        </p:txBody>
      </p:sp>
      <p:sp>
        <p:nvSpPr>
          <p:cNvPr id="9149" name="Viz rect 9149"/>
          <p:cNvSpPr/>
          <p:nvPr/>
        </p:nvSpPr>
        <p:spPr>
          <a:xfrm>
            <a:off x="3785616" y="3520440"/>
            <a:ext cx="1188720" cy="365760"/>
          </a:xfrm>
          <a:prstGeom prst="rect">
            <a:avLst/>
          </a:prstGeom>
          <a:solidFill>
            <a:srgbClr val="D6E4F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F3</a:t>
            </a:r>
          </a:p>
        </p:txBody>
      </p:sp>
      <p:sp>
        <p:nvSpPr>
          <p:cNvPr id="9150" name="Viz rect 9150"/>
          <p:cNvSpPr/>
          <p:nvPr/>
        </p:nvSpPr>
        <p:spPr>
          <a:xfrm>
            <a:off x="4992624" y="3520440"/>
            <a:ext cx="1188720" cy="365760"/>
          </a:xfrm>
          <a:prstGeom prst="rect">
            <a:avLst/>
          </a:prstGeom>
          <a:solidFill>
            <a:srgbClr val="F5CCC4"/>
          </a:solidFill>
          <a:ln w="12700">
            <a:solidFill>
              <a:srgbClr val="8A8A8A"/>
            </a:solidFill>
            <a:prstDash val="dash"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0" i="0">
                <a:solidFill>
                  <a:srgbClr val="C0392B"/>
                </a:solidFill>
              </a:rPr>
              <a:t>extra</a:t>
            </a:r>
          </a:p>
        </p:txBody>
      </p:sp>
      <p:sp>
        <p:nvSpPr>
          <p:cNvPr id="9153" name="Viz rect 9153"/>
          <p:cNvSpPr/>
          <p:nvPr/>
        </p:nvSpPr>
        <p:spPr>
          <a:xfrm>
            <a:off x="5120640" y="35661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50" b="1" i="1">
                <a:solidFill>
                  <a:srgbClr val="C0392B"/>
                </a:solidFill>
              </a:rPr>
              <a:t>q-&gt;extra touches memory that was never allocated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Confusion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Two struct types laid over one allocation</a:t>
            </a:r>
          </a:p>
        </p:txBody>
      </p:sp>
      <p:sp>
        <p:nvSpPr>
          <p:cNvPr id="9154" name="Viz roundRect 9154"/>
          <p:cNvSpPr/>
          <p:nvPr/>
        </p:nvSpPr>
        <p:spPr>
          <a:xfrm>
            <a:off x="822960" y="1920240"/>
            <a:ext cx="5760720" cy="1988819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55" name="Viz rect 9155"/>
          <p:cNvSpPr/>
          <p:nvPr/>
        </p:nvSpPr>
        <p:spPr>
          <a:xfrm>
            <a:off x="914400" y="3392424"/>
            <a:ext cx="557784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56" name="Viz rect 9156"/>
          <p:cNvSpPr/>
          <p:nvPr/>
        </p:nvSpPr>
        <p:spPr>
          <a:xfrm>
            <a:off x="914400" y="3563874"/>
            <a:ext cx="557784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57" name="Viz code 9157"/>
          <p:cNvSpPr/>
          <p:nvPr/>
        </p:nvSpPr>
        <p:spPr>
          <a:xfrm>
            <a:off x="987552" y="2020824"/>
            <a:ext cx="5486400" cy="18242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struct A {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              struct B {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struct C *c;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            int  B1;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char buffer[40];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        int  B2;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};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                        char info[32];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                      };</a:t>
            </a:r>
          </a:p>
          <a:p>
            <a:pPr algn="l">
              <a:lnSpc>
                <a:spcPts val="1350"/>
              </a:lnSpc>
            </a:pPr>
            <a:endParaRPr lang="en-US" sz="1000">
              <a:latin typeface="Courier New"/>
            </a:endParaRP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x = (struct A *)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malloc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</a:t>
            </a:r>
            <a:r>
              <a:rPr lang="en-US" sz="1000">
                <a:solidFill>
                  <a:srgbClr val="569CD6"/>
                </a:solidFill>
                <a:latin typeface="Courier New"/>
              </a:rPr>
              <a:t>sizeof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(struct A) );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y = (struct B *) x;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// same memory, two types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y-&gt;B1 = value;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// this writes x-&gt;c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x-&gt;c-&gt;field = value2;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// … then writes through it</a:t>
            </a:r>
          </a:p>
        </p:txBody>
      </p:sp>
      <p:sp>
        <p:nvSpPr>
          <p:cNvPr id="9158" name="Viz roundRect 9158"/>
          <p:cNvSpPr/>
          <p:nvPr/>
        </p:nvSpPr>
        <p:spPr>
          <a:xfrm>
            <a:off x="6858000" y="3017520"/>
            <a:ext cx="21031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an int field sits exactly on a pointer field</a:t>
            </a:r>
          </a:p>
        </p:txBody>
      </p:sp>
      <p:sp>
        <p:nvSpPr>
          <p:cNvPr id="9159" name="Viz leftArrow 9159"/>
          <p:cNvSpPr/>
          <p:nvPr/>
        </p:nvSpPr>
        <p:spPr>
          <a:xfrm>
            <a:off x="6620256" y="3418713"/>
            <a:ext cx="20116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Overlapping Views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Through </a:t>
            </a:r>
            <a:r>
              <a:rPr lang="en-US">
                <a:latin typeface="Courier New"/>
              </a:rPr>
              <a:t>y</a:t>
            </a:r>
            <a:r>
              <a:t>, field </a:t>
            </a:r>
            <a:r>
              <a:rPr lang="en-US" b="1">
                <a:latin typeface="Courier New"/>
              </a:rPr>
              <a:t>B1</a:t>
            </a:r>
            <a:r>
              <a:t> lands exactly on </a:t>
            </a:r>
            <a:r>
              <a:rPr lang="en-US" b="1">
                <a:latin typeface="Courier New"/>
              </a:rPr>
              <a:t>c</a:t>
            </a:r>
            <a:r>
              <a:t> — an int over a pointer</a:t>
            </a:r>
          </a:p>
        </p:txBody>
      </p:sp>
      <p:sp>
        <p:nvSpPr>
          <p:cNvPr id="9165" name="Viz rect 9165"/>
          <p:cNvSpPr/>
          <p:nvPr/>
        </p:nvSpPr>
        <p:spPr>
          <a:xfrm>
            <a:off x="1371600" y="212140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2E5F8A"/>
                </a:solidFill>
              </a:rPr>
              <a:t>x : struct A*</a:t>
            </a:r>
          </a:p>
        </p:txBody>
      </p:sp>
      <p:sp>
        <p:nvSpPr>
          <p:cNvPr id="9160" name="Viz rect 9160"/>
          <p:cNvSpPr/>
          <p:nvPr/>
        </p:nvSpPr>
        <p:spPr>
          <a:xfrm>
            <a:off x="1371600" y="2514600"/>
            <a:ext cx="1188720" cy="365760"/>
          </a:xfrm>
          <a:prstGeom prst="rect">
            <a:avLst/>
          </a:prstGeom>
          <a:solidFill>
            <a:srgbClr val="E4793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c : C*</a:t>
            </a:r>
          </a:p>
        </p:txBody>
      </p:sp>
      <p:sp>
        <p:nvSpPr>
          <p:cNvPr id="9161" name="Viz rect 9161"/>
          <p:cNvSpPr/>
          <p:nvPr/>
        </p:nvSpPr>
        <p:spPr>
          <a:xfrm>
            <a:off x="2578608" y="2514600"/>
            <a:ext cx="310896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buffer[40]</a:t>
            </a:r>
          </a:p>
        </p:txBody>
      </p:sp>
      <p:sp>
        <p:nvSpPr>
          <p:cNvPr id="9166" name="Viz rect 9166"/>
          <p:cNvSpPr/>
          <p:nvPr/>
        </p:nvSpPr>
        <p:spPr>
          <a:xfrm>
            <a:off x="1371600" y="3941063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E47932"/>
                </a:solidFill>
              </a:rPr>
              <a:t>y : struct B*  (same memory)</a:t>
            </a:r>
          </a:p>
        </p:txBody>
      </p:sp>
      <p:sp>
        <p:nvSpPr>
          <p:cNvPr id="9162" name="Viz rect 9162"/>
          <p:cNvSpPr/>
          <p:nvPr/>
        </p:nvSpPr>
        <p:spPr>
          <a:xfrm>
            <a:off x="1371600" y="3520440"/>
            <a:ext cx="1188720" cy="365760"/>
          </a:xfrm>
          <a:prstGeom prst="rect">
            <a:avLst/>
          </a:prstGeom>
          <a:solidFill>
            <a:srgbClr val="E4793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FFFFFF"/>
                </a:solidFill>
              </a:rPr>
              <a:t>B1 : int</a:t>
            </a:r>
          </a:p>
        </p:txBody>
      </p:sp>
      <p:sp>
        <p:nvSpPr>
          <p:cNvPr id="9163" name="Viz rect 9163"/>
          <p:cNvSpPr/>
          <p:nvPr/>
        </p:nvSpPr>
        <p:spPr>
          <a:xfrm>
            <a:off x="2578608" y="3520440"/>
            <a:ext cx="1188720" cy="365760"/>
          </a:xfrm>
          <a:prstGeom prst="rect">
            <a:avLst/>
          </a:prstGeom>
          <a:solidFill>
            <a:srgbClr val="D6E4F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B2 : int</a:t>
            </a:r>
          </a:p>
        </p:txBody>
      </p:sp>
      <p:sp>
        <p:nvSpPr>
          <p:cNvPr id="9164" name="Viz rect 9164"/>
          <p:cNvSpPr/>
          <p:nvPr/>
        </p:nvSpPr>
        <p:spPr>
          <a:xfrm>
            <a:off x="3785616" y="3520440"/>
            <a:ext cx="2377440" cy="365760"/>
          </a:xfrm>
          <a:prstGeom prst="rect">
            <a:avLst/>
          </a:prstGeom>
          <a:solidFill>
            <a:srgbClr val="D6E4F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info[32]</a:t>
            </a:r>
          </a:p>
        </p:txBody>
      </p:sp>
      <p:sp>
        <p:nvSpPr>
          <p:cNvPr id="9167" name="Viz rect 9167"/>
          <p:cNvSpPr/>
          <p:nvPr/>
        </p:nvSpPr>
        <p:spPr>
          <a:xfrm>
            <a:off x="1353312" y="2496312"/>
            <a:ext cx="1225296" cy="1408176"/>
          </a:xfrm>
          <a:prstGeom prst="rect">
            <a:avLst/>
          </a:prstGeom>
          <a:noFill/>
          <a:ln w="19050">
            <a:solidFill>
              <a:srgbClr val="C0392B"/>
            </a:solidFill>
            <a:prstDash val="dash"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68" name="Viz rect 9168"/>
          <p:cNvSpPr/>
          <p:nvPr/>
        </p:nvSpPr>
        <p:spPr>
          <a:xfrm>
            <a:off x="2743200" y="43434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1000" b="1" i="1">
                <a:solidFill>
                  <a:srgbClr val="C0392B"/>
                </a:solidFill>
              </a:rPr>
              <a:t>assigning y-&gt;B1 silently replaces the pointer c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Resulting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field </a:t>
            </a:r>
            <a:r>
              <a:rPr lang="en-US">
                <a:latin typeface="Courier New"/>
              </a:rPr>
              <a:t>y-&gt;B1</a:t>
            </a:r>
            <a:r>
              <a:t> selects </a:t>
            </a:r>
            <a:r>
              <a:rPr lang="en-US" b="1"/>
              <a:t>a location</a:t>
            </a:r>
            <a:r>
              <a:t>; </a:t>
            </a:r>
            <a:r>
              <a:rPr lang="en-US">
                <a:latin typeface="Courier New"/>
              </a:rPr>
              <a:t>x-&gt;c-&gt;field</a:t>
            </a:r>
            <a:r>
              <a:t> supplies </a:t>
            </a:r>
            <a:r>
              <a:rPr lang="en-US" b="1"/>
              <a:t>a value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Together they write a chosen value to a chosen location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A powerful building block — we return to this in later lectures</a:t>
            </a:r>
          </a:p>
        </p:txBody>
      </p:sp>
      <p:sp>
        <p:nvSpPr>
          <p:cNvPr id="9169" name="Viz roundRect 9169"/>
          <p:cNvSpPr/>
          <p:nvPr/>
        </p:nvSpPr>
        <p:spPr>
          <a:xfrm>
            <a:off x="777240" y="3246120"/>
            <a:ext cx="2468880" cy="731520"/>
          </a:xfrm>
          <a:prstGeom prst="roundRect">
            <a:avLst>
              <a:gd name="adj" fmla="val 16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set y-&gt;B1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choose a location</a:t>
            </a:r>
          </a:p>
        </p:txBody>
      </p:sp>
      <p:sp>
        <p:nvSpPr>
          <p:cNvPr id="9170" name="Viz rightArrow 9170"/>
          <p:cNvSpPr/>
          <p:nvPr/>
        </p:nvSpPr>
        <p:spPr>
          <a:xfrm>
            <a:off x="3337560" y="3502152"/>
            <a:ext cx="411480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71" name="Viz roundRect 9171"/>
          <p:cNvSpPr/>
          <p:nvPr/>
        </p:nvSpPr>
        <p:spPr>
          <a:xfrm>
            <a:off x="3840480" y="3246120"/>
            <a:ext cx="2651760" cy="731520"/>
          </a:xfrm>
          <a:prstGeom prst="roundRect">
            <a:avLst>
              <a:gd name="adj" fmla="val 16000"/>
            </a:avLst>
          </a:prstGeom>
          <a:solidFill>
            <a:srgbClr val="94B6D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000000"/>
                </a:solidFill>
              </a:rPr>
              <a:t>c now points there</a:t>
            </a:r>
          </a:p>
          <a:p>
            <a:pPr algn="ctr"/>
            <a:r>
              <a:rPr lang="en-US" sz="900" b="0" i="1">
                <a:solidFill>
                  <a:srgbClr val="000000"/>
                </a:solidFill>
              </a:rPr>
              <a:t>type confusion</a:t>
            </a:r>
          </a:p>
        </p:txBody>
      </p:sp>
      <p:sp>
        <p:nvSpPr>
          <p:cNvPr id="9172" name="Viz rightArrow 9172"/>
          <p:cNvSpPr/>
          <p:nvPr/>
        </p:nvSpPr>
        <p:spPr>
          <a:xfrm>
            <a:off x="6583680" y="3502152"/>
            <a:ext cx="411480" cy="201168"/>
          </a:xfrm>
          <a:prstGeom prst="rightArrow">
            <a:avLst/>
          </a:prstGeom>
          <a:solidFill>
            <a:srgbClr val="8A8A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73" name="Viz roundRect 9173"/>
          <p:cNvSpPr/>
          <p:nvPr/>
        </p:nvSpPr>
        <p:spPr>
          <a:xfrm>
            <a:off x="7086600" y="3246120"/>
            <a:ext cx="1371600" cy="731520"/>
          </a:xfrm>
          <a:prstGeom prst="roundRect">
            <a:avLst>
              <a:gd name="adj" fmla="val 16000"/>
            </a:avLst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chosen write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Would Do That?!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How could such an error happen?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Type casts — as we saw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b="1"/>
              <a:t>Unions</a:t>
            </a:r>
            <a:r>
              <a:t> — one memory region, multiple formats, by design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Use-before-initialization (UBI)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t>Use-after-free (UAF)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last two come from </a:t>
            </a:r>
            <a:r>
              <a:rPr lang="en-US" b="1"/>
              <a:t>manual memory management</a:t>
            </a:r>
            <a:r>
              <a:t> — temporal errors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Errors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pointer is used at the wrong time: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b="1">
                <a:latin typeface="Courier New"/>
              </a:rPr>
              <a:t>UBI</a:t>
            </a:r>
            <a:r>
              <a:t> — used </a:t>
            </a:r>
            <a:r>
              <a:rPr lang="en-US" b="1"/>
              <a:t>before</a:t>
            </a:r>
            <a:r>
              <a:t> it is assigned to an object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b="1">
                <a:latin typeface="Courier New"/>
              </a:rPr>
              <a:t>UAF</a:t>
            </a:r>
            <a:r>
              <a:t> — used </a:t>
            </a:r>
            <a:r>
              <a:rPr lang="en-US" b="1"/>
              <a:t>after</a:t>
            </a:r>
            <a:r>
              <a:t> its object has been freed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UAF is the most common exploit vector today</a:t>
            </a:r>
          </a:p>
        </p:txBody>
      </p:sp>
      <p:sp>
        <p:nvSpPr>
          <p:cNvPr id="9174" name="Viz roundRect 9174"/>
          <p:cNvSpPr/>
          <p:nvPr/>
        </p:nvSpPr>
        <p:spPr>
          <a:xfrm>
            <a:off x="685800" y="361188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Spatial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out-of-bounds access</a:t>
            </a:r>
          </a:p>
        </p:txBody>
      </p:sp>
      <p:sp>
        <p:nvSpPr>
          <p:cNvPr id="9175" name="Viz roundRect 9175"/>
          <p:cNvSpPr/>
          <p:nvPr/>
        </p:nvSpPr>
        <p:spPr>
          <a:xfrm>
            <a:off x="3383280" y="361188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D9D9D9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8A8A8A"/>
                </a:solidFill>
              </a:rPr>
              <a:t>Type</a:t>
            </a:r>
          </a:p>
          <a:p>
            <a:pPr algn="ctr"/>
            <a:r>
              <a:rPr lang="en-US" sz="900" b="0" i="1">
                <a:solidFill>
                  <a:srgbClr val="8A8A8A"/>
                </a:solidFill>
              </a:rPr>
              <a:t>wrong interpretation</a:t>
            </a:r>
          </a:p>
        </p:txBody>
      </p:sp>
      <p:sp>
        <p:nvSpPr>
          <p:cNvPr id="9176" name="Viz roundRect 9176"/>
          <p:cNvSpPr/>
          <p:nvPr/>
        </p:nvSpPr>
        <p:spPr>
          <a:xfrm>
            <a:off x="6080760" y="3611880"/>
            <a:ext cx="2377440" cy="658368"/>
          </a:xfrm>
          <a:prstGeom prst="roundRect">
            <a:avLst>
              <a:gd name="adj" fmla="val 18000"/>
            </a:avLst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300" b="1" i="0">
                <a:solidFill>
                  <a:srgbClr val="FFFFFF"/>
                </a:solidFill>
              </a:rPr>
              <a:t>Temporal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</a:rPr>
              <a:t>wrong time: UBI, UAF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Memory Life 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Pointer and object must move through this together: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b="1"/>
              <a:t>declare → allocate → use → release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Temporal errors run these steps in the wrong order</a:t>
            </a:r>
          </a:p>
        </p:txBody>
      </p:sp>
      <p:sp>
        <p:nvSpPr>
          <p:cNvPr id="9177" name="Viz roundRect 9177"/>
          <p:cNvSpPr/>
          <p:nvPr/>
        </p:nvSpPr>
        <p:spPr>
          <a:xfrm>
            <a:off x="822960" y="297180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78" name="Viz code 9178"/>
          <p:cNvSpPr/>
          <p:nvPr/>
        </p:nvSpPr>
        <p:spPr>
          <a:xfrm>
            <a:off x="987552" y="3072384"/>
            <a:ext cx="5120640" cy="7955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*p;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          // 1. declare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p = (char *)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malloc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size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// 2. allocate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snprintf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p, size,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v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// 3. use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free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p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       // 4. release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Use-Before-Initialization (UBI)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pointer is used </a:t>
            </a:r>
            <a:r>
              <a:rPr lang="en-US" b="1"/>
              <a:t>before</a:t>
            </a:r>
            <a:r>
              <a:t> it is assigned to any object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Courier New"/>
              </a:rPr>
              <a:t>p</a:t>
            </a:r>
            <a:r>
              <a:t> holds whatever happened to be at its location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An adversary who controls that value controls the reference</a:t>
            </a:r>
          </a:p>
        </p:txBody>
      </p:sp>
      <p:sp>
        <p:nvSpPr>
          <p:cNvPr id="9179" name="Viz roundRect 9179"/>
          <p:cNvSpPr/>
          <p:nvPr/>
        </p:nvSpPr>
        <p:spPr>
          <a:xfrm>
            <a:off x="822960" y="288036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80" name="Viz rect 9180"/>
          <p:cNvSpPr/>
          <p:nvPr/>
        </p:nvSpPr>
        <p:spPr>
          <a:xfrm>
            <a:off x="914400" y="3152394"/>
            <a:ext cx="521208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81" name="Viz code 9181"/>
          <p:cNvSpPr/>
          <p:nvPr/>
        </p:nvSpPr>
        <p:spPr>
          <a:xfrm>
            <a:off x="987552" y="2980944"/>
            <a:ext cx="5120640" cy="7955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*p;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      // declare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snprintf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p, size,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v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// USE (too early!)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p = (char *)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malloc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size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// allocate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free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p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   // release</a:t>
            </a:r>
          </a:p>
        </p:txBody>
      </p:sp>
      <p:sp>
        <p:nvSpPr>
          <p:cNvPr id="9182" name="Viz roundRect 9182"/>
          <p:cNvSpPr/>
          <p:nvPr/>
        </p:nvSpPr>
        <p:spPr>
          <a:xfrm>
            <a:off x="6903720" y="32918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p points wherever that stale value says</a:t>
            </a:r>
          </a:p>
        </p:txBody>
      </p:sp>
      <p:sp>
        <p:nvSpPr>
          <p:cNvPr id="9183" name="Viz leftArrow 9183"/>
          <p:cNvSpPr/>
          <p:nvPr/>
        </p:nvSpPr>
        <p:spPr>
          <a:xfrm>
            <a:off x="6254496" y="3178683"/>
            <a:ext cx="61264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UBI Is a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Function </a:t>
            </a:r>
            <a:r>
              <a:rPr lang="en-US">
                <a:latin typeface="Courier New"/>
              </a:rPr>
              <a:t>B</a:t>
            </a:r>
            <a:r>
              <a:t> runs, builds </a:t>
            </a:r>
            <a:r>
              <a:rPr lang="en-US">
                <a:latin typeface="Courier New"/>
              </a:rPr>
              <a:t>buffer</a:t>
            </a:r>
            <a:r>
              <a:t> from adversary input, then returns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Function </a:t>
            </a:r>
            <a:r>
              <a:rPr lang="en-US">
                <a:latin typeface="Courier New"/>
              </a:rPr>
              <a:t>C</a:t>
            </a:r>
            <a:r>
              <a:t> reuses the same stack memory for an uninitialized </a:t>
            </a:r>
            <a:r>
              <a:rPr lang="en-US">
                <a:latin typeface="Courier New"/>
              </a:rPr>
              <a:t>ptr</a:t>
            </a:r>
          </a:p>
        </p:txBody>
      </p:sp>
      <p:sp>
        <p:nvSpPr>
          <p:cNvPr id="9186" name="Viz rect 9186"/>
          <p:cNvSpPr/>
          <p:nvPr/>
        </p:nvSpPr>
        <p:spPr>
          <a:xfrm>
            <a:off x="1828800" y="2258568"/>
            <a:ext cx="27432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2E5F8A"/>
                </a:solidFill>
              </a:rPr>
              <a:t>stack frame of B</a:t>
            </a:r>
          </a:p>
        </p:txBody>
      </p:sp>
      <p:sp>
        <p:nvSpPr>
          <p:cNvPr id="9184" name="Viz rect 9184"/>
          <p:cNvSpPr/>
          <p:nvPr/>
        </p:nvSpPr>
        <p:spPr>
          <a:xfrm>
            <a:off x="1828800" y="2651760"/>
            <a:ext cx="2194560" cy="365760"/>
          </a:xfrm>
          <a:prstGeom prst="rect">
            <a:avLst/>
          </a:prstGeom>
          <a:solidFill>
            <a:srgbClr val="F4AB7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buffer (adversary input)</a:t>
            </a:r>
          </a:p>
        </p:txBody>
      </p:sp>
      <p:sp>
        <p:nvSpPr>
          <p:cNvPr id="9187" name="Viz downArrow 9187"/>
          <p:cNvSpPr/>
          <p:nvPr/>
        </p:nvSpPr>
        <p:spPr>
          <a:xfrm>
            <a:off x="2743200" y="3127248"/>
            <a:ext cx="182880" cy="402336"/>
          </a:xfrm>
          <a:prstGeom prst="downArrow">
            <a:avLst/>
          </a:prstGeom>
          <a:solidFill>
            <a:srgbClr val="8A8A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88" name="Viz rect 9188"/>
          <p:cNvSpPr/>
          <p:nvPr/>
        </p:nvSpPr>
        <p:spPr>
          <a:xfrm>
            <a:off x="3017520" y="3200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850" b="0" i="1">
                <a:solidFill>
                  <a:srgbClr val="8A8A8A"/>
                </a:solidFill>
              </a:rPr>
              <a:t>B returns, C reuses the memory</a:t>
            </a:r>
          </a:p>
        </p:txBody>
      </p:sp>
      <p:sp>
        <p:nvSpPr>
          <p:cNvPr id="9189" name="Viz rect 9189"/>
          <p:cNvSpPr/>
          <p:nvPr/>
        </p:nvSpPr>
        <p:spPr>
          <a:xfrm>
            <a:off x="1828800" y="3218688"/>
            <a:ext cx="32004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E47932"/>
                </a:solidFill>
              </a:rPr>
              <a:t>stack frame of C (same bytes)</a:t>
            </a:r>
          </a:p>
        </p:txBody>
      </p:sp>
      <p:sp>
        <p:nvSpPr>
          <p:cNvPr id="9185" name="Viz rect 9185"/>
          <p:cNvSpPr/>
          <p:nvPr/>
        </p:nvSpPr>
        <p:spPr>
          <a:xfrm>
            <a:off x="1828800" y="3611880"/>
            <a:ext cx="2194560" cy="365760"/>
          </a:xfrm>
          <a:prstGeom prst="rect">
            <a:avLst/>
          </a:prstGeom>
          <a:solidFill>
            <a:srgbClr val="D9D9D9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8A8A8A"/>
                </a:solidFill>
              </a:rPr>
              <a:t>ptr (uninitialized)</a:t>
            </a:r>
          </a:p>
        </p:txBody>
      </p:sp>
      <p:sp>
        <p:nvSpPr>
          <p:cNvPr id="9190" name="Viz rect 9190"/>
          <p:cNvSpPr/>
          <p:nvPr/>
        </p:nvSpPr>
        <p:spPr>
          <a:xfrm>
            <a:off x="1828800" y="4114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1000" b="1" i="1">
                <a:solidFill>
                  <a:srgbClr val="C0392B"/>
                </a:solidFill>
              </a:rPr>
              <a:t>ptr starts out holding B’s leftover, adversary-shaped bytes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Use-After-Free (UAF)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pointer is used </a:t>
            </a:r>
            <a:r>
              <a:rPr lang="en-US" b="1"/>
              <a:t>after</a:t>
            </a:r>
            <a:r>
              <a:t> its object has been freed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region may now hold a </a:t>
            </a:r>
            <a:r>
              <a:rPr lang="en-US" b="1"/>
              <a:t>different object</a:t>
            </a:r>
            <a:r>
              <a:t> — imagine a malloc in between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most common exploit vector today</a:t>
            </a:r>
          </a:p>
        </p:txBody>
      </p:sp>
      <p:sp>
        <p:nvSpPr>
          <p:cNvPr id="9191" name="Viz roundRect 9191"/>
          <p:cNvSpPr/>
          <p:nvPr/>
        </p:nvSpPr>
        <p:spPr>
          <a:xfrm>
            <a:off x="822960" y="2880360"/>
            <a:ext cx="5394960" cy="960120"/>
          </a:xfrm>
          <a:prstGeom prst="roundRect">
            <a:avLst>
              <a:gd name="adj" fmla="val 6000"/>
            </a:avLst>
          </a:prstGeom>
          <a:solidFill>
            <a:srgbClr val="1E2430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92" name="Viz rect 9192"/>
          <p:cNvSpPr/>
          <p:nvPr/>
        </p:nvSpPr>
        <p:spPr>
          <a:xfrm>
            <a:off x="914400" y="3495294"/>
            <a:ext cx="5212080" cy="171450"/>
          </a:xfrm>
          <a:prstGeom prst="rect">
            <a:avLst/>
          </a:prstGeom>
          <a:solidFill>
            <a:srgbClr val="4A3215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193" name="Viz code 9193"/>
          <p:cNvSpPr/>
          <p:nvPr/>
        </p:nvSpPr>
        <p:spPr>
          <a:xfrm>
            <a:off x="987552" y="2980944"/>
            <a:ext cx="5120640" cy="7955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/>
          <a:lstStyle/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569CD6"/>
                </a:solidFill>
                <a:latin typeface="Courier New"/>
              </a:rPr>
              <a:t>char 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*p;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      // declare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8DEE9"/>
                </a:solidFill>
                <a:latin typeface="Courier New"/>
              </a:rPr>
              <a:t>p = (char *) </a:t>
            </a:r>
            <a:r>
              <a:rPr lang="en-US" sz="1000">
                <a:solidFill>
                  <a:srgbClr val="DCDCAA"/>
                </a:solidFill>
                <a:latin typeface="Courier New"/>
              </a:rPr>
              <a:t>malloc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size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// allocate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free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p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               // release</a:t>
            </a:r>
          </a:p>
          <a:p>
            <a:pPr algn="l">
              <a:lnSpc>
                <a:spcPts val="1350"/>
              </a:lnSpc>
            </a:pPr>
            <a:r>
              <a:rPr lang="en-US" sz="1000">
                <a:solidFill>
                  <a:srgbClr val="DCDCAA"/>
                </a:solidFill>
                <a:latin typeface="Courier New"/>
              </a:rPr>
              <a:t>snprintf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( p, size, </a:t>
            </a:r>
            <a:r>
              <a:rPr lang="en-US" sz="1000">
                <a:solidFill>
                  <a:srgbClr val="CE9178"/>
                </a:solidFill>
                <a:latin typeface="Courier New"/>
              </a:rPr>
              <a:t>"%s"</a:t>
            </a:r>
            <a:r>
              <a:rPr lang="en-US" sz="1000">
                <a:solidFill>
                  <a:srgbClr val="D8DEE9"/>
                </a:solidFill>
                <a:latin typeface="Courier New"/>
              </a:rPr>
              <a:t>, v );</a:t>
            </a:r>
            <a:r>
              <a:rPr lang="en-US" sz="1000">
                <a:solidFill>
                  <a:srgbClr val="6A9955"/>
                </a:solidFill>
                <a:latin typeface="Courier New"/>
              </a:rPr>
              <a:t>   // USE (too late!)</a:t>
            </a:r>
          </a:p>
        </p:txBody>
      </p:sp>
      <p:sp>
        <p:nvSpPr>
          <p:cNvPr id="9194" name="Viz roundRect 9194"/>
          <p:cNvSpPr/>
          <p:nvPr/>
        </p:nvSpPr>
        <p:spPr>
          <a:xfrm>
            <a:off x="6903720" y="3291840"/>
            <a:ext cx="20574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47932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1000" b="0" i="0">
                <a:solidFill>
                  <a:srgbClr val="202020"/>
                </a:solidFill>
              </a:rPr>
              <a:t>p still points at reused memory</a:t>
            </a:r>
          </a:p>
        </p:txBody>
      </p:sp>
      <p:sp>
        <p:nvSpPr>
          <p:cNvPr id="9195" name="Viz leftArrow 9195"/>
          <p:cNvSpPr/>
          <p:nvPr/>
        </p:nvSpPr>
        <p:spPr>
          <a:xfrm>
            <a:off x="6254496" y="3521583"/>
            <a:ext cx="612647" cy="118872"/>
          </a:xfrm>
          <a:prstGeom prst="leftArrow">
            <a:avLst/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UAF Is a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You hold </a:t>
            </a:r>
            <a:r>
              <a:rPr lang="en-US">
                <a:latin typeface="Courier New"/>
              </a:rPr>
              <a:t>b</a:t>
            </a:r>
            <a:r>
              <a:t>, a pointer to </a:t>
            </a:r>
            <a:r>
              <a:rPr lang="en-US">
                <a:latin typeface="Courier New"/>
              </a:rPr>
              <a:t>B</a:t>
            </a:r>
            <a:r>
              <a:t>. </a:t>
            </a:r>
            <a:r>
              <a:rPr lang="en-US">
                <a:latin typeface="Courier New"/>
              </a:rPr>
              <a:t>B</a:t>
            </a:r>
            <a:r>
              <a:t> is freed — but you keep </a:t>
            </a:r>
            <a:r>
              <a:rPr lang="en-US">
                <a:latin typeface="Courier New"/>
              </a:rPr>
              <a:t>b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The allocator reuses that region for a new object </a:t>
            </a:r>
            <a:r>
              <a:rPr lang="en-US">
                <a:latin typeface="Courier New"/>
              </a:rPr>
              <a:t>D</a:t>
            </a:r>
          </a:p>
        </p:txBody>
      </p:sp>
      <p:sp>
        <p:nvSpPr>
          <p:cNvPr id="9202" name="Viz rect 9202"/>
          <p:cNvSpPr/>
          <p:nvPr/>
        </p:nvSpPr>
        <p:spPr>
          <a:xfrm>
            <a:off x="1188720" y="2395728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2E5F8A"/>
                </a:solidFill>
              </a:rPr>
              <a:t>heap before: b points to Obj B</a:t>
            </a:r>
          </a:p>
        </p:txBody>
      </p:sp>
      <p:sp>
        <p:nvSpPr>
          <p:cNvPr id="9196" name="Viz rect 9196"/>
          <p:cNvSpPr/>
          <p:nvPr/>
        </p:nvSpPr>
        <p:spPr>
          <a:xfrm>
            <a:off x="1188720" y="2788920"/>
            <a:ext cx="173736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 A</a:t>
            </a:r>
          </a:p>
        </p:txBody>
      </p:sp>
      <p:sp>
        <p:nvSpPr>
          <p:cNvPr id="9197" name="Viz rect 9197"/>
          <p:cNvSpPr/>
          <p:nvPr/>
        </p:nvSpPr>
        <p:spPr>
          <a:xfrm>
            <a:off x="2944368" y="2788920"/>
            <a:ext cx="1737360" cy="365760"/>
          </a:xfrm>
          <a:prstGeom prst="rect">
            <a:avLst/>
          </a:prstGeom>
          <a:solidFill>
            <a:srgbClr val="F4AB70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 B</a:t>
            </a:r>
          </a:p>
        </p:txBody>
      </p:sp>
      <p:sp>
        <p:nvSpPr>
          <p:cNvPr id="9198" name="Viz rect 9198"/>
          <p:cNvSpPr/>
          <p:nvPr/>
        </p:nvSpPr>
        <p:spPr>
          <a:xfrm>
            <a:off x="4700016" y="2788920"/>
            <a:ext cx="173736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 C</a:t>
            </a:r>
          </a:p>
        </p:txBody>
      </p:sp>
      <p:sp>
        <p:nvSpPr>
          <p:cNvPr id="9203" name="Viz downArrow 9203"/>
          <p:cNvSpPr/>
          <p:nvPr/>
        </p:nvSpPr>
        <p:spPr>
          <a:xfrm>
            <a:off x="1965960" y="3264408"/>
            <a:ext cx="182880" cy="402336"/>
          </a:xfrm>
          <a:prstGeom prst="downArrow">
            <a:avLst/>
          </a:prstGeom>
          <a:solidFill>
            <a:srgbClr val="8A8A8A"/>
          </a:solidFill>
          <a:ln>
            <a:noFill/>
          </a:ln>
        </p:spPr>
        <p:txBody>
          <a:bodyPr wrap="square" lIns="9144" rIns="9144" tIns="4572" bIns="4572" anchor="ctr"/>
          <a:lstStyle/>
          <a:p>
            <a:endParaRPr/>
          </a:p>
        </p:txBody>
      </p:sp>
      <p:sp>
        <p:nvSpPr>
          <p:cNvPr id="9204" name="Viz rect 9204"/>
          <p:cNvSpPr/>
          <p:nvPr/>
        </p:nvSpPr>
        <p:spPr>
          <a:xfrm>
            <a:off x="1188720" y="340156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900" b="1" i="1">
                <a:solidFill>
                  <a:srgbClr val="E47932"/>
                </a:solidFill>
              </a:rPr>
              <a:t>heap after: same bytes now hold Obj D</a:t>
            </a:r>
          </a:p>
        </p:txBody>
      </p:sp>
      <p:sp>
        <p:nvSpPr>
          <p:cNvPr id="9199" name="Viz rect 9199"/>
          <p:cNvSpPr/>
          <p:nvPr/>
        </p:nvSpPr>
        <p:spPr>
          <a:xfrm>
            <a:off x="1188720" y="3749039"/>
            <a:ext cx="173736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 A</a:t>
            </a:r>
          </a:p>
        </p:txBody>
      </p:sp>
      <p:sp>
        <p:nvSpPr>
          <p:cNvPr id="9200" name="Viz rect 9200"/>
          <p:cNvSpPr/>
          <p:nvPr/>
        </p:nvSpPr>
        <p:spPr>
          <a:xfrm>
            <a:off x="2944368" y="3749039"/>
            <a:ext cx="1737360" cy="365760"/>
          </a:xfrm>
          <a:prstGeom prst="rect">
            <a:avLst/>
          </a:prstGeom>
          <a:solidFill>
            <a:srgbClr val="F5CCC4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C0392B"/>
                </a:solidFill>
              </a:rPr>
              <a:t>Obj D</a:t>
            </a:r>
          </a:p>
        </p:txBody>
      </p:sp>
      <p:sp>
        <p:nvSpPr>
          <p:cNvPr id="9201" name="Viz rect 9201"/>
          <p:cNvSpPr/>
          <p:nvPr/>
        </p:nvSpPr>
        <p:spPr>
          <a:xfrm>
            <a:off x="4700016" y="3749039"/>
            <a:ext cx="1737360" cy="365760"/>
          </a:xfrm>
          <a:prstGeom prst="rect">
            <a:avLst/>
          </a:prstGeom>
          <a:solidFill>
            <a:srgbClr val="94B6D2"/>
          </a:solidFill>
          <a:ln w="9525">
            <a:solidFill>
              <a:srgbClr val="FFFFFF"/>
            </a:solidFill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850" b="1" i="0">
                <a:solidFill>
                  <a:srgbClr val="000000"/>
                </a:solidFill>
              </a:rPr>
              <a:t>Obj C</a:t>
            </a:r>
          </a:p>
        </p:txBody>
      </p:sp>
      <p:sp>
        <p:nvSpPr>
          <p:cNvPr id="9205" name="Viz rect 9205"/>
          <p:cNvSpPr/>
          <p:nvPr/>
        </p:nvSpPr>
        <p:spPr>
          <a:xfrm>
            <a:off x="1188720" y="4315968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rIns="9144" tIns="4572" bIns="4572" anchor="ctr"/>
          <a:lstStyle/>
          <a:p>
            <a:pPr algn="l"/>
            <a:r>
              <a:rPr lang="en-US" sz="1000" b="1" i="1">
                <a:solidFill>
                  <a:srgbClr val="C0392B"/>
                </a:solidFill>
              </a:rPr>
              <a:t>a “use” of b now reads and writes Obj D instead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Memory errors remain the most common source of vulnerabilities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Root cause: C/C++ manage </a:t>
            </a:r>
            <a:r>
              <a:rPr lang="en-US" b="1"/>
              <a:t>objects and pointers separately</a:t>
            </a:r>
            <a:r>
              <a:t>, and enforce neither memory nor type safety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This gives us three families: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b="1">
                <a:latin typeface="Courier New"/>
              </a:rPr>
              <a:t>Spatial</a:t>
            </a:r>
            <a:r>
              <a:t> — out-of-bounds access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b="1">
                <a:latin typeface="Courier New"/>
              </a:rPr>
              <a:t>Type</a:t>
            </a:r>
            <a:r>
              <a:t> — incompatible interpretations of the same memory</a:t>
            </a:r>
          </a:p>
          <a:p>
            <a:pPr marL="685800" lvl="1" indent="-3429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–"/>
            </a:pPr>
            <a:r>
              <a:rPr lang="en-US" b="1">
                <a:latin typeface="Courier New"/>
              </a:rPr>
              <a:t>Temporal</a:t>
            </a:r>
            <a:r>
              <a:t> — use before init, use after free</a:t>
            </a:r>
          </a:p>
          <a:p>
            <a:pPr marL="342900" lvl="0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>Next: how a </a:t>
            </a:r>
            <a:r>
              <a:rPr lang="en-US" b="1"/>
              <a:t>buffer overflow</a:t>
            </a:r>
            <a:r>
              <a:t> turns a spatial error into control of the program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9206" name="Viz ellipse 9206"/>
          <p:cNvSpPr/>
          <p:nvPr/>
        </p:nvSpPr>
        <p:spPr>
          <a:xfrm>
            <a:off x="3794760" y="1828800"/>
            <a:ext cx="1554480" cy="1554480"/>
          </a:xfrm>
          <a:prstGeom prst="ellipse">
            <a:avLst/>
          </a:prstGeom>
          <a:solidFill>
            <a:srgbClr val="E47932"/>
          </a:solidFill>
          <a:ln>
            <a:noFill/>
          </a:ln>
        </p:spPr>
        <p:txBody>
          <a:bodyPr wrap="square" lIns="9144" rIns="9144" tIns="4572" bIns="4572" anchor="ctr"/>
          <a:lstStyle/>
          <a:p>
            <a:pPr algn="ctr"/>
            <a:r>
              <a:rPr lang="en-US" sz="54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idx="12"/>
          </p:nvPr>
        </p:nvSpPr>
        <p:spPr>
          <a:xfrm>
            <a:off x="8229600" y="469087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301506474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2296</Words>
  <Application>Microsoft Macintosh PowerPoint</Application>
  <PresentationFormat>On-screen Show (16:9)</PresentationFormat>
  <Paragraphs>435</Paragraphs>
  <Slides>35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Courier New</vt:lpstr>
      <vt:lpstr>Office Theme [1790301506474]</vt:lpstr>
      <vt:lpstr>CS 165: Computer Security</vt:lpstr>
      <vt:lpstr>Outline</vt:lpstr>
      <vt:lpstr>Vulnerability</vt:lpstr>
      <vt:lpstr>Security Requirements</vt:lpstr>
      <vt:lpstr>Example Code</vt:lpstr>
      <vt:lpstr>Security Requirements of the Code</vt:lpstr>
      <vt:lpstr>What’s a Flaw?</vt:lpstr>
      <vt:lpstr>Example Code</vt:lpstr>
      <vt:lpstr>How is “buffer” represented?</vt:lpstr>
      <vt:lpstr>What’s a Flaw?</vt:lpstr>
      <vt:lpstr>Example Code</vt:lpstr>
      <vt:lpstr>Why is that a flaw?</vt:lpstr>
      <vt:lpstr>Why is that a flaw?</vt:lpstr>
      <vt:lpstr>Memory Errors</vt:lpstr>
      <vt:lpstr>Other Kinds of Flaws</vt:lpstr>
      <vt:lpstr>Language Popularity</vt:lpstr>
      <vt:lpstr>What’s Accessibility?</vt:lpstr>
      <vt:lpstr>Back to Accessibility</vt:lpstr>
      <vt:lpstr>Example Code</vt:lpstr>
      <vt:lpstr>Threat Model</vt:lpstr>
      <vt:lpstr>Threat Model</vt:lpstr>
      <vt:lpstr>Threat Model</vt:lpstr>
      <vt:lpstr>Example Code</vt:lpstr>
      <vt:lpstr>What’s Exploitation?</vt:lpstr>
      <vt:lpstr>What Can Be Exploited?</vt:lpstr>
      <vt:lpstr>Basic Execution</vt:lpstr>
      <vt:lpstr>Basic Execution</vt:lpstr>
      <vt:lpstr>Basic Execution</vt:lpstr>
      <vt:lpstr>Basic Execution</vt:lpstr>
      <vt:lpstr>What Can Be Exploited?</vt:lpstr>
      <vt:lpstr>What Can Be Exploited?</vt:lpstr>
      <vt:lpstr>Return Address</vt:lpstr>
      <vt:lpstr>What Can Be Exploited?</vt:lpstr>
      <vt:lpstr>Conclusions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Emiliano De Cristofaro</cp:lastModifiedBy>
  <cp:revision>5</cp:revision>
  <dcterms:modified xsi:type="dcterms:W3CDTF">2026-10-04T01:08:59Z</dcterms:modified>
</cp:coreProperties>
</file>