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3"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096F481-76FE-430A-8033-0D9017D95D37}">
  <a:tblStyle styleId="{9096F481-76FE-430A-8033-0D9017D95D3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31F7BAC6-EEA7-4524-A375-4FD7C61763D5}"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20" Type="http://schemas.openxmlformats.org/officeDocument/2006/relationships/slide" Target="slides/slide15.xml"/><Relationship Id="rId42" Type="http://schemas.openxmlformats.org/officeDocument/2006/relationships/slide" Target="slides/slide37.xml"/><Relationship Id="rId41" Type="http://schemas.openxmlformats.org/officeDocument/2006/relationships/slide" Target="slides/slide36.xml"/><Relationship Id="rId22" Type="http://schemas.openxmlformats.org/officeDocument/2006/relationships/slide" Target="slides/slide17.xml"/><Relationship Id="rId44" Type="http://schemas.openxmlformats.org/officeDocument/2006/relationships/slide" Target="slides/slide39.xml"/><Relationship Id="rId21" Type="http://schemas.openxmlformats.org/officeDocument/2006/relationships/slide" Target="slides/slide16.xml"/><Relationship Id="rId43" Type="http://schemas.openxmlformats.org/officeDocument/2006/relationships/slide" Target="slides/slide38.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37" Type="http://schemas.openxmlformats.org/officeDocument/2006/relationships/slide" Target="slides/slide32.xml"/><Relationship Id="rId14" Type="http://schemas.openxmlformats.org/officeDocument/2006/relationships/slide" Target="slides/slide9.xml"/><Relationship Id="rId36" Type="http://schemas.openxmlformats.org/officeDocument/2006/relationships/slide" Target="slides/slide31.xml"/><Relationship Id="rId17" Type="http://schemas.openxmlformats.org/officeDocument/2006/relationships/slide" Target="slides/slide12.xml"/><Relationship Id="rId39" Type="http://schemas.openxmlformats.org/officeDocument/2006/relationships/slide" Target="slides/slide34.xml"/><Relationship Id="rId16" Type="http://schemas.openxmlformats.org/officeDocument/2006/relationships/slide" Target="slides/slide11.xml"/><Relationship Id="rId38" Type="http://schemas.openxmlformats.org/officeDocument/2006/relationships/slide" Target="slides/slide33.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857400" y="685800"/>
            <a:ext cx="342915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514350" y="4343400"/>
            <a:ext cx="41148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 name="Google Shape;28;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29" name="Google Shape;29;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800" u="none" cap="none" strike="noStrike">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 name="Google Shape;36;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Set expectations: the logistics half matters because the lab structure is new this year.</a:t>
            </a:r>
            <a:endParaRPr/>
          </a:p>
        </p:txBody>
      </p:sp>
      <p:sp>
        <p:nvSpPr>
          <p:cNvPr id="37" name="Google Shape;37;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 name="Shape 42"/>
        <p:cNvGrpSpPr/>
        <p:nvPr/>
      </p:nvGrpSpPr>
      <p:grpSpPr>
        <a:xfrm>
          <a:off x="0" y="0"/>
          <a:ext cx="0" cy="0"/>
          <a:chOff x="0" y="0"/>
          <a:chExt cx="0" cy="0"/>
        </a:xfrm>
      </p:grpSpPr>
      <p:sp>
        <p:nvSpPr>
          <p:cNvPr id="43" name="Google Shape;43;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 name="Google Shape;44;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FILL IN both sets of office hours before this lecture.</a:t>
            </a:r>
            <a:endParaRPr/>
          </a:p>
        </p:txBody>
      </p:sp>
      <p:sp>
        <p:nvSpPr>
          <p:cNvPr id="45" name="Google Shape;45;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 name="Google Shape;52;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Placeholder: deliberately minimal. Add your own background.</a:t>
            </a:r>
            <a:endParaRPr/>
          </a:p>
        </p:txBody>
      </p:sp>
      <p:sp>
        <p:nvSpPr>
          <p:cNvPr id="53" name="Google Shape;53;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 name="Google Shape;60;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Verify the figures against your preferred sources before delivering.</a:t>
            </a:r>
            <a:endParaRPr/>
          </a:p>
        </p:txBody>
      </p:sp>
      <p:sp>
        <p:nvSpPr>
          <p:cNvPr id="61" name="Google Shape;61;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 name="Google Shape;68;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69" name="Google Shape;69;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6" name="Google Shape;76;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77" name="Google Shape;77;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4" name="Google Shape;84;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85" name="Google Shape;85;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93" name="Google Shape;93;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0" name="Google Shape;100;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101" name="Google Shape;101;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109" name="Google Shape;109;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6" name="Google Shape;116;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117" name="Google Shape;117;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4" name="Google Shape;124;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125" name="Google Shape;125;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9" name="Google Shape;139;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140" name="Google Shape;140;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h4fc598ea39d9c9c1_1_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h4fc598ea39d9c9c1_1_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Say this part out loud twice. Roughly 15 percent of the course grade depends on Thursday attendance.</a:t>
            </a:r>
            <a:endParaRPr/>
          </a:p>
        </p:txBody>
      </p:sp>
      <p:sp>
        <p:nvSpPr>
          <p:cNvPr id="148" name="Google Shape;148;h4fc598ea39d9c9c1_1_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h4fc598ea39d9c9c1_1_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h4fc598ea39d9c9c1_1_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Say this part out loud twice. Roughly 15 percent of the course grade depends on Thursday attendance.</a:t>
            </a:r>
            <a:endParaRPr/>
          </a:p>
        </p:txBody>
      </p:sp>
      <p:sp>
        <p:nvSpPr>
          <p:cNvPr id="156" name="Google Shape;156;h4fc598ea39d9c9c1_1_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Say this part out loud twice. Roughly 15 percent of the course grade depends on Thursday attendance.</a:t>
            </a:r>
            <a:endParaRPr/>
          </a:p>
        </p:txBody>
      </p:sp>
      <p:sp>
        <p:nvSpPr>
          <p:cNvPr id="164" name="Google Shape;16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1" name="Google Shape;171;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FILL IN the five quiz dates before this lecture.</a:t>
            </a:r>
            <a:endParaRPr/>
          </a:p>
        </p:txBody>
      </p:sp>
      <p:sp>
        <p:nvSpPr>
          <p:cNvPr id="172" name="Google Shape;172;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180" name="Google Shape;180;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7" name="Google Shape;18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188" name="Google Shape;18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5" name="Google Shape;195;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Adapted from the inherited syllabus. Read it out; do not skip this slide.</a:t>
            </a:r>
            <a:endParaRPr/>
          </a:p>
        </p:txBody>
      </p:sp>
      <p:sp>
        <p:nvSpPr>
          <p:cNvPr id="196" name="Google Shape;196;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204" name="Google Shape;204;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1" name="Google Shape;211;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212" name="Google Shape;212;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9" name="Google Shape;219;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220" name="Google Shape;220;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7" name="Google Shape;227;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228" name="Google Shape;228;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4" name="Google Shape;23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From COMP0141 Week 1, slide 12. Schneier, "The Security Mindset", Schneier on Security, March 2008. Read it out; it lands better spoken than on screen.</a:t>
            </a:r>
            <a:endParaRPr/>
          </a:p>
        </p:txBody>
      </p:sp>
      <p:sp>
        <p:nvSpPr>
          <p:cNvPr id="235" name="Google Shape;23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2" name="Google Shape;242;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Sub-bullets fold in COMP0141 Week 1, slide 11 (correctness, safety, robustness).</a:t>
            </a:r>
            <a:endParaRPr/>
          </a:p>
        </p:txBody>
      </p:sp>
      <p:sp>
        <p:nvSpPr>
          <p:cNvPr id="243" name="Google Shape;243;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0" name="Google Shape;250;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251" name="Google Shape;251;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8" name="Google Shape;258;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Run this as a two-minute discussion. Answers usually start technical and get much better once someone says 'ask the cleaner'.</a:t>
            </a:r>
            <a:endParaRPr/>
          </a:p>
        </p:txBody>
      </p:sp>
      <p:sp>
        <p:nvSpPr>
          <p:cNvPr id="259" name="Google Shape;259;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6" name="Google Shape;266;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267" name="Google Shape;267;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4" name="Google Shape;274;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275" name="Google Shape;275;p2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2" name="Google Shape;282;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283" name="Google Shape;283;p3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0" name="Google Shape;290;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291" name="Google Shape;291;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8" name="Google Shape;298;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Condensed from COMP0141 Week 1, slides 30 to 35 (the Alice / attacker / bank build).</a:t>
            </a:r>
            <a:endParaRPr/>
          </a:p>
        </p:txBody>
      </p:sp>
      <p:sp>
        <p:nvSpPr>
          <p:cNvPr id="299" name="Google Shape;299;p3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8" name="Google Shape;308;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From COMP0141 Week 1, slide 29.</a:t>
            </a:r>
            <a:endParaRPr/>
          </a:p>
        </p:txBody>
      </p:sp>
      <p:sp>
        <p:nvSpPr>
          <p:cNvPr id="309" name="Google Shape;309;p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6" name="Google Shape;316;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Rebuilt in black and white from COMP0141 Week 1, slide 28. The original colored figure is still in UCL/slides/Week1.pptx if you prefer it. The arrow in the original ran from Author towards Trespasser: expert-written tools in less-skilled hands.</a:t>
            </a:r>
            <a:endParaRPr/>
          </a:p>
        </p:txBody>
      </p:sp>
      <p:sp>
        <p:nvSpPr>
          <p:cNvPr id="317" name="Google Shape;317;p3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6" name="Google Shape;326;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327" name="Google Shape;327;p3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4" name="Google Shape;334;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From COMP0141 Week 1, slides 48 to 50.</a:t>
            </a:r>
            <a:endParaRPr/>
          </a:p>
        </p:txBody>
      </p:sp>
      <p:sp>
        <p:nvSpPr>
          <p:cNvPr id="335" name="Google Shape;335;p3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2" name="Google Shape;342;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343" name="Google Shape;343;p3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548640" y="1600200"/>
            <a:ext cx="8046720" cy="868680"/>
          </a:xfrm>
          <a:prstGeom prst="rect">
            <a:avLst/>
          </a:prstGeom>
          <a:noFill/>
          <a:ln>
            <a:noFill/>
          </a:ln>
        </p:spPr>
        <p:txBody>
          <a:bodyPr anchorCtr="0" anchor="ctr" bIns="0" lIns="0" spcFirstLastPara="1" rIns="0" wrap="square" tIns="0">
            <a:normAutofit/>
          </a:bodyPr>
          <a:lstStyle>
            <a:lvl1pPr lvl="0" algn="l">
              <a:lnSpc>
                <a:spcPct val="100000"/>
              </a:lnSpc>
              <a:spcBef>
                <a:spcPts val="0"/>
              </a:spcBef>
              <a:spcAft>
                <a:spcPts val="0"/>
              </a:spcAft>
              <a:buClr>
                <a:schemeClr val="dk1"/>
              </a:buClr>
              <a:buSzPts val="4000"/>
              <a:buFont typeface="Arial"/>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 name="Google Shape;11;p2"/>
          <p:cNvSpPr txBox="1"/>
          <p:nvPr>
            <p:ph idx="1" type="subTitle"/>
          </p:nvPr>
        </p:nvSpPr>
        <p:spPr>
          <a:xfrm>
            <a:off x="548640" y="2450592"/>
            <a:ext cx="8046720" cy="502920"/>
          </a:xfrm>
          <a:prstGeom prst="rect">
            <a:avLst/>
          </a:prstGeom>
          <a:noFill/>
          <a:ln>
            <a:noFill/>
          </a:ln>
        </p:spPr>
        <p:txBody>
          <a:bodyPr anchorCtr="0" anchor="ctr" bIns="0" lIns="0" spcFirstLastPara="1" rIns="0" wrap="square" tIns="0">
            <a:normAutofit/>
          </a:bodyPr>
          <a:lstStyle>
            <a:lvl1pPr lvl="0" algn="l">
              <a:spcBef>
                <a:spcPts val="0"/>
              </a:spcBef>
              <a:spcAft>
                <a:spcPts val="0"/>
              </a:spcAft>
              <a:buClr>
                <a:schemeClr val="dk1"/>
              </a:buClr>
              <a:buSzPts val="2900"/>
              <a:buNone/>
              <a:defRPr sz="2900"/>
            </a:lvl1pPr>
            <a:lvl2pPr lvl="1" algn="l">
              <a:spcBef>
                <a:spcPts val="0"/>
              </a:spcBef>
              <a:spcAft>
                <a:spcPts val="0"/>
              </a:spcAft>
              <a:buClr>
                <a:schemeClr val="dk1"/>
              </a:buClr>
              <a:buSzPts val="1800"/>
              <a:buChar char="–"/>
              <a:defRPr/>
            </a:lvl2pPr>
            <a:lvl3pPr lvl="2" algn="l">
              <a:spcBef>
                <a:spcPts val="500"/>
              </a:spcBef>
              <a:spcAft>
                <a:spcPts val="0"/>
              </a:spcAft>
              <a:buClr>
                <a:schemeClr val="dk1"/>
              </a:buClr>
              <a:buSzPts val="1800"/>
              <a:buChar char="•"/>
              <a:defRPr/>
            </a:lvl3pPr>
            <a:lvl4pPr lvl="3" algn="l">
              <a:spcBef>
                <a:spcPts val="400"/>
              </a:spcBef>
              <a:spcAft>
                <a:spcPts val="0"/>
              </a:spcAft>
              <a:buClr>
                <a:schemeClr val="dk1"/>
              </a:buClr>
              <a:buSzPts val="1800"/>
              <a:buChar char="–"/>
              <a:defRPr/>
            </a:lvl4pPr>
            <a:lvl5pPr lvl="4" algn="l">
              <a:spcBef>
                <a:spcPts val="400"/>
              </a:spcBef>
              <a:spcAft>
                <a:spcPts val="0"/>
              </a:spcAft>
              <a:buClr>
                <a:schemeClr val="dk1"/>
              </a:buClr>
              <a:buSzPts val="1800"/>
              <a:buChar char="•"/>
              <a:defRPr/>
            </a:lvl5pPr>
            <a:lvl6pPr lvl="5" algn="l">
              <a:spcBef>
                <a:spcPts val="400"/>
              </a:spcBef>
              <a:spcAft>
                <a:spcPts val="0"/>
              </a:spcAft>
              <a:buClr>
                <a:schemeClr val="dk1"/>
              </a:buClr>
              <a:buSzPts val="1800"/>
              <a:buChar char="•"/>
              <a:defRPr/>
            </a:lvl6pPr>
            <a:lvl7pPr lvl="6" algn="l">
              <a:spcBef>
                <a:spcPts val="400"/>
              </a:spcBef>
              <a:spcAft>
                <a:spcPts val="0"/>
              </a:spcAft>
              <a:buClr>
                <a:schemeClr val="dk1"/>
              </a:buClr>
              <a:buSzPts val="1800"/>
              <a:buChar char="•"/>
              <a:defRPr/>
            </a:lvl7pPr>
            <a:lvl8pPr lvl="7" algn="l">
              <a:spcBef>
                <a:spcPts val="400"/>
              </a:spcBef>
              <a:spcAft>
                <a:spcPts val="0"/>
              </a:spcAft>
              <a:buClr>
                <a:schemeClr val="dk1"/>
              </a:buClr>
              <a:buSzPts val="1800"/>
              <a:buChar char="•"/>
              <a:defRPr/>
            </a:lvl8pPr>
            <a:lvl9pPr lvl="8" algn="l">
              <a:spcBef>
                <a:spcPts val="400"/>
              </a:spcBef>
              <a:spcAft>
                <a:spcPts val="400"/>
              </a:spcAft>
              <a:buClr>
                <a:schemeClr val="dk1"/>
              </a:buClr>
              <a:buSzPts val="1800"/>
              <a:buChar char="•"/>
              <a:defRPr/>
            </a:lvl9pPr>
          </a:lstStyle>
          <a:p/>
        </p:txBody>
      </p:sp>
      <p:sp>
        <p:nvSpPr>
          <p:cNvPr id="12" name="Google Shape;12;p2"/>
          <p:cNvSpPr txBox="1"/>
          <p:nvPr>
            <p:ph idx="2" type="body"/>
          </p:nvPr>
        </p:nvSpPr>
        <p:spPr>
          <a:xfrm>
            <a:off x="548640" y="3246120"/>
            <a:ext cx="8046720" cy="914400"/>
          </a:xfrm>
          <a:prstGeom prst="rect">
            <a:avLst/>
          </a:prstGeom>
          <a:noFill/>
          <a:ln>
            <a:noFill/>
          </a:ln>
        </p:spPr>
        <p:txBody>
          <a:bodyPr anchorCtr="0" anchor="t" bIns="0" lIns="0" spcFirstLastPara="1" rIns="0" wrap="square" tIns="0">
            <a:normAutofit/>
          </a:bodyPr>
          <a:lstStyle>
            <a:lvl1pPr indent="-228600" lvl="0" marL="457200" algn="l">
              <a:lnSpc>
                <a:spcPct val="125000"/>
              </a:lnSpc>
              <a:spcBef>
                <a:spcPts val="0"/>
              </a:spcBef>
              <a:spcAft>
                <a:spcPts val="0"/>
              </a:spcAft>
              <a:buClr>
                <a:srgbClr val="8A8A8A"/>
              </a:buClr>
              <a:buSzPts val="1700"/>
              <a:buNone/>
              <a:defRPr sz="1700">
                <a:solidFill>
                  <a:srgbClr val="8A8A8A"/>
                </a:solidFill>
              </a:defRPr>
            </a:lvl1pPr>
            <a:lvl2pPr indent="-342900" lvl="1" marL="914400" algn="l">
              <a:spcBef>
                <a:spcPts val="0"/>
              </a:spcBef>
              <a:spcAft>
                <a:spcPts val="0"/>
              </a:spcAft>
              <a:buClr>
                <a:schemeClr val="dk1"/>
              </a:buClr>
              <a:buSzPts val="1800"/>
              <a:buChar char="–"/>
              <a:defRPr/>
            </a:lvl2pPr>
            <a:lvl3pPr indent="-342900" lvl="2" marL="1371600" algn="l">
              <a:spcBef>
                <a:spcPts val="500"/>
              </a:spcBef>
              <a:spcAft>
                <a:spcPts val="0"/>
              </a:spcAft>
              <a:buClr>
                <a:schemeClr val="dk1"/>
              </a:buClr>
              <a:buSzPts val="1800"/>
              <a:buChar char="•"/>
              <a:defRPr/>
            </a:lvl3pPr>
            <a:lvl4pPr indent="-342900" lvl="3" marL="1828800" algn="l">
              <a:spcBef>
                <a:spcPts val="400"/>
              </a:spcBef>
              <a:spcAft>
                <a:spcPts val="0"/>
              </a:spcAft>
              <a:buClr>
                <a:schemeClr val="dk1"/>
              </a:buClr>
              <a:buSzPts val="1800"/>
              <a:buChar char="–"/>
              <a:defRPr/>
            </a:lvl4pPr>
            <a:lvl5pPr indent="-342900" lvl="4" marL="2286000" algn="l">
              <a:spcBef>
                <a:spcPts val="400"/>
              </a:spcBef>
              <a:spcAft>
                <a:spcPts val="0"/>
              </a:spcAft>
              <a:buClr>
                <a:schemeClr val="dk1"/>
              </a:buClr>
              <a:buSzPts val="1800"/>
              <a:buChar char="•"/>
              <a:defRPr/>
            </a:lvl5pPr>
            <a:lvl6pPr indent="-342900" lvl="5" marL="2743200" algn="l">
              <a:spcBef>
                <a:spcPts val="400"/>
              </a:spcBef>
              <a:spcAft>
                <a:spcPts val="0"/>
              </a:spcAft>
              <a:buClr>
                <a:schemeClr val="dk1"/>
              </a:buClr>
              <a:buSzPts val="1800"/>
              <a:buChar char="•"/>
              <a:defRPr/>
            </a:lvl6pPr>
            <a:lvl7pPr indent="-342900" lvl="6" marL="3200400" algn="l">
              <a:spcBef>
                <a:spcPts val="400"/>
              </a:spcBef>
              <a:spcAft>
                <a:spcPts val="0"/>
              </a:spcAft>
              <a:buClr>
                <a:schemeClr val="dk1"/>
              </a:buClr>
              <a:buSzPts val="1800"/>
              <a:buChar char="•"/>
              <a:defRPr/>
            </a:lvl7pPr>
            <a:lvl8pPr indent="-342900" lvl="7" marL="3657600" algn="l">
              <a:spcBef>
                <a:spcPts val="400"/>
              </a:spcBef>
              <a:spcAft>
                <a:spcPts val="0"/>
              </a:spcAft>
              <a:buClr>
                <a:schemeClr val="dk1"/>
              </a:buClr>
              <a:buSzPts val="1800"/>
              <a:buChar char="•"/>
              <a:defRPr/>
            </a:lvl8pPr>
            <a:lvl9pPr indent="-342900" lvl="8" marL="4114800" algn="l">
              <a:spcBef>
                <a:spcPts val="400"/>
              </a:spcBef>
              <a:spcAft>
                <a:spcPts val="40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3" name="Shape 13"/>
        <p:cNvGrpSpPr/>
        <p:nvPr/>
      </p:nvGrpSpPr>
      <p:grpSpPr>
        <a:xfrm>
          <a:off x="0" y="0"/>
          <a:ext cx="0" cy="0"/>
          <a:chOff x="0" y="0"/>
          <a:chExt cx="0" cy="0"/>
        </a:xfrm>
      </p:grpSpPr>
      <p:sp>
        <p:nvSpPr>
          <p:cNvPr id="14" name="Google Shape;14;p3"/>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 name="Google Shape;15;p3"/>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lvl1pPr indent="-342900" lvl="0" marL="457200" algn="l">
              <a:spcBef>
                <a:spcPts val="600"/>
              </a:spcBef>
              <a:spcAft>
                <a:spcPts val="0"/>
              </a:spcAft>
              <a:buClr>
                <a:schemeClr val="dk1"/>
              </a:buClr>
              <a:buSzPts val="1800"/>
              <a:buChar char="•"/>
              <a:defRPr/>
            </a:lvl1pPr>
            <a:lvl2pPr indent="-342900" lvl="1" marL="914400" algn="l">
              <a:spcBef>
                <a:spcPts val="600"/>
              </a:spcBef>
              <a:spcAft>
                <a:spcPts val="0"/>
              </a:spcAft>
              <a:buClr>
                <a:schemeClr val="dk1"/>
              </a:buClr>
              <a:buSzPts val="1800"/>
              <a:buChar char="–"/>
              <a:defRPr/>
            </a:lvl2pPr>
            <a:lvl3pPr indent="-342900" lvl="2" marL="1371600" algn="l">
              <a:spcBef>
                <a:spcPts val="500"/>
              </a:spcBef>
              <a:spcAft>
                <a:spcPts val="0"/>
              </a:spcAft>
              <a:buClr>
                <a:schemeClr val="dk1"/>
              </a:buClr>
              <a:buSzPts val="1800"/>
              <a:buChar char="•"/>
              <a:defRPr/>
            </a:lvl3pPr>
            <a:lvl4pPr indent="-342900" lvl="3" marL="1828800" algn="l">
              <a:spcBef>
                <a:spcPts val="400"/>
              </a:spcBef>
              <a:spcAft>
                <a:spcPts val="0"/>
              </a:spcAft>
              <a:buClr>
                <a:schemeClr val="dk1"/>
              </a:buClr>
              <a:buSzPts val="1800"/>
              <a:buChar char="–"/>
              <a:defRPr/>
            </a:lvl4pPr>
            <a:lvl5pPr indent="-342900" lvl="4" marL="2286000" algn="l">
              <a:spcBef>
                <a:spcPts val="400"/>
              </a:spcBef>
              <a:spcAft>
                <a:spcPts val="0"/>
              </a:spcAft>
              <a:buClr>
                <a:schemeClr val="dk1"/>
              </a:buClr>
              <a:buSzPts val="1800"/>
              <a:buChar char="•"/>
              <a:defRPr/>
            </a:lvl5pPr>
            <a:lvl6pPr indent="-342900" lvl="5" marL="2743200" algn="l">
              <a:spcBef>
                <a:spcPts val="400"/>
              </a:spcBef>
              <a:spcAft>
                <a:spcPts val="0"/>
              </a:spcAft>
              <a:buClr>
                <a:schemeClr val="dk1"/>
              </a:buClr>
              <a:buSzPts val="1800"/>
              <a:buChar char="•"/>
              <a:defRPr/>
            </a:lvl6pPr>
            <a:lvl7pPr indent="-342900" lvl="6" marL="3200400" algn="l">
              <a:spcBef>
                <a:spcPts val="400"/>
              </a:spcBef>
              <a:spcAft>
                <a:spcPts val="0"/>
              </a:spcAft>
              <a:buClr>
                <a:schemeClr val="dk1"/>
              </a:buClr>
              <a:buSzPts val="1800"/>
              <a:buChar char="•"/>
              <a:defRPr/>
            </a:lvl7pPr>
            <a:lvl8pPr indent="-342900" lvl="7" marL="3657600" algn="l">
              <a:spcBef>
                <a:spcPts val="400"/>
              </a:spcBef>
              <a:spcAft>
                <a:spcPts val="0"/>
              </a:spcAft>
              <a:buClr>
                <a:schemeClr val="dk1"/>
              </a:buClr>
              <a:buSzPts val="1800"/>
              <a:buChar char="•"/>
              <a:defRPr/>
            </a:lvl8pPr>
            <a:lvl9pPr indent="-342900" lvl="8" marL="4114800" algn="l">
              <a:spcBef>
                <a:spcPts val="400"/>
              </a:spcBef>
              <a:spcAft>
                <a:spcPts val="400"/>
              </a:spcAft>
              <a:buClr>
                <a:schemeClr val="dk1"/>
              </a:buClr>
              <a:buSzPts val="1800"/>
              <a:buChar char="•"/>
              <a:defRPr/>
            </a:lvl9pPr>
          </a:lstStyle>
          <a:p/>
        </p:txBody>
      </p:sp>
      <p:sp>
        <p:nvSpPr>
          <p:cNvPr id="16" name="Google Shape;16;p3"/>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lvl1pPr indent="0" lvl="0" marL="0" algn="r">
              <a:spcBef>
                <a:spcPts val="0"/>
              </a:spcBef>
              <a:buClr>
                <a:srgbClr val="8A8A8A"/>
              </a:buClr>
              <a:buSzPts val="1200"/>
              <a:buFont typeface="Arial"/>
              <a:buNone/>
              <a:defRPr sz="1200">
                <a:solidFill>
                  <a:srgbClr val="8A8A8A"/>
                </a:solidFill>
                <a:latin typeface="Arial"/>
                <a:ea typeface="Arial"/>
                <a:cs typeface="Arial"/>
                <a:sym typeface="Arial"/>
              </a:defRPr>
            </a:lvl1pPr>
            <a:lvl2pPr indent="0" lvl="1" marL="0" algn="r">
              <a:spcBef>
                <a:spcPts val="0"/>
              </a:spcBef>
              <a:buClr>
                <a:srgbClr val="8A8A8A"/>
              </a:buClr>
              <a:buSzPts val="1200"/>
              <a:buFont typeface="Arial"/>
              <a:buNone/>
              <a:defRPr sz="1200">
                <a:solidFill>
                  <a:srgbClr val="8A8A8A"/>
                </a:solidFill>
                <a:latin typeface="Arial"/>
                <a:ea typeface="Arial"/>
                <a:cs typeface="Arial"/>
                <a:sym typeface="Arial"/>
              </a:defRPr>
            </a:lvl2pPr>
            <a:lvl3pPr indent="0" lvl="2" marL="0" algn="r">
              <a:spcBef>
                <a:spcPts val="0"/>
              </a:spcBef>
              <a:buClr>
                <a:srgbClr val="8A8A8A"/>
              </a:buClr>
              <a:buSzPts val="1200"/>
              <a:buFont typeface="Arial"/>
              <a:buNone/>
              <a:defRPr sz="1200">
                <a:solidFill>
                  <a:srgbClr val="8A8A8A"/>
                </a:solidFill>
                <a:latin typeface="Arial"/>
                <a:ea typeface="Arial"/>
                <a:cs typeface="Arial"/>
                <a:sym typeface="Arial"/>
              </a:defRPr>
            </a:lvl3pPr>
            <a:lvl4pPr indent="0" lvl="3" marL="0" algn="r">
              <a:spcBef>
                <a:spcPts val="0"/>
              </a:spcBef>
              <a:buClr>
                <a:srgbClr val="8A8A8A"/>
              </a:buClr>
              <a:buSzPts val="1200"/>
              <a:buFont typeface="Arial"/>
              <a:buNone/>
              <a:defRPr sz="1200">
                <a:solidFill>
                  <a:srgbClr val="8A8A8A"/>
                </a:solidFill>
                <a:latin typeface="Arial"/>
                <a:ea typeface="Arial"/>
                <a:cs typeface="Arial"/>
                <a:sym typeface="Arial"/>
              </a:defRPr>
            </a:lvl4pPr>
            <a:lvl5pPr indent="0" lvl="4" marL="0" algn="r">
              <a:spcBef>
                <a:spcPts val="0"/>
              </a:spcBef>
              <a:buClr>
                <a:srgbClr val="8A8A8A"/>
              </a:buClr>
              <a:buSzPts val="1200"/>
              <a:buFont typeface="Arial"/>
              <a:buNone/>
              <a:defRPr sz="1200">
                <a:solidFill>
                  <a:srgbClr val="8A8A8A"/>
                </a:solidFill>
                <a:latin typeface="Arial"/>
                <a:ea typeface="Arial"/>
                <a:cs typeface="Arial"/>
                <a:sym typeface="Arial"/>
              </a:defRPr>
            </a:lvl5pPr>
            <a:lvl6pPr indent="0" lvl="5" marL="0" algn="r">
              <a:spcBef>
                <a:spcPts val="0"/>
              </a:spcBef>
              <a:buClr>
                <a:srgbClr val="8A8A8A"/>
              </a:buClr>
              <a:buSzPts val="1200"/>
              <a:buFont typeface="Arial"/>
              <a:buNone/>
              <a:defRPr sz="1200">
                <a:solidFill>
                  <a:srgbClr val="8A8A8A"/>
                </a:solidFill>
                <a:latin typeface="Arial"/>
                <a:ea typeface="Arial"/>
                <a:cs typeface="Arial"/>
                <a:sym typeface="Arial"/>
              </a:defRPr>
            </a:lvl6pPr>
            <a:lvl7pPr indent="0" lvl="6" marL="0" algn="r">
              <a:spcBef>
                <a:spcPts val="0"/>
              </a:spcBef>
              <a:buClr>
                <a:srgbClr val="8A8A8A"/>
              </a:buClr>
              <a:buSzPts val="1200"/>
              <a:buFont typeface="Arial"/>
              <a:buNone/>
              <a:defRPr sz="1200">
                <a:solidFill>
                  <a:srgbClr val="8A8A8A"/>
                </a:solidFill>
                <a:latin typeface="Arial"/>
                <a:ea typeface="Arial"/>
                <a:cs typeface="Arial"/>
                <a:sym typeface="Arial"/>
              </a:defRPr>
            </a:lvl7pPr>
            <a:lvl8pPr indent="0" lvl="7" marL="0" algn="r">
              <a:spcBef>
                <a:spcPts val="0"/>
              </a:spcBef>
              <a:buClr>
                <a:srgbClr val="8A8A8A"/>
              </a:buClr>
              <a:buSzPts val="1200"/>
              <a:buFont typeface="Arial"/>
              <a:buNone/>
              <a:defRPr sz="1200">
                <a:solidFill>
                  <a:srgbClr val="8A8A8A"/>
                </a:solidFill>
                <a:latin typeface="Arial"/>
                <a:ea typeface="Arial"/>
                <a:cs typeface="Arial"/>
                <a:sym typeface="Arial"/>
              </a:defRPr>
            </a:lvl8pPr>
            <a:lvl9pPr indent="0" lvl="8" marL="0" algn="r">
              <a:spcBef>
                <a:spcPts val="0"/>
              </a:spcBef>
              <a:buClr>
                <a:srgbClr val="8A8A8A"/>
              </a:buClr>
              <a:buSzPts val="1200"/>
              <a:buFont typeface="Arial"/>
              <a:buNone/>
              <a:defRPr sz="1200">
                <a:solidFill>
                  <a:srgbClr val="8A8A8A"/>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4"/>
          <p:cNvSpPr txBox="1"/>
          <p:nvPr>
            <p:ph type="title"/>
          </p:nvPr>
        </p:nvSpPr>
        <p:spPr>
          <a:xfrm>
            <a:off x="548640" y="1965960"/>
            <a:ext cx="8046720" cy="822960"/>
          </a:xfrm>
          <a:prstGeom prst="rect">
            <a:avLst/>
          </a:prstGeom>
          <a:noFill/>
          <a:ln>
            <a:noFill/>
          </a:ln>
        </p:spPr>
        <p:txBody>
          <a:bodyPr anchorCtr="0" anchor="ctr" bIns="0" lIns="0" spcFirstLastPara="1" rIns="0" wrap="square" tIns="0">
            <a:normAutofit/>
          </a:bodyPr>
          <a:lstStyle>
            <a:lvl1pPr lvl="0" algn="l">
              <a:lnSpc>
                <a:spcPct val="100000"/>
              </a:lnSpc>
              <a:spcBef>
                <a:spcPts val="0"/>
              </a:spcBef>
              <a:spcAft>
                <a:spcPts val="0"/>
              </a:spcAft>
              <a:buClr>
                <a:schemeClr val="dk1"/>
              </a:buClr>
              <a:buSzPts val="4000"/>
              <a:buFont typeface="Arial"/>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4"/>
          <p:cNvSpPr txBox="1"/>
          <p:nvPr>
            <p:ph idx="1" type="body"/>
          </p:nvPr>
        </p:nvSpPr>
        <p:spPr>
          <a:xfrm>
            <a:off x="548640" y="2761488"/>
            <a:ext cx="8046720" cy="45720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Clr>
                <a:srgbClr val="8A8A8A"/>
              </a:buClr>
              <a:buSzPts val="1900"/>
              <a:buNone/>
              <a:defRPr sz="1900">
                <a:solidFill>
                  <a:srgbClr val="8A8A8A"/>
                </a:solidFill>
              </a:defRPr>
            </a:lvl1pPr>
            <a:lvl2pPr indent="-342900" lvl="1" marL="914400" algn="l">
              <a:spcBef>
                <a:spcPts val="0"/>
              </a:spcBef>
              <a:spcAft>
                <a:spcPts val="0"/>
              </a:spcAft>
              <a:buClr>
                <a:schemeClr val="dk1"/>
              </a:buClr>
              <a:buSzPts val="1800"/>
              <a:buChar char="–"/>
              <a:defRPr/>
            </a:lvl2pPr>
            <a:lvl3pPr indent="-342900" lvl="2" marL="1371600" algn="l">
              <a:spcBef>
                <a:spcPts val="500"/>
              </a:spcBef>
              <a:spcAft>
                <a:spcPts val="0"/>
              </a:spcAft>
              <a:buClr>
                <a:schemeClr val="dk1"/>
              </a:buClr>
              <a:buSzPts val="1800"/>
              <a:buChar char="•"/>
              <a:defRPr/>
            </a:lvl3pPr>
            <a:lvl4pPr indent="-342900" lvl="3" marL="1828800" algn="l">
              <a:spcBef>
                <a:spcPts val="400"/>
              </a:spcBef>
              <a:spcAft>
                <a:spcPts val="0"/>
              </a:spcAft>
              <a:buClr>
                <a:schemeClr val="dk1"/>
              </a:buClr>
              <a:buSzPts val="1800"/>
              <a:buChar char="–"/>
              <a:defRPr/>
            </a:lvl4pPr>
            <a:lvl5pPr indent="-342900" lvl="4" marL="2286000" algn="l">
              <a:spcBef>
                <a:spcPts val="400"/>
              </a:spcBef>
              <a:spcAft>
                <a:spcPts val="0"/>
              </a:spcAft>
              <a:buClr>
                <a:schemeClr val="dk1"/>
              </a:buClr>
              <a:buSzPts val="1800"/>
              <a:buChar char="•"/>
              <a:defRPr/>
            </a:lvl5pPr>
            <a:lvl6pPr indent="-342900" lvl="5" marL="2743200" algn="l">
              <a:spcBef>
                <a:spcPts val="400"/>
              </a:spcBef>
              <a:spcAft>
                <a:spcPts val="0"/>
              </a:spcAft>
              <a:buClr>
                <a:schemeClr val="dk1"/>
              </a:buClr>
              <a:buSzPts val="1800"/>
              <a:buChar char="•"/>
              <a:defRPr/>
            </a:lvl6pPr>
            <a:lvl7pPr indent="-342900" lvl="6" marL="3200400" algn="l">
              <a:spcBef>
                <a:spcPts val="400"/>
              </a:spcBef>
              <a:spcAft>
                <a:spcPts val="0"/>
              </a:spcAft>
              <a:buClr>
                <a:schemeClr val="dk1"/>
              </a:buClr>
              <a:buSzPts val="1800"/>
              <a:buChar char="•"/>
              <a:defRPr/>
            </a:lvl7pPr>
            <a:lvl8pPr indent="-342900" lvl="7" marL="3657600" algn="l">
              <a:spcBef>
                <a:spcPts val="400"/>
              </a:spcBef>
              <a:spcAft>
                <a:spcPts val="0"/>
              </a:spcAft>
              <a:buClr>
                <a:schemeClr val="dk1"/>
              </a:buClr>
              <a:buSzPts val="1800"/>
              <a:buChar char="•"/>
              <a:defRPr/>
            </a:lvl8pPr>
            <a:lvl9pPr indent="-342900" lvl="8" marL="4114800" algn="l">
              <a:spcBef>
                <a:spcPts val="400"/>
              </a:spcBef>
              <a:spcAft>
                <a:spcPts val="400"/>
              </a:spcAft>
              <a:buClr>
                <a:schemeClr val="dk1"/>
              </a:buClr>
              <a:buSzPts val="1800"/>
              <a:buChar char="•"/>
              <a:defRPr/>
            </a:lvl9pPr>
          </a:lstStyle>
          <a:p/>
        </p:txBody>
      </p:sp>
      <p:sp>
        <p:nvSpPr>
          <p:cNvPr id="20" name="Google Shape;20;p4"/>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lvl1pPr indent="0" lvl="0" marL="0" algn="r">
              <a:spcBef>
                <a:spcPts val="0"/>
              </a:spcBef>
              <a:buClr>
                <a:srgbClr val="8A8A8A"/>
              </a:buClr>
              <a:buSzPts val="1200"/>
              <a:buFont typeface="Arial"/>
              <a:buNone/>
              <a:defRPr sz="1200">
                <a:solidFill>
                  <a:srgbClr val="8A8A8A"/>
                </a:solidFill>
                <a:latin typeface="Arial"/>
                <a:ea typeface="Arial"/>
                <a:cs typeface="Arial"/>
                <a:sym typeface="Arial"/>
              </a:defRPr>
            </a:lvl1pPr>
            <a:lvl2pPr indent="0" lvl="1" marL="0" algn="r">
              <a:spcBef>
                <a:spcPts val="0"/>
              </a:spcBef>
              <a:buClr>
                <a:srgbClr val="8A8A8A"/>
              </a:buClr>
              <a:buSzPts val="1200"/>
              <a:buFont typeface="Arial"/>
              <a:buNone/>
              <a:defRPr sz="1200">
                <a:solidFill>
                  <a:srgbClr val="8A8A8A"/>
                </a:solidFill>
                <a:latin typeface="Arial"/>
                <a:ea typeface="Arial"/>
                <a:cs typeface="Arial"/>
                <a:sym typeface="Arial"/>
              </a:defRPr>
            </a:lvl2pPr>
            <a:lvl3pPr indent="0" lvl="2" marL="0" algn="r">
              <a:spcBef>
                <a:spcPts val="0"/>
              </a:spcBef>
              <a:buClr>
                <a:srgbClr val="8A8A8A"/>
              </a:buClr>
              <a:buSzPts val="1200"/>
              <a:buFont typeface="Arial"/>
              <a:buNone/>
              <a:defRPr sz="1200">
                <a:solidFill>
                  <a:srgbClr val="8A8A8A"/>
                </a:solidFill>
                <a:latin typeface="Arial"/>
                <a:ea typeface="Arial"/>
                <a:cs typeface="Arial"/>
                <a:sym typeface="Arial"/>
              </a:defRPr>
            </a:lvl3pPr>
            <a:lvl4pPr indent="0" lvl="3" marL="0" algn="r">
              <a:spcBef>
                <a:spcPts val="0"/>
              </a:spcBef>
              <a:buClr>
                <a:srgbClr val="8A8A8A"/>
              </a:buClr>
              <a:buSzPts val="1200"/>
              <a:buFont typeface="Arial"/>
              <a:buNone/>
              <a:defRPr sz="1200">
                <a:solidFill>
                  <a:srgbClr val="8A8A8A"/>
                </a:solidFill>
                <a:latin typeface="Arial"/>
                <a:ea typeface="Arial"/>
                <a:cs typeface="Arial"/>
                <a:sym typeface="Arial"/>
              </a:defRPr>
            </a:lvl4pPr>
            <a:lvl5pPr indent="0" lvl="4" marL="0" algn="r">
              <a:spcBef>
                <a:spcPts val="0"/>
              </a:spcBef>
              <a:buClr>
                <a:srgbClr val="8A8A8A"/>
              </a:buClr>
              <a:buSzPts val="1200"/>
              <a:buFont typeface="Arial"/>
              <a:buNone/>
              <a:defRPr sz="1200">
                <a:solidFill>
                  <a:srgbClr val="8A8A8A"/>
                </a:solidFill>
                <a:latin typeface="Arial"/>
                <a:ea typeface="Arial"/>
                <a:cs typeface="Arial"/>
                <a:sym typeface="Arial"/>
              </a:defRPr>
            </a:lvl5pPr>
            <a:lvl6pPr indent="0" lvl="5" marL="0" algn="r">
              <a:spcBef>
                <a:spcPts val="0"/>
              </a:spcBef>
              <a:buClr>
                <a:srgbClr val="8A8A8A"/>
              </a:buClr>
              <a:buSzPts val="1200"/>
              <a:buFont typeface="Arial"/>
              <a:buNone/>
              <a:defRPr sz="1200">
                <a:solidFill>
                  <a:srgbClr val="8A8A8A"/>
                </a:solidFill>
                <a:latin typeface="Arial"/>
                <a:ea typeface="Arial"/>
                <a:cs typeface="Arial"/>
                <a:sym typeface="Arial"/>
              </a:defRPr>
            </a:lvl6pPr>
            <a:lvl7pPr indent="0" lvl="6" marL="0" algn="r">
              <a:spcBef>
                <a:spcPts val="0"/>
              </a:spcBef>
              <a:buClr>
                <a:srgbClr val="8A8A8A"/>
              </a:buClr>
              <a:buSzPts val="1200"/>
              <a:buFont typeface="Arial"/>
              <a:buNone/>
              <a:defRPr sz="1200">
                <a:solidFill>
                  <a:srgbClr val="8A8A8A"/>
                </a:solidFill>
                <a:latin typeface="Arial"/>
                <a:ea typeface="Arial"/>
                <a:cs typeface="Arial"/>
                <a:sym typeface="Arial"/>
              </a:defRPr>
            </a:lvl7pPr>
            <a:lvl8pPr indent="0" lvl="7" marL="0" algn="r">
              <a:spcBef>
                <a:spcPts val="0"/>
              </a:spcBef>
              <a:buClr>
                <a:srgbClr val="8A8A8A"/>
              </a:buClr>
              <a:buSzPts val="1200"/>
              <a:buFont typeface="Arial"/>
              <a:buNone/>
              <a:defRPr sz="1200">
                <a:solidFill>
                  <a:srgbClr val="8A8A8A"/>
                </a:solidFill>
                <a:latin typeface="Arial"/>
                <a:ea typeface="Arial"/>
                <a:cs typeface="Arial"/>
                <a:sym typeface="Arial"/>
              </a:defRPr>
            </a:lvl8pPr>
            <a:lvl9pPr indent="0" lvl="8" marL="0" algn="r">
              <a:spcBef>
                <a:spcPts val="0"/>
              </a:spcBef>
              <a:buClr>
                <a:srgbClr val="8A8A8A"/>
              </a:buClr>
              <a:buSzPts val="1200"/>
              <a:buFont typeface="Arial"/>
              <a:buNone/>
              <a:defRPr sz="1200">
                <a:solidFill>
                  <a:srgbClr val="8A8A8A"/>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1" name="Shape 21"/>
        <p:cNvGrpSpPr/>
        <p:nvPr/>
      </p:nvGrpSpPr>
      <p:grpSpPr>
        <a:xfrm>
          <a:off x="0" y="0"/>
          <a:ext cx="0" cy="0"/>
          <a:chOff x="0" y="0"/>
          <a:chExt cx="0" cy="0"/>
        </a:xfrm>
      </p:grpSpPr>
      <p:sp>
        <p:nvSpPr>
          <p:cNvPr id="22" name="Google Shape;22;p5"/>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lvl1pPr indent="0" lvl="0" marL="0" algn="r">
              <a:spcBef>
                <a:spcPts val="0"/>
              </a:spcBef>
              <a:buClr>
                <a:srgbClr val="8A8A8A"/>
              </a:buClr>
              <a:buSzPts val="1200"/>
              <a:buFont typeface="Arial"/>
              <a:buNone/>
              <a:defRPr sz="1200">
                <a:solidFill>
                  <a:srgbClr val="8A8A8A"/>
                </a:solidFill>
                <a:latin typeface="Arial"/>
                <a:ea typeface="Arial"/>
                <a:cs typeface="Arial"/>
                <a:sym typeface="Arial"/>
              </a:defRPr>
            </a:lvl1pPr>
            <a:lvl2pPr indent="0" lvl="1" marL="0" algn="r">
              <a:spcBef>
                <a:spcPts val="0"/>
              </a:spcBef>
              <a:buClr>
                <a:srgbClr val="8A8A8A"/>
              </a:buClr>
              <a:buSzPts val="1200"/>
              <a:buFont typeface="Arial"/>
              <a:buNone/>
              <a:defRPr sz="1200">
                <a:solidFill>
                  <a:srgbClr val="8A8A8A"/>
                </a:solidFill>
                <a:latin typeface="Arial"/>
                <a:ea typeface="Arial"/>
                <a:cs typeface="Arial"/>
                <a:sym typeface="Arial"/>
              </a:defRPr>
            </a:lvl2pPr>
            <a:lvl3pPr indent="0" lvl="2" marL="0" algn="r">
              <a:spcBef>
                <a:spcPts val="0"/>
              </a:spcBef>
              <a:buClr>
                <a:srgbClr val="8A8A8A"/>
              </a:buClr>
              <a:buSzPts val="1200"/>
              <a:buFont typeface="Arial"/>
              <a:buNone/>
              <a:defRPr sz="1200">
                <a:solidFill>
                  <a:srgbClr val="8A8A8A"/>
                </a:solidFill>
                <a:latin typeface="Arial"/>
                <a:ea typeface="Arial"/>
                <a:cs typeface="Arial"/>
                <a:sym typeface="Arial"/>
              </a:defRPr>
            </a:lvl3pPr>
            <a:lvl4pPr indent="0" lvl="3" marL="0" algn="r">
              <a:spcBef>
                <a:spcPts val="0"/>
              </a:spcBef>
              <a:buClr>
                <a:srgbClr val="8A8A8A"/>
              </a:buClr>
              <a:buSzPts val="1200"/>
              <a:buFont typeface="Arial"/>
              <a:buNone/>
              <a:defRPr sz="1200">
                <a:solidFill>
                  <a:srgbClr val="8A8A8A"/>
                </a:solidFill>
                <a:latin typeface="Arial"/>
                <a:ea typeface="Arial"/>
                <a:cs typeface="Arial"/>
                <a:sym typeface="Arial"/>
              </a:defRPr>
            </a:lvl4pPr>
            <a:lvl5pPr indent="0" lvl="4" marL="0" algn="r">
              <a:spcBef>
                <a:spcPts val="0"/>
              </a:spcBef>
              <a:buClr>
                <a:srgbClr val="8A8A8A"/>
              </a:buClr>
              <a:buSzPts val="1200"/>
              <a:buFont typeface="Arial"/>
              <a:buNone/>
              <a:defRPr sz="1200">
                <a:solidFill>
                  <a:srgbClr val="8A8A8A"/>
                </a:solidFill>
                <a:latin typeface="Arial"/>
                <a:ea typeface="Arial"/>
                <a:cs typeface="Arial"/>
                <a:sym typeface="Arial"/>
              </a:defRPr>
            </a:lvl5pPr>
            <a:lvl6pPr indent="0" lvl="5" marL="0" algn="r">
              <a:spcBef>
                <a:spcPts val="0"/>
              </a:spcBef>
              <a:buClr>
                <a:srgbClr val="8A8A8A"/>
              </a:buClr>
              <a:buSzPts val="1200"/>
              <a:buFont typeface="Arial"/>
              <a:buNone/>
              <a:defRPr sz="1200">
                <a:solidFill>
                  <a:srgbClr val="8A8A8A"/>
                </a:solidFill>
                <a:latin typeface="Arial"/>
                <a:ea typeface="Arial"/>
                <a:cs typeface="Arial"/>
                <a:sym typeface="Arial"/>
              </a:defRPr>
            </a:lvl6pPr>
            <a:lvl7pPr indent="0" lvl="6" marL="0" algn="r">
              <a:spcBef>
                <a:spcPts val="0"/>
              </a:spcBef>
              <a:buClr>
                <a:srgbClr val="8A8A8A"/>
              </a:buClr>
              <a:buSzPts val="1200"/>
              <a:buFont typeface="Arial"/>
              <a:buNone/>
              <a:defRPr sz="1200">
                <a:solidFill>
                  <a:srgbClr val="8A8A8A"/>
                </a:solidFill>
                <a:latin typeface="Arial"/>
                <a:ea typeface="Arial"/>
                <a:cs typeface="Arial"/>
                <a:sym typeface="Arial"/>
              </a:defRPr>
            </a:lvl7pPr>
            <a:lvl8pPr indent="0" lvl="7" marL="0" algn="r">
              <a:spcBef>
                <a:spcPts val="0"/>
              </a:spcBef>
              <a:buClr>
                <a:srgbClr val="8A8A8A"/>
              </a:buClr>
              <a:buSzPts val="1200"/>
              <a:buFont typeface="Arial"/>
              <a:buNone/>
              <a:defRPr sz="1200">
                <a:solidFill>
                  <a:srgbClr val="8A8A8A"/>
                </a:solidFill>
                <a:latin typeface="Arial"/>
                <a:ea typeface="Arial"/>
                <a:cs typeface="Arial"/>
                <a:sym typeface="Arial"/>
              </a:defRPr>
            </a:lvl8pPr>
            <a:lvl9pPr indent="0" lvl="8" marL="0" algn="r">
              <a:spcBef>
                <a:spcPts val="0"/>
              </a:spcBef>
              <a:buClr>
                <a:srgbClr val="8A8A8A"/>
              </a:buClr>
              <a:buSzPts val="1200"/>
              <a:buFont typeface="Arial"/>
              <a:buNone/>
              <a:defRPr sz="1200">
                <a:solidFill>
                  <a:srgbClr val="8A8A8A"/>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4" name="Shape 24"/>
        <p:cNvGrpSpPr/>
        <p:nvPr/>
      </p:nvGrpSpPr>
      <p:grpSpPr>
        <a:xfrm>
          <a:off x="0" y="0"/>
          <a:ext cx="0" cy="0"/>
          <a:chOff x="0" y="0"/>
          <a:chExt cx="0" cy="0"/>
        </a:xfrm>
      </p:grpSpPr>
      <p:sp>
        <p:nvSpPr>
          <p:cNvPr id="25" name="Google Shape;25;p6"/>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lvl1pPr indent="0" lvl="0" marL="0" algn="r">
              <a:spcBef>
                <a:spcPts val="0"/>
              </a:spcBef>
              <a:buClr>
                <a:srgbClr val="8A8A8A"/>
              </a:buClr>
              <a:buSzPts val="1200"/>
              <a:buFont typeface="Arial"/>
              <a:buNone/>
              <a:defRPr sz="1200">
                <a:solidFill>
                  <a:srgbClr val="8A8A8A"/>
                </a:solidFill>
                <a:latin typeface="Arial"/>
                <a:ea typeface="Arial"/>
                <a:cs typeface="Arial"/>
                <a:sym typeface="Arial"/>
              </a:defRPr>
            </a:lvl1pPr>
            <a:lvl2pPr indent="0" lvl="1" marL="0" algn="r">
              <a:spcBef>
                <a:spcPts val="0"/>
              </a:spcBef>
              <a:buClr>
                <a:srgbClr val="8A8A8A"/>
              </a:buClr>
              <a:buSzPts val="1200"/>
              <a:buFont typeface="Arial"/>
              <a:buNone/>
              <a:defRPr sz="1200">
                <a:solidFill>
                  <a:srgbClr val="8A8A8A"/>
                </a:solidFill>
                <a:latin typeface="Arial"/>
                <a:ea typeface="Arial"/>
                <a:cs typeface="Arial"/>
                <a:sym typeface="Arial"/>
              </a:defRPr>
            </a:lvl2pPr>
            <a:lvl3pPr indent="0" lvl="2" marL="0" algn="r">
              <a:spcBef>
                <a:spcPts val="0"/>
              </a:spcBef>
              <a:buClr>
                <a:srgbClr val="8A8A8A"/>
              </a:buClr>
              <a:buSzPts val="1200"/>
              <a:buFont typeface="Arial"/>
              <a:buNone/>
              <a:defRPr sz="1200">
                <a:solidFill>
                  <a:srgbClr val="8A8A8A"/>
                </a:solidFill>
                <a:latin typeface="Arial"/>
                <a:ea typeface="Arial"/>
                <a:cs typeface="Arial"/>
                <a:sym typeface="Arial"/>
              </a:defRPr>
            </a:lvl3pPr>
            <a:lvl4pPr indent="0" lvl="3" marL="0" algn="r">
              <a:spcBef>
                <a:spcPts val="0"/>
              </a:spcBef>
              <a:buClr>
                <a:srgbClr val="8A8A8A"/>
              </a:buClr>
              <a:buSzPts val="1200"/>
              <a:buFont typeface="Arial"/>
              <a:buNone/>
              <a:defRPr sz="1200">
                <a:solidFill>
                  <a:srgbClr val="8A8A8A"/>
                </a:solidFill>
                <a:latin typeface="Arial"/>
                <a:ea typeface="Arial"/>
                <a:cs typeface="Arial"/>
                <a:sym typeface="Arial"/>
              </a:defRPr>
            </a:lvl4pPr>
            <a:lvl5pPr indent="0" lvl="4" marL="0" algn="r">
              <a:spcBef>
                <a:spcPts val="0"/>
              </a:spcBef>
              <a:buClr>
                <a:srgbClr val="8A8A8A"/>
              </a:buClr>
              <a:buSzPts val="1200"/>
              <a:buFont typeface="Arial"/>
              <a:buNone/>
              <a:defRPr sz="1200">
                <a:solidFill>
                  <a:srgbClr val="8A8A8A"/>
                </a:solidFill>
                <a:latin typeface="Arial"/>
                <a:ea typeface="Arial"/>
                <a:cs typeface="Arial"/>
                <a:sym typeface="Arial"/>
              </a:defRPr>
            </a:lvl5pPr>
            <a:lvl6pPr indent="0" lvl="5" marL="0" algn="r">
              <a:spcBef>
                <a:spcPts val="0"/>
              </a:spcBef>
              <a:buClr>
                <a:srgbClr val="8A8A8A"/>
              </a:buClr>
              <a:buSzPts val="1200"/>
              <a:buFont typeface="Arial"/>
              <a:buNone/>
              <a:defRPr sz="1200">
                <a:solidFill>
                  <a:srgbClr val="8A8A8A"/>
                </a:solidFill>
                <a:latin typeface="Arial"/>
                <a:ea typeface="Arial"/>
                <a:cs typeface="Arial"/>
                <a:sym typeface="Arial"/>
              </a:defRPr>
            </a:lvl6pPr>
            <a:lvl7pPr indent="0" lvl="6" marL="0" algn="r">
              <a:spcBef>
                <a:spcPts val="0"/>
              </a:spcBef>
              <a:buClr>
                <a:srgbClr val="8A8A8A"/>
              </a:buClr>
              <a:buSzPts val="1200"/>
              <a:buFont typeface="Arial"/>
              <a:buNone/>
              <a:defRPr sz="1200">
                <a:solidFill>
                  <a:srgbClr val="8A8A8A"/>
                </a:solidFill>
                <a:latin typeface="Arial"/>
                <a:ea typeface="Arial"/>
                <a:cs typeface="Arial"/>
                <a:sym typeface="Arial"/>
              </a:defRPr>
            </a:lvl7pPr>
            <a:lvl8pPr indent="0" lvl="7" marL="0" algn="r">
              <a:spcBef>
                <a:spcPts val="0"/>
              </a:spcBef>
              <a:buClr>
                <a:srgbClr val="8A8A8A"/>
              </a:buClr>
              <a:buSzPts val="1200"/>
              <a:buFont typeface="Arial"/>
              <a:buNone/>
              <a:defRPr sz="1200">
                <a:solidFill>
                  <a:srgbClr val="8A8A8A"/>
                </a:solidFill>
                <a:latin typeface="Arial"/>
                <a:ea typeface="Arial"/>
                <a:cs typeface="Arial"/>
                <a:sym typeface="Arial"/>
              </a:defRPr>
            </a:lvl8pPr>
            <a:lvl9pPr indent="0" lvl="8" marL="0" algn="r">
              <a:spcBef>
                <a:spcPts val="0"/>
              </a:spcBef>
              <a:buClr>
                <a:srgbClr val="8A8A8A"/>
              </a:buClr>
              <a:buSzPts val="1200"/>
              <a:buFont typeface="Arial"/>
              <a:buNone/>
              <a:defRPr sz="1200">
                <a:solidFill>
                  <a:srgbClr val="8A8A8A"/>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lvl1pPr lvl="0" marR="0" rtl="0" algn="l">
              <a:lnSpc>
                <a:spcPct val="100000"/>
              </a:lnSpc>
              <a:spcBef>
                <a:spcPts val="0"/>
              </a:spcBef>
              <a:spcAft>
                <a:spcPts val="0"/>
              </a:spcAft>
              <a:buClr>
                <a:schemeClr val="dk1"/>
              </a:buClr>
              <a:buSzPts val="3000"/>
              <a:buFont typeface="Arial"/>
              <a:buNone/>
              <a:defRPr b="1" i="0" sz="30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lvl1pPr indent="-355600" lvl="0" marL="457200" marR="0" rtl="0" algn="l">
              <a:spcBef>
                <a:spcPts val="6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1pPr>
            <a:lvl2pPr indent="-336550" lvl="1" marL="914400" marR="0" rtl="0" algn="l">
              <a:spcBef>
                <a:spcPts val="600"/>
              </a:spcBef>
              <a:spcAft>
                <a:spcPts val="0"/>
              </a:spcAft>
              <a:buClr>
                <a:schemeClr val="dk1"/>
              </a:buClr>
              <a:buSzPts val="1700"/>
              <a:buFont typeface="Arial"/>
              <a:buChar char="–"/>
              <a:defRPr b="0" i="0" sz="1700" u="none" cap="none" strike="noStrike">
                <a:solidFill>
                  <a:schemeClr val="dk1"/>
                </a:solidFill>
                <a:latin typeface="Arial"/>
                <a:ea typeface="Arial"/>
                <a:cs typeface="Arial"/>
                <a:sym typeface="Arial"/>
              </a:defRPr>
            </a:lvl2pPr>
            <a:lvl3pPr indent="-336550" lvl="2" marL="1371600" marR="0" rtl="0" algn="l">
              <a:spcBef>
                <a:spcPts val="500"/>
              </a:spcBef>
              <a:spcAft>
                <a:spcPts val="0"/>
              </a:spcAft>
              <a:buClr>
                <a:schemeClr val="dk1"/>
              </a:buClr>
              <a:buSzPts val="1700"/>
              <a:buFont typeface="Arial"/>
              <a:buChar char="•"/>
              <a:defRPr b="0" i="0" sz="1700" u="none" cap="none" strike="noStrike">
                <a:solidFill>
                  <a:schemeClr val="dk1"/>
                </a:solidFill>
                <a:latin typeface="Arial"/>
                <a:ea typeface="Arial"/>
                <a:cs typeface="Arial"/>
                <a:sym typeface="Arial"/>
              </a:defRPr>
            </a:lvl3pPr>
            <a:lvl4pPr indent="-336550" lvl="3" marL="1828800" marR="0" rtl="0" algn="l">
              <a:spcBef>
                <a:spcPts val="400"/>
              </a:spcBef>
              <a:spcAft>
                <a:spcPts val="0"/>
              </a:spcAft>
              <a:buClr>
                <a:schemeClr val="dk1"/>
              </a:buClr>
              <a:buSzPts val="1700"/>
              <a:buFont typeface="Arial"/>
              <a:buChar char="–"/>
              <a:defRPr b="0" i="0" sz="1700" u="none" cap="none" strike="noStrike">
                <a:solidFill>
                  <a:schemeClr val="dk1"/>
                </a:solidFill>
                <a:latin typeface="Arial"/>
                <a:ea typeface="Arial"/>
                <a:cs typeface="Arial"/>
                <a:sym typeface="Arial"/>
              </a:defRPr>
            </a:lvl4pPr>
            <a:lvl5pPr indent="-336550" lvl="4" marL="2286000" marR="0" rtl="0" algn="l">
              <a:spcBef>
                <a:spcPts val="400"/>
              </a:spcBef>
              <a:spcAft>
                <a:spcPts val="0"/>
              </a:spcAft>
              <a:buClr>
                <a:schemeClr val="dk1"/>
              </a:buClr>
              <a:buSzPts val="1700"/>
              <a:buFont typeface="Arial"/>
              <a:buChar char="•"/>
              <a:defRPr b="0" i="0" sz="1700" u="none" cap="none" strike="noStrike">
                <a:solidFill>
                  <a:schemeClr val="dk1"/>
                </a:solidFill>
                <a:latin typeface="Arial"/>
                <a:ea typeface="Arial"/>
                <a:cs typeface="Arial"/>
                <a:sym typeface="Arial"/>
              </a:defRPr>
            </a:lvl5pPr>
            <a:lvl6pPr indent="-336550" lvl="5" marL="2743200" marR="0" rtl="0" algn="l">
              <a:spcBef>
                <a:spcPts val="400"/>
              </a:spcBef>
              <a:spcAft>
                <a:spcPts val="0"/>
              </a:spcAft>
              <a:buClr>
                <a:schemeClr val="dk1"/>
              </a:buClr>
              <a:buSzPts val="1700"/>
              <a:buFont typeface="Arial"/>
              <a:buChar char="•"/>
              <a:defRPr b="0" i="0" sz="1700" u="none" cap="none" strike="noStrike">
                <a:solidFill>
                  <a:schemeClr val="dk1"/>
                </a:solidFill>
                <a:latin typeface="Arial"/>
                <a:ea typeface="Arial"/>
                <a:cs typeface="Arial"/>
                <a:sym typeface="Arial"/>
              </a:defRPr>
            </a:lvl6pPr>
            <a:lvl7pPr indent="-336550" lvl="6" marL="3200400" marR="0" rtl="0" algn="l">
              <a:spcBef>
                <a:spcPts val="400"/>
              </a:spcBef>
              <a:spcAft>
                <a:spcPts val="0"/>
              </a:spcAft>
              <a:buClr>
                <a:schemeClr val="dk1"/>
              </a:buClr>
              <a:buSzPts val="1700"/>
              <a:buFont typeface="Arial"/>
              <a:buChar char="•"/>
              <a:defRPr b="0" i="0" sz="1700" u="none" cap="none" strike="noStrike">
                <a:solidFill>
                  <a:schemeClr val="dk1"/>
                </a:solidFill>
                <a:latin typeface="Arial"/>
                <a:ea typeface="Arial"/>
                <a:cs typeface="Arial"/>
                <a:sym typeface="Arial"/>
              </a:defRPr>
            </a:lvl7pPr>
            <a:lvl8pPr indent="-336550" lvl="7" marL="3657600" marR="0" rtl="0" algn="l">
              <a:spcBef>
                <a:spcPts val="400"/>
              </a:spcBef>
              <a:spcAft>
                <a:spcPts val="0"/>
              </a:spcAft>
              <a:buClr>
                <a:schemeClr val="dk1"/>
              </a:buClr>
              <a:buSzPts val="1700"/>
              <a:buFont typeface="Arial"/>
              <a:buChar char="•"/>
              <a:defRPr b="0" i="0" sz="1700" u="none" cap="none" strike="noStrike">
                <a:solidFill>
                  <a:schemeClr val="dk1"/>
                </a:solidFill>
                <a:latin typeface="Arial"/>
                <a:ea typeface="Arial"/>
                <a:cs typeface="Arial"/>
                <a:sym typeface="Arial"/>
              </a:defRPr>
            </a:lvl8pPr>
            <a:lvl9pPr indent="-336550" lvl="8" marL="4114800" marR="0" rtl="0" algn="l">
              <a:spcBef>
                <a:spcPts val="400"/>
              </a:spcBef>
              <a:spcAft>
                <a:spcPts val="400"/>
              </a:spcAft>
              <a:buClr>
                <a:schemeClr val="dk1"/>
              </a:buClr>
              <a:buSzPts val="1700"/>
              <a:buFont typeface="Arial"/>
              <a:buChar char="•"/>
              <a:defRPr b="0" i="0" sz="1700" u="none" cap="none" strike="noStrike">
                <a:solidFill>
                  <a:schemeClr val="dk1"/>
                </a:solidFill>
                <a:latin typeface="Arial"/>
                <a:ea typeface="Arial"/>
                <a:cs typeface="Arial"/>
                <a:sym typeface="Arial"/>
              </a:defRPr>
            </a:lvl9pPr>
          </a:lstStyle>
          <a:p/>
        </p:txBody>
      </p:sp>
      <p:sp>
        <p:nvSpPr>
          <p:cNvPr id="8" name="Google Shape;8;p1"/>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lvl1pPr indent="0" lvl="0" marL="0" marR="0" rtl="0" algn="r">
              <a:spcBef>
                <a:spcPts val="0"/>
              </a:spcBef>
              <a:buNone/>
              <a:defRPr b="0" i="0" sz="1200" u="none" cap="none" strike="noStrike">
                <a:solidFill>
                  <a:srgbClr val="8A8A8A"/>
                </a:solidFill>
                <a:latin typeface="Arial"/>
                <a:ea typeface="Arial"/>
                <a:cs typeface="Arial"/>
                <a:sym typeface="Arial"/>
              </a:defRPr>
            </a:lvl1pPr>
            <a:lvl2pPr indent="0" lvl="1" marL="0" marR="0" rtl="0" algn="r">
              <a:spcBef>
                <a:spcPts val="0"/>
              </a:spcBef>
              <a:buNone/>
              <a:defRPr b="0" i="0" sz="1200" u="none" cap="none" strike="noStrike">
                <a:solidFill>
                  <a:srgbClr val="8A8A8A"/>
                </a:solidFill>
                <a:latin typeface="Arial"/>
                <a:ea typeface="Arial"/>
                <a:cs typeface="Arial"/>
                <a:sym typeface="Arial"/>
              </a:defRPr>
            </a:lvl2pPr>
            <a:lvl3pPr indent="0" lvl="2" marL="0" marR="0" rtl="0" algn="r">
              <a:spcBef>
                <a:spcPts val="0"/>
              </a:spcBef>
              <a:buNone/>
              <a:defRPr b="0" i="0" sz="1200" u="none" cap="none" strike="noStrike">
                <a:solidFill>
                  <a:srgbClr val="8A8A8A"/>
                </a:solidFill>
                <a:latin typeface="Arial"/>
                <a:ea typeface="Arial"/>
                <a:cs typeface="Arial"/>
                <a:sym typeface="Arial"/>
              </a:defRPr>
            </a:lvl3pPr>
            <a:lvl4pPr indent="0" lvl="3" marL="0" marR="0" rtl="0" algn="r">
              <a:spcBef>
                <a:spcPts val="0"/>
              </a:spcBef>
              <a:buNone/>
              <a:defRPr b="0" i="0" sz="1200" u="none" cap="none" strike="noStrike">
                <a:solidFill>
                  <a:srgbClr val="8A8A8A"/>
                </a:solidFill>
                <a:latin typeface="Arial"/>
                <a:ea typeface="Arial"/>
                <a:cs typeface="Arial"/>
                <a:sym typeface="Arial"/>
              </a:defRPr>
            </a:lvl4pPr>
            <a:lvl5pPr indent="0" lvl="4" marL="0" marR="0" rtl="0" algn="r">
              <a:spcBef>
                <a:spcPts val="0"/>
              </a:spcBef>
              <a:buNone/>
              <a:defRPr b="0" i="0" sz="1200" u="none" cap="none" strike="noStrike">
                <a:solidFill>
                  <a:srgbClr val="8A8A8A"/>
                </a:solidFill>
                <a:latin typeface="Arial"/>
                <a:ea typeface="Arial"/>
                <a:cs typeface="Arial"/>
                <a:sym typeface="Arial"/>
              </a:defRPr>
            </a:lvl5pPr>
            <a:lvl6pPr indent="0" lvl="5" marL="0" marR="0" rtl="0" algn="r">
              <a:spcBef>
                <a:spcPts val="0"/>
              </a:spcBef>
              <a:buNone/>
              <a:defRPr b="0" i="0" sz="1200" u="none" cap="none" strike="noStrike">
                <a:solidFill>
                  <a:srgbClr val="8A8A8A"/>
                </a:solidFill>
                <a:latin typeface="Arial"/>
                <a:ea typeface="Arial"/>
                <a:cs typeface="Arial"/>
                <a:sym typeface="Arial"/>
              </a:defRPr>
            </a:lvl6pPr>
            <a:lvl7pPr indent="0" lvl="6" marL="0" marR="0" rtl="0" algn="r">
              <a:spcBef>
                <a:spcPts val="0"/>
              </a:spcBef>
              <a:buNone/>
              <a:defRPr b="0" i="0" sz="1200" u="none" cap="none" strike="noStrike">
                <a:solidFill>
                  <a:srgbClr val="8A8A8A"/>
                </a:solidFill>
                <a:latin typeface="Arial"/>
                <a:ea typeface="Arial"/>
                <a:cs typeface="Arial"/>
                <a:sym typeface="Arial"/>
              </a:defRPr>
            </a:lvl7pPr>
            <a:lvl8pPr indent="0" lvl="7" marL="0" marR="0" rtl="0" algn="r">
              <a:spcBef>
                <a:spcPts val="0"/>
              </a:spcBef>
              <a:buNone/>
              <a:defRPr b="0" i="0" sz="1200" u="none" cap="none" strike="noStrike">
                <a:solidFill>
                  <a:srgbClr val="8A8A8A"/>
                </a:solidFill>
                <a:latin typeface="Arial"/>
                <a:ea typeface="Arial"/>
                <a:cs typeface="Arial"/>
                <a:sym typeface="Arial"/>
              </a:defRPr>
            </a:lvl8pPr>
            <a:lvl9pPr indent="0" lvl="8" marL="0" marR="0" rtl="0" algn="r">
              <a:spcBef>
                <a:spcPts val="0"/>
              </a:spcBef>
              <a:buNone/>
              <a:defRPr b="0" i="0" sz="1200" u="none" cap="none" strike="noStrike">
                <a:solidFill>
                  <a:srgbClr val="8A8A8A"/>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spalab.cs.ucr.edu/teaching/cs165"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 name="Shape 30"/>
        <p:cNvGrpSpPr/>
        <p:nvPr/>
      </p:nvGrpSpPr>
      <p:grpSpPr>
        <a:xfrm>
          <a:off x="0" y="0"/>
          <a:ext cx="0" cy="0"/>
          <a:chOff x="0" y="0"/>
          <a:chExt cx="0" cy="0"/>
        </a:xfrm>
      </p:grpSpPr>
      <p:sp>
        <p:nvSpPr>
          <p:cNvPr id="31" name="Google Shape;31;p7"/>
          <p:cNvSpPr txBox="1"/>
          <p:nvPr>
            <p:ph type="ctrTitle"/>
          </p:nvPr>
        </p:nvSpPr>
        <p:spPr>
          <a:xfrm>
            <a:off x="548640" y="1600200"/>
            <a:ext cx="8046720" cy="86868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4000"/>
              <a:buFont typeface="Arial"/>
              <a:buNone/>
            </a:pPr>
            <a:r>
              <a:rPr lang="en-US"/>
              <a:t>CS 165: Computer Security</a:t>
            </a:r>
            <a:endParaRPr/>
          </a:p>
        </p:txBody>
      </p:sp>
      <p:sp>
        <p:nvSpPr>
          <p:cNvPr id="32" name="Google Shape;32;p7"/>
          <p:cNvSpPr txBox="1"/>
          <p:nvPr>
            <p:ph idx="1" type="subTitle"/>
          </p:nvPr>
        </p:nvSpPr>
        <p:spPr>
          <a:xfrm>
            <a:off x="548640" y="2450592"/>
            <a:ext cx="8046720" cy="502920"/>
          </a:xfrm>
          <a:prstGeom prst="rect">
            <a:avLst/>
          </a:prstGeom>
          <a:noFill/>
          <a:ln>
            <a:noFill/>
          </a:ln>
        </p:spPr>
        <p:txBody>
          <a:bodyPr anchorCtr="0" anchor="ctr" bIns="0" lIns="0" spcFirstLastPara="1" rIns="0" wrap="square" tIns="0">
            <a:normAutofit/>
          </a:bodyPr>
          <a:lstStyle/>
          <a:p>
            <a:pPr indent="0" lvl="0" marL="0" rtl="0" algn="l">
              <a:spcBef>
                <a:spcPts val="0"/>
              </a:spcBef>
              <a:spcAft>
                <a:spcPts val="0"/>
              </a:spcAft>
              <a:buClr>
                <a:schemeClr val="dk1"/>
              </a:buClr>
              <a:buSzPts val="2900"/>
              <a:buNone/>
            </a:pPr>
            <a:r>
              <a:rPr lang="en-US"/>
              <a:t>Introduction</a:t>
            </a:r>
            <a:endParaRPr/>
          </a:p>
        </p:txBody>
      </p:sp>
      <p:sp>
        <p:nvSpPr>
          <p:cNvPr id="33" name="Google Shape;33;p7"/>
          <p:cNvSpPr txBox="1"/>
          <p:nvPr>
            <p:ph idx="2" type="body"/>
          </p:nvPr>
        </p:nvSpPr>
        <p:spPr>
          <a:xfrm>
            <a:off x="548640" y="3246120"/>
            <a:ext cx="8046720" cy="914400"/>
          </a:xfrm>
          <a:prstGeom prst="rect">
            <a:avLst/>
          </a:prstGeom>
          <a:noFill/>
          <a:ln>
            <a:noFill/>
          </a:ln>
        </p:spPr>
        <p:txBody>
          <a:bodyPr anchorCtr="0" anchor="t" bIns="0" lIns="0" spcFirstLastPara="1" rIns="0" wrap="square" tIns="0">
            <a:normAutofit lnSpcReduction="10000"/>
          </a:bodyPr>
          <a:lstStyle/>
          <a:p>
            <a:pPr indent="0" lvl="0" marL="0" rtl="0" algn="l">
              <a:lnSpc>
                <a:spcPct val="125000"/>
              </a:lnSpc>
              <a:spcBef>
                <a:spcPts val="0"/>
              </a:spcBef>
              <a:spcAft>
                <a:spcPts val="0"/>
              </a:spcAft>
              <a:buClr>
                <a:srgbClr val="8A8A8A"/>
              </a:buClr>
              <a:buSzPts val="1700"/>
              <a:buNone/>
            </a:pPr>
            <a:r>
              <a:rPr lang="en-US"/>
              <a:t>Emiliano De Cristofaro</a:t>
            </a:r>
            <a:endParaRPr>
              <a:solidFill>
                <a:srgbClr val="000000"/>
              </a:solidFill>
            </a:endParaRPr>
          </a:p>
          <a:p>
            <a:pPr indent="0" lvl="0" marL="0" rtl="0" algn="l">
              <a:lnSpc>
                <a:spcPct val="125000"/>
              </a:lnSpc>
              <a:spcBef>
                <a:spcPts val="0"/>
              </a:spcBef>
              <a:spcAft>
                <a:spcPts val="0"/>
              </a:spcAft>
              <a:buClr>
                <a:srgbClr val="8A8A8A"/>
              </a:buClr>
              <a:buSzPts val="1700"/>
              <a:buNone/>
            </a:pPr>
            <a:r>
              <a:rPr lang="en-US"/>
              <a:t>University of California, Riverside</a:t>
            </a:r>
            <a:endParaRPr>
              <a:solidFill>
                <a:srgbClr val="000000"/>
              </a:solidFill>
            </a:endParaRPr>
          </a:p>
          <a:p>
            <a:pPr indent="0" lvl="0" marL="0" rtl="0" algn="l">
              <a:lnSpc>
                <a:spcPct val="125000"/>
              </a:lnSpc>
              <a:spcBef>
                <a:spcPts val="0"/>
              </a:spcBef>
              <a:spcAft>
                <a:spcPts val="0"/>
              </a:spcAft>
              <a:buClr>
                <a:srgbClr val="8A8A8A"/>
              </a:buClr>
              <a:buSzPts val="1700"/>
              <a:buNone/>
            </a:pPr>
            <a:r>
              <a:rPr lang="en-US"/>
              <a:t>Fall 2026  |  Monday, September 28</a:t>
            </a:r>
            <a:endParaRPr>
              <a:solidFill>
                <a:srgbClr val="00000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8"/>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Today</a:t>
            </a:r>
            <a:endParaRPr/>
          </a:p>
        </p:txBody>
      </p:sp>
      <p:sp>
        <p:nvSpPr>
          <p:cNvPr id="40" name="Google Shape;40;p8"/>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Welcome and introduction</a:t>
            </a:r>
            <a:endParaRPr/>
          </a:p>
          <a:p>
            <a:pPr indent="-342900" lvl="0" marL="342900" rtl="0" algn="l">
              <a:spcBef>
                <a:spcPts val="1200"/>
              </a:spcBef>
              <a:spcAft>
                <a:spcPts val="0"/>
              </a:spcAft>
              <a:buClr>
                <a:schemeClr val="dk1"/>
              </a:buClr>
              <a:buSzPts val="2000"/>
              <a:buChar char="•"/>
            </a:pPr>
            <a:r>
              <a:rPr lang="en-US"/>
              <a:t>Security TL;DR</a:t>
            </a:r>
            <a:endParaRPr/>
          </a:p>
          <a:p>
            <a:pPr indent="-342900" lvl="0" marL="342900" rtl="0" algn="l">
              <a:spcBef>
                <a:spcPts val="1200"/>
              </a:spcBef>
              <a:spcAft>
                <a:spcPts val="0"/>
              </a:spcAft>
              <a:buClr>
                <a:schemeClr val="dk1"/>
              </a:buClr>
              <a:buSzPts val="2000"/>
              <a:buChar char="•"/>
            </a:pPr>
            <a:r>
              <a:rPr lang="en-US"/>
              <a:t>What you will learn to do</a:t>
            </a:r>
            <a:endParaRPr/>
          </a:p>
          <a:p>
            <a:pPr indent="-342900" lvl="0" marL="342900" rtl="0" algn="l">
              <a:spcBef>
                <a:spcPts val="1200"/>
              </a:spcBef>
              <a:spcAft>
                <a:spcPts val="0"/>
              </a:spcAft>
              <a:buClr>
                <a:schemeClr val="dk1"/>
              </a:buClr>
              <a:buSzPts val="2000"/>
              <a:buChar char="•"/>
            </a:pPr>
            <a:r>
              <a:rPr lang="en-US"/>
              <a:t>Logistics and grading</a:t>
            </a:r>
            <a:br>
              <a:rPr lang="en-US"/>
            </a:br>
            <a:endParaRPr/>
          </a:p>
          <a:p>
            <a:pPr indent="-342900" lvl="0" marL="342900" rtl="0" algn="l">
              <a:spcBef>
                <a:spcPts val="1200"/>
              </a:spcBef>
              <a:spcAft>
                <a:spcPts val="0"/>
              </a:spcAft>
              <a:buClr>
                <a:schemeClr val="dk1"/>
              </a:buClr>
              <a:buSzPts val="2000"/>
              <a:buChar char="•"/>
            </a:pPr>
            <a:r>
              <a:rPr lang="en-US"/>
              <a:t>The security mindset</a:t>
            </a:r>
            <a:endParaRPr/>
          </a:p>
        </p:txBody>
      </p:sp>
      <p:sp>
        <p:nvSpPr>
          <p:cNvPr id="41" name="Google Shape;41;p8"/>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9"/>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Course information</a:t>
            </a:r>
            <a:endParaRPr/>
          </a:p>
        </p:txBody>
      </p:sp>
      <p:sp>
        <p:nvSpPr>
          <p:cNvPr id="48" name="Google Shape;48;p9"/>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lnSpcReduction="20000"/>
          </a:bodyPr>
          <a:lstStyle/>
          <a:p>
            <a:pPr indent="-342900" lvl="0" marL="342900" rtl="0" algn="l">
              <a:spcBef>
                <a:spcPts val="0"/>
              </a:spcBef>
              <a:spcAft>
                <a:spcPts val="0"/>
              </a:spcAft>
              <a:buClr>
                <a:schemeClr val="dk1"/>
              </a:buClr>
              <a:buSzPts val="2000"/>
              <a:buChar char="•"/>
            </a:pPr>
            <a:r>
              <a:rPr lang="en-US"/>
              <a:t>Instructor: Emiliano De Cristofaro, emilianodc@cs.ucr.edu</a:t>
            </a:r>
            <a:endParaRPr/>
          </a:p>
          <a:p>
            <a:pPr indent="-342900" lvl="1" marL="685800" rtl="0" algn="l">
              <a:spcBef>
                <a:spcPts val="600"/>
              </a:spcBef>
              <a:spcAft>
                <a:spcPts val="0"/>
              </a:spcAft>
              <a:buClr>
                <a:schemeClr val="dk1"/>
              </a:buClr>
              <a:buSzPts val="1700"/>
              <a:buChar char="–"/>
            </a:pPr>
            <a:r>
              <a:rPr lang="en-US"/>
              <a:t>Office hours: TBD</a:t>
            </a:r>
            <a:endParaRPr sz="2000"/>
          </a:p>
          <a:p>
            <a:pPr indent="-342900" lvl="0" marL="342900" rtl="0" algn="l">
              <a:spcBef>
                <a:spcPts val="1100"/>
              </a:spcBef>
              <a:spcAft>
                <a:spcPts val="0"/>
              </a:spcAft>
              <a:buClr>
                <a:schemeClr val="dk1"/>
              </a:buClr>
              <a:buSzPts val="2000"/>
              <a:buChar char="•"/>
            </a:pPr>
            <a:r>
              <a:rPr lang="en-US"/>
              <a:t>TA: Md. Olid Hasan Bhuiyan, mbhui008@ucr.edu</a:t>
            </a:r>
            <a:endParaRPr/>
          </a:p>
          <a:p>
            <a:pPr indent="-342900" lvl="1" marL="685800" rtl="0" algn="l">
              <a:spcBef>
                <a:spcPts val="600"/>
              </a:spcBef>
              <a:spcAft>
                <a:spcPts val="0"/>
              </a:spcAft>
              <a:buClr>
                <a:schemeClr val="dk1"/>
              </a:buClr>
              <a:buSzPts val="1700"/>
              <a:buChar char="–"/>
            </a:pPr>
            <a:r>
              <a:rPr lang="en-US"/>
              <a:t>Office hours: Tuesday 10 - 11am (Reach via email if it does NOT work for you)</a:t>
            </a:r>
            <a:endParaRPr sz="2000"/>
          </a:p>
          <a:p>
            <a:pPr indent="-342900" lvl="0" marL="342900" rtl="0" algn="l">
              <a:spcBef>
                <a:spcPts val="1100"/>
              </a:spcBef>
              <a:spcAft>
                <a:spcPts val="0"/>
              </a:spcAft>
              <a:buClr>
                <a:schemeClr val="dk1"/>
              </a:buClr>
              <a:buSzPts val="2000"/>
              <a:buChar char="•"/>
            </a:pPr>
            <a:r>
              <a:rPr lang="en-US"/>
              <a:t>Lecture: Monday and Wednesday, 3:30 to 4:50pm, UTLF 315</a:t>
            </a:r>
            <a:endParaRPr/>
          </a:p>
          <a:p>
            <a:pPr indent="-342900" lvl="0" marL="342900" rtl="0" algn="l">
              <a:spcBef>
                <a:spcPts val="1200"/>
              </a:spcBef>
              <a:spcAft>
                <a:spcPts val="0"/>
              </a:spcAft>
              <a:buClr>
                <a:schemeClr val="dk1"/>
              </a:buClr>
              <a:buSzPts val="2000"/>
              <a:buChar char="•"/>
            </a:pPr>
            <a:r>
              <a:rPr lang="en-US"/>
              <a:t>Lab: Thursday, 3:00 to 5:50pm, UTLF 215</a:t>
            </a:r>
            <a:endParaRPr/>
          </a:p>
          <a:p>
            <a:pPr indent="-342900" lvl="0" marL="342900" rtl="0" algn="l">
              <a:spcBef>
                <a:spcPts val="1200"/>
              </a:spcBef>
              <a:spcAft>
                <a:spcPts val="0"/>
              </a:spcAft>
              <a:buClr>
                <a:schemeClr val="dk1"/>
              </a:buClr>
              <a:buSzPts val="2000"/>
              <a:buChar char="•"/>
            </a:pPr>
            <a:r>
              <a:rPr lang="en-US"/>
              <a:t>Website: </a:t>
            </a:r>
            <a:r>
              <a:rPr lang="en-US" u="sng">
                <a:solidFill>
                  <a:schemeClr val="hlink"/>
                </a:solidFill>
                <a:hlinkClick r:id="rId3"/>
              </a:rPr>
              <a:t>https://spalab.cs.ucr.edu/teaching/cs165</a:t>
            </a:r>
            <a:r>
              <a:rPr lang="en-US"/>
              <a:t> </a:t>
            </a:r>
            <a:endParaRPr/>
          </a:p>
          <a:p>
            <a:pPr indent="-342900" lvl="1" marL="685800" rtl="0" algn="l">
              <a:spcBef>
                <a:spcPts val="600"/>
              </a:spcBef>
              <a:spcAft>
                <a:spcPts val="0"/>
              </a:spcAft>
              <a:buClr>
                <a:schemeClr val="dk1"/>
              </a:buClr>
              <a:buSzPts val="1700"/>
              <a:buChar char="–"/>
            </a:pPr>
            <a:r>
              <a:rPr lang="en-US"/>
              <a:t>Schedule, readings and handouts are posted there</a:t>
            </a:r>
            <a:endParaRPr sz="2000"/>
          </a:p>
          <a:p>
            <a:pPr indent="-342900" lvl="0" marL="342900" rtl="0" algn="l">
              <a:spcBef>
                <a:spcPts val="1100"/>
              </a:spcBef>
              <a:spcAft>
                <a:spcPts val="0"/>
              </a:spcAft>
              <a:buClr>
                <a:schemeClr val="dk1"/>
              </a:buClr>
              <a:buSzPts val="2000"/>
              <a:buChar char="•"/>
            </a:pPr>
            <a:r>
              <a:rPr lang="en-US"/>
              <a:t>Canvas: announcements, submissions, discussion</a:t>
            </a:r>
            <a:endParaRPr/>
          </a:p>
        </p:txBody>
      </p:sp>
      <p:sp>
        <p:nvSpPr>
          <p:cNvPr id="49" name="Google Shape;49;p9"/>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 name="Shape 54"/>
        <p:cNvGrpSpPr/>
        <p:nvPr/>
      </p:nvGrpSpPr>
      <p:grpSpPr>
        <a:xfrm>
          <a:off x="0" y="0"/>
          <a:ext cx="0" cy="0"/>
          <a:chOff x="0" y="0"/>
          <a:chExt cx="0" cy="0"/>
        </a:xfrm>
      </p:grpSpPr>
      <p:sp>
        <p:nvSpPr>
          <p:cNvPr id="55" name="Google Shape;55;p10"/>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About me</a:t>
            </a:r>
            <a:endParaRPr/>
          </a:p>
        </p:txBody>
      </p:sp>
      <p:sp>
        <p:nvSpPr>
          <p:cNvPr id="56" name="Google Shape;56;p10"/>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Professor, Computer Science and Engineering, UC Riverside</a:t>
            </a:r>
            <a:endParaRPr/>
          </a:p>
          <a:p>
            <a:pPr indent="-342900" lvl="0" marL="342900" rtl="0" algn="l">
              <a:spcBef>
                <a:spcPts val="1200"/>
              </a:spcBef>
              <a:spcAft>
                <a:spcPts val="0"/>
              </a:spcAft>
              <a:buClr>
                <a:schemeClr val="dk1"/>
              </a:buClr>
              <a:buSzPts val="2000"/>
              <a:buChar char="•"/>
            </a:pPr>
            <a:r>
              <a:rPr lang="en-US"/>
              <a:t>Security and Privacy Advanced Research Lab (SPA Lab)</a:t>
            </a:r>
            <a:endParaRPr/>
          </a:p>
          <a:p>
            <a:pPr indent="-342900" lvl="0" marL="342900" rtl="0" algn="l">
              <a:spcBef>
                <a:spcPts val="1200"/>
              </a:spcBef>
              <a:spcAft>
                <a:spcPts val="0"/>
              </a:spcAft>
              <a:buClr>
                <a:schemeClr val="dk1"/>
              </a:buClr>
              <a:buSzPts val="2000"/>
              <a:buChar char="•"/>
            </a:pPr>
            <a:r>
              <a:rPr lang="en-US"/>
              <a:t>Research on the security and privacy of computing systems</a:t>
            </a:r>
            <a:endParaRPr/>
          </a:p>
          <a:p>
            <a:pPr indent="-342900" lvl="0" marL="342900" rtl="0" algn="l">
              <a:spcBef>
                <a:spcPts val="1200"/>
              </a:spcBef>
              <a:spcAft>
                <a:spcPts val="0"/>
              </a:spcAft>
              <a:buClr>
                <a:schemeClr val="dk1"/>
              </a:buClr>
              <a:buSzPts val="2000"/>
              <a:buChar char="•"/>
            </a:pPr>
            <a:r>
              <a:rPr i="1" lang="en-US"/>
              <a:t>Fun facts about each of us?</a:t>
            </a:r>
            <a:endParaRPr/>
          </a:p>
        </p:txBody>
      </p:sp>
      <p:sp>
        <p:nvSpPr>
          <p:cNvPr id="57" name="Google Shape;57;p10"/>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1"/>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Infamous bugs</a:t>
            </a:r>
            <a:endParaRPr/>
          </a:p>
        </p:txBody>
      </p:sp>
      <p:sp>
        <p:nvSpPr>
          <p:cNvPr id="64" name="Google Shape;64;p11"/>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lnSpcReduction="10000"/>
          </a:bodyPr>
          <a:lstStyle/>
          <a:p>
            <a:pPr indent="-342900" lvl="0" marL="342900" rtl="0" algn="l">
              <a:spcBef>
                <a:spcPts val="0"/>
              </a:spcBef>
              <a:spcAft>
                <a:spcPts val="0"/>
              </a:spcAft>
              <a:buClr>
                <a:schemeClr val="dk1"/>
              </a:buClr>
              <a:buSzPts val="2000"/>
              <a:buChar char="•"/>
            </a:pPr>
            <a:r>
              <a:rPr lang="en-US"/>
              <a:t>1988, the Morris worm</a:t>
            </a:r>
            <a:endParaRPr/>
          </a:p>
          <a:p>
            <a:pPr indent="-342900" lvl="1" marL="685800" rtl="0" algn="l">
              <a:spcBef>
                <a:spcPts val="600"/>
              </a:spcBef>
              <a:spcAft>
                <a:spcPts val="0"/>
              </a:spcAft>
              <a:buClr>
                <a:schemeClr val="dk1"/>
              </a:buClr>
              <a:buSzPts val="1700"/>
              <a:buChar char="–"/>
            </a:pPr>
            <a:r>
              <a:rPr lang="en-US"/>
              <a:t>Spread partly through a buffer overflow in fingerd. Took down an estimated 10 percent of the machines then on the internet.</a:t>
            </a:r>
            <a:endParaRPr sz="2000"/>
          </a:p>
          <a:p>
            <a:pPr indent="-342900" lvl="0" marL="342900" rtl="0" algn="l">
              <a:spcBef>
                <a:spcPts val="1100"/>
              </a:spcBef>
              <a:spcAft>
                <a:spcPts val="0"/>
              </a:spcAft>
              <a:buClr>
                <a:schemeClr val="dk1"/>
              </a:buClr>
              <a:buSzPts val="2000"/>
              <a:buChar char="•"/>
            </a:pPr>
            <a:r>
              <a:rPr lang="en-US"/>
              <a:t>2003, SQL Slammer</a:t>
            </a:r>
            <a:endParaRPr/>
          </a:p>
          <a:p>
            <a:pPr indent="-342900" lvl="1" marL="685800" rtl="0" algn="l">
              <a:spcBef>
                <a:spcPts val="600"/>
              </a:spcBef>
              <a:spcAft>
                <a:spcPts val="0"/>
              </a:spcAft>
              <a:buClr>
                <a:schemeClr val="dk1"/>
              </a:buClr>
              <a:buSzPts val="1700"/>
              <a:buChar char="–"/>
            </a:pPr>
            <a:r>
              <a:rPr lang="en-US"/>
              <a:t>A single UDP packet exploiting a buffer overflow. Roughly 75,000 hosts in ten minutes.</a:t>
            </a:r>
            <a:endParaRPr sz="2000"/>
          </a:p>
          <a:p>
            <a:pPr indent="-342900" lvl="0" marL="342900" rtl="0" algn="l">
              <a:spcBef>
                <a:spcPts val="1100"/>
              </a:spcBef>
              <a:spcAft>
                <a:spcPts val="0"/>
              </a:spcAft>
              <a:buClr>
                <a:schemeClr val="dk1"/>
              </a:buClr>
              <a:buSzPts val="2000"/>
              <a:buChar char="•"/>
            </a:pPr>
            <a:r>
              <a:rPr lang="en-US"/>
              <a:t>2017, WannaCry</a:t>
            </a:r>
            <a:endParaRPr/>
          </a:p>
          <a:p>
            <a:pPr indent="-342900" lvl="1" marL="685800" rtl="0" algn="l">
              <a:spcBef>
                <a:spcPts val="600"/>
              </a:spcBef>
              <a:spcAft>
                <a:spcPts val="0"/>
              </a:spcAft>
              <a:buClr>
                <a:schemeClr val="dk1"/>
              </a:buClr>
              <a:buSzPts val="1700"/>
              <a:buChar char="–"/>
            </a:pPr>
            <a:r>
              <a:rPr lang="en-US"/>
              <a:t>Spread via a flaw in Windows SMB. Over 200,000 machines across 150 countries.</a:t>
            </a:r>
            <a:endParaRPr sz="2000"/>
          </a:p>
          <a:p>
            <a:pPr indent="-342900" lvl="0" marL="342900" rtl="0" algn="l">
              <a:spcBef>
                <a:spcPts val="1100"/>
              </a:spcBef>
              <a:spcAft>
                <a:spcPts val="0"/>
              </a:spcAft>
              <a:buClr>
                <a:schemeClr val="dk1"/>
              </a:buClr>
              <a:buSzPts val="2000"/>
              <a:buChar char="•"/>
            </a:pPr>
            <a:r>
              <a:rPr b="1" lang="en-US"/>
              <a:t>Twenty-nine years apart. The same class of bug.</a:t>
            </a:r>
            <a:endParaRPr/>
          </a:p>
        </p:txBody>
      </p:sp>
      <p:sp>
        <p:nvSpPr>
          <p:cNvPr id="65" name="Google Shape;65;p11"/>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2"/>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Mitigations?</a:t>
            </a:r>
            <a:endParaRPr/>
          </a:p>
        </p:txBody>
      </p:sp>
      <p:sp>
        <p:nvSpPr>
          <p:cNvPr id="72" name="Google Shape;72;p12"/>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If a network-facing program is going to be compromised, limit what that buys the attacker</a:t>
            </a:r>
            <a:endParaRPr/>
          </a:p>
          <a:p>
            <a:pPr indent="-342900" lvl="1" marL="685800" rtl="0" algn="l">
              <a:spcBef>
                <a:spcPts val="600"/>
              </a:spcBef>
              <a:spcAft>
                <a:spcPts val="0"/>
              </a:spcAft>
              <a:buClr>
                <a:schemeClr val="dk1"/>
              </a:buClr>
              <a:buSzPts val="1700"/>
              <a:buChar char="–"/>
            </a:pPr>
            <a:r>
              <a:rPr lang="en-US"/>
              <a:t>chroot, privilege separation, seccomp, containers, SELinux and AppArmor</a:t>
            </a:r>
            <a:endParaRPr sz="2000"/>
          </a:p>
          <a:p>
            <a:pPr indent="-342900" lvl="0" marL="342900" rtl="0" algn="l">
              <a:spcBef>
                <a:spcPts val="1100"/>
              </a:spcBef>
              <a:spcAft>
                <a:spcPts val="0"/>
              </a:spcAft>
              <a:buClr>
                <a:schemeClr val="dk1"/>
              </a:buClr>
              <a:buSzPts val="2000"/>
              <a:buChar char="•"/>
            </a:pPr>
            <a:r>
              <a:rPr lang="en-US"/>
              <a:t>This genuinely helps. A compromised daemon no longer means a compromised host.</a:t>
            </a:r>
            <a:endParaRPr/>
          </a:p>
          <a:p>
            <a:pPr indent="-342900" lvl="0" marL="342900" rtl="0" algn="l">
              <a:spcBef>
                <a:spcPts val="1200"/>
              </a:spcBef>
              <a:spcAft>
                <a:spcPts val="0"/>
              </a:spcAft>
              <a:buClr>
                <a:schemeClr val="dk1"/>
              </a:buClr>
              <a:buSzPts val="2000"/>
              <a:buChar char="•"/>
            </a:pPr>
            <a:r>
              <a:rPr b="1" lang="en-US"/>
              <a:t>But note what it does not do</a:t>
            </a:r>
            <a:endParaRPr/>
          </a:p>
          <a:p>
            <a:pPr indent="-342900" lvl="1" marL="685800" rtl="0" algn="l">
              <a:spcBef>
                <a:spcPts val="600"/>
              </a:spcBef>
              <a:spcAft>
                <a:spcPts val="0"/>
              </a:spcAft>
              <a:buClr>
                <a:schemeClr val="dk1"/>
              </a:buClr>
              <a:buSzPts val="1700"/>
              <a:buChar char="–"/>
            </a:pPr>
            <a:r>
              <a:rPr lang="en-US"/>
              <a:t>The bug is still there. Containment changes the blast radius, not the vulnerability.</a:t>
            </a:r>
            <a:endParaRPr sz="2000"/>
          </a:p>
        </p:txBody>
      </p:sp>
      <p:sp>
        <p:nvSpPr>
          <p:cNvPr id="73" name="Google Shape;73;p12"/>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3"/>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Software is still buggy…</a:t>
            </a:r>
            <a:endParaRPr/>
          </a:p>
        </p:txBody>
      </p:sp>
      <p:sp>
        <p:nvSpPr>
          <p:cNvPr id="80" name="Google Shape;80;p13"/>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Memory-safety errors remain a large share of severe vulnerabilities in C/C++ code</a:t>
            </a:r>
            <a:endParaRPr/>
          </a:p>
          <a:p>
            <a:pPr indent="-342900" lvl="1" marL="685800" rtl="0" algn="l">
              <a:spcBef>
                <a:spcPts val="600"/>
              </a:spcBef>
              <a:spcAft>
                <a:spcPts val="0"/>
              </a:spcAft>
              <a:buClr>
                <a:schemeClr val="dk1"/>
              </a:buClr>
              <a:buSzPts val="1700"/>
              <a:buChar char="–"/>
            </a:pPr>
            <a:r>
              <a:rPr lang="en-US"/>
              <a:t>Microsoft and Google have each reported that roughly 70 percent of their severe vulnerabilities are memory-safety issues</a:t>
            </a:r>
            <a:endParaRPr sz="2000"/>
          </a:p>
          <a:p>
            <a:pPr indent="-342900" lvl="0" marL="342900" rtl="0" algn="l">
              <a:spcBef>
                <a:spcPts val="1100"/>
              </a:spcBef>
              <a:spcAft>
                <a:spcPts val="0"/>
              </a:spcAft>
              <a:buClr>
                <a:schemeClr val="dk1"/>
              </a:buClr>
              <a:buSzPts val="2000"/>
              <a:buChar char="•"/>
            </a:pPr>
            <a:r>
              <a:rPr lang="en-US"/>
              <a:t>The bug classes have barely changed</a:t>
            </a:r>
            <a:endParaRPr/>
          </a:p>
          <a:p>
            <a:pPr indent="-342900" lvl="1" marL="685800" rtl="0" algn="l">
              <a:spcBef>
                <a:spcPts val="600"/>
              </a:spcBef>
              <a:spcAft>
                <a:spcPts val="0"/>
              </a:spcAft>
              <a:buClr>
                <a:schemeClr val="dk1"/>
              </a:buClr>
              <a:buSzPts val="1700"/>
              <a:buChar char="–"/>
            </a:pPr>
            <a:r>
              <a:rPr lang="en-US"/>
              <a:t>Out-of-bounds reads and writes (spatial)</a:t>
            </a:r>
            <a:endParaRPr sz="2000"/>
          </a:p>
          <a:p>
            <a:pPr indent="-342900" lvl="1" marL="685800" rtl="0" algn="l">
              <a:spcBef>
                <a:spcPts val="500"/>
              </a:spcBef>
              <a:spcAft>
                <a:spcPts val="0"/>
              </a:spcAft>
              <a:buClr>
                <a:schemeClr val="dk1"/>
              </a:buClr>
              <a:buSzPts val="1700"/>
              <a:buChar char="–"/>
            </a:pPr>
            <a:r>
              <a:rPr lang="en-US"/>
              <a:t>Use-after-free and double-free (temporal)</a:t>
            </a:r>
            <a:endParaRPr sz="2000"/>
          </a:p>
          <a:p>
            <a:pPr indent="-342900" lvl="1" marL="685800" rtl="0" algn="l">
              <a:spcBef>
                <a:spcPts val="500"/>
              </a:spcBef>
              <a:spcAft>
                <a:spcPts val="0"/>
              </a:spcAft>
              <a:buClr>
                <a:schemeClr val="dk1"/>
              </a:buClr>
              <a:buSzPts val="1700"/>
              <a:buChar char="–"/>
            </a:pPr>
            <a:r>
              <a:rPr lang="en-US"/>
              <a:t>Type confusion</a:t>
            </a:r>
            <a:endParaRPr sz="2000"/>
          </a:p>
          <a:p>
            <a:pPr indent="-342900" lvl="0" marL="342900" rtl="0" algn="l">
              <a:spcBef>
                <a:spcPts val="1100"/>
              </a:spcBef>
              <a:spcAft>
                <a:spcPts val="0"/>
              </a:spcAft>
              <a:buClr>
                <a:schemeClr val="dk1"/>
              </a:buClr>
              <a:buSzPts val="2000"/>
              <a:buChar char="•"/>
            </a:pPr>
            <a:r>
              <a:rPr b="1" lang="en-US"/>
              <a:t>You will find, exploit, and then fix every one of these yourself this term.</a:t>
            </a:r>
            <a:endParaRPr/>
          </a:p>
        </p:txBody>
      </p:sp>
      <p:sp>
        <p:nvSpPr>
          <p:cNvPr id="81" name="Google Shape;81;p13"/>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4"/>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Mixing code and data</a:t>
            </a:r>
            <a:endParaRPr/>
          </a:p>
        </p:txBody>
      </p:sp>
      <p:sp>
        <p:nvSpPr>
          <p:cNvPr id="88" name="Google Shape;88;p14"/>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Programs routinely treat attacker-supplied data as if it were control information</a:t>
            </a:r>
            <a:endParaRPr/>
          </a:p>
          <a:p>
            <a:pPr indent="-342900" lvl="1" marL="685800" rtl="0" algn="l">
              <a:spcBef>
                <a:spcPts val="600"/>
              </a:spcBef>
              <a:spcAft>
                <a:spcPts val="0"/>
              </a:spcAft>
              <a:buClr>
                <a:schemeClr val="dk1"/>
              </a:buClr>
              <a:buSzPts val="1700"/>
              <a:buChar char="–"/>
            </a:pPr>
            <a:r>
              <a:rPr lang="en-US"/>
              <a:t>A saved return address is just bytes on the stack, until the CPU jumps to it</a:t>
            </a:r>
            <a:endParaRPr sz="2000"/>
          </a:p>
          <a:p>
            <a:pPr indent="-342900" lvl="1" marL="685800" rtl="0" algn="l">
              <a:spcBef>
                <a:spcPts val="500"/>
              </a:spcBef>
              <a:spcAft>
                <a:spcPts val="0"/>
              </a:spcAft>
              <a:buClr>
                <a:schemeClr val="dk1"/>
              </a:buClr>
              <a:buSzPts val="1700"/>
              <a:buChar char="–"/>
            </a:pPr>
            <a:r>
              <a:rPr lang="en-US"/>
              <a:t>A function pointer is just a word in a struct, until it is called</a:t>
            </a:r>
            <a:endParaRPr sz="2000"/>
          </a:p>
          <a:p>
            <a:pPr indent="-342900" lvl="1" marL="685800" rtl="0" algn="l">
              <a:spcBef>
                <a:spcPts val="500"/>
              </a:spcBef>
              <a:spcAft>
                <a:spcPts val="0"/>
              </a:spcAft>
              <a:buClr>
                <a:schemeClr val="dk1"/>
              </a:buClr>
              <a:buSzPts val="1700"/>
              <a:buChar char="–"/>
            </a:pPr>
            <a:r>
              <a:rPr lang="en-US"/>
              <a:t>A SQL query is just a string, until the database parses it</a:t>
            </a:r>
            <a:endParaRPr sz="2000"/>
          </a:p>
          <a:p>
            <a:pPr indent="-342900" lvl="0" marL="342900" rtl="0" algn="l">
              <a:spcBef>
                <a:spcPts val="1100"/>
              </a:spcBef>
              <a:spcAft>
                <a:spcPts val="0"/>
              </a:spcAft>
              <a:buClr>
                <a:schemeClr val="dk1"/>
              </a:buClr>
              <a:buSzPts val="2000"/>
              <a:buChar char="•"/>
            </a:pPr>
            <a:r>
              <a:rPr b="1" lang="en-US"/>
              <a:t>Most of the first half of this course is variations on that single idea.</a:t>
            </a:r>
            <a:endParaRPr/>
          </a:p>
        </p:txBody>
      </p:sp>
      <p:sp>
        <p:nvSpPr>
          <p:cNvPr id="89" name="Google Shape;89;p14"/>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5"/>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What you will learn to do</a:t>
            </a:r>
            <a:endParaRPr/>
          </a:p>
        </p:txBody>
      </p:sp>
      <p:sp>
        <p:nvSpPr>
          <p:cNvPr id="96" name="Google Shape;96;p15"/>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Carry out attacks that exploit real programs</a:t>
            </a:r>
            <a:endParaRPr/>
          </a:p>
          <a:p>
            <a:pPr indent="-342900" lvl="0" marL="342900" rtl="0" algn="l">
              <a:spcBef>
                <a:spcPts val="1200"/>
              </a:spcBef>
              <a:spcAft>
                <a:spcPts val="0"/>
              </a:spcAft>
              <a:buClr>
                <a:schemeClr val="dk1"/>
              </a:buClr>
              <a:buSzPts val="2000"/>
              <a:buChar char="•"/>
            </a:pPr>
            <a:r>
              <a:rPr lang="en-US"/>
              <a:t>Find vulnerabilities before an attacker does, with sanitizers, static analysis and fuzzing</a:t>
            </a:r>
            <a:endParaRPr/>
          </a:p>
          <a:p>
            <a:pPr indent="-342900" lvl="0" marL="342900" rtl="0" algn="l">
              <a:spcBef>
                <a:spcPts val="1200"/>
              </a:spcBef>
              <a:spcAft>
                <a:spcPts val="0"/>
              </a:spcAft>
              <a:buClr>
                <a:schemeClr val="dk1"/>
              </a:buClr>
              <a:buSzPts val="2000"/>
              <a:buChar char="•"/>
            </a:pPr>
            <a:r>
              <a:rPr lang="en-US"/>
              <a:t>Apply defenses, and understand exactly what each one does and does not stop</a:t>
            </a:r>
            <a:endParaRPr/>
          </a:p>
          <a:p>
            <a:pPr indent="-342900" lvl="0" marL="342900" rtl="0" algn="l">
              <a:spcBef>
                <a:spcPts val="1200"/>
              </a:spcBef>
              <a:spcAft>
                <a:spcPts val="0"/>
              </a:spcAft>
              <a:buClr>
                <a:schemeClr val="dk1"/>
              </a:buClr>
              <a:buSzPts val="2000"/>
              <a:buChar char="•"/>
            </a:pPr>
            <a:r>
              <a:rPr lang="en-US"/>
              <a:t>Read a system critically, the way an adversary would</a:t>
            </a:r>
            <a:endParaRPr/>
          </a:p>
          <a:p>
            <a:pPr indent="-342900" lvl="0" marL="342900" rtl="0" algn="l">
              <a:spcBef>
                <a:spcPts val="1200"/>
              </a:spcBef>
              <a:spcAft>
                <a:spcPts val="0"/>
              </a:spcAft>
              <a:buClr>
                <a:schemeClr val="dk1"/>
              </a:buClr>
              <a:buSzPts val="2000"/>
              <a:buChar char="•"/>
            </a:pPr>
            <a:r>
              <a:rPr b="1" lang="en-US"/>
              <a:t>Security is a dimension of every design decision, not a feature you add at the end.</a:t>
            </a:r>
            <a:endParaRPr/>
          </a:p>
        </p:txBody>
      </p:sp>
      <p:sp>
        <p:nvSpPr>
          <p:cNvPr id="97" name="Google Shape;97;p15"/>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16"/>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This is a hands-on course</a:t>
            </a:r>
            <a:endParaRPr/>
          </a:p>
        </p:txBody>
      </p:sp>
      <p:sp>
        <p:nvSpPr>
          <p:cNvPr id="104" name="Google Shape;104;p16"/>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Eight Thursday afternoons attacking and defending a real stuff</a:t>
            </a:r>
            <a:endParaRPr/>
          </a:p>
          <a:p>
            <a:pPr indent="-342900" lvl="0" marL="342900" rtl="0" algn="l">
              <a:spcBef>
                <a:spcPts val="1200"/>
              </a:spcBef>
              <a:spcAft>
                <a:spcPts val="0"/>
              </a:spcAft>
              <a:buClr>
                <a:schemeClr val="dk1"/>
              </a:buClr>
              <a:buSzPts val="2000"/>
              <a:buChar char="•"/>
            </a:pPr>
            <a:r>
              <a:rPr lang="en-US"/>
              <a:t>Not a theory course. Not a cryptography course.</a:t>
            </a:r>
            <a:endParaRPr/>
          </a:p>
          <a:p>
            <a:pPr indent="-342900" lvl="0" marL="342900" rtl="0" algn="l">
              <a:spcBef>
                <a:spcPts val="1200"/>
              </a:spcBef>
              <a:spcAft>
                <a:spcPts val="0"/>
              </a:spcAft>
              <a:buClr>
                <a:schemeClr val="dk1"/>
              </a:buClr>
              <a:buSzPts val="2000"/>
              <a:buChar char="•"/>
            </a:pPr>
            <a:r>
              <a:rPr lang="en-US"/>
              <a:t>Assumes you are comfortable with C, the stack, and a debugger</a:t>
            </a:r>
            <a:endParaRPr/>
          </a:p>
          <a:p>
            <a:pPr indent="-342900" lvl="1" marL="685800" rtl="0" algn="l">
              <a:spcBef>
                <a:spcPts val="600"/>
              </a:spcBef>
              <a:spcAft>
                <a:spcPts val="0"/>
              </a:spcAft>
              <a:buClr>
                <a:schemeClr val="dk1"/>
              </a:buClr>
              <a:buSzPts val="1700"/>
              <a:buChar char="–"/>
            </a:pPr>
            <a:r>
              <a:rPr lang="en-US"/>
              <a:t>If you are rusty, Lab 1 exists to fix that. Come anyway.</a:t>
            </a:r>
            <a:endParaRPr sz="2000"/>
          </a:p>
          <a:p>
            <a:pPr indent="-342900" lvl="0" marL="342900" rtl="0" algn="l">
              <a:spcBef>
                <a:spcPts val="1100"/>
              </a:spcBef>
              <a:spcAft>
                <a:spcPts val="0"/>
              </a:spcAft>
              <a:buClr>
                <a:schemeClr val="dk1"/>
              </a:buClr>
              <a:buSzPts val="2000"/>
              <a:buChar char="•"/>
            </a:pPr>
            <a:r>
              <a:rPr lang="en-US"/>
              <a:t>It is demanding. Lots of independent, constant work</a:t>
            </a:r>
            <a:endParaRPr/>
          </a:p>
        </p:txBody>
      </p:sp>
      <p:sp>
        <p:nvSpPr>
          <p:cNvPr id="105" name="Google Shape;105;p16"/>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7"/>
          <p:cNvSpPr txBox="1"/>
          <p:nvPr>
            <p:ph type="title"/>
          </p:nvPr>
        </p:nvSpPr>
        <p:spPr>
          <a:xfrm>
            <a:off x="548640" y="1965960"/>
            <a:ext cx="8046720" cy="82296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4000"/>
              <a:buFont typeface="Arial"/>
              <a:buNone/>
            </a:pPr>
            <a:r>
              <a:rPr lang="en-US"/>
              <a:t>Logistics</a:t>
            </a:r>
            <a:endParaRPr/>
          </a:p>
        </p:txBody>
      </p:sp>
      <p:sp>
        <p:nvSpPr>
          <p:cNvPr id="112" name="Google Shape;112;p17"/>
          <p:cNvSpPr txBox="1"/>
          <p:nvPr>
            <p:ph idx="1" type="body"/>
          </p:nvPr>
        </p:nvSpPr>
        <p:spPr>
          <a:xfrm>
            <a:off x="548640" y="2761488"/>
            <a:ext cx="8046720" cy="457200"/>
          </a:xfrm>
          <a:prstGeom prst="rect">
            <a:avLst/>
          </a:prstGeom>
          <a:noFill/>
          <a:ln>
            <a:noFill/>
          </a:ln>
        </p:spPr>
        <p:txBody>
          <a:bodyPr anchorCtr="0" anchor="t" bIns="0" lIns="0" spcFirstLastPara="1" rIns="0" wrap="square" tIns="0">
            <a:normAutofit/>
          </a:bodyPr>
          <a:lstStyle/>
          <a:p>
            <a:pPr indent="0" lvl="0" marL="0" rtl="0" algn="l">
              <a:spcBef>
                <a:spcPts val="0"/>
              </a:spcBef>
              <a:spcAft>
                <a:spcPts val="0"/>
              </a:spcAft>
              <a:buClr>
                <a:srgbClr val="8A8A8A"/>
              </a:buClr>
              <a:buSzPts val="1900"/>
              <a:buNone/>
            </a:pPr>
            <a:r>
              <a:t/>
            </a:r>
            <a:endParaRPr/>
          </a:p>
        </p:txBody>
      </p:sp>
      <p:sp>
        <p:nvSpPr>
          <p:cNvPr id="113" name="Google Shape;113;p17"/>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8"/>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Materials</a:t>
            </a:r>
            <a:endParaRPr/>
          </a:p>
        </p:txBody>
      </p:sp>
      <p:sp>
        <p:nvSpPr>
          <p:cNvPr id="120" name="Google Shape;120;p18"/>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Primary text: Tools and Jewels, Paul van Oorschot</a:t>
            </a:r>
            <a:endParaRPr/>
          </a:p>
          <a:p>
            <a:pPr indent="-342900" lvl="1" marL="685800" rtl="0" algn="l">
              <a:spcBef>
                <a:spcPts val="600"/>
              </a:spcBef>
              <a:spcAft>
                <a:spcPts val="0"/>
              </a:spcAft>
              <a:buClr>
                <a:schemeClr val="dk1"/>
              </a:buClr>
              <a:buSzPts val="1700"/>
              <a:buChar char="–"/>
            </a:pPr>
            <a:r>
              <a:rPr lang="en-US"/>
              <a:t>Free online. Chapter readings are listed with the schedule.</a:t>
            </a:r>
            <a:endParaRPr sz="2000"/>
          </a:p>
          <a:p>
            <a:pPr indent="-342900" lvl="0" marL="342900" rtl="0" algn="l">
              <a:spcBef>
                <a:spcPts val="1100"/>
              </a:spcBef>
              <a:spcAft>
                <a:spcPts val="0"/>
              </a:spcAft>
              <a:buClr>
                <a:schemeClr val="dk1"/>
              </a:buClr>
              <a:buSzPts val="2000"/>
              <a:buChar char="•"/>
            </a:pPr>
            <a:r>
              <a:rPr lang="en-US"/>
              <a:t>Optional: Hacking: The Art of Exploitation (2nd edition), Jon Erickson</a:t>
            </a:r>
            <a:endParaRPr/>
          </a:p>
          <a:p>
            <a:pPr indent="-342900" lvl="1" marL="685800" rtl="0" algn="l">
              <a:spcBef>
                <a:spcPts val="600"/>
              </a:spcBef>
              <a:spcAft>
                <a:spcPts val="0"/>
              </a:spcAft>
              <a:buClr>
                <a:schemeClr val="dk1"/>
              </a:buClr>
              <a:buSzPts val="1700"/>
              <a:buChar char="–"/>
            </a:pPr>
            <a:r>
              <a:rPr lang="en-US"/>
              <a:t>Useful if you want more depth on the attack mechanics.</a:t>
            </a:r>
            <a:endParaRPr sz="2000"/>
          </a:p>
          <a:p>
            <a:pPr indent="-342900" lvl="0" marL="342900" rtl="0" algn="l">
              <a:spcBef>
                <a:spcPts val="1100"/>
              </a:spcBef>
              <a:spcAft>
                <a:spcPts val="0"/>
              </a:spcAft>
              <a:buClr>
                <a:schemeClr val="dk1"/>
              </a:buClr>
              <a:buSzPts val="2000"/>
              <a:buChar char="•"/>
            </a:pPr>
            <a:r>
              <a:rPr lang="en-US"/>
              <a:t>Readings are posted per lecture on the course website</a:t>
            </a:r>
            <a:endParaRPr/>
          </a:p>
        </p:txBody>
      </p:sp>
      <p:sp>
        <p:nvSpPr>
          <p:cNvPr id="121" name="Google Shape;121;p18"/>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19"/>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Grading</a:t>
            </a:r>
            <a:endParaRPr/>
          </a:p>
        </p:txBody>
      </p:sp>
      <p:sp>
        <p:nvSpPr>
          <p:cNvPr id="128" name="Google Shape;128;p19"/>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
        <p:nvSpPr>
          <p:cNvPr id="129" name="Google Shape;129;p19"/>
          <p:cNvSpPr txBox="1"/>
          <p:nvPr/>
        </p:nvSpPr>
        <p:spPr>
          <a:xfrm>
            <a:off x="548640" y="1417320"/>
            <a:ext cx="5120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2600"/>
              <a:buFont typeface="Arial"/>
              <a:buNone/>
            </a:pPr>
            <a:r>
              <a:rPr lang="en-US" sz="2600">
                <a:solidFill>
                  <a:srgbClr val="000000"/>
                </a:solidFill>
                <a:latin typeface="Arial"/>
                <a:ea typeface="Arial"/>
                <a:cs typeface="Arial"/>
                <a:sym typeface="Arial"/>
              </a:rPr>
              <a:t>Labs</a:t>
            </a:r>
            <a:endParaRPr sz="2600">
              <a:solidFill>
                <a:schemeClr val="dk1"/>
              </a:solidFill>
              <a:latin typeface="Arial"/>
              <a:ea typeface="Arial"/>
              <a:cs typeface="Arial"/>
              <a:sym typeface="Arial"/>
            </a:endParaRPr>
          </a:p>
        </p:txBody>
      </p:sp>
      <p:sp>
        <p:nvSpPr>
          <p:cNvPr id="130" name="Google Shape;130;p19"/>
          <p:cNvSpPr txBox="1"/>
          <p:nvPr/>
        </p:nvSpPr>
        <p:spPr>
          <a:xfrm>
            <a:off x="5669280" y="1417320"/>
            <a:ext cx="146304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0000"/>
              </a:buClr>
              <a:buSzPts val="2600"/>
              <a:buFont typeface="Arial"/>
              <a:buNone/>
            </a:pPr>
            <a:r>
              <a:rPr b="1" lang="en-US" sz="2600">
                <a:solidFill>
                  <a:srgbClr val="000000"/>
                </a:solidFill>
                <a:latin typeface="Arial"/>
                <a:ea typeface="Arial"/>
                <a:cs typeface="Arial"/>
                <a:sym typeface="Arial"/>
              </a:rPr>
              <a:t>25%</a:t>
            </a:r>
            <a:endParaRPr sz="2600">
              <a:solidFill>
                <a:schemeClr val="dk1"/>
              </a:solidFill>
              <a:latin typeface="Arial"/>
              <a:ea typeface="Arial"/>
              <a:cs typeface="Arial"/>
              <a:sym typeface="Arial"/>
            </a:endParaRPr>
          </a:p>
        </p:txBody>
      </p:sp>
      <p:sp>
        <p:nvSpPr>
          <p:cNvPr id="131" name="Google Shape;131;p19"/>
          <p:cNvSpPr txBox="1"/>
          <p:nvPr/>
        </p:nvSpPr>
        <p:spPr>
          <a:xfrm>
            <a:off x="548640" y="1984248"/>
            <a:ext cx="5120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2600"/>
              <a:buFont typeface="Arial"/>
              <a:buNone/>
            </a:pPr>
            <a:r>
              <a:rPr lang="en-US" sz="2600">
                <a:solidFill>
                  <a:srgbClr val="000000"/>
                </a:solidFill>
                <a:latin typeface="Arial"/>
                <a:ea typeface="Arial"/>
                <a:cs typeface="Arial"/>
                <a:sym typeface="Arial"/>
              </a:rPr>
              <a:t>Quizzes (5, drop lowest 2)</a:t>
            </a:r>
            <a:endParaRPr sz="2600">
              <a:solidFill>
                <a:schemeClr val="dk1"/>
              </a:solidFill>
              <a:latin typeface="Arial"/>
              <a:ea typeface="Arial"/>
              <a:cs typeface="Arial"/>
              <a:sym typeface="Arial"/>
            </a:endParaRPr>
          </a:p>
        </p:txBody>
      </p:sp>
      <p:sp>
        <p:nvSpPr>
          <p:cNvPr id="132" name="Google Shape;132;p19"/>
          <p:cNvSpPr txBox="1"/>
          <p:nvPr/>
        </p:nvSpPr>
        <p:spPr>
          <a:xfrm>
            <a:off x="5669280" y="1984248"/>
            <a:ext cx="146304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0000"/>
              </a:buClr>
              <a:buSzPts val="2600"/>
              <a:buFont typeface="Arial"/>
              <a:buNone/>
            </a:pPr>
            <a:r>
              <a:rPr b="1" lang="en-US" sz="2600">
                <a:solidFill>
                  <a:srgbClr val="000000"/>
                </a:solidFill>
                <a:latin typeface="Arial"/>
                <a:ea typeface="Arial"/>
                <a:cs typeface="Arial"/>
                <a:sym typeface="Arial"/>
              </a:rPr>
              <a:t>20%</a:t>
            </a:r>
            <a:endParaRPr sz="2600">
              <a:solidFill>
                <a:schemeClr val="dk1"/>
              </a:solidFill>
              <a:latin typeface="Arial"/>
              <a:ea typeface="Arial"/>
              <a:cs typeface="Arial"/>
              <a:sym typeface="Arial"/>
            </a:endParaRPr>
          </a:p>
        </p:txBody>
      </p:sp>
      <p:sp>
        <p:nvSpPr>
          <p:cNvPr id="133" name="Google Shape;133;p19"/>
          <p:cNvSpPr txBox="1"/>
          <p:nvPr/>
        </p:nvSpPr>
        <p:spPr>
          <a:xfrm>
            <a:off x="548640" y="2551176"/>
            <a:ext cx="5120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2600"/>
              <a:buFont typeface="Arial"/>
              <a:buNone/>
            </a:pPr>
            <a:r>
              <a:rPr lang="en-US" sz="2600">
                <a:solidFill>
                  <a:srgbClr val="000000"/>
                </a:solidFill>
                <a:latin typeface="Arial"/>
                <a:ea typeface="Arial"/>
                <a:cs typeface="Arial"/>
                <a:sym typeface="Arial"/>
              </a:rPr>
              <a:t>Midterm</a:t>
            </a:r>
            <a:endParaRPr sz="2600">
              <a:solidFill>
                <a:schemeClr val="dk1"/>
              </a:solidFill>
              <a:latin typeface="Arial"/>
              <a:ea typeface="Arial"/>
              <a:cs typeface="Arial"/>
              <a:sym typeface="Arial"/>
            </a:endParaRPr>
          </a:p>
        </p:txBody>
      </p:sp>
      <p:sp>
        <p:nvSpPr>
          <p:cNvPr id="134" name="Google Shape;134;p19"/>
          <p:cNvSpPr txBox="1"/>
          <p:nvPr/>
        </p:nvSpPr>
        <p:spPr>
          <a:xfrm>
            <a:off x="5669280" y="2551176"/>
            <a:ext cx="146304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0000"/>
              </a:buClr>
              <a:buSzPts val="2600"/>
              <a:buFont typeface="Arial"/>
              <a:buNone/>
            </a:pPr>
            <a:r>
              <a:rPr b="1" lang="en-US" sz="2600">
                <a:solidFill>
                  <a:srgbClr val="000000"/>
                </a:solidFill>
                <a:latin typeface="Arial"/>
                <a:ea typeface="Arial"/>
                <a:cs typeface="Arial"/>
                <a:sym typeface="Arial"/>
              </a:rPr>
              <a:t>25%</a:t>
            </a:r>
            <a:endParaRPr sz="2600">
              <a:solidFill>
                <a:schemeClr val="dk1"/>
              </a:solidFill>
              <a:latin typeface="Arial"/>
              <a:ea typeface="Arial"/>
              <a:cs typeface="Arial"/>
              <a:sym typeface="Arial"/>
            </a:endParaRPr>
          </a:p>
        </p:txBody>
      </p:sp>
      <p:sp>
        <p:nvSpPr>
          <p:cNvPr id="135" name="Google Shape;135;p19"/>
          <p:cNvSpPr txBox="1"/>
          <p:nvPr/>
        </p:nvSpPr>
        <p:spPr>
          <a:xfrm>
            <a:off x="548640" y="3118104"/>
            <a:ext cx="5120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2600"/>
              <a:buFont typeface="Arial"/>
              <a:buNone/>
            </a:pPr>
            <a:r>
              <a:rPr lang="en-US" sz="2600">
                <a:solidFill>
                  <a:srgbClr val="000000"/>
                </a:solidFill>
                <a:latin typeface="Arial"/>
                <a:ea typeface="Arial"/>
                <a:cs typeface="Arial"/>
                <a:sym typeface="Arial"/>
              </a:rPr>
              <a:t>Final, comprehensive</a:t>
            </a:r>
            <a:endParaRPr sz="2600">
              <a:solidFill>
                <a:schemeClr val="dk1"/>
              </a:solidFill>
              <a:latin typeface="Arial"/>
              <a:ea typeface="Arial"/>
              <a:cs typeface="Arial"/>
              <a:sym typeface="Arial"/>
            </a:endParaRPr>
          </a:p>
        </p:txBody>
      </p:sp>
      <p:sp>
        <p:nvSpPr>
          <p:cNvPr id="136" name="Google Shape;136;p19"/>
          <p:cNvSpPr txBox="1"/>
          <p:nvPr/>
        </p:nvSpPr>
        <p:spPr>
          <a:xfrm>
            <a:off x="5669280" y="3118104"/>
            <a:ext cx="146304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0000"/>
              </a:buClr>
              <a:buSzPts val="2600"/>
              <a:buFont typeface="Arial"/>
              <a:buNone/>
            </a:pPr>
            <a:r>
              <a:rPr b="1" lang="en-US" sz="2600">
                <a:solidFill>
                  <a:srgbClr val="000000"/>
                </a:solidFill>
                <a:latin typeface="Arial"/>
                <a:ea typeface="Arial"/>
                <a:cs typeface="Arial"/>
                <a:sym typeface="Arial"/>
              </a:rPr>
              <a:t>30%</a:t>
            </a:r>
            <a:endParaRPr sz="2600">
              <a:solidFill>
                <a:schemeClr val="dk1"/>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0"/>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The labs: 25 percent</a:t>
            </a:r>
            <a:endParaRPr/>
          </a:p>
        </p:txBody>
      </p:sp>
      <p:sp>
        <p:nvSpPr>
          <p:cNvPr id="143" name="Google Shape;143;p20"/>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Lab/discussion sessions, Thursdays, UTLF 215</a:t>
            </a:r>
            <a:endParaRPr/>
          </a:p>
          <a:p>
            <a:pPr indent="-342900" lvl="0" marL="342900" rtl="0" algn="l">
              <a:spcBef>
                <a:spcPts val="1200"/>
              </a:spcBef>
              <a:spcAft>
                <a:spcPts val="0"/>
              </a:spcAft>
              <a:buClr>
                <a:schemeClr val="dk1"/>
              </a:buClr>
              <a:buSzPts val="2000"/>
              <a:buChar char="•"/>
            </a:pPr>
            <a:r>
              <a:rPr lang="en-US"/>
              <a:t>One instructor-provided vulnerable C program runs through the whole sequence</a:t>
            </a:r>
            <a:endParaRPr/>
          </a:p>
          <a:p>
            <a:pPr indent="-342900" lvl="1" marL="685800" rtl="0" algn="l">
              <a:spcBef>
                <a:spcPts val="600"/>
              </a:spcBef>
              <a:spcAft>
                <a:spcPts val="0"/>
              </a:spcAft>
              <a:buClr>
                <a:schemeClr val="dk1"/>
              </a:buClr>
              <a:buSzPts val="1700"/>
              <a:buChar char="–"/>
            </a:pPr>
            <a:r>
              <a:rPr lang="en-US"/>
              <a:t>You never write the buggy code. You attack it, measure it, then harden it.</a:t>
            </a:r>
            <a:endParaRPr sz="2000"/>
          </a:p>
          <a:p>
            <a:pPr indent="-342900" lvl="0" marL="342900" rtl="0" algn="l">
              <a:spcBef>
                <a:spcPts val="1100"/>
              </a:spcBef>
              <a:spcAft>
                <a:spcPts val="0"/>
              </a:spcAft>
              <a:buClr>
                <a:schemeClr val="dk1"/>
              </a:buClr>
              <a:buSzPts val="2000"/>
              <a:buChar char="•"/>
            </a:pPr>
            <a:r>
              <a:rPr lang="en-US"/>
              <a:t>Every student gets their own seeded build</a:t>
            </a:r>
            <a:endParaRPr/>
          </a:p>
          <a:p>
            <a:pPr indent="-342900" lvl="1" marL="685800" rtl="0" algn="l">
              <a:spcBef>
                <a:spcPts val="600"/>
              </a:spcBef>
              <a:spcAft>
                <a:spcPts val="0"/>
              </a:spcAft>
              <a:buClr>
                <a:schemeClr val="dk1"/>
              </a:buClr>
              <a:buSzPts val="1700"/>
              <a:buChar char="–"/>
            </a:pPr>
            <a:r>
              <a:rPr lang="en-US"/>
              <a:t>Different secret, different buffer size, different target, per person.</a:t>
            </a:r>
            <a:endParaRPr sz="2000"/>
          </a:p>
          <a:p>
            <a:pPr indent="-342900" lvl="0" marL="342900" rtl="0" algn="l">
              <a:spcBef>
                <a:spcPts val="1100"/>
              </a:spcBef>
              <a:spcAft>
                <a:spcPts val="0"/>
              </a:spcAft>
              <a:buClr>
                <a:schemeClr val="dk1"/>
              </a:buClr>
              <a:buSzPts val="2000"/>
              <a:buChar char="•"/>
            </a:pPr>
            <a:r>
              <a:rPr b="1" lang="en-US"/>
              <a:t>Individual work</a:t>
            </a:r>
            <a:endParaRPr/>
          </a:p>
          <a:p>
            <a:pPr indent="-342900" lvl="1" marL="685800" rtl="0" algn="l">
              <a:spcBef>
                <a:spcPts val="600"/>
              </a:spcBef>
              <a:spcAft>
                <a:spcPts val="0"/>
              </a:spcAft>
              <a:buClr>
                <a:schemeClr val="dk1"/>
              </a:buClr>
              <a:buSzPts val="1700"/>
              <a:buChar char="–"/>
            </a:pPr>
            <a:r>
              <a:rPr lang="en-US"/>
              <a:t>An exploit that works against someone else's seed did not come from you.</a:t>
            </a:r>
            <a:endParaRPr sz="2000"/>
          </a:p>
        </p:txBody>
      </p:sp>
      <p:sp>
        <p:nvSpPr>
          <p:cNvPr id="144" name="Google Shape;144;p20"/>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21"/>
          <p:cNvSpPr txBox="1"/>
          <p:nvPr>
            <p:ph type="title"/>
          </p:nvPr>
        </p:nvSpPr>
        <p:spPr>
          <a:xfrm>
            <a:off x="548640" y="384048"/>
            <a:ext cx="8046600" cy="685800"/>
          </a:xfrm>
          <a:prstGeom prst="rect">
            <a:avLst/>
          </a:prstGeom>
          <a:noFill/>
          <a:ln>
            <a:noFill/>
          </a:ln>
        </p:spPr>
        <p:txBody>
          <a:bodyPr anchorCtr="0" anchor="ctr" bIns="0" lIns="0" spcFirstLastPara="1" rIns="0" wrap="square" tIns="0">
            <a:normAutofit/>
          </a:bodyPr>
          <a:lstStyle/>
          <a:p>
            <a:pPr indent="0" lvl="0" marL="0" rtl="0" algn="l">
              <a:spcBef>
                <a:spcPts val="0"/>
              </a:spcBef>
              <a:spcAft>
                <a:spcPts val="0"/>
              </a:spcAft>
              <a:buClr>
                <a:schemeClr val="dk1"/>
              </a:buClr>
              <a:buSzPts val="3000"/>
              <a:buFont typeface="Arial"/>
              <a:buNone/>
            </a:pPr>
            <a:r>
              <a:rPr lang="en-US"/>
              <a:t>The labs: Schedule</a:t>
            </a:r>
            <a:endParaRPr/>
          </a:p>
        </p:txBody>
      </p:sp>
      <p:sp>
        <p:nvSpPr>
          <p:cNvPr id="151" name="Google Shape;151;p21"/>
          <p:cNvSpPr txBox="1"/>
          <p:nvPr>
            <p:ph idx="12" type="sldNum"/>
          </p:nvPr>
        </p:nvSpPr>
        <p:spPr>
          <a:xfrm>
            <a:off x="8229600" y="4690872"/>
            <a:ext cx="548700" cy="2742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graphicFrame>
        <p:nvGraphicFramePr>
          <p:cNvPr id="152" name="Google Shape;152;p21"/>
          <p:cNvGraphicFramePr/>
          <p:nvPr/>
        </p:nvGraphicFramePr>
        <p:xfrm>
          <a:off x="693650" y="1170675"/>
          <a:ext cx="3000000" cy="3000000"/>
        </p:xfrm>
        <a:graphic>
          <a:graphicData uri="http://schemas.openxmlformats.org/drawingml/2006/table">
            <a:tbl>
              <a:tblPr>
                <a:noFill/>
                <a:tableStyleId>{9096F481-76FE-430A-8033-0D9017D95D37}</a:tableStyleId>
              </a:tblPr>
              <a:tblGrid>
                <a:gridCol w="3619500"/>
                <a:gridCol w="3619500"/>
              </a:tblGrid>
              <a:tr h="381000">
                <a:tc>
                  <a:txBody>
                    <a:bodyPr/>
                    <a:lstStyle/>
                    <a:p>
                      <a:pPr indent="0" lvl="0" marL="0" rtl="0" algn="l">
                        <a:spcBef>
                          <a:spcPts val="0"/>
                        </a:spcBef>
                        <a:spcAft>
                          <a:spcPts val="0"/>
                        </a:spcAft>
                        <a:buNone/>
                      </a:pPr>
                      <a:r>
                        <a:rPr b="1" lang="en-US"/>
                        <a:t>Week</a:t>
                      </a:r>
                      <a:endParaRPr b="1"/>
                    </a:p>
                  </a:txBody>
                  <a:tcPr marT="91425" marB="91425" marR="91425" marL="91425"/>
                </a:tc>
                <a:tc>
                  <a:txBody>
                    <a:bodyPr/>
                    <a:lstStyle/>
                    <a:p>
                      <a:pPr indent="0" lvl="0" marL="0" rtl="0" algn="l">
                        <a:spcBef>
                          <a:spcPts val="0"/>
                        </a:spcBef>
                        <a:spcAft>
                          <a:spcPts val="0"/>
                        </a:spcAft>
                        <a:buNone/>
                      </a:pPr>
                      <a:r>
                        <a:rPr b="1" lang="en-US"/>
                        <a:t>Lab Type</a:t>
                      </a:r>
                      <a:endParaRPr b="1"/>
                    </a:p>
                  </a:txBody>
                  <a:tcPr marT="91425" marB="91425" marR="91425" marL="91425"/>
                </a:tc>
              </a:tr>
              <a:tr h="381000">
                <a:tc>
                  <a:txBody>
                    <a:bodyPr/>
                    <a:lstStyle/>
                    <a:p>
                      <a:pPr indent="0" lvl="0" marL="0" rtl="0" algn="l">
                        <a:spcBef>
                          <a:spcPts val="0"/>
                        </a:spcBef>
                        <a:spcAft>
                          <a:spcPts val="0"/>
                        </a:spcAft>
                        <a:buNone/>
                      </a:pPr>
                      <a:r>
                        <a:rPr lang="en-US"/>
                        <a:t>Week 1: Oct 1</a:t>
                      </a:r>
                      <a:endParaRPr/>
                    </a:p>
                  </a:txBody>
                  <a:tcPr marT="91425" marB="91425" marR="91425" marL="91425"/>
                </a:tc>
                <a:tc>
                  <a:txBody>
                    <a:bodyPr/>
                    <a:lstStyle/>
                    <a:p>
                      <a:pPr indent="0" lvl="0" marL="0" rtl="0" algn="l">
                        <a:spcBef>
                          <a:spcPts val="0"/>
                        </a:spcBef>
                        <a:spcAft>
                          <a:spcPts val="0"/>
                        </a:spcAft>
                        <a:buNone/>
                      </a:pPr>
                      <a:r>
                        <a:rPr lang="en-US"/>
                        <a:t>Ungraded Lab 1</a:t>
                      </a:r>
                      <a:endParaRPr/>
                    </a:p>
                  </a:txBody>
                  <a:tcPr marT="91425" marB="91425" marR="91425" marL="91425"/>
                </a:tc>
              </a:tr>
              <a:tr h="381000">
                <a:tc>
                  <a:txBody>
                    <a:bodyPr/>
                    <a:lstStyle/>
                    <a:p>
                      <a:pPr indent="0" lvl="0" marL="0" rtl="0" algn="l">
                        <a:spcBef>
                          <a:spcPts val="0"/>
                        </a:spcBef>
                        <a:spcAft>
                          <a:spcPts val="0"/>
                        </a:spcAft>
                        <a:buNone/>
                      </a:pPr>
                      <a:r>
                        <a:rPr lang="en-US"/>
                        <a:t>Week 2: Oct 8</a:t>
                      </a:r>
                      <a:endParaRPr/>
                    </a:p>
                  </a:txBody>
                  <a:tcPr marT="91425" marB="91425" marR="91425" marL="91425"/>
                </a:tc>
                <a:tc>
                  <a:txBody>
                    <a:bodyPr/>
                    <a:lstStyle/>
                    <a:p>
                      <a:pPr indent="0" lvl="0" marL="0" rtl="0" algn="l">
                        <a:spcBef>
                          <a:spcPts val="0"/>
                        </a:spcBef>
                        <a:spcAft>
                          <a:spcPts val="0"/>
                        </a:spcAft>
                        <a:buNone/>
                      </a:pPr>
                      <a:r>
                        <a:rPr lang="en-US"/>
                        <a:t>Graded Lab 1</a:t>
                      </a:r>
                      <a:endParaRPr/>
                    </a:p>
                  </a:txBody>
                  <a:tcPr marT="91425" marB="91425" marR="91425" marL="91425"/>
                </a:tc>
              </a:tr>
              <a:tr h="381000">
                <a:tc>
                  <a:txBody>
                    <a:bodyPr/>
                    <a:lstStyle/>
                    <a:p>
                      <a:pPr indent="0" lvl="0" marL="0" rtl="0" algn="l">
                        <a:spcBef>
                          <a:spcPts val="0"/>
                        </a:spcBef>
                        <a:spcAft>
                          <a:spcPts val="0"/>
                        </a:spcAft>
                        <a:buNone/>
                      </a:pPr>
                      <a:r>
                        <a:rPr lang="en-US"/>
                        <a:t>Week 3: Oct 15</a:t>
                      </a:r>
                      <a:endParaRPr/>
                    </a:p>
                  </a:txBody>
                  <a:tcPr marT="91425" marB="91425" marR="91425" marL="91425"/>
                </a:tc>
                <a:tc>
                  <a:txBody>
                    <a:bodyPr/>
                    <a:lstStyle/>
                    <a:p>
                      <a:pPr indent="0" lvl="0" marL="0" rtl="0" algn="l">
                        <a:spcBef>
                          <a:spcPts val="0"/>
                        </a:spcBef>
                        <a:spcAft>
                          <a:spcPts val="0"/>
                        </a:spcAft>
                        <a:buNone/>
                      </a:pPr>
                      <a:r>
                        <a:rPr lang="en-US"/>
                        <a:t>Ungraded Lab 2</a:t>
                      </a:r>
                      <a:endParaRPr/>
                    </a:p>
                  </a:txBody>
                  <a:tcPr marT="91425" marB="91425" marR="91425" marL="91425"/>
                </a:tc>
              </a:tr>
              <a:tr h="381000">
                <a:tc>
                  <a:txBody>
                    <a:bodyPr/>
                    <a:lstStyle/>
                    <a:p>
                      <a:pPr indent="0" lvl="0" marL="0" rtl="0" algn="l">
                        <a:spcBef>
                          <a:spcPts val="0"/>
                        </a:spcBef>
                        <a:spcAft>
                          <a:spcPts val="0"/>
                        </a:spcAft>
                        <a:buNone/>
                      </a:pPr>
                      <a:r>
                        <a:rPr lang="en-US"/>
                        <a:t>Week 4: Oct 22</a:t>
                      </a:r>
                      <a:endParaRPr/>
                    </a:p>
                  </a:txBody>
                  <a:tcPr marT="91425" marB="91425" marR="91425" marL="91425"/>
                </a:tc>
                <a:tc>
                  <a:txBody>
                    <a:bodyPr/>
                    <a:lstStyle/>
                    <a:p>
                      <a:pPr indent="0" lvl="0" marL="0" rtl="0" algn="l">
                        <a:spcBef>
                          <a:spcPts val="0"/>
                        </a:spcBef>
                        <a:spcAft>
                          <a:spcPts val="0"/>
                        </a:spcAft>
                        <a:buNone/>
                      </a:pPr>
                      <a:r>
                        <a:rPr lang="en-US"/>
                        <a:t>Graded Lab 2</a:t>
                      </a:r>
                      <a:endParaRPr/>
                    </a:p>
                  </a:txBody>
                  <a:tcPr marT="91425" marB="91425" marR="91425" marL="91425"/>
                </a:tc>
              </a:tr>
              <a:tr h="381000">
                <a:tc>
                  <a:txBody>
                    <a:bodyPr/>
                    <a:lstStyle/>
                    <a:p>
                      <a:pPr indent="0" lvl="0" marL="0" rtl="0" algn="l">
                        <a:spcBef>
                          <a:spcPts val="0"/>
                        </a:spcBef>
                        <a:spcAft>
                          <a:spcPts val="0"/>
                        </a:spcAft>
                        <a:buNone/>
                      </a:pPr>
                      <a:r>
                        <a:rPr lang="en-US"/>
                        <a:t>Week 5: Oct 29</a:t>
                      </a:r>
                      <a:endParaRPr/>
                    </a:p>
                  </a:txBody>
                  <a:tcPr marT="91425" marB="91425" marR="91425" marL="91425"/>
                </a:tc>
                <a:tc>
                  <a:txBody>
                    <a:bodyPr/>
                    <a:lstStyle/>
                    <a:p>
                      <a:pPr indent="0" lvl="0" marL="0" rtl="0" algn="l">
                        <a:spcBef>
                          <a:spcPts val="0"/>
                        </a:spcBef>
                        <a:spcAft>
                          <a:spcPts val="0"/>
                        </a:spcAft>
                        <a:buNone/>
                      </a:pPr>
                      <a:r>
                        <a:rPr lang="en-US"/>
                        <a:t>Ungraded Lab 3</a:t>
                      </a:r>
                      <a:endParaRPr/>
                    </a:p>
                  </a:txBody>
                  <a:tcPr marT="91425" marB="91425" marR="91425" marL="91425"/>
                </a:tc>
              </a:tr>
              <a:tr h="381000">
                <a:tc>
                  <a:txBody>
                    <a:bodyPr/>
                    <a:lstStyle/>
                    <a:p>
                      <a:pPr indent="0" lvl="0" marL="0" rtl="0" algn="l">
                        <a:spcBef>
                          <a:spcPts val="0"/>
                        </a:spcBef>
                        <a:spcAft>
                          <a:spcPts val="0"/>
                        </a:spcAft>
                        <a:buNone/>
                      </a:pPr>
                      <a:r>
                        <a:rPr lang="en-US"/>
                        <a:t>Week 7: Nov 12</a:t>
                      </a:r>
                      <a:endParaRPr/>
                    </a:p>
                  </a:txBody>
                  <a:tcPr marT="91425" marB="91425" marR="91425" marL="91425"/>
                </a:tc>
                <a:tc>
                  <a:txBody>
                    <a:bodyPr/>
                    <a:lstStyle/>
                    <a:p>
                      <a:pPr indent="0" lvl="0" marL="0" rtl="0" algn="l">
                        <a:spcBef>
                          <a:spcPts val="0"/>
                        </a:spcBef>
                        <a:spcAft>
                          <a:spcPts val="0"/>
                        </a:spcAft>
                        <a:buNone/>
                      </a:pPr>
                      <a:r>
                        <a:rPr lang="en-US"/>
                        <a:t>Graded Lab 3</a:t>
                      </a:r>
                      <a:endParaRPr/>
                    </a:p>
                  </a:txBody>
                  <a:tcPr marT="91425" marB="91425" marR="91425" marL="91425"/>
                </a:tc>
              </a:tr>
              <a:tr h="381000">
                <a:tc>
                  <a:txBody>
                    <a:bodyPr/>
                    <a:lstStyle/>
                    <a:p>
                      <a:pPr indent="0" lvl="0" marL="0" rtl="0" algn="l">
                        <a:spcBef>
                          <a:spcPts val="0"/>
                        </a:spcBef>
                        <a:spcAft>
                          <a:spcPts val="0"/>
                        </a:spcAft>
                        <a:buNone/>
                      </a:pPr>
                      <a:r>
                        <a:rPr lang="en-US"/>
                        <a:t>Week 8: Nov 19</a:t>
                      </a:r>
                      <a:endParaRPr/>
                    </a:p>
                  </a:txBody>
                  <a:tcPr marT="91425" marB="91425" marR="91425" marL="91425"/>
                </a:tc>
                <a:tc>
                  <a:txBody>
                    <a:bodyPr/>
                    <a:lstStyle/>
                    <a:p>
                      <a:pPr indent="0" lvl="0" marL="0" rtl="0" algn="l">
                        <a:spcBef>
                          <a:spcPts val="0"/>
                        </a:spcBef>
                        <a:spcAft>
                          <a:spcPts val="0"/>
                        </a:spcAft>
                        <a:buNone/>
                      </a:pPr>
                      <a:r>
                        <a:rPr lang="en-US"/>
                        <a:t>Ungraded Lab 4</a:t>
                      </a:r>
                      <a:endParaRPr/>
                    </a:p>
                  </a:txBody>
                  <a:tcPr marT="91425" marB="91425" marR="91425" marL="91425"/>
                </a:tc>
              </a:tr>
              <a:tr h="381000">
                <a:tc>
                  <a:txBody>
                    <a:bodyPr/>
                    <a:lstStyle/>
                    <a:p>
                      <a:pPr indent="0" lvl="0" marL="0" rtl="0" algn="l">
                        <a:spcBef>
                          <a:spcPts val="0"/>
                        </a:spcBef>
                        <a:spcAft>
                          <a:spcPts val="0"/>
                        </a:spcAft>
                        <a:buNone/>
                      </a:pPr>
                      <a:r>
                        <a:rPr lang="en-US"/>
                        <a:t>Week 10: Dec 3</a:t>
                      </a:r>
                      <a:endParaRPr/>
                    </a:p>
                  </a:txBody>
                  <a:tcPr marT="91425" marB="91425" marR="91425" marL="91425"/>
                </a:tc>
                <a:tc>
                  <a:txBody>
                    <a:bodyPr/>
                    <a:lstStyle/>
                    <a:p>
                      <a:pPr indent="0" lvl="0" marL="0" rtl="0" algn="l">
                        <a:spcBef>
                          <a:spcPts val="0"/>
                        </a:spcBef>
                        <a:spcAft>
                          <a:spcPts val="0"/>
                        </a:spcAft>
                        <a:buNone/>
                      </a:pPr>
                      <a:r>
                        <a:rPr lang="en-US"/>
                        <a:t>Graded Lab 4</a:t>
                      </a:r>
                      <a:endParaRPr/>
                    </a:p>
                  </a:txBody>
                  <a:tcPr marT="91425" marB="91425" marR="91425" marL="91425"/>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2"/>
          <p:cNvSpPr txBox="1"/>
          <p:nvPr>
            <p:ph type="title"/>
          </p:nvPr>
        </p:nvSpPr>
        <p:spPr>
          <a:xfrm>
            <a:off x="548640" y="384048"/>
            <a:ext cx="804660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Ungraded Labs</a:t>
            </a:r>
            <a:endParaRPr/>
          </a:p>
        </p:txBody>
      </p:sp>
      <p:sp>
        <p:nvSpPr>
          <p:cNvPr id="159" name="Google Shape;159;p22"/>
          <p:cNvSpPr txBox="1"/>
          <p:nvPr>
            <p:ph idx="1" type="body"/>
          </p:nvPr>
        </p:nvSpPr>
        <p:spPr>
          <a:xfrm>
            <a:off x="548640" y="1298448"/>
            <a:ext cx="8046600" cy="33834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1200"/>
              </a:spcBef>
              <a:spcAft>
                <a:spcPts val="0"/>
              </a:spcAft>
              <a:buClr>
                <a:schemeClr val="dk1"/>
              </a:buClr>
              <a:buSzPts val="1100"/>
              <a:buFont typeface="Arial"/>
              <a:buNone/>
            </a:pPr>
            <a:r>
              <a:rPr b="1" lang="en-US" sz="1800"/>
              <a:t>Ungraded labs are short, guided practice sessions</a:t>
            </a:r>
            <a:endParaRPr b="1" sz="1800"/>
          </a:p>
          <a:p>
            <a:pPr indent="-342900" lvl="0" marL="457200" rtl="0" algn="l">
              <a:lnSpc>
                <a:spcPct val="115000"/>
              </a:lnSpc>
              <a:spcBef>
                <a:spcPts val="1200"/>
              </a:spcBef>
              <a:spcAft>
                <a:spcPts val="0"/>
              </a:spcAft>
              <a:buSzPts val="1800"/>
              <a:buChar char="●"/>
            </a:pPr>
            <a:r>
              <a:rPr lang="en-US" sz="1800"/>
              <a:t>Small, focused exercises that prepare you for the next graded lab.</a:t>
            </a:r>
            <a:endParaRPr sz="1800"/>
          </a:p>
          <a:p>
            <a:pPr indent="-342900" lvl="0" marL="457200" rtl="0" algn="l">
              <a:lnSpc>
                <a:spcPct val="115000"/>
              </a:lnSpc>
              <a:spcBef>
                <a:spcPts val="0"/>
              </a:spcBef>
              <a:spcAft>
                <a:spcPts val="0"/>
              </a:spcAft>
              <a:buSzPts val="1800"/>
              <a:buChar char="●"/>
            </a:pPr>
            <a:r>
              <a:rPr lang="en-US" sz="1800"/>
              <a:t>Work through the problems during the scheduled lab session.</a:t>
            </a:r>
            <a:endParaRPr sz="1800"/>
          </a:p>
          <a:p>
            <a:pPr indent="-342900" lvl="0" marL="457200" rtl="0" algn="l">
              <a:lnSpc>
                <a:spcPct val="115000"/>
              </a:lnSpc>
              <a:spcBef>
                <a:spcPts val="0"/>
              </a:spcBef>
              <a:spcAft>
                <a:spcPts val="0"/>
              </a:spcAft>
              <a:buSzPts val="1800"/>
              <a:buChar char="●"/>
            </a:pPr>
            <a:r>
              <a:rPr lang="en-US" sz="1800"/>
              <a:t>There is no required submission and no direct grade.</a:t>
            </a:r>
            <a:endParaRPr sz="1800"/>
          </a:p>
          <a:p>
            <a:pPr indent="0" lvl="0" marL="0" rtl="0" algn="l">
              <a:lnSpc>
                <a:spcPct val="115000"/>
              </a:lnSpc>
              <a:spcBef>
                <a:spcPts val="1200"/>
              </a:spcBef>
              <a:spcAft>
                <a:spcPts val="0"/>
              </a:spcAft>
              <a:buNone/>
            </a:pPr>
            <a:r>
              <a:rPr b="1" lang="en-US" sz="1800"/>
              <a:t>Optional Demo Readiness Bonus</a:t>
            </a:r>
            <a:endParaRPr b="1" sz="1800"/>
          </a:p>
          <a:p>
            <a:pPr indent="-342900" lvl="0" marL="457200" rtl="0" algn="l">
              <a:lnSpc>
                <a:spcPct val="115000"/>
              </a:lnSpc>
              <a:spcBef>
                <a:spcPts val="1200"/>
              </a:spcBef>
              <a:spcAft>
                <a:spcPts val="0"/>
              </a:spcAft>
              <a:buSzPts val="1800"/>
              <a:buChar char="●"/>
            </a:pPr>
            <a:r>
              <a:rPr lang="en-US" sz="1800"/>
              <a:t>Complete the practice exercise and check off your solution with a TA during the ungraded lab.</a:t>
            </a:r>
            <a:endParaRPr sz="1800"/>
          </a:p>
          <a:p>
            <a:pPr indent="-342900" lvl="0" marL="457200" rtl="0" algn="l">
              <a:lnSpc>
                <a:spcPct val="115000"/>
              </a:lnSpc>
              <a:spcBef>
                <a:spcPts val="0"/>
              </a:spcBef>
              <a:spcAft>
                <a:spcPts val="0"/>
              </a:spcAft>
              <a:buSzPts val="1800"/>
              <a:buChar char="●"/>
            </a:pPr>
            <a:r>
              <a:rPr lang="en-US" sz="1800"/>
              <a:t>Earn a </a:t>
            </a:r>
            <a:r>
              <a:rPr b="1" lang="en-US" sz="1800"/>
              <a:t>10% bonus multiplier</a:t>
            </a:r>
            <a:r>
              <a:rPr lang="en-US" sz="1800"/>
              <a:t> on the next graded lab’s in-lab demo score.</a:t>
            </a:r>
            <a:endParaRPr sz="1800"/>
          </a:p>
          <a:p>
            <a:pPr indent="-342900" lvl="0" marL="457200" rtl="0" algn="l">
              <a:lnSpc>
                <a:spcPct val="115000"/>
              </a:lnSpc>
              <a:spcBef>
                <a:spcPts val="0"/>
              </a:spcBef>
              <a:spcAft>
                <a:spcPts val="0"/>
              </a:spcAft>
              <a:buSzPts val="1800"/>
              <a:buChar char="●"/>
            </a:pPr>
            <a:r>
              <a:rPr lang="en-US" sz="1800"/>
              <a:t>The bonus is capped at a 100% demo score.</a:t>
            </a:r>
            <a:endParaRPr sz="1800"/>
          </a:p>
          <a:p>
            <a:pPr indent="0" lvl="0" marL="0" rtl="0" algn="l">
              <a:lnSpc>
                <a:spcPct val="115000"/>
              </a:lnSpc>
              <a:spcBef>
                <a:spcPts val="1200"/>
              </a:spcBef>
              <a:spcAft>
                <a:spcPts val="0"/>
              </a:spcAft>
              <a:buNone/>
            </a:pPr>
            <a:r>
              <a:t/>
            </a:r>
            <a:endParaRPr sz="1800"/>
          </a:p>
          <a:p>
            <a:pPr indent="0" lvl="0" marL="0" rtl="0" algn="l">
              <a:spcBef>
                <a:spcPts val="1200"/>
              </a:spcBef>
              <a:spcAft>
                <a:spcPts val="0"/>
              </a:spcAft>
              <a:buNone/>
            </a:pPr>
            <a:r>
              <a:t/>
            </a:r>
            <a:endParaRPr sz="1800"/>
          </a:p>
        </p:txBody>
      </p:sp>
      <p:sp>
        <p:nvSpPr>
          <p:cNvPr id="160" name="Google Shape;160;p22"/>
          <p:cNvSpPr txBox="1"/>
          <p:nvPr>
            <p:ph idx="12" type="sldNum"/>
          </p:nvPr>
        </p:nvSpPr>
        <p:spPr>
          <a:xfrm>
            <a:off x="8229600" y="4690872"/>
            <a:ext cx="548700" cy="2742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Graded Labs</a:t>
            </a:r>
            <a:endParaRPr/>
          </a:p>
        </p:txBody>
      </p:sp>
      <p:sp>
        <p:nvSpPr>
          <p:cNvPr id="167" name="Google Shape;167;p23"/>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lnSpcReduction="20000"/>
          </a:bodyPr>
          <a:lstStyle/>
          <a:p>
            <a:pPr indent="-342900" lvl="0" marL="342900" rtl="0" algn="l">
              <a:spcBef>
                <a:spcPts val="0"/>
              </a:spcBef>
              <a:spcAft>
                <a:spcPts val="0"/>
              </a:spcAft>
              <a:buClr>
                <a:schemeClr val="dk1"/>
              </a:buClr>
              <a:buSzPts val="2000"/>
              <a:buChar char="•"/>
            </a:pPr>
            <a:r>
              <a:rPr b="1" lang="en-US"/>
              <a:t>60 percent: the in-lab demo</a:t>
            </a:r>
            <a:endParaRPr/>
          </a:p>
          <a:p>
            <a:pPr indent="-342900" lvl="1" marL="685800" rtl="0" algn="l">
              <a:spcBef>
                <a:spcPts val="600"/>
              </a:spcBef>
              <a:spcAft>
                <a:spcPts val="0"/>
              </a:spcAft>
              <a:buClr>
                <a:schemeClr val="dk1"/>
              </a:buClr>
              <a:buSzPts val="1700"/>
              <a:buChar char="–"/>
            </a:pPr>
            <a:r>
              <a:rPr lang="en-US"/>
              <a:t>You show the TA your working exploit, crash or patch during the session.</a:t>
            </a:r>
            <a:endParaRPr sz="2000"/>
          </a:p>
          <a:p>
            <a:pPr indent="-342900" lvl="1" marL="685800" rtl="0" algn="l">
              <a:spcBef>
                <a:spcPts val="500"/>
              </a:spcBef>
              <a:spcAft>
                <a:spcPts val="0"/>
              </a:spcAft>
              <a:buClr>
                <a:schemeClr val="dk1"/>
              </a:buClr>
              <a:buSzPts val="1700"/>
              <a:buChar char="–"/>
            </a:pPr>
            <a:r>
              <a:rPr lang="en-US"/>
              <a:t>This is where 'it actually runs' gets verified.</a:t>
            </a:r>
            <a:endParaRPr sz="2000"/>
          </a:p>
          <a:p>
            <a:pPr indent="-342900" lvl="0" marL="342900" rtl="0" algn="l">
              <a:spcBef>
                <a:spcPts val="1100"/>
              </a:spcBef>
              <a:spcAft>
                <a:spcPts val="0"/>
              </a:spcAft>
              <a:buClr>
                <a:schemeClr val="dk1"/>
              </a:buClr>
              <a:buSzPts val="2000"/>
              <a:buChar char="•"/>
            </a:pPr>
            <a:r>
              <a:rPr b="1" lang="en-US"/>
              <a:t>40 percent: the submission itself </a:t>
            </a:r>
            <a:endParaRPr b="1"/>
          </a:p>
          <a:p>
            <a:pPr indent="-342900" lvl="1" marL="685800" rtl="0" algn="l">
              <a:spcBef>
                <a:spcPts val="1100"/>
              </a:spcBef>
              <a:spcAft>
                <a:spcPts val="0"/>
              </a:spcAft>
              <a:buSzPts val="1800"/>
              <a:buChar char="–"/>
            </a:pPr>
            <a:r>
              <a:rPr lang="en-US"/>
              <a:t>Submission includes (</a:t>
            </a:r>
            <a:r>
              <a:rPr lang="en-US"/>
              <a:t>may vary for each assignment</a:t>
            </a:r>
            <a:r>
              <a:rPr lang="en-US"/>
              <a:t>): patched file, identified bugs and a one page writeup</a:t>
            </a:r>
            <a:endParaRPr/>
          </a:p>
          <a:p>
            <a:pPr indent="-342900" lvl="1" marL="685800" rtl="0" algn="l">
              <a:spcBef>
                <a:spcPts val="600"/>
              </a:spcBef>
              <a:spcAft>
                <a:spcPts val="0"/>
              </a:spcAft>
              <a:buClr>
                <a:schemeClr val="dk1"/>
              </a:buClr>
              <a:buSzPts val="1700"/>
              <a:buChar char="–"/>
            </a:pPr>
            <a:r>
              <a:rPr lang="en-US"/>
              <a:t>Due the following Sunday at 11:59pm. What the flaw was, how your payload or patch works, and your evidence.</a:t>
            </a:r>
            <a:endParaRPr sz="2000"/>
          </a:p>
          <a:p>
            <a:pPr indent="-342900" lvl="0" marL="342900" rtl="0" algn="l">
              <a:spcBef>
                <a:spcPts val="1100"/>
              </a:spcBef>
              <a:spcAft>
                <a:spcPts val="0"/>
              </a:spcAft>
              <a:buClr>
                <a:schemeClr val="dk1"/>
              </a:buClr>
              <a:buSzPts val="2000"/>
              <a:buChar char="•"/>
            </a:pPr>
            <a:r>
              <a:rPr lang="en-US"/>
              <a:t>Your lowest writeup is dropped.</a:t>
            </a:r>
            <a:endParaRPr/>
          </a:p>
          <a:p>
            <a:pPr indent="-342900" lvl="0" marL="342900" rtl="0" algn="l">
              <a:spcBef>
                <a:spcPts val="1200"/>
              </a:spcBef>
              <a:spcAft>
                <a:spcPts val="0"/>
              </a:spcAft>
              <a:buClr>
                <a:schemeClr val="dk1"/>
              </a:buClr>
              <a:buSzPts val="2000"/>
              <a:buChar char="•"/>
            </a:pPr>
            <a:r>
              <a:rPr b="1" lang="en-US"/>
              <a:t>Demos cannot be made up. If you are not there, there is no demo credit.</a:t>
            </a:r>
            <a:endParaRPr/>
          </a:p>
        </p:txBody>
      </p:sp>
      <p:sp>
        <p:nvSpPr>
          <p:cNvPr id="168" name="Google Shape;168;p23"/>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4"/>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Quizzes: 20 percent</a:t>
            </a:r>
            <a:endParaRPr/>
          </a:p>
        </p:txBody>
      </p:sp>
      <p:sp>
        <p:nvSpPr>
          <p:cNvPr id="175" name="Google Shape;175;p24"/>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Five quizzes, held at the start of class</a:t>
            </a:r>
            <a:endParaRPr/>
          </a:p>
          <a:p>
            <a:pPr indent="-342900" lvl="0" marL="342900" rtl="0" algn="l">
              <a:spcBef>
                <a:spcPts val="1200"/>
              </a:spcBef>
              <a:spcAft>
                <a:spcPts val="0"/>
              </a:spcAft>
              <a:buClr>
                <a:schemeClr val="dk1"/>
              </a:buClr>
              <a:buSzPts val="2000"/>
              <a:buChar char="•"/>
            </a:pPr>
            <a:r>
              <a:rPr lang="en-US"/>
              <a:t>One or two questions, drawn from the lectures since the last quiz</a:t>
            </a:r>
            <a:endParaRPr/>
          </a:p>
          <a:p>
            <a:pPr indent="-342900" lvl="0" marL="342900" rtl="0" algn="l">
              <a:spcBef>
                <a:spcPts val="1200"/>
              </a:spcBef>
              <a:spcAft>
                <a:spcPts val="0"/>
              </a:spcAft>
              <a:buClr>
                <a:schemeClr val="dk1"/>
              </a:buClr>
              <a:buSzPts val="2000"/>
              <a:buChar char="•"/>
            </a:pPr>
            <a:r>
              <a:rPr b="1" lang="en-US"/>
              <a:t>The lowest two are dropped</a:t>
            </a:r>
            <a:endParaRPr/>
          </a:p>
          <a:p>
            <a:pPr indent="-342900" lvl="1" marL="685800" rtl="0" algn="l">
              <a:spcBef>
                <a:spcPts val="600"/>
              </a:spcBef>
              <a:spcAft>
                <a:spcPts val="0"/>
              </a:spcAft>
              <a:buClr>
                <a:schemeClr val="dk1"/>
              </a:buClr>
              <a:buSzPts val="1700"/>
              <a:buChar char="–"/>
            </a:pPr>
            <a:r>
              <a:rPr lang="en-US"/>
              <a:t>That also covers any you miss. No note required.</a:t>
            </a:r>
            <a:endParaRPr sz="2000"/>
          </a:p>
          <a:p>
            <a:pPr indent="-342900" lvl="0" marL="342900" rtl="0" algn="l">
              <a:spcBef>
                <a:spcPts val="1100"/>
              </a:spcBef>
              <a:spcAft>
                <a:spcPts val="0"/>
              </a:spcAft>
              <a:buClr>
                <a:schemeClr val="dk1"/>
              </a:buClr>
              <a:buSzPts val="2000"/>
              <a:buChar char="•"/>
            </a:pPr>
            <a:r>
              <a:rPr lang="en-US"/>
              <a:t>Keeping up with the slides and readings is the cheapest way to do well on these.</a:t>
            </a:r>
            <a:endParaRPr/>
          </a:p>
        </p:txBody>
      </p:sp>
      <p:sp>
        <p:nvSpPr>
          <p:cNvPr id="176" name="Google Shape;176;p24"/>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25"/>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Exams: 55 percent</a:t>
            </a:r>
            <a:endParaRPr/>
          </a:p>
        </p:txBody>
      </p:sp>
      <p:sp>
        <p:nvSpPr>
          <p:cNvPr id="183" name="Google Shape;183;p25"/>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Midterm, in class, 25 percent</a:t>
            </a:r>
            <a:endParaRPr/>
          </a:p>
          <a:p>
            <a:pPr indent="-342900" lvl="0" marL="342900" rtl="0" algn="l">
              <a:spcBef>
                <a:spcPts val="1200"/>
              </a:spcBef>
              <a:spcAft>
                <a:spcPts val="0"/>
              </a:spcAft>
              <a:buClr>
                <a:schemeClr val="dk1"/>
              </a:buClr>
              <a:buSzPts val="2000"/>
              <a:buChar char="•"/>
            </a:pPr>
            <a:r>
              <a:rPr lang="en-US"/>
              <a:t>Final, comprehensive, 30 percent, date TBA</a:t>
            </a:r>
            <a:endParaRPr/>
          </a:p>
          <a:p>
            <a:pPr indent="-342900" lvl="0" marL="342900" rtl="0" algn="l">
              <a:spcBef>
                <a:spcPts val="1200"/>
              </a:spcBef>
              <a:spcAft>
                <a:spcPts val="0"/>
              </a:spcAft>
              <a:buClr>
                <a:schemeClr val="dk1"/>
              </a:buClr>
              <a:buSzPts val="2000"/>
              <a:buChar char="•"/>
            </a:pPr>
            <a:r>
              <a:rPr lang="en-US"/>
              <a:t>Both test the material broadly and deeply</a:t>
            </a:r>
            <a:endParaRPr/>
          </a:p>
          <a:p>
            <a:pPr indent="-342900" lvl="1" marL="685800" rtl="0" algn="l">
              <a:spcBef>
                <a:spcPts val="600"/>
              </a:spcBef>
              <a:spcAft>
                <a:spcPts val="0"/>
              </a:spcAft>
              <a:buClr>
                <a:schemeClr val="dk1"/>
              </a:buClr>
              <a:buSzPts val="1700"/>
              <a:buChar char="–"/>
            </a:pPr>
            <a:r>
              <a:rPr lang="en-US"/>
              <a:t>Expect some conceptual questions and problem-solving, not recall.</a:t>
            </a:r>
            <a:endParaRPr sz="2000"/>
          </a:p>
          <a:p>
            <a:pPr indent="-342900" lvl="0" marL="342900" rtl="0" algn="l">
              <a:spcBef>
                <a:spcPts val="1100"/>
              </a:spcBef>
              <a:spcAft>
                <a:spcPts val="0"/>
              </a:spcAft>
              <a:buClr>
                <a:schemeClr val="dk1"/>
              </a:buClr>
              <a:buSzPts val="2000"/>
              <a:buChar char="•"/>
            </a:pPr>
            <a:r>
              <a:rPr b="1" lang="en-US"/>
              <a:t>The quizzes and some review sessions will prepare you for these.</a:t>
            </a:r>
            <a:endParaRPr/>
          </a:p>
        </p:txBody>
      </p:sp>
      <p:sp>
        <p:nvSpPr>
          <p:cNvPr id="184" name="Google Shape;184;p25"/>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26"/>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Academic integrity</a:t>
            </a:r>
            <a:endParaRPr/>
          </a:p>
        </p:txBody>
      </p:sp>
      <p:sp>
        <p:nvSpPr>
          <p:cNvPr id="191" name="Google Shape;191;p26"/>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UCR Academic Integrity Policies and Procedures apply in full</a:t>
            </a:r>
            <a:endParaRPr/>
          </a:p>
          <a:p>
            <a:pPr indent="-342900" lvl="1" marL="685800" rtl="0" algn="l">
              <a:spcBef>
                <a:spcPts val="600"/>
              </a:spcBef>
              <a:spcAft>
                <a:spcPts val="0"/>
              </a:spcAft>
              <a:buClr>
                <a:schemeClr val="dk1"/>
              </a:buClr>
              <a:buSzPts val="1700"/>
              <a:buChar char="–"/>
            </a:pPr>
            <a:r>
              <a:rPr lang="en-US"/>
              <a:t>Linked from the course website.</a:t>
            </a:r>
            <a:endParaRPr sz="2000"/>
          </a:p>
          <a:p>
            <a:pPr indent="-342900" lvl="0" marL="342900" rtl="0" algn="l">
              <a:spcBef>
                <a:spcPts val="1100"/>
              </a:spcBef>
              <a:spcAft>
                <a:spcPts val="0"/>
              </a:spcAft>
              <a:buClr>
                <a:schemeClr val="dk1"/>
              </a:buClr>
              <a:buSzPts val="2000"/>
              <a:buChar char="•"/>
            </a:pPr>
            <a:r>
              <a:rPr lang="en-US"/>
              <a:t>Labs are individual. Do not share code, payloads, or writeups.</a:t>
            </a:r>
            <a:endParaRPr/>
          </a:p>
          <a:p>
            <a:pPr indent="-342900" lvl="1" marL="685800" rtl="0" algn="l">
              <a:spcBef>
                <a:spcPts val="600"/>
              </a:spcBef>
              <a:spcAft>
                <a:spcPts val="0"/>
              </a:spcAft>
              <a:buClr>
                <a:schemeClr val="dk1"/>
              </a:buClr>
              <a:buSzPts val="1700"/>
              <a:buChar char="–"/>
            </a:pPr>
            <a:r>
              <a:rPr lang="en-US"/>
              <a:t>Because builds are seeded per student, a shared payload is visible as a shared payload.</a:t>
            </a:r>
            <a:endParaRPr sz="2000"/>
          </a:p>
          <a:p>
            <a:pPr indent="-342900" lvl="0" marL="342900" rtl="0" algn="l">
              <a:spcBef>
                <a:spcPts val="1100"/>
              </a:spcBef>
              <a:spcAft>
                <a:spcPts val="0"/>
              </a:spcAft>
              <a:buClr>
                <a:schemeClr val="dk1"/>
              </a:buClr>
              <a:buSzPts val="2000"/>
              <a:buChar char="•"/>
            </a:pPr>
            <a:r>
              <a:rPr lang="en-US"/>
              <a:t>Discussing concepts is fine. Handing over a working exploit is not.</a:t>
            </a:r>
            <a:endParaRPr/>
          </a:p>
          <a:p>
            <a:pPr indent="-342900" lvl="0" marL="342900" rtl="0" algn="l">
              <a:spcBef>
                <a:spcPts val="1200"/>
              </a:spcBef>
              <a:spcAft>
                <a:spcPts val="0"/>
              </a:spcAft>
              <a:buClr>
                <a:schemeClr val="dk1"/>
              </a:buClr>
              <a:buSzPts val="2000"/>
              <a:buChar char="•"/>
            </a:pPr>
            <a:r>
              <a:rPr lang="en-US"/>
              <a:t>If you are unsure where the line is, ask me. That is always the cheaper option.</a:t>
            </a:r>
            <a:endParaRPr/>
          </a:p>
        </p:txBody>
      </p:sp>
      <p:sp>
        <p:nvSpPr>
          <p:cNvPr id="192" name="Google Shape;192;p26"/>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27"/>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Ethics</a:t>
            </a:r>
            <a:endParaRPr/>
          </a:p>
        </p:txBody>
      </p:sp>
      <p:sp>
        <p:nvSpPr>
          <p:cNvPr id="199" name="Google Shape;199;p27"/>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lnSpcReduction="10000"/>
          </a:bodyPr>
          <a:lstStyle/>
          <a:p>
            <a:pPr indent="0" lvl="0" marL="0" rtl="0" algn="l">
              <a:spcBef>
                <a:spcPts val="0"/>
              </a:spcBef>
              <a:spcAft>
                <a:spcPts val="0"/>
              </a:spcAft>
              <a:buClr>
                <a:schemeClr val="dk1"/>
              </a:buClr>
              <a:buSzPts val="1900"/>
              <a:buNone/>
            </a:pPr>
            <a:r>
              <a:rPr lang="en-US" sz="1900"/>
              <a:t>This course covers software exploitation techniques. Some of what you learn could be abused to infringe on the rights of others.</a:t>
            </a:r>
            <a:endParaRPr/>
          </a:p>
          <a:p>
            <a:pPr indent="0" lvl="0" marL="0" rtl="0" algn="l">
              <a:spcBef>
                <a:spcPts val="500"/>
              </a:spcBef>
              <a:spcAft>
                <a:spcPts val="0"/>
              </a:spcAft>
              <a:buClr>
                <a:schemeClr val="dk1"/>
              </a:buClr>
              <a:buSzPts val="1900"/>
              <a:buNone/>
            </a:pPr>
            <a:r>
              <a:rPr lang="en-US" sz="1900"/>
              <a:t>I am relying on you to use it ethically. Unethical use includes circumventing security or privacy measures for any purpose, and disseminating, promoting or exploiting vulnerabilities in systems you do not own.</a:t>
            </a:r>
            <a:endParaRPr/>
          </a:p>
          <a:p>
            <a:pPr indent="0" lvl="0" marL="0" rtl="0" algn="l">
              <a:spcBef>
                <a:spcPts val="500"/>
              </a:spcBef>
              <a:spcAft>
                <a:spcPts val="0"/>
              </a:spcAft>
              <a:buClr>
                <a:schemeClr val="dk1"/>
              </a:buClr>
              <a:buSzPts val="1900"/>
              <a:buNone/>
            </a:pPr>
            <a:r>
              <a:rPr lang="en-US" sz="1900"/>
              <a:t>Responsible disclosure through proper channels is an exception, and a good one.</a:t>
            </a:r>
            <a:endParaRPr/>
          </a:p>
          <a:p>
            <a:pPr indent="0" lvl="0" marL="0" rtl="0" algn="l">
              <a:spcBef>
                <a:spcPts val="500"/>
              </a:spcBef>
              <a:spcAft>
                <a:spcPts val="0"/>
              </a:spcAft>
              <a:buClr>
                <a:schemeClr val="dk1"/>
              </a:buClr>
              <a:buSzPts val="1900"/>
              <a:buNone/>
            </a:pPr>
            <a:r>
              <a:rPr lang="en-US" sz="1900"/>
              <a:t>Anything outside the letter or spirit of this will be reported and may result in dismissal from the class.</a:t>
            </a:r>
            <a:endParaRPr/>
          </a:p>
          <a:p>
            <a:pPr indent="0" lvl="0" marL="0" rtl="0" algn="l">
              <a:spcBef>
                <a:spcPts val="500"/>
              </a:spcBef>
              <a:spcAft>
                <a:spcPts val="0"/>
              </a:spcAft>
              <a:buClr>
                <a:schemeClr val="dk1"/>
              </a:buClr>
              <a:buSzPts val="1900"/>
              <a:buNone/>
            </a:pPr>
            <a:r>
              <a:rPr b="1" lang="en-US" sz="1900"/>
              <a:t>When in doubt, ask me first. Do not take any action that could be read as misuse without explicit permission.</a:t>
            </a:r>
            <a:endParaRPr sz="1900"/>
          </a:p>
        </p:txBody>
      </p:sp>
      <p:sp>
        <p:nvSpPr>
          <p:cNvPr id="200" name="Google Shape;200;p27"/>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28"/>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Caveat Emptor</a:t>
            </a:r>
            <a:endParaRPr/>
          </a:p>
        </p:txBody>
      </p:sp>
      <p:sp>
        <p:nvSpPr>
          <p:cNvPr id="207" name="Google Shape;207;p28"/>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University of California Electronic Communications Policy</a:t>
            </a:r>
            <a:endParaRPr/>
          </a:p>
          <a:p>
            <a:pPr indent="-342900" lvl="1" marL="685800" rtl="0" algn="l">
              <a:spcBef>
                <a:spcPts val="600"/>
              </a:spcBef>
              <a:spcAft>
                <a:spcPts val="0"/>
              </a:spcAft>
              <a:buClr>
                <a:schemeClr val="dk1"/>
              </a:buClr>
              <a:buSzPts val="1700"/>
              <a:buChar char="–"/>
            </a:pPr>
            <a:r>
              <a:rPr lang="en-US"/>
              <a:t>Violations can result in expulsion.</a:t>
            </a:r>
            <a:endParaRPr sz="2000"/>
          </a:p>
          <a:p>
            <a:pPr indent="-342900" lvl="0" marL="342900" rtl="0" algn="l">
              <a:spcBef>
                <a:spcPts val="1100"/>
              </a:spcBef>
              <a:spcAft>
                <a:spcPts val="0"/>
              </a:spcAft>
              <a:buClr>
                <a:schemeClr val="dk1"/>
              </a:buClr>
              <a:buSzPts val="2000"/>
              <a:buChar char="•"/>
            </a:pPr>
            <a:r>
              <a:rPr lang="en-US"/>
              <a:t>Federal and state law criminalize computer intrusion and wiretapping</a:t>
            </a:r>
            <a:endParaRPr/>
          </a:p>
          <a:p>
            <a:pPr indent="-342900" lvl="1" marL="685800" rtl="0" algn="l">
              <a:spcBef>
                <a:spcPts val="600"/>
              </a:spcBef>
              <a:spcAft>
                <a:spcPts val="0"/>
              </a:spcAft>
              <a:buClr>
                <a:schemeClr val="dk1"/>
              </a:buClr>
              <a:buSzPts val="1700"/>
              <a:buChar char="–"/>
            </a:pPr>
            <a:r>
              <a:rPr lang="en-US"/>
              <a:t>Computer Fraud and Abuse Act (CFAA)</a:t>
            </a:r>
            <a:endParaRPr sz="2000"/>
          </a:p>
          <a:p>
            <a:pPr indent="-342900" lvl="1" marL="685800" rtl="0" algn="l">
              <a:spcBef>
                <a:spcPts val="500"/>
              </a:spcBef>
              <a:spcAft>
                <a:spcPts val="0"/>
              </a:spcAft>
              <a:buClr>
                <a:schemeClr val="dk1"/>
              </a:buClr>
              <a:buSzPts val="1700"/>
              <a:buChar char="–"/>
            </a:pPr>
            <a:r>
              <a:rPr lang="en-US"/>
              <a:t>Electronic Communications Privacy Act (ECPA)</a:t>
            </a:r>
            <a:endParaRPr sz="2000"/>
          </a:p>
          <a:p>
            <a:pPr indent="-342900" lvl="0" marL="342900" rtl="0" algn="l">
              <a:spcBef>
                <a:spcPts val="1100"/>
              </a:spcBef>
              <a:spcAft>
                <a:spcPts val="0"/>
              </a:spcAft>
              <a:buClr>
                <a:schemeClr val="dk1"/>
              </a:buClr>
              <a:buSzPts val="2000"/>
              <a:buChar char="•"/>
            </a:pPr>
            <a:r>
              <a:rPr b="1" lang="en-US"/>
              <a:t>Only ever test systems you own, or have explicit written authorization to test.</a:t>
            </a:r>
            <a:endParaRPr/>
          </a:p>
        </p:txBody>
      </p:sp>
      <p:sp>
        <p:nvSpPr>
          <p:cNvPr id="208" name="Google Shape;208;p28"/>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29"/>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Background, and how to do well</a:t>
            </a:r>
            <a:endParaRPr/>
          </a:p>
        </p:txBody>
      </p:sp>
      <p:sp>
        <p:nvSpPr>
          <p:cNvPr id="215" name="Google Shape;215;p29"/>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This course assumes</a:t>
            </a:r>
            <a:endParaRPr/>
          </a:p>
          <a:p>
            <a:pPr indent="-342900" lvl="1" marL="685800" rtl="0" algn="l">
              <a:spcBef>
                <a:spcPts val="600"/>
              </a:spcBef>
              <a:spcAft>
                <a:spcPts val="0"/>
              </a:spcAft>
              <a:buClr>
                <a:schemeClr val="dk1"/>
              </a:buClr>
              <a:buSzPts val="1700"/>
              <a:buChar char="–"/>
            </a:pPr>
            <a:r>
              <a:rPr lang="en-US"/>
              <a:t>Working knowledge of C, computer organization, operating systems, and a little networking</a:t>
            </a:r>
            <a:endParaRPr sz="2000"/>
          </a:p>
          <a:p>
            <a:pPr indent="-342900" lvl="1" marL="685800" rtl="0" algn="l">
              <a:spcBef>
                <a:spcPts val="500"/>
              </a:spcBef>
              <a:spcAft>
                <a:spcPts val="0"/>
              </a:spcAft>
              <a:buClr>
                <a:schemeClr val="dk1"/>
              </a:buClr>
              <a:buSzPts val="1700"/>
              <a:buChar char="–"/>
            </a:pPr>
            <a:r>
              <a:rPr lang="en-US"/>
              <a:t>CS 61, CS 161, CS 153</a:t>
            </a:r>
            <a:endParaRPr sz="2000"/>
          </a:p>
          <a:p>
            <a:pPr indent="-342900" lvl="0" marL="342900" rtl="0" algn="l">
              <a:spcBef>
                <a:spcPts val="1100"/>
              </a:spcBef>
              <a:spcAft>
                <a:spcPts val="0"/>
              </a:spcAft>
              <a:buClr>
                <a:schemeClr val="dk1"/>
              </a:buClr>
              <a:buSzPts val="2000"/>
              <a:buChar char="•"/>
            </a:pPr>
            <a:r>
              <a:rPr lang="en-US"/>
              <a:t>During the term</a:t>
            </a:r>
            <a:endParaRPr/>
          </a:p>
          <a:p>
            <a:pPr indent="-342900" lvl="1" marL="685800" rtl="0" algn="l">
              <a:spcBef>
                <a:spcPts val="600"/>
              </a:spcBef>
              <a:spcAft>
                <a:spcPts val="0"/>
              </a:spcAft>
              <a:buClr>
                <a:schemeClr val="dk1"/>
              </a:buClr>
              <a:buSzPts val="1700"/>
              <a:buChar char="–"/>
            </a:pPr>
            <a:r>
              <a:rPr lang="en-US"/>
              <a:t>Keep up with the readings. The course moves quickly and does not wait.</a:t>
            </a:r>
            <a:endParaRPr sz="2000"/>
          </a:p>
          <a:p>
            <a:pPr indent="-342900" lvl="1" marL="685800" rtl="0" algn="l">
              <a:spcBef>
                <a:spcPts val="500"/>
              </a:spcBef>
              <a:spcAft>
                <a:spcPts val="0"/>
              </a:spcAft>
              <a:buClr>
                <a:schemeClr val="dk1"/>
              </a:buClr>
              <a:buSzPts val="1700"/>
              <a:buChar char="–"/>
            </a:pPr>
            <a:r>
              <a:rPr lang="en-US"/>
              <a:t>Treat the labs as exam preparation, because they are.</a:t>
            </a:r>
            <a:endParaRPr sz="2000"/>
          </a:p>
          <a:p>
            <a:pPr indent="-342900" lvl="1" marL="685800" rtl="0" algn="l">
              <a:spcBef>
                <a:spcPts val="500"/>
              </a:spcBef>
              <a:spcAft>
                <a:spcPts val="0"/>
              </a:spcAft>
              <a:buClr>
                <a:schemeClr val="dk1"/>
              </a:buClr>
              <a:buSzPts val="1700"/>
              <a:buChar char="–"/>
            </a:pPr>
            <a:r>
              <a:rPr lang="en-US"/>
              <a:t>Come to the Thursday sessions. Fifteen percent of your grade is demonstrated there and cannot be made up.</a:t>
            </a:r>
            <a:endParaRPr sz="2000"/>
          </a:p>
        </p:txBody>
      </p:sp>
      <p:sp>
        <p:nvSpPr>
          <p:cNvPr id="216" name="Google Shape;216;p29"/>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30"/>
          <p:cNvSpPr txBox="1"/>
          <p:nvPr>
            <p:ph type="title"/>
          </p:nvPr>
        </p:nvSpPr>
        <p:spPr>
          <a:xfrm>
            <a:off x="548640" y="1965960"/>
            <a:ext cx="8046720" cy="82296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4000"/>
              <a:buFont typeface="Arial"/>
              <a:buNone/>
            </a:pPr>
            <a:r>
              <a:rPr lang="en-US"/>
              <a:t>The security mindset</a:t>
            </a:r>
            <a:endParaRPr/>
          </a:p>
        </p:txBody>
      </p:sp>
      <p:sp>
        <p:nvSpPr>
          <p:cNvPr id="223" name="Google Shape;223;p30"/>
          <p:cNvSpPr txBox="1"/>
          <p:nvPr>
            <p:ph idx="1" type="body"/>
          </p:nvPr>
        </p:nvSpPr>
        <p:spPr>
          <a:xfrm>
            <a:off x="548640" y="2761488"/>
            <a:ext cx="8046720" cy="457200"/>
          </a:xfrm>
          <a:prstGeom prst="rect">
            <a:avLst/>
          </a:prstGeom>
          <a:noFill/>
          <a:ln>
            <a:noFill/>
          </a:ln>
        </p:spPr>
        <p:txBody>
          <a:bodyPr anchorCtr="0" anchor="t" bIns="0" lIns="0" spcFirstLastPara="1" rIns="0" wrap="square" tIns="0">
            <a:normAutofit/>
          </a:bodyPr>
          <a:lstStyle/>
          <a:p>
            <a:pPr indent="0" lvl="0" marL="0" rtl="0" algn="l">
              <a:spcBef>
                <a:spcPts val="0"/>
              </a:spcBef>
              <a:spcAft>
                <a:spcPts val="0"/>
              </a:spcAft>
              <a:buClr>
                <a:srgbClr val="8A8A8A"/>
              </a:buClr>
              <a:buSzPts val="1900"/>
              <a:buNone/>
            </a:pPr>
            <a:r>
              <a:t/>
            </a:r>
            <a:endParaRPr/>
          </a:p>
        </p:txBody>
      </p:sp>
      <p:sp>
        <p:nvSpPr>
          <p:cNvPr id="224" name="Google Shape;224;p30"/>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1"/>
          <p:cNvSpPr txBox="1"/>
          <p:nvPr/>
        </p:nvSpPr>
        <p:spPr>
          <a:xfrm>
            <a:off x="548640" y="1783080"/>
            <a:ext cx="8046720"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3400"/>
              <a:buFont typeface="Arial"/>
              <a:buNone/>
            </a:pPr>
            <a:r>
              <a:rPr b="1" lang="en-US" sz="3400">
                <a:solidFill>
                  <a:srgbClr val="000000"/>
                </a:solidFill>
                <a:latin typeface="Arial"/>
                <a:ea typeface="Arial"/>
                <a:cs typeface="Arial"/>
                <a:sym typeface="Arial"/>
              </a:rPr>
              <a:t>"The study of how a system behaves under adversarial actions."</a:t>
            </a:r>
            <a:endParaRPr sz="3400">
              <a:solidFill>
                <a:schemeClr val="dk1"/>
              </a:solidFill>
              <a:latin typeface="Arial"/>
              <a:ea typeface="Arial"/>
              <a:cs typeface="Arial"/>
              <a:sym typeface="Arial"/>
            </a:endParaRPr>
          </a:p>
        </p:txBody>
      </p:sp>
      <p:sp>
        <p:nvSpPr>
          <p:cNvPr id="231" name="Google Shape;231;p31"/>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 name="Shape 236"/>
        <p:cNvGrpSpPr/>
        <p:nvPr/>
      </p:nvGrpSpPr>
      <p:grpSpPr>
        <a:xfrm>
          <a:off x="0" y="0"/>
          <a:ext cx="0" cy="0"/>
          <a:chOff x="0" y="0"/>
          <a:chExt cx="0" cy="0"/>
        </a:xfrm>
      </p:grpSpPr>
      <p:sp>
        <p:nvSpPr>
          <p:cNvPr id="237" name="Google Shape;237;p32"/>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How things can be made to fail</a:t>
            </a:r>
            <a:endParaRPr/>
          </a:p>
        </p:txBody>
      </p:sp>
      <p:sp>
        <p:nvSpPr>
          <p:cNvPr id="238" name="Google Shape;238;p32"/>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0" lvl="0" marL="0" rtl="0" algn="l">
              <a:spcBef>
                <a:spcPts val="0"/>
              </a:spcBef>
              <a:spcAft>
                <a:spcPts val="0"/>
              </a:spcAft>
              <a:buClr>
                <a:schemeClr val="dk1"/>
              </a:buClr>
              <a:buSzPts val="1700"/>
              <a:buNone/>
            </a:pPr>
            <a:r>
              <a:rPr lang="en-US" sz="1700"/>
              <a:t>Uncle Milton Industries has been selling ant farms to children since 1956. Some years ago, I remember opening one up with a friend. There were no actual ants included in the box. Instead, there was a card that you filled in with your address, and the company would mail you some ants. My friend expressed surprise that you could get ants sent to you in the mail.</a:t>
            </a:r>
            <a:endParaRPr/>
          </a:p>
          <a:p>
            <a:pPr indent="0" lvl="0" marL="0" rtl="0" algn="l">
              <a:spcBef>
                <a:spcPts val="500"/>
              </a:spcBef>
              <a:spcAft>
                <a:spcPts val="0"/>
              </a:spcAft>
              <a:buClr>
                <a:schemeClr val="dk1"/>
              </a:buClr>
              <a:buSzPts val="1700"/>
              <a:buNone/>
            </a:pPr>
            <a:r>
              <a:rPr lang="en-US" sz="1700"/>
              <a:t>I replied: “What’s really interesting is that these people will send a tube of live ants to anyone you tell them to.”</a:t>
            </a:r>
            <a:endParaRPr/>
          </a:p>
          <a:p>
            <a:pPr indent="0" lvl="0" marL="0" rtl="0" algn="l">
              <a:spcBef>
                <a:spcPts val="500"/>
              </a:spcBef>
              <a:spcAft>
                <a:spcPts val="0"/>
              </a:spcAft>
              <a:buClr>
                <a:schemeClr val="dk1"/>
              </a:buClr>
              <a:buSzPts val="1700"/>
              <a:buNone/>
            </a:pPr>
            <a:r>
              <a:rPr lang="en-US" sz="1700"/>
              <a:t>Good engineering involves thinking about how things can be made to work; </a:t>
            </a:r>
            <a:r>
              <a:rPr b="1" lang="en-US" sz="1700"/>
              <a:t>the security mindset involves thinking about how things can be made to fail.</a:t>
            </a:r>
            <a:r>
              <a:rPr lang="en-US" sz="1700"/>
              <a:t> It involves thinking like an attacker, an adversary or a criminal. You don’t have to exploit the vulnerabilities you find, but if you don’t see the world that way, you’ll never notice most security problems.</a:t>
            </a:r>
            <a:endParaRPr/>
          </a:p>
          <a:p>
            <a:pPr indent="0" lvl="0" marL="0" rtl="0" algn="l">
              <a:spcBef>
                <a:spcPts val="500"/>
              </a:spcBef>
              <a:spcAft>
                <a:spcPts val="0"/>
              </a:spcAft>
              <a:buClr>
                <a:srgbClr val="7F7F7F"/>
              </a:buClr>
              <a:buSzPts val="1200"/>
              <a:buNone/>
            </a:pPr>
            <a:r>
              <a:rPr lang="en-US" sz="1200">
                <a:solidFill>
                  <a:srgbClr val="7F7F7F"/>
                </a:solidFill>
              </a:rPr>
              <a:t>Bruce Schneier, “The Security Mindset”, 2008</a:t>
            </a:r>
            <a:endParaRPr/>
          </a:p>
        </p:txBody>
      </p:sp>
      <p:sp>
        <p:nvSpPr>
          <p:cNvPr id="239" name="Google Shape;239;p32"/>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33"/>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Security versus systems</a:t>
            </a:r>
            <a:endParaRPr/>
          </a:p>
        </p:txBody>
      </p:sp>
      <p:sp>
        <p:nvSpPr>
          <p:cNvPr id="246" name="Google Shape;246;p33"/>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Systems engineering optimizes the common case</a:t>
            </a:r>
            <a:endParaRPr/>
          </a:p>
          <a:p>
            <a:pPr indent="-342900" lvl="1" marL="685800" rtl="0" algn="l">
              <a:spcBef>
                <a:spcPts val="600"/>
              </a:spcBef>
              <a:spcAft>
                <a:spcPts val="0"/>
              </a:spcAft>
              <a:buClr>
                <a:schemeClr val="dk1"/>
              </a:buClr>
              <a:buSzPts val="1700"/>
              <a:buChar char="–"/>
            </a:pPr>
            <a:r>
              <a:rPr lang="en-US"/>
              <a:t>Correctness, safety, robustness: the right output, never a dangerous one, and graceful handling of errors.</a:t>
            </a:r>
            <a:endParaRPr sz="2000"/>
          </a:p>
          <a:p>
            <a:pPr indent="-342900" lvl="0" marL="342900" rtl="0" algn="l">
              <a:spcBef>
                <a:spcPts val="1100"/>
              </a:spcBef>
              <a:spcAft>
                <a:spcPts val="0"/>
              </a:spcAft>
              <a:buClr>
                <a:schemeClr val="dk1"/>
              </a:buClr>
              <a:buSzPts val="2000"/>
              <a:buChar char="•"/>
            </a:pPr>
            <a:r>
              <a:rPr lang="en-US"/>
              <a:t>Security lives in the corner cases</a:t>
            </a:r>
            <a:endParaRPr/>
          </a:p>
          <a:p>
            <a:pPr indent="-342900" lvl="1" marL="685800" rtl="0" algn="l">
              <a:spcBef>
                <a:spcPts val="600"/>
              </a:spcBef>
              <a:spcAft>
                <a:spcPts val="0"/>
              </a:spcAft>
              <a:buClr>
                <a:schemeClr val="dk1"/>
              </a:buClr>
              <a:buSzPts val="1700"/>
              <a:buChar char="–"/>
            </a:pPr>
            <a:r>
              <a:rPr lang="en-US"/>
              <a:t>The same properties must hold against a resourceful, strategic adversary choosing the input nobody expected.</a:t>
            </a:r>
            <a:endParaRPr sz="2000"/>
          </a:p>
          <a:p>
            <a:pPr indent="-342900" lvl="0" marL="342900" rtl="0" algn="l">
              <a:spcBef>
                <a:spcPts val="1100"/>
              </a:spcBef>
              <a:spcAft>
                <a:spcPts val="0"/>
              </a:spcAft>
              <a:buClr>
                <a:schemeClr val="dk1"/>
              </a:buClr>
              <a:buSzPts val="2000"/>
              <a:buChar char="•"/>
            </a:pPr>
            <a:r>
              <a:rPr b="1" lang="en-US"/>
              <a:t>A program can work perfectly for every honest user and still be completely broken.</a:t>
            </a:r>
            <a:endParaRPr/>
          </a:p>
          <a:p>
            <a:pPr indent="-342900" lvl="0" marL="342900" rtl="0" algn="l">
              <a:spcBef>
                <a:spcPts val="1200"/>
              </a:spcBef>
              <a:spcAft>
                <a:spcPts val="0"/>
              </a:spcAft>
              <a:buClr>
                <a:schemeClr val="dk1"/>
              </a:buClr>
              <a:buSzPts val="2000"/>
              <a:buChar char="•"/>
            </a:pPr>
            <a:r>
              <a:rPr lang="en-US"/>
              <a:t>This is why testing for correctness does not give you security for free.</a:t>
            </a:r>
            <a:endParaRPr/>
          </a:p>
        </p:txBody>
      </p:sp>
      <p:sp>
        <p:nvSpPr>
          <p:cNvPr id="247" name="Google Shape;247;p33"/>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34"/>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Rules have bugs</a:t>
            </a:r>
            <a:endParaRPr/>
          </a:p>
        </p:txBody>
      </p:sp>
      <p:sp>
        <p:nvSpPr>
          <p:cNvPr id="254" name="Google Shape;254;p34"/>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Security is a game played against a set of rules somebody made up</a:t>
            </a:r>
            <a:endParaRPr/>
          </a:p>
          <a:p>
            <a:pPr indent="-342900" lvl="1" marL="685800" rtl="0" algn="l">
              <a:spcBef>
                <a:spcPts val="600"/>
              </a:spcBef>
              <a:spcAft>
                <a:spcPts val="0"/>
              </a:spcAft>
              <a:buClr>
                <a:schemeClr val="dk1"/>
              </a:buClr>
              <a:buSzPts val="1700"/>
              <a:buChar char="–"/>
            </a:pPr>
            <a:r>
              <a:rPr lang="en-US"/>
              <a:t>Protocols, file permissions, calling conventions, type systems.</a:t>
            </a:r>
            <a:endParaRPr sz="2000"/>
          </a:p>
          <a:p>
            <a:pPr indent="-342900" lvl="0" marL="342900" rtl="0" algn="l">
              <a:spcBef>
                <a:spcPts val="1100"/>
              </a:spcBef>
              <a:spcAft>
                <a:spcPts val="0"/>
              </a:spcAft>
              <a:buClr>
                <a:schemeClr val="dk1"/>
              </a:buClr>
              <a:buSzPts val="2000"/>
              <a:buChar char="•"/>
            </a:pPr>
            <a:r>
              <a:rPr lang="en-US"/>
              <a:t>Any sufficiently complex rule system has gaps its designers did not intend</a:t>
            </a:r>
            <a:endParaRPr/>
          </a:p>
          <a:p>
            <a:pPr indent="-342900" lvl="1" marL="685800" rtl="0" algn="l">
              <a:spcBef>
                <a:spcPts val="600"/>
              </a:spcBef>
              <a:spcAft>
                <a:spcPts val="0"/>
              </a:spcAft>
              <a:buClr>
                <a:schemeClr val="dk1"/>
              </a:buClr>
              <a:buSzPts val="1700"/>
              <a:buChar char="–"/>
            </a:pPr>
            <a:r>
              <a:rPr lang="en-US"/>
              <a:t>Tax codes. Building codes. Board games. Network protocols.</a:t>
            </a:r>
            <a:endParaRPr sz="2000"/>
          </a:p>
          <a:p>
            <a:pPr indent="-342900" lvl="0" marL="342900" rtl="0" algn="l">
              <a:spcBef>
                <a:spcPts val="1100"/>
              </a:spcBef>
              <a:spcAft>
                <a:spcPts val="0"/>
              </a:spcAft>
              <a:buClr>
                <a:schemeClr val="dk1"/>
              </a:buClr>
              <a:buSzPts val="2000"/>
              <a:buChar char="•"/>
            </a:pPr>
            <a:r>
              <a:rPr b="1" lang="en-US"/>
              <a:t>The more complex the rules, the more places to hide.</a:t>
            </a:r>
            <a:endParaRPr/>
          </a:p>
          <a:p>
            <a:pPr indent="-342900" lvl="1" marL="685800" rtl="0" algn="l">
              <a:spcBef>
                <a:spcPts val="600"/>
              </a:spcBef>
              <a:spcAft>
                <a:spcPts val="0"/>
              </a:spcAft>
              <a:buClr>
                <a:schemeClr val="dk1"/>
              </a:buClr>
              <a:buSzPts val="1700"/>
              <a:buChar char="–"/>
            </a:pPr>
            <a:r>
              <a:rPr lang="en-US"/>
              <a:t>Complexity is the enemy. Remember this when you design something.</a:t>
            </a:r>
            <a:endParaRPr sz="2000"/>
          </a:p>
        </p:txBody>
      </p:sp>
      <p:sp>
        <p:nvSpPr>
          <p:cNvPr id="255" name="Google Shape;255;p34"/>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5"/>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Thinking like an attacker</a:t>
            </a:r>
            <a:endParaRPr/>
          </a:p>
        </p:txBody>
      </p:sp>
      <p:sp>
        <p:nvSpPr>
          <p:cNvPr id="262" name="Google Shape;262;p35"/>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Read the rules looking for what they fail to forbid</a:t>
            </a:r>
            <a:endParaRPr/>
          </a:p>
          <a:p>
            <a:pPr indent="-342900" lvl="0" marL="342900" rtl="0" algn="l">
              <a:spcBef>
                <a:spcPts val="1200"/>
              </a:spcBef>
              <a:spcAft>
                <a:spcPts val="0"/>
              </a:spcAft>
              <a:buClr>
                <a:schemeClr val="dk1"/>
              </a:buClr>
              <a:buSzPts val="2000"/>
              <a:buChar char="•"/>
            </a:pPr>
            <a:r>
              <a:rPr lang="en-US"/>
              <a:t>Find the assumption the designer made without noticing, then break it</a:t>
            </a:r>
            <a:endParaRPr/>
          </a:p>
          <a:p>
            <a:pPr indent="-342900" lvl="0" marL="342900" rtl="0" algn="l">
              <a:spcBef>
                <a:spcPts val="1200"/>
              </a:spcBef>
              <a:spcAft>
                <a:spcPts val="0"/>
              </a:spcAft>
              <a:buClr>
                <a:schemeClr val="dk1"/>
              </a:buClr>
              <a:buSzPts val="2000"/>
              <a:buChar char="•"/>
            </a:pPr>
            <a:r>
              <a:rPr lang="en-US"/>
              <a:t>You only need one path in. You do not have to play fair.</a:t>
            </a:r>
            <a:endParaRPr/>
          </a:p>
          <a:p>
            <a:pPr indent="-342900" lvl="0" marL="342900" rtl="0" algn="l">
              <a:spcBef>
                <a:spcPts val="1200"/>
              </a:spcBef>
              <a:spcAft>
                <a:spcPts val="0"/>
              </a:spcAft>
              <a:buClr>
                <a:schemeClr val="dk1"/>
              </a:buClr>
              <a:buSzPts val="2000"/>
              <a:buChar char="•"/>
            </a:pPr>
            <a:r>
              <a:rPr b="1" lang="en-US"/>
              <a:t>Thought experiment</a:t>
            </a:r>
            <a:endParaRPr/>
          </a:p>
          <a:p>
            <a:pPr indent="-342900" lvl="1" marL="685800" rtl="0" algn="l">
              <a:spcBef>
                <a:spcPts val="600"/>
              </a:spcBef>
              <a:spcAft>
                <a:spcPts val="0"/>
              </a:spcAft>
              <a:buClr>
                <a:schemeClr val="dk1"/>
              </a:buClr>
              <a:buSzPts val="1700"/>
              <a:buChar char="–"/>
            </a:pPr>
            <a:r>
              <a:rPr lang="en-US"/>
              <a:t>How would you get into a locked campus office after hours? List every approach, including the ones that are not technical.</a:t>
            </a:r>
            <a:endParaRPr sz="2000"/>
          </a:p>
        </p:txBody>
      </p:sp>
      <p:sp>
        <p:nvSpPr>
          <p:cNvPr id="263" name="Google Shape;263;p35"/>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p36"/>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Thinking like a defender</a:t>
            </a:r>
            <a:endParaRPr/>
          </a:p>
        </p:txBody>
      </p:sp>
      <p:sp>
        <p:nvSpPr>
          <p:cNvPr id="270" name="Google Shape;270;p36"/>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You have to cover every corner case. The attacker needs one.</a:t>
            </a:r>
            <a:endParaRPr/>
          </a:p>
          <a:p>
            <a:pPr indent="-342900" lvl="0" marL="342900" rtl="0" algn="l">
              <a:spcBef>
                <a:spcPts val="1200"/>
              </a:spcBef>
              <a:spcAft>
                <a:spcPts val="0"/>
              </a:spcAft>
              <a:buClr>
                <a:schemeClr val="dk1"/>
              </a:buClr>
              <a:buSzPts val="2000"/>
              <a:buChar char="•"/>
            </a:pPr>
            <a:r>
              <a:rPr lang="en-US"/>
              <a:t>Defense is only meaningful relative to a threat model</a:t>
            </a:r>
            <a:endParaRPr/>
          </a:p>
          <a:p>
            <a:pPr indent="-342900" lvl="1" marL="685800" rtl="0" algn="l">
              <a:spcBef>
                <a:spcPts val="600"/>
              </a:spcBef>
              <a:spcAft>
                <a:spcPts val="0"/>
              </a:spcAft>
              <a:buClr>
                <a:schemeClr val="dk1"/>
              </a:buClr>
              <a:buSzPts val="1700"/>
              <a:buChar char="–"/>
            </a:pPr>
            <a:r>
              <a:rPr lang="en-US"/>
              <a:t>"Is this secure?" is not a question until you say against whom.</a:t>
            </a:r>
            <a:endParaRPr sz="2000"/>
          </a:p>
          <a:p>
            <a:pPr indent="-342900" lvl="0" marL="342900" rtl="0" algn="l">
              <a:spcBef>
                <a:spcPts val="1100"/>
              </a:spcBef>
              <a:spcAft>
                <a:spcPts val="0"/>
              </a:spcAft>
              <a:buClr>
                <a:schemeClr val="dk1"/>
              </a:buClr>
              <a:buSzPts val="2000"/>
              <a:buChar char="•"/>
            </a:pPr>
            <a:r>
              <a:rPr lang="en-US"/>
              <a:t>The hard part is preventing bad outcomes without blocking legitimate use</a:t>
            </a:r>
            <a:endParaRPr/>
          </a:p>
          <a:p>
            <a:pPr indent="-342900" lvl="1" marL="685800" rtl="0" algn="l">
              <a:spcBef>
                <a:spcPts val="600"/>
              </a:spcBef>
              <a:spcAft>
                <a:spcPts val="0"/>
              </a:spcAft>
              <a:buClr>
                <a:schemeClr val="dk1"/>
              </a:buClr>
              <a:buSzPts val="1700"/>
              <a:buChar char="–"/>
            </a:pPr>
            <a:r>
              <a:rPr lang="en-US"/>
              <a:t>A system nobody can use is secure and useless.</a:t>
            </a:r>
            <a:endParaRPr sz="2000"/>
          </a:p>
          <a:p>
            <a:pPr indent="-342900" lvl="0" marL="342900" rtl="0" algn="l">
              <a:spcBef>
                <a:spcPts val="1100"/>
              </a:spcBef>
              <a:spcAft>
                <a:spcPts val="0"/>
              </a:spcAft>
              <a:buClr>
                <a:schemeClr val="dk1"/>
              </a:buClr>
              <a:buSzPts val="2000"/>
              <a:buChar char="•"/>
            </a:pPr>
            <a:r>
              <a:rPr b="1" lang="en-US"/>
              <a:t>Defense is structurally more expensive than offense. That asymmetry never goes away.</a:t>
            </a:r>
            <a:endParaRPr/>
          </a:p>
        </p:txBody>
      </p:sp>
      <p:sp>
        <p:nvSpPr>
          <p:cNvPr id="271" name="Google Shape;271;p36"/>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37"/>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Why security is hard</a:t>
            </a:r>
            <a:endParaRPr/>
          </a:p>
        </p:txBody>
      </p:sp>
      <p:sp>
        <p:nvSpPr>
          <p:cNvPr id="278" name="Google Shape;278;p37"/>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The internet was not designed for it</a:t>
            </a:r>
            <a:endParaRPr/>
          </a:p>
          <a:p>
            <a:pPr indent="-342900" lvl="1" marL="685800" rtl="0" algn="l">
              <a:spcBef>
                <a:spcPts val="600"/>
              </a:spcBef>
              <a:spcAft>
                <a:spcPts val="0"/>
              </a:spcAft>
              <a:buClr>
                <a:schemeClr val="dk1"/>
              </a:buClr>
              <a:buSzPts val="1700"/>
              <a:buChar char="–"/>
            </a:pPr>
            <a:r>
              <a:rPr lang="en-US"/>
              <a:t>ARPANET connected universities that trusted each other. TCP/IP inherited those assumptions.</a:t>
            </a:r>
            <a:endParaRPr sz="2000"/>
          </a:p>
          <a:p>
            <a:pPr indent="-342900" lvl="0" marL="342900" rtl="0" algn="l">
              <a:spcBef>
                <a:spcPts val="1100"/>
              </a:spcBef>
              <a:spcAft>
                <a:spcPts val="0"/>
              </a:spcAft>
              <a:buClr>
                <a:schemeClr val="dk1"/>
              </a:buClr>
              <a:buSzPts val="2000"/>
              <a:buChar char="•"/>
            </a:pPr>
            <a:r>
              <a:rPr lang="en-US"/>
              <a:t>Legacy software outlives its assumptions</a:t>
            </a:r>
            <a:endParaRPr/>
          </a:p>
          <a:p>
            <a:pPr indent="-342900" lvl="0" marL="342900" rtl="0" algn="l">
              <a:spcBef>
                <a:spcPts val="1200"/>
              </a:spcBef>
              <a:spcAft>
                <a:spcPts val="0"/>
              </a:spcAft>
              <a:buClr>
                <a:schemeClr val="dk1"/>
              </a:buClr>
              <a:buSzPts val="2000"/>
              <a:buChar char="•"/>
            </a:pPr>
            <a:r>
              <a:rPr lang="en-US"/>
              <a:t>Attacker capability keeps improving, and attacking is now a business</a:t>
            </a:r>
            <a:endParaRPr/>
          </a:p>
          <a:p>
            <a:pPr indent="-342900" lvl="1" marL="685800" rtl="0" algn="l">
              <a:spcBef>
                <a:spcPts val="600"/>
              </a:spcBef>
              <a:spcAft>
                <a:spcPts val="0"/>
              </a:spcAft>
              <a:buClr>
                <a:schemeClr val="dk1"/>
              </a:buClr>
              <a:buSzPts val="1700"/>
              <a:buChar char="–"/>
            </a:pPr>
            <a:r>
              <a:rPr lang="en-US"/>
              <a:t>Organized, funded, sometimes state-sponsored.</a:t>
            </a:r>
            <a:endParaRPr sz="2000"/>
          </a:p>
          <a:p>
            <a:pPr indent="-342900" lvl="0" marL="342900" rtl="0" algn="l">
              <a:spcBef>
                <a:spcPts val="1100"/>
              </a:spcBef>
              <a:spcAft>
                <a:spcPts val="0"/>
              </a:spcAft>
              <a:buClr>
                <a:schemeClr val="dk1"/>
              </a:buClr>
              <a:buSzPts val="2000"/>
              <a:buChar char="•"/>
            </a:pPr>
            <a:r>
              <a:rPr lang="en-US"/>
              <a:t>People are reliably the weakest link</a:t>
            </a:r>
            <a:endParaRPr/>
          </a:p>
          <a:p>
            <a:pPr indent="-342900" lvl="1" marL="685800" rtl="0" algn="l">
              <a:spcBef>
                <a:spcPts val="600"/>
              </a:spcBef>
              <a:spcAft>
                <a:spcPts val="0"/>
              </a:spcAft>
              <a:buClr>
                <a:schemeClr val="dk1"/>
              </a:buClr>
              <a:buSzPts val="1700"/>
              <a:buChar char="–"/>
            </a:pPr>
            <a:r>
              <a:rPr lang="en-US"/>
              <a:t>Social engineering beats cryptography every time it is tried.</a:t>
            </a:r>
            <a:endParaRPr sz="2000"/>
          </a:p>
        </p:txBody>
      </p:sp>
      <p:sp>
        <p:nvSpPr>
          <p:cNvPr id="279" name="Google Shape;279;p37"/>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38"/>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What defenders actually do</a:t>
            </a:r>
            <a:endParaRPr/>
          </a:p>
        </p:txBody>
      </p:sp>
      <p:sp>
        <p:nvSpPr>
          <p:cNvPr id="286" name="Google Shape;286;p38"/>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Avoidance: find and fix the bugs before shipping</a:t>
            </a:r>
            <a:endParaRPr/>
          </a:p>
          <a:p>
            <a:pPr indent="-342900" lvl="1" marL="685800" rtl="0" algn="l">
              <a:spcBef>
                <a:spcPts val="600"/>
              </a:spcBef>
              <a:spcAft>
                <a:spcPts val="0"/>
              </a:spcAft>
              <a:buClr>
                <a:schemeClr val="dk1"/>
              </a:buClr>
              <a:buSzPts val="1700"/>
              <a:buChar char="–"/>
            </a:pPr>
            <a:r>
              <a:rPr lang="en-US"/>
              <a:t>Labs 2, 5 and 7.</a:t>
            </a:r>
            <a:endParaRPr sz="2000"/>
          </a:p>
          <a:p>
            <a:pPr indent="-342900" lvl="0" marL="342900" rtl="0" algn="l">
              <a:spcBef>
                <a:spcPts val="1100"/>
              </a:spcBef>
              <a:spcAft>
                <a:spcPts val="0"/>
              </a:spcAft>
              <a:buClr>
                <a:schemeClr val="dk1"/>
              </a:buClr>
              <a:buSzPts val="2000"/>
              <a:buChar char="•"/>
            </a:pPr>
            <a:r>
              <a:rPr lang="en-US"/>
              <a:t>Prevention: make the bad outcome structurally impossible</a:t>
            </a:r>
            <a:endParaRPr/>
          </a:p>
          <a:p>
            <a:pPr indent="-342900" lvl="1" marL="685800" rtl="0" algn="l">
              <a:spcBef>
                <a:spcPts val="600"/>
              </a:spcBef>
              <a:spcAft>
                <a:spcPts val="0"/>
              </a:spcAft>
              <a:buClr>
                <a:schemeClr val="dk1"/>
              </a:buClr>
              <a:buSzPts val="1700"/>
              <a:buChar char="–"/>
            </a:pPr>
            <a:r>
              <a:rPr lang="en-US"/>
              <a:t>Lab 6, and most of the second half of the course.</a:t>
            </a:r>
            <a:endParaRPr sz="2000"/>
          </a:p>
          <a:p>
            <a:pPr indent="-342900" lvl="0" marL="342900" rtl="0" algn="l">
              <a:spcBef>
                <a:spcPts val="1100"/>
              </a:spcBef>
              <a:spcAft>
                <a:spcPts val="0"/>
              </a:spcAft>
              <a:buClr>
                <a:schemeClr val="dk1"/>
              </a:buClr>
              <a:buSzPts val="2000"/>
              <a:buChar char="•"/>
            </a:pPr>
            <a:r>
              <a:rPr lang="en-US"/>
              <a:t>Deterrence: raise the cost of attacking enough that it is not worth it</a:t>
            </a:r>
            <a:endParaRPr/>
          </a:p>
          <a:p>
            <a:pPr indent="-342900" lvl="0" marL="342900" rtl="0" algn="l">
              <a:spcBef>
                <a:spcPts val="1200"/>
              </a:spcBef>
              <a:spcAft>
                <a:spcPts val="0"/>
              </a:spcAft>
              <a:buClr>
                <a:schemeClr val="dk1"/>
              </a:buClr>
              <a:buSzPts val="2000"/>
              <a:buChar char="•"/>
            </a:pPr>
            <a:r>
              <a:rPr lang="en-US"/>
              <a:t>Detection: assume some attacks succeed, and notice when they do</a:t>
            </a:r>
            <a:endParaRPr/>
          </a:p>
          <a:p>
            <a:pPr indent="-342900" lvl="0" marL="342900" rtl="0" algn="l">
              <a:spcBef>
                <a:spcPts val="1200"/>
              </a:spcBef>
              <a:spcAft>
                <a:spcPts val="0"/>
              </a:spcAft>
              <a:buClr>
                <a:schemeClr val="dk1"/>
              </a:buClr>
              <a:buSzPts val="2000"/>
              <a:buChar char="•"/>
            </a:pPr>
            <a:r>
              <a:rPr b="1" lang="en-US"/>
              <a:t>No single one of these is sufficient. You need all four.</a:t>
            </a:r>
            <a:endParaRPr/>
          </a:p>
        </p:txBody>
      </p:sp>
      <p:sp>
        <p:nvSpPr>
          <p:cNvPr id="287" name="Google Shape;287;p38"/>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39"/>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2600"/>
              <a:buFont typeface="Arial"/>
              <a:buNone/>
            </a:pPr>
            <a:r>
              <a:rPr lang="en-US" sz="2600"/>
              <a:t>Confidentiality, integrity, availability</a:t>
            </a:r>
            <a:endParaRPr/>
          </a:p>
        </p:txBody>
      </p:sp>
      <p:sp>
        <p:nvSpPr>
          <p:cNvPr id="294" name="Google Shape;294;p39"/>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b="1" lang="en-US"/>
              <a:t>Confidentiality</a:t>
            </a:r>
            <a:endParaRPr/>
          </a:p>
          <a:p>
            <a:pPr indent="-342900" lvl="1" marL="685800" rtl="0" algn="l">
              <a:spcBef>
                <a:spcPts val="600"/>
              </a:spcBef>
              <a:spcAft>
                <a:spcPts val="0"/>
              </a:spcAft>
              <a:buClr>
                <a:schemeClr val="dk1"/>
              </a:buClr>
              <a:buSzPts val="1700"/>
              <a:buChar char="–"/>
            </a:pPr>
            <a:r>
              <a:rPr lang="en-US"/>
              <a:t>Keeping data and resources hidden from those who should not see them.</a:t>
            </a:r>
            <a:endParaRPr sz="2000"/>
          </a:p>
          <a:p>
            <a:pPr indent="-342900" lvl="0" marL="342900" rtl="0" algn="l">
              <a:spcBef>
                <a:spcPts val="1100"/>
              </a:spcBef>
              <a:spcAft>
                <a:spcPts val="0"/>
              </a:spcAft>
              <a:buClr>
                <a:schemeClr val="dk1"/>
              </a:buClr>
              <a:buSzPts val="2000"/>
              <a:buChar char="•"/>
            </a:pPr>
            <a:r>
              <a:rPr b="1" lang="en-US"/>
              <a:t>Integrity</a:t>
            </a:r>
            <a:endParaRPr/>
          </a:p>
          <a:p>
            <a:pPr indent="-342900" lvl="1" marL="685800" rtl="0" algn="l">
              <a:spcBef>
                <a:spcPts val="600"/>
              </a:spcBef>
              <a:spcAft>
                <a:spcPts val="0"/>
              </a:spcAft>
              <a:buClr>
                <a:schemeClr val="dk1"/>
              </a:buClr>
              <a:buSzPts val="1700"/>
              <a:buChar char="–"/>
            </a:pPr>
            <a:r>
              <a:rPr lang="en-US"/>
              <a:t>Data integrity: the content has not been tampered with. Origin integrity: it came from who it claims. That second one is authentication.</a:t>
            </a:r>
            <a:endParaRPr sz="2000"/>
          </a:p>
          <a:p>
            <a:pPr indent="-342900" lvl="0" marL="342900" rtl="0" algn="l">
              <a:spcBef>
                <a:spcPts val="1100"/>
              </a:spcBef>
              <a:spcAft>
                <a:spcPts val="0"/>
              </a:spcAft>
              <a:buClr>
                <a:schemeClr val="dk1"/>
              </a:buClr>
              <a:buSzPts val="2000"/>
              <a:buChar char="•"/>
            </a:pPr>
            <a:r>
              <a:rPr b="1" lang="en-US"/>
              <a:t>Availability</a:t>
            </a:r>
            <a:endParaRPr/>
          </a:p>
          <a:p>
            <a:pPr indent="-342900" lvl="1" marL="685800" rtl="0" algn="l">
              <a:spcBef>
                <a:spcPts val="600"/>
              </a:spcBef>
              <a:spcAft>
                <a:spcPts val="0"/>
              </a:spcAft>
              <a:buClr>
                <a:schemeClr val="dk1"/>
              </a:buClr>
              <a:buSzPts val="1700"/>
              <a:buChar char="–"/>
            </a:pPr>
            <a:r>
              <a:rPr lang="en-US"/>
              <a:t>Keeping access to data and resources actually working.</a:t>
            </a:r>
            <a:endParaRPr sz="2000"/>
          </a:p>
          <a:p>
            <a:pPr indent="-342900" lvl="0" marL="342900" rtl="0" algn="l">
              <a:spcBef>
                <a:spcPts val="1100"/>
              </a:spcBef>
              <a:spcAft>
                <a:spcPts val="0"/>
              </a:spcAft>
              <a:buClr>
                <a:schemeClr val="dk1"/>
              </a:buClr>
              <a:buSzPts val="2000"/>
              <a:buChar char="•"/>
            </a:pPr>
            <a:r>
              <a:rPr lang="en-US"/>
              <a:t>Real incidents usually violate more than one at once.</a:t>
            </a:r>
            <a:endParaRPr/>
          </a:p>
        </p:txBody>
      </p:sp>
      <p:sp>
        <p:nvSpPr>
          <p:cNvPr id="295" name="Google Shape;295;p39"/>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40"/>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STRIDE: six ways to break those properties</a:t>
            </a:r>
            <a:endParaRPr/>
          </a:p>
        </p:txBody>
      </p:sp>
      <p:sp>
        <p:nvSpPr>
          <p:cNvPr id="302" name="Google Shape;302;p40"/>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graphicFrame>
        <p:nvGraphicFramePr>
          <p:cNvPr id="303" name="Google Shape;303;p40"/>
          <p:cNvGraphicFramePr/>
          <p:nvPr/>
        </p:nvGraphicFramePr>
        <p:xfrm>
          <a:off x="548640" y="1188720"/>
          <a:ext cx="3000000" cy="3000000"/>
        </p:xfrm>
        <a:graphic>
          <a:graphicData uri="http://schemas.openxmlformats.org/drawingml/2006/table">
            <a:tbl>
              <a:tblPr>
                <a:noFill/>
                <a:tableStyleId>{31F7BAC6-EEA7-4524-A375-4FD7C61763D5}</a:tableStyleId>
              </a:tblPr>
              <a:tblGrid>
                <a:gridCol w="2651750"/>
                <a:gridCol w="1737350"/>
                <a:gridCol w="3657600"/>
              </a:tblGrid>
              <a:tr h="384050">
                <a:tc>
                  <a:txBody>
                    <a:bodyPr/>
                    <a:lstStyle/>
                    <a:p>
                      <a:pPr indent="0" lvl="0" marL="0" marR="0" rtl="0" algn="l">
                        <a:spcBef>
                          <a:spcPts val="0"/>
                        </a:spcBef>
                        <a:spcAft>
                          <a:spcPts val="0"/>
                        </a:spcAft>
                        <a:buNone/>
                      </a:pPr>
                      <a:r>
                        <a:rPr b="1" lang="en-US" sz="1400" u="none" cap="none" strike="noStrike">
                          <a:solidFill>
                            <a:srgbClr val="000000"/>
                          </a:solidFill>
                          <a:latin typeface="Arial"/>
                          <a:ea typeface="Arial"/>
                          <a:cs typeface="Arial"/>
                          <a:sym typeface="Arial"/>
                        </a:rPr>
                        <a:t>Threat</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E8E8E8"/>
                    </a:solidFill>
                  </a:tcPr>
                </a:tc>
                <a:tc>
                  <a:txBody>
                    <a:bodyPr/>
                    <a:lstStyle/>
                    <a:p>
                      <a:pPr indent="0" lvl="0" marL="0" marR="0" rtl="0" algn="l">
                        <a:spcBef>
                          <a:spcPts val="0"/>
                        </a:spcBef>
                        <a:spcAft>
                          <a:spcPts val="0"/>
                        </a:spcAft>
                        <a:buNone/>
                      </a:pPr>
                      <a:r>
                        <a:rPr b="1" lang="en-US" sz="1400" u="none" cap="none" strike="noStrike">
                          <a:solidFill>
                            <a:srgbClr val="000000"/>
                          </a:solidFill>
                          <a:latin typeface="Arial"/>
                          <a:ea typeface="Arial"/>
                          <a:cs typeface="Arial"/>
                          <a:sym typeface="Arial"/>
                        </a:rPr>
                        <a:t>Violates</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E8E8E8"/>
                    </a:solidFill>
                  </a:tcPr>
                </a:tc>
                <a:tc>
                  <a:txBody>
                    <a:bodyPr/>
                    <a:lstStyle/>
                    <a:p>
                      <a:pPr indent="0" lvl="0" marL="0" marR="0" rtl="0" algn="l">
                        <a:spcBef>
                          <a:spcPts val="0"/>
                        </a:spcBef>
                        <a:spcAft>
                          <a:spcPts val="0"/>
                        </a:spcAft>
                        <a:buNone/>
                      </a:pPr>
                      <a:r>
                        <a:rPr b="1" lang="en-US" sz="1400" u="none" cap="none" strike="noStrike">
                          <a:solidFill>
                            <a:srgbClr val="000000"/>
                          </a:solidFill>
                          <a:latin typeface="Arial"/>
                          <a:ea typeface="Arial"/>
                          <a:cs typeface="Arial"/>
                          <a:sym typeface="Arial"/>
                        </a:rPr>
                        <a:t>Example</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E8E8E8"/>
                    </a:solidFill>
                  </a:tcPr>
                </a:tc>
              </a:tr>
              <a:tr h="402325">
                <a:tc>
                  <a:txBody>
                    <a:bodyPr/>
                    <a:lstStyle/>
                    <a:p>
                      <a:pPr indent="0" lvl="0" marL="0" marR="0" rtl="0" algn="l">
                        <a:spcBef>
                          <a:spcPts val="0"/>
                        </a:spcBef>
                        <a:spcAft>
                          <a:spcPts val="0"/>
                        </a:spcAft>
                        <a:buNone/>
                      </a:pPr>
                      <a:r>
                        <a:rPr b="1" lang="en-US" sz="1400" u="none" cap="none" strike="noStrike">
                          <a:solidFill>
                            <a:srgbClr val="000000"/>
                          </a:solidFill>
                          <a:latin typeface="Arial"/>
                          <a:ea typeface="Arial"/>
                          <a:cs typeface="Arial"/>
                          <a:sym typeface="Arial"/>
                        </a:rPr>
                        <a:t>Spoofing</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400" u="none" cap="none" strike="noStrike">
                          <a:solidFill>
                            <a:srgbClr val="000000"/>
                          </a:solidFill>
                          <a:latin typeface="Arial"/>
                          <a:ea typeface="Arial"/>
                          <a:cs typeface="Arial"/>
                          <a:sym typeface="Arial"/>
                        </a:rPr>
                        <a:t>Authenticity</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400" u="none" cap="none" strike="noStrike">
                          <a:solidFill>
                            <a:srgbClr val="000000"/>
                          </a:solidFill>
                          <a:latin typeface="Arial"/>
                          <a:ea typeface="Arial"/>
                          <a:cs typeface="Arial"/>
                          <a:sym typeface="Arial"/>
                        </a:rPr>
                        <a:t>“It’s me, Alice!” when it isn’t</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r>
              <a:tr h="402325">
                <a:tc>
                  <a:txBody>
                    <a:bodyPr/>
                    <a:lstStyle/>
                    <a:p>
                      <a:pPr indent="0" lvl="0" marL="0" marR="0" rtl="0" algn="l">
                        <a:spcBef>
                          <a:spcPts val="0"/>
                        </a:spcBef>
                        <a:spcAft>
                          <a:spcPts val="0"/>
                        </a:spcAft>
                        <a:buNone/>
                      </a:pPr>
                      <a:r>
                        <a:rPr b="1" lang="en-US" sz="1400" u="none" cap="none" strike="noStrike">
                          <a:solidFill>
                            <a:srgbClr val="000000"/>
                          </a:solidFill>
                          <a:latin typeface="Arial"/>
                          <a:ea typeface="Arial"/>
                          <a:cs typeface="Arial"/>
                          <a:sym typeface="Arial"/>
                        </a:rPr>
                        <a:t>Tampering</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400" u="none" cap="none" strike="noStrike">
                          <a:solidFill>
                            <a:srgbClr val="000000"/>
                          </a:solidFill>
                          <a:latin typeface="Arial"/>
                          <a:ea typeface="Arial"/>
                          <a:cs typeface="Arial"/>
                          <a:sym typeface="Arial"/>
                        </a:rPr>
                        <a:t>Integrity</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400" u="none" cap="none" strike="noStrike">
                          <a:solidFill>
                            <a:srgbClr val="000000"/>
                          </a:solidFill>
                          <a:latin typeface="Arial"/>
                          <a:ea typeface="Arial"/>
                          <a:cs typeface="Arial"/>
                          <a:sym typeface="Arial"/>
                        </a:rPr>
                        <a:t>Altering data at rest or in transit</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r>
              <a:tr h="402325">
                <a:tc>
                  <a:txBody>
                    <a:bodyPr/>
                    <a:lstStyle/>
                    <a:p>
                      <a:pPr indent="0" lvl="0" marL="0" marR="0" rtl="0" algn="l">
                        <a:spcBef>
                          <a:spcPts val="0"/>
                        </a:spcBef>
                        <a:spcAft>
                          <a:spcPts val="0"/>
                        </a:spcAft>
                        <a:buNone/>
                      </a:pPr>
                      <a:r>
                        <a:rPr b="1" lang="en-US" sz="1400" u="none" cap="none" strike="noStrike">
                          <a:solidFill>
                            <a:srgbClr val="000000"/>
                          </a:solidFill>
                          <a:latin typeface="Arial"/>
                          <a:ea typeface="Arial"/>
                          <a:cs typeface="Arial"/>
                          <a:sym typeface="Arial"/>
                        </a:rPr>
                        <a:t>Repudiation</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400" u="none" cap="none" strike="noStrike">
                          <a:solidFill>
                            <a:srgbClr val="000000"/>
                          </a:solidFill>
                          <a:latin typeface="Arial"/>
                          <a:ea typeface="Arial"/>
                          <a:cs typeface="Arial"/>
                          <a:sym typeface="Arial"/>
                        </a:rPr>
                        <a:t>Non-repudiation</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400" u="none" cap="none" strike="noStrike">
                          <a:solidFill>
                            <a:srgbClr val="000000"/>
                          </a:solidFill>
                          <a:latin typeface="Arial"/>
                          <a:ea typeface="Arial"/>
                          <a:cs typeface="Arial"/>
                          <a:sym typeface="Arial"/>
                        </a:rPr>
                        <a:t>“It wasn’t me!”, with no proof it was</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r>
              <a:tr h="402325">
                <a:tc>
                  <a:txBody>
                    <a:bodyPr/>
                    <a:lstStyle/>
                    <a:p>
                      <a:pPr indent="0" lvl="0" marL="0" marR="0" rtl="0" algn="l">
                        <a:spcBef>
                          <a:spcPts val="0"/>
                        </a:spcBef>
                        <a:spcAft>
                          <a:spcPts val="0"/>
                        </a:spcAft>
                        <a:buNone/>
                      </a:pPr>
                      <a:r>
                        <a:rPr b="1" lang="en-US" sz="1400" u="none" cap="none" strike="noStrike">
                          <a:solidFill>
                            <a:srgbClr val="000000"/>
                          </a:solidFill>
                          <a:latin typeface="Arial"/>
                          <a:ea typeface="Arial"/>
                          <a:cs typeface="Arial"/>
                          <a:sym typeface="Arial"/>
                        </a:rPr>
                        <a:t>Information disclosure</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400" u="none" cap="none" strike="noStrike">
                          <a:solidFill>
                            <a:srgbClr val="000000"/>
                          </a:solidFill>
                          <a:latin typeface="Arial"/>
                          <a:ea typeface="Arial"/>
                          <a:cs typeface="Arial"/>
                          <a:sym typeface="Arial"/>
                        </a:rPr>
                        <a:t>Confidentiality</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400" u="none" cap="none" strike="noStrike">
                          <a:solidFill>
                            <a:srgbClr val="000000"/>
                          </a:solidFill>
                          <a:latin typeface="Arial"/>
                          <a:ea typeface="Arial"/>
                          <a:cs typeface="Arial"/>
                          <a:sym typeface="Arial"/>
                        </a:rPr>
                        <a:t>Users’ account details leak out</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r>
              <a:tr h="402325">
                <a:tc>
                  <a:txBody>
                    <a:bodyPr/>
                    <a:lstStyle/>
                    <a:p>
                      <a:pPr indent="0" lvl="0" marL="0" marR="0" rtl="0" algn="l">
                        <a:spcBef>
                          <a:spcPts val="0"/>
                        </a:spcBef>
                        <a:spcAft>
                          <a:spcPts val="0"/>
                        </a:spcAft>
                        <a:buNone/>
                      </a:pPr>
                      <a:r>
                        <a:rPr b="1" lang="en-US" sz="1400" u="none" cap="none" strike="noStrike">
                          <a:solidFill>
                            <a:srgbClr val="000000"/>
                          </a:solidFill>
                          <a:latin typeface="Arial"/>
                          <a:ea typeface="Arial"/>
                          <a:cs typeface="Arial"/>
                          <a:sym typeface="Arial"/>
                        </a:rPr>
                        <a:t>Denial of service</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400" u="none" cap="none" strike="noStrike">
                          <a:solidFill>
                            <a:srgbClr val="000000"/>
                          </a:solidFill>
                          <a:latin typeface="Arial"/>
                          <a:ea typeface="Arial"/>
                          <a:cs typeface="Arial"/>
                          <a:sym typeface="Arial"/>
                        </a:rPr>
                        <a:t>Availability</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400" u="none" cap="none" strike="noStrike">
                          <a:solidFill>
                            <a:srgbClr val="000000"/>
                          </a:solidFill>
                          <a:latin typeface="Arial"/>
                          <a:ea typeface="Arial"/>
                          <a:cs typeface="Arial"/>
                          <a:sym typeface="Arial"/>
                        </a:rPr>
                        <a:t>Alice can no longer reach her bank</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r>
              <a:tr h="402325">
                <a:tc>
                  <a:txBody>
                    <a:bodyPr/>
                    <a:lstStyle/>
                    <a:p>
                      <a:pPr indent="0" lvl="0" marL="0" marR="0" rtl="0" algn="l">
                        <a:spcBef>
                          <a:spcPts val="0"/>
                        </a:spcBef>
                        <a:spcAft>
                          <a:spcPts val="0"/>
                        </a:spcAft>
                        <a:buNone/>
                      </a:pPr>
                      <a:r>
                        <a:rPr b="1" lang="en-US" sz="1400" u="none" cap="none" strike="noStrike">
                          <a:solidFill>
                            <a:srgbClr val="000000"/>
                          </a:solidFill>
                          <a:latin typeface="Arial"/>
                          <a:ea typeface="Arial"/>
                          <a:cs typeface="Arial"/>
                          <a:sym typeface="Arial"/>
                        </a:rPr>
                        <a:t>Elevation of privilege</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400" u="none" cap="none" strike="noStrike">
                          <a:solidFill>
                            <a:srgbClr val="000000"/>
                          </a:solidFill>
                          <a:latin typeface="Arial"/>
                          <a:ea typeface="Arial"/>
                          <a:cs typeface="Arial"/>
                          <a:sym typeface="Arial"/>
                        </a:rPr>
                        <a:t>Authorization</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400" u="none" cap="none" strike="noStrike">
                          <a:solidFill>
                            <a:srgbClr val="000000"/>
                          </a:solidFill>
                          <a:latin typeface="Arial"/>
                          <a:ea typeface="Arial"/>
                          <a:cs typeface="Arial"/>
                          <a:sym typeface="Arial"/>
                        </a:rPr>
                        <a:t>An ordinary user gains admin rights</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r>
            </a:tbl>
          </a:graphicData>
        </a:graphic>
      </p:graphicFrame>
      <p:sp>
        <p:nvSpPr>
          <p:cNvPr id="304" name="Google Shape;304;p40"/>
          <p:cNvSpPr txBox="1"/>
          <p:nvPr/>
        </p:nvSpPr>
        <p:spPr>
          <a:xfrm>
            <a:off x="548640" y="4160520"/>
            <a:ext cx="7498079"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7F7F7F"/>
                </a:solidFill>
                <a:latin typeface="Arial"/>
                <a:ea typeface="Arial"/>
                <a:cs typeface="Arial"/>
                <a:sym typeface="Arial"/>
              </a:rPr>
              <a:t>T, I and D are the CIA triad. S breaks origin integrity, which is authentication.</a:t>
            </a:r>
            <a:endParaRPr/>
          </a:p>
        </p:txBody>
      </p:sp>
      <p:sp>
        <p:nvSpPr>
          <p:cNvPr id="305" name="Google Shape;305;p40"/>
          <p:cNvSpPr txBox="1"/>
          <p:nvPr/>
        </p:nvSpPr>
        <p:spPr>
          <a:xfrm>
            <a:off x="548640" y="4480560"/>
            <a:ext cx="7498079"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000">
                <a:solidFill>
                  <a:srgbClr val="7F7F7F"/>
                </a:solidFill>
                <a:latin typeface="Arial"/>
                <a:ea typeface="Arial"/>
                <a:cs typeface="Arial"/>
                <a:sym typeface="Arial"/>
              </a:rPr>
              <a:t>Kohnfelder and Garg, Microsoft, 1999</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0" name="Shape 310"/>
        <p:cNvGrpSpPr/>
        <p:nvPr/>
      </p:nvGrpSpPr>
      <p:grpSpPr>
        <a:xfrm>
          <a:off x="0" y="0"/>
          <a:ext cx="0" cy="0"/>
          <a:chOff x="0" y="0"/>
          <a:chExt cx="0" cy="0"/>
        </a:xfrm>
      </p:grpSpPr>
      <p:sp>
        <p:nvSpPr>
          <p:cNvPr id="311" name="Google Shape;311;p41"/>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A resourceful, strategic adversary</a:t>
            </a:r>
            <a:endParaRPr/>
          </a:p>
        </p:txBody>
      </p:sp>
      <p:sp>
        <p:nvSpPr>
          <p:cNvPr id="312" name="Google Shape;312;p41"/>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What resources does the adversary have? What can they...</a:t>
            </a:r>
            <a:endParaRPr/>
          </a:p>
          <a:p>
            <a:pPr indent="-342900" lvl="1" marL="685800" rtl="0" algn="l">
              <a:spcBef>
                <a:spcPts val="600"/>
              </a:spcBef>
              <a:spcAft>
                <a:spcPts val="0"/>
              </a:spcAft>
              <a:buClr>
                <a:schemeClr val="dk1"/>
              </a:buClr>
              <a:buSzPts val="1700"/>
              <a:buChar char="–"/>
            </a:pPr>
            <a:r>
              <a:rPr lang="en-US"/>
              <a:t>observe? A network connection</a:t>
            </a:r>
            <a:endParaRPr/>
          </a:p>
          <a:p>
            <a:pPr indent="-342900" lvl="1" marL="685800" rtl="0" algn="l">
              <a:spcBef>
                <a:spcPts val="500"/>
              </a:spcBef>
              <a:spcAft>
                <a:spcPts val="0"/>
              </a:spcAft>
              <a:buClr>
                <a:schemeClr val="dk1"/>
              </a:buClr>
              <a:buSzPts val="1700"/>
              <a:buChar char="–"/>
            </a:pPr>
            <a:r>
              <a:rPr lang="en-US"/>
              <a:t>corrupt? A router</a:t>
            </a:r>
            <a:endParaRPr/>
          </a:p>
          <a:p>
            <a:pPr indent="-342900" lvl="1" marL="685800" rtl="0" algn="l">
              <a:spcBef>
                <a:spcPts val="500"/>
              </a:spcBef>
              <a:spcAft>
                <a:spcPts val="0"/>
              </a:spcAft>
              <a:buClr>
                <a:schemeClr val="dk1"/>
              </a:buClr>
              <a:buSzPts val="1700"/>
              <a:buChar char="–"/>
            </a:pPr>
            <a:r>
              <a:rPr lang="en-US"/>
              <a:t>influence? A network configuration</a:t>
            </a:r>
            <a:endParaRPr/>
          </a:p>
          <a:p>
            <a:pPr indent="-342900" lvl="1" marL="685800" rtl="0" algn="l">
              <a:spcBef>
                <a:spcPts val="500"/>
              </a:spcBef>
              <a:spcAft>
                <a:spcPts val="0"/>
              </a:spcAft>
              <a:buClr>
                <a:schemeClr val="dk1"/>
              </a:buClr>
              <a:buSzPts val="1700"/>
              <a:buChar char="–"/>
            </a:pPr>
            <a:r>
              <a:rPr lang="en-US"/>
              <a:t>modify? Packet data</a:t>
            </a:r>
            <a:endParaRPr/>
          </a:p>
          <a:p>
            <a:pPr indent="-342900" lvl="1" marL="685800" rtl="0" algn="l">
              <a:spcBef>
                <a:spcPts val="500"/>
              </a:spcBef>
              <a:spcAft>
                <a:spcPts val="0"/>
              </a:spcAft>
              <a:buClr>
                <a:schemeClr val="dk1"/>
              </a:buClr>
              <a:buSzPts val="1700"/>
              <a:buChar char="–"/>
            </a:pPr>
            <a:r>
              <a:rPr lang="en-US"/>
              <a:t>control? A company employee</a:t>
            </a:r>
            <a:endParaRPr/>
          </a:p>
          <a:p>
            <a:pPr indent="-342900" lvl="0" marL="342900" rtl="0" algn="l">
              <a:spcBef>
                <a:spcPts val="1100"/>
              </a:spcBef>
              <a:spcAft>
                <a:spcPts val="0"/>
              </a:spcAft>
              <a:buClr>
                <a:schemeClr val="dk1"/>
              </a:buClr>
              <a:buSzPts val="2000"/>
              <a:buChar char="•"/>
            </a:pPr>
            <a:r>
              <a:rPr lang="en-US"/>
              <a:t>An attack is any series of actions that lets the adversary violate a given security policy</a:t>
            </a:r>
            <a:endParaRPr/>
          </a:p>
          <a:p>
            <a:pPr indent="-342900" lvl="0" marL="342900" rtl="0" algn="l">
              <a:spcBef>
                <a:spcPts val="1200"/>
              </a:spcBef>
              <a:spcAft>
                <a:spcPts val="0"/>
              </a:spcAft>
              <a:buClr>
                <a:schemeClr val="dk1"/>
              </a:buClr>
              <a:buSzPts val="2000"/>
              <a:buChar char="•"/>
            </a:pPr>
            <a:r>
              <a:rPr b="1" lang="en-US"/>
              <a:t>A strategic adversary picks the best way to spend those resources. Assume yours will.</a:t>
            </a:r>
            <a:endParaRPr/>
          </a:p>
        </p:txBody>
      </p:sp>
      <p:sp>
        <p:nvSpPr>
          <p:cNvPr id="313" name="Google Shape;313;p41"/>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8" name="Shape 318"/>
        <p:cNvGrpSpPr/>
        <p:nvPr/>
      </p:nvGrpSpPr>
      <p:grpSpPr>
        <a:xfrm>
          <a:off x="0" y="0"/>
          <a:ext cx="0" cy="0"/>
          <a:chOff x="0" y="0"/>
          <a:chExt cx="0" cy="0"/>
        </a:xfrm>
      </p:grpSpPr>
      <p:sp>
        <p:nvSpPr>
          <p:cNvPr id="319" name="Google Shape;319;p42"/>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The threat landscape</a:t>
            </a:r>
            <a:endParaRPr/>
          </a:p>
        </p:txBody>
      </p:sp>
      <p:sp>
        <p:nvSpPr>
          <p:cNvPr id="320" name="Google Shape;320;p42"/>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graphicFrame>
        <p:nvGraphicFramePr>
          <p:cNvPr id="321" name="Google Shape;321;p42"/>
          <p:cNvGraphicFramePr/>
          <p:nvPr/>
        </p:nvGraphicFramePr>
        <p:xfrm>
          <a:off x="548640" y="1188720"/>
          <a:ext cx="3000000" cy="3000000"/>
        </p:xfrm>
        <a:graphic>
          <a:graphicData uri="http://schemas.openxmlformats.org/drawingml/2006/table">
            <a:tbl>
              <a:tblPr>
                <a:noFill/>
                <a:tableStyleId>{31F7BAC6-EEA7-4524-A375-4FD7C61763D5}</a:tableStyleId>
              </a:tblPr>
              <a:tblGrid>
                <a:gridCol w="2011675"/>
                <a:gridCol w="1508750"/>
                <a:gridCol w="1508750"/>
                <a:gridCol w="1508750"/>
                <a:gridCol w="1508750"/>
              </a:tblGrid>
              <a:tr h="384050">
                <a:tc>
                  <a:txBody>
                    <a:bodyPr/>
                    <a:lstStyle/>
                    <a:p>
                      <a:pPr indent="0" lvl="0" marL="0" marR="0" rtl="0" algn="l">
                        <a:spcBef>
                          <a:spcPts val="0"/>
                        </a:spcBef>
                        <a:spcAft>
                          <a:spcPts val="0"/>
                        </a:spcAft>
                        <a:buNone/>
                      </a:pPr>
                      <a:r>
                        <a:rPr b="0" lang="en-US" sz="1100" u="none" cap="none" strike="noStrike">
                          <a:solidFill>
                            <a:srgbClr val="7F7F7F"/>
                          </a:solidFill>
                          <a:latin typeface="Arial"/>
                          <a:ea typeface="Arial"/>
                          <a:cs typeface="Arial"/>
                          <a:sym typeface="Arial"/>
                        </a:rPr>
                        <a:t>Motivation ↓   Capability →</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None/>
                      </a:pPr>
                      <a:r>
                        <a:rPr b="1" lang="en-US" sz="1400" u="none" cap="none" strike="noStrike">
                          <a:solidFill>
                            <a:srgbClr val="000000"/>
                          </a:solidFill>
                          <a:latin typeface="Arial"/>
                          <a:ea typeface="Arial"/>
                          <a:cs typeface="Arial"/>
                          <a:sym typeface="Arial"/>
                        </a:rPr>
                        <a:t>Script kiddie</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None/>
                      </a:pPr>
                      <a:r>
                        <a:rPr b="1" lang="en-US" sz="1400" u="none" cap="none" strike="noStrike">
                          <a:solidFill>
                            <a:srgbClr val="000000"/>
                          </a:solidFill>
                          <a:latin typeface="Arial"/>
                          <a:ea typeface="Arial"/>
                          <a:cs typeface="Arial"/>
                          <a:sym typeface="Arial"/>
                        </a:rPr>
                        <a:t>Hacker</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None/>
                      </a:pPr>
                      <a:r>
                        <a:rPr b="1" lang="en-US" sz="1400" u="none" cap="none" strike="noStrike">
                          <a:solidFill>
                            <a:srgbClr val="000000"/>
                          </a:solidFill>
                          <a:latin typeface="Arial"/>
                          <a:ea typeface="Arial"/>
                          <a:cs typeface="Arial"/>
                          <a:sym typeface="Arial"/>
                        </a:rPr>
                        <a:t>Expert</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None/>
                      </a:pPr>
                      <a:r>
                        <a:rPr b="1" lang="en-US" sz="1400" u="none" cap="none" strike="noStrike">
                          <a:solidFill>
                            <a:srgbClr val="000000"/>
                          </a:solidFill>
                          <a:latin typeface="Arial"/>
                          <a:ea typeface="Arial"/>
                          <a:cs typeface="Arial"/>
                          <a:sym typeface="Arial"/>
                        </a:rPr>
                        <a:t>Specialist</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r>
              <a:tr h="566925">
                <a:tc>
                  <a:txBody>
                    <a:bodyPr/>
                    <a:lstStyle/>
                    <a:p>
                      <a:pPr indent="0" lvl="0" marL="0" marR="0" rtl="0" algn="l">
                        <a:spcBef>
                          <a:spcPts val="0"/>
                        </a:spcBef>
                        <a:spcAft>
                          <a:spcPts val="0"/>
                        </a:spcAft>
                        <a:buNone/>
                      </a:pPr>
                      <a:r>
                        <a:rPr b="1" lang="en-US" sz="1400" u="none" cap="none" strike="noStrike">
                          <a:solidFill>
                            <a:srgbClr val="000000"/>
                          </a:solidFill>
                          <a:latin typeface="Arial"/>
                          <a:ea typeface="Arial"/>
                          <a:cs typeface="Arial"/>
                          <a:sym typeface="Arial"/>
                        </a:rPr>
                        <a:t>National interest</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t/>
                      </a:r>
                      <a:endParaRPr sz="2200" u="none" cap="none" strike="noStrike"/>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t/>
                      </a:r>
                      <a:endParaRPr sz="2200" u="none" cap="none" strike="noStrike"/>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gridSpan="2">
                  <a:txBody>
                    <a:bodyPr/>
                    <a:lstStyle/>
                    <a:p>
                      <a:pPr indent="0" lvl="0" marL="0" marR="0" rtl="0" algn="ctr">
                        <a:spcBef>
                          <a:spcPts val="0"/>
                        </a:spcBef>
                        <a:spcAft>
                          <a:spcPts val="0"/>
                        </a:spcAft>
                        <a:buNone/>
                      </a:pPr>
                      <a:r>
                        <a:rPr b="0" lang="en-US" sz="1500" u="none" cap="none" strike="noStrike">
                          <a:solidFill>
                            <a:srgbClr val="000000"/>
                          </a:solidFill>
                          <a:latin typeface="Arial"/>
                          <a:ea typeface="Arial"/>
                          <a:cs typeface="Arial"/>
                          <a:sym typeface="Arial"/>
                        </a:rPr>
                        <a:t>Spy</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E8E8E8"/>
                    </a:solidFill>
                  </a:tcPr>
                </a:tc>
                <a:tc hMerge="1"/>
              </a:tr>
              <a:tr h="566925">
                <a:tc>
                  <a:txBody>
                    <a:bodyPr/>
                    <a:lstStyle/>
                    <a:p>
                      <a:pPr indent="0" lvl="0" marL="0" marR="0" rtl="0" algn="l">
                        <a:spcBef>
                          <a:spcPts val="0"/>
                        </a:spcBef>
                        <a:spcAft>
                          <a:spcPts val="0"/>
                        </a:spcAft>
                        <a:buNone/>
                      </a:pPr>
                      <a:r>
                        <a:rPr b="1" lang="en-US" sz="1400" u="none" cap="none" strike="noStrike">
                          <a:solidFill>
                            <a:srgbClr val="000000"/>
                          </a:solidFill>
                          <a:latin typeface="Arial"/>
                          <a:ea typeface="Arial"/>
                          <a:cs typeface="Arial"/>
                          <a:sym typeface="Arial"/>
                        </a:rPr>
                        <a:t>Personal gain</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t/>
                      </a:r>
                      <a:endParaRPr sz="2200" u="none" cap="none" strike="noStrike"/>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gridSpan="2">
                  <a:txBody>
                    <a:bodyPr/>
                    <a:lstStyle/>
                    <a:p>
                      <a:pPr indent="0" lvl="0" marL="0" marR="0" rtl="0" algn="ctr">
                        <a:spcBef>
                          <a:spcPts val="0"/>
                        </a:spcBef>
                        <a:spcAft>
                          <a:spcPts val="0"/>
                        </a:spcAft>
                        <a:buNone/>
                      </a:pPr>
                      <a:r>
                        <a:rPr b="0" lang="en-US" sz="1500" u="none" cap="none" strike="noStrike">
                          <a:solidFill>
                            <a:srgbClr val="000000"/>
                          </a:solidFill>
                          <a:latin typeface="Arial"/>
                          <a:ea typeface="Arial"/>
                          <a:cs typeface="Arial"/>
                          <a:sym typeface="Arial"/>
                        </a:rPr>
                        <a:t>Thief</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E8E8E8"/>
                    </a:solidFill>
                  </a:tcPr>
                </a:tc>
                <a:tc hMerge="1"/>
                <a:tc>
                  <a:txBody>
                    <a:bodyPr/>
                    <a:lstStyle/>
                    <a:p>
                      <a:pPr indent="0" lvl="0" marL="0" marR="0" rtl="0" algn="l">
                        <a:spcBef>
                          <a:spcPts val="0"/>
                        </a:spcBef>
                        <a:spcAft>
                          <a:spcPts val="0"/>
                        </a:spcAft>
                        <a:buNone/>
                      </a:pPr>
                      <a:r>
                        <a:t/>
                      </a:r>
                      <a:endParaRPr sz="2200" u="none" cap="none" strike="noStrike"/>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r>
              <a:tr h="566925">
                <a:tc>
                  <a:txBody>
                    <a:bodyPr/>
                    <a:lstStyle/>
                    <a:p>
                      <a:pPr indent="0" lvl="0" marL="0" marR="0" rtl="0" algn="l">
                        <a:spcBef>
                          <a:spcPts val="0"/>
                        </a:spcBef>
                        <a:spcAft>
                          <a:spcPts val="0"/>
                        </a:spcAft>
                        <a:buNone/>
                      </a:pPr>
                      <a:r>
                        <a:rPr b="1" lang="en-US" sz="1400" u="none" cap="none" strike="noStrike">
                          <a:solidFill>
                            <a:srgbClr val="000000"/>
                          </a:solidFill>
                          <a:latin typeface="Arial"/>
                          <a:ea typeface="Arial"/>
                          <a:cs typeface="Arial"/>
                          <a:sym typeface="Arial"/>
                        </a:rPr>
                        <a:t>Personal fame</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gridSpan="2">
                  <a:txBody>
                    <a:bodyPr/>
                    <a:lstStyle/>
                    <a:p>
                      <a:pPr indent="0" lvl="0" marL="0" marR="0" rtl="0" algn="ctr">
                        <a:spcBef>
                          <a:spcPts val="0"/>
                        </a:spcBef>
                        <a:spcAft>
                          <a:spcPts val="0"/>
                        </a:spcAft>
                        <a:buNone/>
                      </a:pPr>
                      <a:r>
                        <a:rPr b="0" lang="en-US" sz="1500" u="none" cap="none" strike="noStrike">
                          <a:solidFill>
                            <a:srgbClr val="000000"/>
                          </a:solidFill>
                          <a:latin typeface="Arial"/>
                          <a:ea typeface="Arial"/>
                          <a:cs typeface="Arial"/>
                          <a:sym typeface="Arial"/>
                        </a:rPr>
                        <a:t>Trespasser</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E8E8E8"/>
                    </a:solidFill>
                  </a:tcPr>
                </a:tc>
                <a:tc hMerge="1"/>
                <a:tc rowSpan="2">
                  <a:txBody>
                    <a:bodyPr/>
                    <a:lstStyle/>
                    <a:p>
                      <a:pPr indent="0" lvl="0" marL="0" marR="0" rtl="0" algn="ctr">
                        <a:spcBef>
                          <a:spcPts val="0"/>
                        </a:spcBef>
                        <a:spcAft>
                          <a:spcPts val="0"/>
                        </a:spcAft>
                        <a:buNone/>
                      </a:pPr>
                      <a:r>
                        <a:rPr b="0" lang="en-US" sz="1500" u="none" cap="none" strike="noStrike">
                          <a:solidFill>
                            <a:srgbClr val="000000"/>
                          </a:solidFill>
                          <a:latin typeface="Arial"/>
                          <a:ea typeface="Arial"/>
                          <a:cs typeface="Arial"/>
                          <a:sym typeface="Arial"/>
                        </a:rPr>
                        <a:t>Author</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E8E8E8"/>
                    </a:solidFill>
                  </a:tcPr>
                </a:tc>
                <a:tc>
                  <a:txBody>
                    <a:bodyPr/>
                    <a:lstStyle/>
                    <a:p>
                      <a:pPr indent="0" lvl="0" marL="0" marR="0" rtl="0" algn="l">
                        <a:spcBef>
                          <a:spcPts val="0"/>
                        </a:spcBef>
                        <a:spcAft>
                          <a:spcPts val="0"/>
                        </a:spcAft>
                        <a:buNone/>
                      </a:pPr>
                      <a:r>
                        <a:t/>
                      </a:r>
                      <a:endParaRPr sz="2200" u="none" cap="none" strike="noStrike"/>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r>
              <a:tr h="566925">
                <a:tc>
                  <a:txBody>
                    <a:bodyPr/>
                    <a:lstStyle/>
                    <a:p>
                      <a:pPr indent="0" lvl="0" marL="0" marR="0" rtl="0" algn="l">
                        <a:spcBef>
                          <a:spcPts val="0"/>
                        </a:spcBef>
                        <a:spcAft>
                          <a:spcPts val="0"/>
                        </a:spcAft>
                        <a:buNone/>
                      </a:pPr>
                      <a:r>
                        <a:rPr b="1" lang="en-US" sz="1400" u="none" cap="none" strike="noStrike">
                          <a:solidFill>
                            <a:srgbClr val="000000"/>
                          </a:solidFill>
                          <a:latin typeface="Arial"/>
                          <a:ea typeface="Arial"/>
                          <a:cs typeface="Arial"/>
                          <a:sym typeface="Arial"/>
                        </a:rPr>
                        <a:t>Curiosity</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None/>
                      </a:pPr>
                      <a:r>
                        <a:rPr b="0" lang="en-US" sz="1500" u="none" cap="none" strike="noStrike">
                          <a:solidFill>
                            <a:srgbClr val="000000"/>
                          </a:solidFill>
                          <a:latin typeface="Arial"/>
                          <a:ea typeface="Arial"/>
                          <a:cs typeface="Arial"/>
                          <a:sym typeface="Arial"/>
                        </a:rPr>
                        <a:t>Vandal</a:t>
                      </a:r>
                      <a:endParaRPr/>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E8E8E8"/>
                    </a:solidFill>
                  </a:tcPr>
                </a:tc>
                <a:tc>
                  <a:txBody>
                    <a:bodyPr/>
                    <a:lstStyle/>
                    <a:p>
                      <a:pPr indent="0" lvl="0" marL="0" marR="0" rtl="0" algn="l">
                        <a:spcBef>
                          <a:spcPts val="0"/>
                        </a:spcBef>
                        <a:spcAft>
                          <a:spcPts val="0"/>
                        </a:spcAft>
                        <a:buNone/>
                      </a:pPr>
                      <a:r>
                        <a:t/>
                      </a:r>
                      <a:endParaRPr sz="2200" u="none" cap="none" strike="noStrike"/>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c vMerge="1"/>
                <a:tc>
                  <a:txBody>
                    <a:bodyPr/>
                    <a:lstStyle/>
                    <a:p>
                      <a:pPr indent="0" lvl="0" marL="0" marR="0" rtl="0" algn="l">
                        <a:spcBef>
                          <a:spcPts val="0"/>
                        </a:spcBef>
                        <a:spcAft>
                          <a:spcPts val="0"/>
                        </a:spcAft>
                        <a:buNone/>
                      </a:pPr>
                      <a:r>
                        <a:t/>
                      </a:r>
                      <a:endParaRPr sz="2200" u="none" cap="none" strike="noStrike"/>
                    </a:p>
                  </a:txBody>
                  <a:tcPr marT="36575" marB="36575" marR="91450" marL="91450" anchor="ctr">
                    <a:lnL cap="flat" cmpd="sng" w="9525">
                      <a:solidFill>
                        <a:srgbClr val="7F7F7F"/>
                      </a:solidFill>
                      <a:prstDash val="solid"/>
                      <a:round/>
                      <a:headEnd len="sm" w="sm" type="none"/>
                      <a:tailEnd len="sm" w="sm" type="none"/>
                    </a:lnL>
                    <a:lnR cap="flat" cmpd="sng" w="9525">
                      <a:solidFill>
                        <a:srgbClr val="7F7F7F"/>
                      </a:solidFill>
                      <a:prstDash val="solid"/>
                      <a:round/>
                      <a:headEnd len="sm" w="sm" type="none"/>
                      <a:tailEnd len="sm" w="sm" type="none"/>
                    </a:lnR>
                    <a:lnT cap="flat" cmpd="sng" w="9525">
                      <a:solidFill>
                        <a:srgbClr val="7F7F7F"/>
                      </a:solidFill>
                      <a:prstDash val="solid"/>
                      <a:round/>
                      <a:headEnd len="sm" w="sm" type="none"/>
                      <a:tailEnd len="sm" w="sm" type="none"/>
                    </a:lnT>
                    <a:lnB cap="flat" cmpd="sng" w="9525">
                      <a:solidFill>
                        <a:srgbClr val="7F7F7F"/>
                      </a:solidFill>
                      <a:prstDash val="solid"/>
                      <a:round/>
                      <a:headEnd len="sm" w="sm" type="none"/>
                      <a:tailEnd len="sm" w="sm" type="none"/>
                    </a:lnB>
                    <a:solidFill>
                      <a:srgbClr val="FFFFFF"/>
                    </a:solidFill>
                  </a:tcPr>
                </a:tc>
              </a:tr>
            </a:tbl>
          </a:graphicData>
        </a:graphic>
      </p:graphicFrame>
      <p:sp>
        <p:nvSpPr>
          <p:cNvPr id="322" name="Google Shape;322;p42"/>
          <p:cNvSpPr txBox="1"/>
          <p:nvPr/>
        </p:nvSpPr>
        <p:spPr>
          <a:xfrm>
            <a:off x="548640" y="3977639"/>
            <a:ext cx="7498079"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00">
                <a:solidFill>
                  <a:srgbClr val="000000"/>
                </a:solidFill>
                <a:latin typeface="Arial"/>
                <a:ea typeface="Arial"/>
                <a:cs typeface="Arial"/>
                <a:sym typeface="Arial"/>
              </a:rPr>
              <a:t>Tools written by experts are now used by less-skilled attackers and criminals.</a:t>
            </a:r>
            <a:endParaRPr/>
          </a:p>
        </p:txBody>
      </p:sp>
      <p:sp>
        <p:nvSpPr>
          <p:cNvPr id="323" name="Google Shape;323;p42"/>
          <p:cNvSpPr txBox="1"/>
          <p:nvPr/>
        </p:nvSpPr>
        <p:spPr>
          <a:xfrm>
            <a:off x="548640" y="4389120"/>
            <a:ext cx="7498079"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000">
                <a:solidFill>
                  <a:srgbClr val="7F7F7F"/>
                </a:solidFill>
                <a:latin typeface="Arial"/>
                <a:ea typeface="Arial"/>
                <a:cs typeface="Arial"/>
                <a:sym typeface="Arial"/>
              </a:rPr>
              <a:t>After David Aucsmith, Microsoft</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3"/>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Threat models</a:t>
            </a:r>
            <a:endParaRPr/>
          </a:p>
        </p:txBody>
      </p:sp>
      <p:sp>
        <p:nvSpPr>
          <p:cNvPr id="330" name="Google Shape;330;p43"/>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Before you can defend anything, write down</a:t>
            </a:r>
            <a:endParaRPr/>
          </a:p>
          <a:p>
            <a:pPr indent="-342900" lvl="1" marL="685800" rtl="0" algn="l">
              <a:spcBef>
                <a:spcPts val="600"/>
              </a:spcBef>
              <a:spcAft>
                <a:spcPts val="0"/>
              </a:spcAft>
              <a:buClr>
                <a:schemeClr val="dk1"/>
              </a:buClr>
              <a:buSzPts val="1700"/>
              <a:buChar char="–"/>
            </a:pPr>
            <a:r>
              <a:rPr lang="en-US"/>
              <a:t>Who the attacker is, what they can do, and what they want</a:t>
            </a:r>
            <a:endParaRPr sz="2000"/>
          </a:p>
          <a:p>
            <a:pPr indent="-342900" lvl="1" marL="685800" rtl="0" algn="l">
              <a:spcBef>
                <a:spcPts val="500"/>
              </a:spcBef>
              <a:spcAft>
                <a:spcPts val="0"/>
              </a:spcAft>
              <a:buClr>
                <a:schemeClr val="dk1"/>
              </a:buClr>
              <a:buSzPts val="1700"/>
              <a:buChar char="–"/>
            </a:pPr>
            <a:r>
              <a:rPr lang="en-US"/>
              <a:t>What defenses are already in place</a:t>
            </a:r>
            <a:endParaRPr sz="2000"/>
          </a:p>
          <a:p>
            <a:pPr indent="-342900" lvl="0" marL="342900" rtl="0" algn="l">
              <a:spcBef>
                <a:spcPts val="1100"/>
              </a:spcBef>
              <a:spcAft>
                <a:spcPts val="0"/>
              </a:spcAft>
              <a:buClr>
                <a:schemeClr val="dk1"/>
              </a:buClr>
              <a:buSzPts val="2000"/>
              <a:buChar char="•"/>
            </a:pPr>
            <a:r>
              <a:rPr lang="en-US"/>
              <a:t>A useful ladder of terms</a:t>
            </a:r>
            <a:endParaRPr/>
          </a:p>
          <a:p>
            <a:pPr indent="-342900" lvl="1" marL="685800" rtl="0" algn="l">
              <a:spcBef>
                <a:spcPts val="600"/>
              </a:spcBef>
              <a:spcAft>
                <a:spcPts val="0"/>
              </a:spcAft>
              <a:buClr>
                <a:schemeClr val="dk1"/>
              </a:buClr>
              <a:buSzPts val="2000"/>
              <a:buChar char="–"/>
            </a:pPr>
            <a:r>
              <a:rPr b="1" lang="en-US" sz="2000"/>
              <a:t>Weakness  &lt;  Vulnerability  &lt;  Exploit  &lt;  Attack</a:t>
            </a:r>
            <a:endParaRPr sz="2000"/>
          </a:p>
          <a:p>
            <a:pPr indent="-342900" lvl="0" marL="342900" rtl="0" algn="l">
              <a:spcBef>
                <a:spcPts val="1100"/>
              </a:spcBef>
              <a:spcAft>
                <a:spcPts val="0"/>
              </a:spcAft>
              <a:buClr>
                <a:schemeClr val="dk1"/>
              </a:buClr>
              <a:buSzPts val="2000"/>
              <a:buChar char="•"/>
            </a:pPr>
            <a:r>
              <a:rPr b="1" lang="en-US"/>
              <a:t>Without a threat model, "is it secure?" has no answer at all.</a:t>
            </a:r>
            <a:endParaRPr/>
          </a:p>
        </p:txBody>
      </p:sp>
      <p:sp>
        <p:nvSpPr>
          <p:cNvPr id="331" name="Google Shape;331;p43"/>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44"/>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So, is the system secure?</a:t>
            </a:r>
            <a:endParaRPr/>
          </a:p>
        </p:txBody>
      </p:sp>
      <p:sp>
        <p:nvSpPr>
          <p:cNvPr id="338" name="Google Shape;338;p44"/>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Only relative to a threat model: secure means no adversary within it can violate the policy</a:t>
            </a:r>
            <a:endParaRPr/>
          </a:p>
          <a:p>
            <a:pPr indent="-342900" lvl="0" marL="342900" rtl="0" algn="l">
              <a:spcBef>
                <a:spcPts val="1200"/>
              </a:spcBef>
              <a:spcAft>
                <a:spcPts val="0"/>
              </a:spcAft>
              <a:buClr>
                <a:schemeClr val="dk1"/>
              </a:buClr>
              <a:buSzPts val="2000"/>
              <a:buChar char="•"/>
            </a:pPr>
            <a:r>
              <a:rPr lang="en-US"/>
              <a:t>Security mechanisms enforce the policy</a:t>
            </a:r>
            <a:endParaRPr/>
          </a:p>
          <a:p>
            <a:pPr indent="-342900" lvl="1" marL="685800" rtl="0" algn="l">
              <a:spcBef>
                <a:spcPts val="600"/>
              </a:spcBef>
              <a:spcAft>
                <a:spcPts val="0"/>
              </a:spcAft>
              <a:buClr>
                <a:schemeClr val="dk1"/>
              </a:buClr>
              <a:buSzPts val="1700"/>
              <a:buChar char="–"/>
            </a:pPr>
            <a:r>
              <a:rPr lang="en-US"/>
              <a:t>Software, hardware, cryptography, or people and procedures</a:t>
            </a:r>
            <a:endParaRPr/>
          </a:p>
          <a:p>
            <a:pPr indent="-342900" lvl="1" marL="685800" rtl="0" algn="l">
              <a:spcBef>
                <a:spcPts val="500"/>
              </a:spcBef>
              <a:spcAft>
                <a:spcPts val="0"/>
              </a:spcAft>
              <a:buClr>
                <a:schemeClr val="dk1"/>
              </a:buClr>
              <a:buSzPts val="1700"/>
              <a:buChar char="–"/>
            </a:pPr>
            <a:r>
              <a:rPr lang="en-US"/>
              <a:t>For example, no one employee may alter the log, so keep copies on machines no one employee can all reach</a:t>
            </a:r>
            <a:endParaRPr/>
          </a:p>
          <a:p>
            <a:pPr indent="-342900" lvl="0" marL="342900" rtl="0" algn="l">
              <a:spcBef>
                <a:spcPts val="1100"/>
              </a:spcBef>
              <a:spcAft>
                <a:spcPts val="0"/>
              </a:spcAft>
              <a:buClr>
                <a:schemeClr val="dk1"/>
              </a:buClr>
              <a:buSzPts val="2000"/>
              <a:buChar char="•"/>
            </a:pPr>
            <a:r>
              <a:rPr lang="en-US"/>
              <a:t>A security argument shows the mechanisms uphold the policy under the threat model’s assumptions</a:t>
            </a:r>
            <a:endParaRPr/>
          </a:p>
          <a:p>
            <a:pPr indent="-342900" lvl="0" marL="342900" rtl="0" algn="l">
              <a:spcBef>
                <a:spcPts val="1200"/>
              </a:spcBef>
              <a:spcAft>
                <a:spcPts val="0"/>
              </a:spcAft>
              <a:buClr>
                <a:schemeClr val="dk1"/>
              </a:buClr>
              <a:buSzPts val="2000"/>
              <a:buChar char="•"/>
            </a:pPr>
            <a:r>
              <a:rPr b="1" lang="en-US"/>
              <a:t>If the threat model is wrong, so is the argument.</a:t>
            </a:r>
            <a:endParaRPr/>
          </a:p>
        </p:txBody>
      </p:sp>
      <p:sp>
        <p:nvSpPr>
          <p:cNvPr id="339" name="Google Shape;339;p44"/>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sp>
        <p:nvSpPr>
          <p:cNvPr id="345" name="Google Shape;345;p45"/>
          <p:cNvSpPr txBox="1"/>
          <p:nvPr>
            <p:ph type="title"/>
          </p:nvPr>
        </p:nvSpPr>
        <p:spPr>
          <a:xfrm>
            <a:off x="548640" y="384048"/>
            <a:ext cx="8046720" cy="685800"/>
          </a:xfrm>
          <a:prstGeom prst="rect">
            <a:avLst/>
          </a:prstGeom>
          <a:noFill/>
          <a:ln>
            <a:noFill/>
          </a:ln>
        </p:spPr>
        <p:txBody>
          <a:bodyPr anchorCtr="0" anchor="ctr" bIns="0" lIns="0" spcFirstLastPara="1" rIns="0" wrap="square" tIns="0">
            <a:normAutofit/>
          </a:bodyPr>
          <a:lstStyle/>
          <a:p>
            <a:pPr indent="0" lvl="0" marL="0" rtl="0" algn="l">
              <a:lnSpc>
                <a:spcPct val="100000"/>
              </a:lnSpc>
              <a:spcBef>
                <a:spcPts val="0"/>
              </a:spcBef>
              <a:spcAft>
                <a:spcPts val="0"/>
              </a:spcAft>
              <a:buClr>
                <a:schemeClr val="dk1"/>
              </a:buClr>
              <a:buSzPts val="3000"/>
              <a:buFont typeface="Arial"/>
              <a:buNone/>
            </a:pPr>
            <a:r>
              <a:rPr lang="en-US"/>
              <a:t>Before Wednesday</a:t>
            </a:r>
            <a:endParaRPr/>
          </a:p>
        </p:txBody>
      </p:sp>
      <p:sp>
        <p:nvSpPr>
          <p:cNvPr id="346" name="Google Shape;346;p45"/>
          <p:cNvSpPr txBox="1"/>
          <p:nvPr>
            <p:ph idx="1" type="body"/>
          </p:nvPr>
        </p:nvSpPr>
        <p:spPr>
          <a:xfrm>
            <a:off x="548640" y="1298448"/>
            <a:ext cx="8046720" cy="3383280"/>
          </a:xfrm>
          <a:prstGeom prst="rect">
            <a:avLst/>
          </a:prstGeom>
          <a:noFill/>
          <a:ln>
            <a:noFill/>
          </a:ln>
        </p:spPr>
        <p:txBody>
          <a:bodyPr anchorCtr="0" anchor="t" bIns="0" lIns="0" spcFirstLastPara="1" rIns="0" wrap="square" tIns="0">
            <a:normAutofit/>
          </a:bodyPr>
          <a:lstStyle/>
          <a:p>
            <a:pPr indent="-342900" lvl="0" marL="342900" rtl="0" algn="l">
              <a:spcBef>
                <a:spcPts val="0"/>
              </a:spcBef>
              <a:spcAft>
                <a:spcPts val="0"/>
              </a:spcAft>
              <a:buClr>
                <a:schemeClr val="dk1"/>
              </a:buClr>
              <a:buSzPts val="2000"/>
              <a:buChar char="•"/>
            </a:pPr>
            <a:r>
              <a:rPr lang="en-US"/>
              <a:t>Read the syllabus, check the schedule, etc.</a:t>
            </a:r>
            <a:endParaRPr/>
          </a:p>
          <a:p>
            <a:pPr indent="-215900" lvl="0" marL="342900" rtl="0" algn="l">
              <a:spcBef>
                <a:spcPts val="1200"/>
              </a:spcBef>
              <a:spcAft>
                <a:spcPts val="0"/>
              </a:spcAft>
              <a:buClr>
                <a:schemeClr val="dk1"/>
              </a:buClr>
              <a:buSzPts val="2000"/>
              <a:buNone/>
            </a:pPr>
            <a:r>
              <a:t/>
            </a:r>
            <a:endParaRPr sz="2000"/>
          </a:p>
          <a:p>
            <a:pPr indent="-342900" lvl="0" marL="342900" rtl="0" algn="l">
              <a:spcBef>
                <a:spcPts val="1200"/>
              </a:spcBef>
              <a:spcAft>
                <a:spcPts val="0"/>
              </a:spcAft>
              <a:buClr>
                <a:schemeClr val="dk1"/>
              </a:buClr>
              <a:buSzPts val="2600"/>
              <a:buChar char="•"/>
            </a:pPr>
            <a:r>
              <a:rPr b="1" lang="en-US" sz="2600"/>
              <a:t>Questions?</a:t>
            </a:r>
            <a:endParaRPr/>
          </a:p>
        </p:txBody>
      </p:sp>
      <p:sp>
        <p:nvSpPr>
          <p:cNvPr id="347" name="Google Shape;347;p45"/>
          <p:cNvSpPr txBox="1"/>
          <p:nvPr>
            <p:ph idx="12" type="sldNum"/>
          </p:nvPr>
        </p:nvSpPr>
        <p:spPr>
          <a:xfrm>
            <a:off x="8229600" y="4690872"/>
            <a:ext cx="548640" cy="27432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rgbClr val="8A8A8A"/>
              </a:buClr>
              <a:buSzPts val="1200"/>
              <a:buFont typeface="Arial"/>
              <a:buNone/>
            </a:pPr>
            <a:fld id="{00000000-1234-1234-1234-123412341234}" type="slidenum">
              <a:rPr lang="en-US"/>
              <a:t>‹#›</a:t>
            </a:fld>
            <a:endParaRPr>
              <a:solidFill>
                <a:srgbClr val="000000"/>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1790301506474]">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