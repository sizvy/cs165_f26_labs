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8" r:id="rId2"/>
  </p:sldMasterIdLst>
  <p:notesMasterIdLst>
    <p:notesMasterId r:id="rId40"/>
  </p:notesMasterIdLst>
  <p:sldIdLst>
    <p:sldId id="342" r:id="rId3"/>
    <p:sldId id="343" r:id="rId4"/>
    <p:sldId id="344" r:id="rId5"/>
    <p:sldId id="307" r:id="rId6"/>
    <p:sldId id="345" r:id="rId7"/>
    <p:sldId id="346" r:id="rId8"/>
    <p:sldId id="347" r:id="rId9"/>
    <p:sldId id="348" r:id="rId10"/>
    <p:sldId id="312" r:id="rId11"/>
    <p:sldId id="349" r:id="rId12"/>
    <p:sldId id="314" r:id="rId13"/>
    <p:sldId id="350" r:id="rId14"/>
    <p:sldId id="351" r:id="rId15"/>
    <p:sldId id="352" r:id="rId16"/>
    <p:sldId id="353" r:id="rId17"/>
    <p:sldId id="354" r:id="rId18"/>
    <p:sldId id="355" r:id="rId19"/>
    <p:sldId id="356" r:id="rId20"/>
    <p:sldId id="357" r:id="rId21"/>
    <p:sldId id="358" r:id="rId22"/>
    <p:sldId id="359" r:id="rId23"/>
    <p:sldId id="327" r:id="rId24"/>
    <p:sldId id="360" r:id="rId25"/>
    <p:sldId id="370" r:id="rId26"/>
    <p:sldId id="361" r:id="rId27"/>
    <p:sldId id="362" r:id="rId28"/>
    <p:sldId id="363" r:id="rId29"/>
    <p:sldId id="364" r:id="rId30"/>
    <p:sldId id="365" r:id="rId31"/>
    <p:sldId id="366" r:id="rId32"/>
    <p:sldId id="367" r:id="rId33"/>
    <p:sldId id="371" r:id="rId34"/>
    <p:sldId id="372" r:id="rId35"/>
    <p:sldId id="373" r:id="rId36"/>
    <p:sldId id="368" r:id="rId37"/>
    <p:sldId id="374" r:id="rId38"/>
    <p:sldId id="369"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2"/>
    <p:restoredTop sz="94610"/>
  </p:normalViewPr>
  <p:slideViewPr>
    <p:cSldViewPr snapToGrid="0" snapToObjects="1">
      <p:cViewPr varScale="1">
        <p:scale>
          <a:sx n="146" d="100"/>
          <a:sy n="146" d="100"/>
        </p:scale>
        <p:origin x="4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41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 logistics half matters because the lab structure is new this year.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both sets of office hours before this lecture.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deliberately minimal. Add your own background.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the figures against your preferred sources before delivering.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part out loud twice. Roughly 15 percent of the course grade depends on Thursday attendance.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five quiz dates before this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inherited syllabus. Read it out; do not skip this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COMP0141 Week 1, slide 12. Schneier, "The Security Mindset", Schneier on Security, March 2008. Read it out; it lands better spoken than on screen.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Sub-bullets fold in COMP0141 Week 1, slide 11 (correctness, safety, robustness).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two-minute discussion. Answers usually start technical and get much better once someone says 'ask the cleaner'.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COMP0141 Week 1, slides 30 to 35 (the Alice / attacker / bank build).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COMP0141 Week 1, slide 29.</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Rebuilt in black and white from COMP0141 Week 1, slide 28. The original colored figure is still in UCL/slides/Week1.pptx if you prefer it. The arrow in the original ran from Author towards Trespasser: expert-written tools in less-skilled hands.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COMP0141 Week 1, slides 48 to 50.</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600200"/>
            <a:ext cx="8046720" cy="868680"/>
          </a:xfrm>
          <a:prstGeom prst="rect">
            <a:avLst/>
          </a:prstGeom>
        </p:spPr>
        <p:txBody>
          <a:bodyPr vert="horz" wrap="square" lIns="0" tIns="0" rIns="0" bIns="0" rtlCol="0" anchor="ctr">
            <a:normAutofit/>
          </a:bodyPr>
          <a:lstStyle>
            <a:lvl1pPr algn="l">
              <a:defRPr sz="4000"/>
            </a:lvl1pPr>
          </a:lstStyle>
          <a:p>
            <a:r>
              <a:rPr lang="en-US"/>
              <a:t>Click to edit title</a:t>
            </a:r>
          </a:p>
        </p:txBody>
      </p:sp>
      <p:sp>
        <p:nvSpPr>
          <p:cNvPr id="3" name="Subtitle 2"/>
          <p:cNvSpPr>
            <a:spLocks noGrp="1"/>
          </p:cNvSpPr>
          <p:nvPr>
            <p:ph type="subTitle" idx="1"/>
          </p:nvPr>
        </p:nvSpPr>
        <p:spPr>
          <a:xfrm>
            <a:off x="548640" y="2450592"/>
            <a:ext cx="8046720" cy="502920"/>
          </a:xfrm>
          <a:prstGeom prst="rect">
            <a:avLst/>
          </a:prstGeom>
        </p:spPr>
        <p:txBody>
          <a:bodyPr vert="horz" wrap="square" lIns="0" tIns="0" rIns="0" bIns="0" rtlCol="0" anchor="ctr">
            <a:normAutofit/>
          </a:bodyPr>
          <a:lstStyle>
            <a:lvl1pPr marL="0" indent="0" algn="l">
              <a:spcBef>
                <a:spcPts val="0"/>
              </a:spcBef>
              <a:spcAft>
                <a:spcPts val="0"/>
              </a:spcAft>
              <a:buNone/>
              <a:defRPr sz="2900"/>
            </a:lvl1pPr>
          </a:lstStyle>
          <a:p>
            <a:r>
              <a:rPr lang="en-US"/>
              <a:t>Click to edit subtitle</a:t>
            </a:r>
          </a:p>
        </p:txBody>
      </p:sp>
      <p:sp>
        <p:nvSpPr>
          <p:cNvPr id="4" name="Text Placeholder 3"/>
          <p:cNvSpPr>
            <a:spLocks noGrp="1"/>
          </p:cNvSpPr>
          <p:nvPr>
            <p:ph type="body" sz="quarter" idx="13"/>
          </p:nvPr>
        </p:nvSpPr>
        <p:spPr>
          <a:xfrm>
            <a:off x="548640" y="3246120"/>
            <a:ext cx="8046720" cy="914400"/>
          </a:xfrm>
          <a:prstGeom prst="rect">
            <a:avLst/>
          </a:prstGeom>
        </p:spPr>
        <p:txBody>
          <a:bodyPr vert="horz" wrap="square" lIns="0" tIns="0" rIns="0" bIns="0" rtlCol="0" anchor="t">
            <a:normAutofit/>
          </a:bodyPr>
          <a:lstStyle>
            <a:lvl1pPr marL="0" indent="0" algn="l">
              <a:lnSpc>
                <a:spcPct val="125000"/>
              </a:lnSpc>
              <a:spcBef>
                <a:spcPts val="0"/>
              </a:spcBef>
              <a:spcAft>
                <a:spcPts val="0"/>
              </a:spcAft>
              <a:buNone/>
              <a:defRPr sz="1700">
                <a:solidFill>
                  <a:srgbClr val="8A8A8A"/>
                </a:solidFill>
              </a:defRPr>
            </a:lvl1pPr>
          </a:lstStyle>
          <a:p>
            <a:r>
              <a:rPr lang="en-US"/>
              <a:t>Presenter, affiliation, 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ctr">
            <a:normAutofit/>
          </a:bodyPr>
          <a:lstStyle/>
          <a:p>
            <a:r>
              <a:rPr lang="en-US"/>
              <a:t>Click to edit title</a:t>
            </a:r>
          </a:p>
        </p:txBody>
      </p:sp>
      <p:sp>
        <p:nvSpPr>
          <p:cNvPr id="3" name="Content Placeholder 2"/>
          <p:cNvSpPr>
            <a:spLocks noGrp="1"/>
          </p:cNvSpPr>
          <p:nvPr>
            <p:ph idx="1"/>
          </p:nvPr>
        </p:nvSpPr>
        <p:spPr/>
        <p:txBody>
          <a:bodyPr vert="horz" wrap="square" lIns="0" tIns="0" rIns="0" bIns="0" rtlCol="0" anchor="t">
            <a:normAutofit/>
          </a:bodyPr>
          <a:lstStyle/>
          <a:p>
            <a:pPr lvl="0"/>
            <a:r>
              <a:rPr lang="en-US"/>
              <a:t>First level</a:t>
            </a:r>
          </a:p>
          <a:p>
            <a:pPr lvl="1"/>
            <a:r>
              <a:rPr lang="en-US"/>
              <a:t>Second level</a:t>
            </a:r>
          </a:p>
        </p:txBody>
      </p:sp>
      <p:sp>
        <p:nvSpPr>
          <p:cNvPr id="4" name="Slide Number Placeholder 3"/>
          <p:cNvSpPr>
            <a:spLocks noGrp="1"/>
          </p:cNvSpPr>
          <p:nvPr>
            <p:ph type="sldNum" sz="quarter" idx="4"/>
          </p:nvPr>
        </p:nvSpPr>
        <p:spPr>
          <a:xfrm>
            <a:off x="8229600" y="4690872"/>
            <a:ext cx="548640" cy="274320"/>
          </a:xfrm>
          <a:prstGeom prst="rect">
            <a:avLst/>
          </a:prstGeom>
        </p:spPr>
        <p:txBody>
          <a:bodyPr vert="horz" wrap="square" lIns="0" tIns="0" rIns="0" bIns="0" rtlCol="0" anchor="ctr"/>
          <a:lstStyle>
            <a:lvl1pPr marL="0" indent="0" algn="r">
              <a:buNone/>
              <a:defRPr sz="1200">
                <a:solidFill>
                  <a:srgbClr val="8A8A8A"/>
                </a:solidFill>
              </a:defRPr>
            </a:lvl1pPr>
          </a:lstStyle>
          <a:p>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8640" y="1965960"/>
            <a:ext cx="8046720" cy="822960"/>
          </a:xfrm>
          <a:prstGeom prst="rect">
            <a:avLst/>
          </a:prstGeom>
        </p:spPr>
        <p:txBody>
          <a:bodyPr vert="horz" wrap="square" lIns="0" tIns="0" rIns="0" bIns="0" rtlCol="0" anchor="ctr">
            <a:normAutofit/>
          </a:bodyPr>
          <a:lstStyle>
            <a:lvl1pPr>
              <a:defRPr sz="4000"/>
            </a:lvl1pPr>
          </a:lstStyle>
          <a:p>
            <a:r>
              <a:rPr lang="en-US"/>
              <a:t>Section title</a:t>
            </a:r>
          </a:p>
        </p:txBody>
      </p:sp>
      <p:sp>
        <p:nvSpPr>
          <p:cNvPr id="3" name="Text Placeholder 2"/>
          <p:cNvSpPr>
            <a:spLocks noGrp="1"/>
          </p:cNvSpPr>
          <p:nvPr>
            <p:ph type="body" idx="1"/>
          </p:nvPr>
        </p:nvSpPr>
        <p:spPr>
          <a:xfrm>
            <a:off x="548640" y="2761488"/>
            <a:ext cx="8046720" cy="457200"/>
          </a:xfrm>
          <a:prstGeom prst="rect">
            <a:avLst/>
          </a:prstGeom>
        </p:spPr>
        <p:txBody>
          <a:bodyPr vert="horz" wrap="square" lIns="0" tIns="0" rIns="0" bIns="0" rtlCol="0" anchor="t">
            <a:normAutofit/>
          </a:bodyPr>
          <a:lstStyle>
            <a:lvl1pPr marL="0" indent="0">
              <a:spcBef>
                <a:spcPts val="0"/>
              </a:spcBef>
              <a:spcAft>
                <a:spcPts val="0"/>
              </a:spcAft>
              <a:buNone/>
              <a:defRPr sz="1900">
                <a:solidFill>
                  <a:srgbClr val="8A8A8A"/>
                </a:solidFill>
              </a:defRPr>
            </a:lvl1pPr>
          </a:lstStyle>
          <a:p>
            <a:r>
              <a:rPr lang="en-US"/>
              <a:t>Section description</a:t>
            </a:r>
          </a:p>
        </p:txBody>
      </p:sp>
      <p:sp>
        <p:nvSpPr>
          <p:cNvPr id="4" name="Slide Number Placeholder 3"/>
          <p:cNvSpPr>
            <a:spLocks noGrp="1"/>
          </p:cNvSpPr>
          <p:nvPr>
            <p:ph type="sldNum" sz="quarter" idx="4"/>
          </p:nvPr>
        </p:nvSpPr>
        <p:spPr>
          <a:xfrm>
            <a:off x="8229600" y="4690872"/>
            <a:ext cx="548640" cy="274320"/>
          </a:xfrm>
          <a:prstGeom prst="rect">
            <a:avLst/>
          </a:prstGeom>
        </p:spPr>
        <p:txBody>
          <a:bodyPr vert="horz" wrap="square" lIns="0" tIns="0" rIns="0" bIns="0" rtlCol="0" anchor="ctr"/>
          <a:lstStyle>
            <a:lvl1pPr marL="0" indent="0" algn="r">
              <a:buNone/>
              <a:defRPr sz="1200">
                <a:solidFill>
                  <a:srgbClr val="8A8A8A"/>
                </a:solidFill>
              </a:defRPr>
            </a:lvl1pPr>
          </a:lstStyle>
          <a:p>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ctr">
            <a:normAutofit/>
          </a:bodyPr>
          <a:lstStyle/>
          <a:p>
            <a:r>
              <a:rPr lang="en-US"/>
              <a:t>Click to edit title</a:t>
            </a:r>
          </a:p>
        </p:txBody>
      </p:sp>
      <p:sp>
        <p:nvSpPr>
          <p:cNvPr id="4" name="Slide Number Placeholder 3"/>
          <p:cNvSpPr>
            <a:spLocks noGrp="1"/>
          </p:cNvSpPr>
          <p:nvPr>
            <p:ph type="sldNum" sz="quarter" idx="4"/>
          </p:nvPr>
        </p:nvSpPr>
        <p:spPr>
          <a:xfrm>
            <a:off x="8229600" y="4690872"/>
            <a:ext cx="548640" cy="274320"/>
          </a:xfrm>
          <a:prstGeom prst="rect">
            <a:avLst/>
          </a:prstGeom>
        </p:spPr>
        <p:txBody>
          <a:bodyPr vert="horz" wrap="square" lIns="0" tIns="0" rIns="0" bIns="0" rtlCol="0" anchor="ctr"/>
          <a:lstStyle>
            <a:lvl1pPr marL="0" indent="0" algn="r">
              <a:buNone/>
              <a:defRPr sz="1200">
                <a:solidFill>
                  <a:srgbClr val="8A8A8A"/>
                </a:solidFill>
              </a:defRPr>
            </a:lvl1pPr>
          </a:lstStyle>
          <a:p>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8229600" y="4690872"/>
            <a:ext cx="548640" cy="274320"/>
          </a:xfrm>
          <a:prstGeom prst="rect">
            <a:avLst/>
          </a:prstGeom>
        </p:spPr>
        <p:txBody>
          <a:bodyPr vert="horz" wrap="square" lIns="0" tIns="0" rIns="0" bIns="0" rtlCol="0" anchor="ctr"/>
          <a:lstStyle>
            <a:lvl1pPr marL="0" indent="0" algn="r">
              <a:buNone/>
              <a:defRPr sz="1200">
                <a:solidFill>
                  <a:srgbClr val="8A8A8A"/>
                </a:solidFill>
              </a:defRPr>
            </a:lvl1pPr>
          </a:lstStyle>
          <a:p>
            <a:fld id="{B6F15528-21DE-4FAA-801E-634DDDAF4B2B}"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spcAft>
          <a:spcPts val="600"/>
        </a:spcAft>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384048"/>
            <a:ext cx="8046720" cy="685800"/>
          </a:xfrm>
          <a:prstGeom prst="rect">
            <a:avLst/>
          </a:prstGeom>
        </p:spPr>
        <p:txBody>
          <a:bodyPr vert="horz" wrap="square" lIns="0" tIns="0" rIns="0" bIns="0" rtlCol="0" anchor="ctr">
            <a:normAutofit/>
          </a:bodyPr>
          <a:lstStyle/>
          <a:p>
            <a:r>
              <a:rPr lang="en-US"/>
              <a:t>Click to edit title</a:t>
            </a:r>
          </a:p>
        </p:txBody>
      </p:sp>
      <p:sp>
        <p:nvSpPr>
          <p:cNvPr id="3" name="Text Placeholder 2"/>
          <p:cNvSpPr>
            <a:spLocks noGrp="1"/>
          </p:cNvSpPr>
          <p:nvPr>
            <p:ph type="body" idx="1"/>
          </p:nvPr>
        </p:nvSpPr>
        <p:spPr>
          <a:xfrm>
            <a:off x="548640" y="1298448"/>
            <a:ext cx="8046720" cy="3383280"/>
          </a:xfrm>
          <a:prstGeom prst="rect">
            <a:avLst/>
          </a:prstGeom>
        </p:spPr>
        <p:txBody>
          <a:bodyPr vert="horz" wrap="square" lIns="0" tIns="0" rIns="0" bIns="0" rtlCol="0" anchor="t">
            <a:normAutofit/>
          </a:bodyPr>
          <a:lstStyle/>
          <a:p>
            <a:pPr lvl="0"/>
            <a:r>
              <a:rPr lang="en-US"/>
              <a:t>First level</a:t>
            </a:r>
          </a:p>
          <a:p>
            <a:pPr lvl="1"/>
            <a:r>
              <a:rPr lang="en-US"/>
              <a:t>Second level</a:t>
            </a:r>
          </a:p>
        </p:txBody>
      </p:sp>
      <p:sp>
        <p:nvSpPr>
          <p:cNvPr id="4" name="Slide Number Placeholder 3"/>
          <p:cNvSpPr>
            <a:spLocks noGrp="1"/>
          </p:cNvSpPr>
          <p:nvPr>
            <p:ph type="sldNum" sz="quarter" idx="4"/>
          </p:nvPr>
        </p:nvSpPr>
        <p:spPr>
          <a:xfrm>
            <a:off x="8229600" y="4690872"/>
            <a:ext cx="548640" cy="274320"/>
          </a:xfrm>
          <a:prstGeom prst="rect">
            <a:avLst/>
          </a:prstGeom>
        </p:spPr>
        <p:txBody>
          <a:bodyPr vert="horz" wrap="square" lIns="0" tIns="0" rIns="0" bIns="0" rtlCol="0" anchor="ctr"/>
          <a:lstStyle>
            <a:lvl1pPr algn="r">
              <a:defRPr sz="1200">
                <a:solidFill>
                  <a:srgbClr val="8A8A8A"/>
                </a:solidFill>
              </a:defRPr>
            </a:lvl1pPr>
          </a:lstStyle>
          <a:p>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p:txStyles>
    <p:titleStyle>
      <a:lvl1pPr marL="0" indent="0" algn="l" defTabSz="9144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342900" indent="-342900" algn="l" defTabSz="914400" rtl="0" eaLnBrk="1" latinLnBrk="0" hangingPunct="1">
        <a:spcBef>
          <a:spcPts val="600"/>
        </a:spcBef>
        <a:spcAft>
          <a:spcPts val="600"/>
        </a:spcAft>
        <a:buFont typeface="Arial" pitchFamily="34" charset="0"/>
        <a:buChar char="•"/>
        <a:defRPr sz="2000" kern="1200">
          <a:solidFill>
            <a:schemeClr val="tx1"/>
          </a:solidFill>
          <a:latin typeface="+mn-lt"/>
          <a:ea typeface="+mn-ea"/>
          <a:cs typeface="+mn-cs"/>
        </a:defRPr>
      </a:lvl1pPr>
      <a:lvl2pPr marL="685800" indent="-342900" algn="l" defTabSz="914400" rtl="0" eaLnBrk="1" latinLnBrk="0" hangingPunct="1">
        <a:spcBef>
          <a:spcPts val="0"/>
        </a:spcBef>
        <a:spcAft>
          <a:spcPts val="500"/>
        </a:spcAft>
        <a:buFont typeface="Arial" pitchFamily="34" charset="0"/>
        <a:buChar char="–"/>
        <a:defRPr sz="1700" kern="1200">
          <a:solidFill>
            <a:schemeClr val="tx1"/>
          </a:solidFill>
          <a:latin typeface="+mn-lt"/>
          <a:ea typeface="+mn-ea"/>
          <a:cs typeface="+mn-cs"/>
        </a:defRPr>
      </a:lvl2pPr>
      <a:lvl3pPr marL="10287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3pPr>
      <a:lvl4pPr marL="13716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4pPr>
      <a:lvl5pPr marL="17145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5pPr>
      <a:lvl6pPr marL="20574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6pPr>
      <a:lvl7pPr marL="24003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7pPr>
      <a:lvl8pPr marL="27432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8pPr>
      <a:lvl9pPr marL="3086100" indent="-342900" algn="l" defTabSz="914400" rtl="0" eaLnBrk="1" latinLnBrk="0" hangingPunct="1">
        <a:spcBef>
          <a:spcPts val="0"/>
        </a:spcBef>
        <a:spcAft>
          <a:spcPts val="400"/>
        </a:spcAft>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2200" kern="1200">
          <a:solidFill>
            <a:schemeClr val="tx1"/>
          </a:solidFill>
          <a:latin typeface="+mn-lt"/>
          <a:ea typeface="+mn-ea"/>
          <a:cs typeface="+mn-cs"/>
        </a:defRPr>
      </a:lvl1pPr>
      <a:lvl2pPr marL="457200" algn="l" defTabSz="914400" rtl="0" eaLnBrk="1" latinLnBrk="0" hangingPunct="1">
        <a:defRPr sz="2200" kern="1200">
          <a:solidFill>
            <a:schemeClr val="tx1"/>
          </a:solidFill>
          <a:latin typeface="+mn-lt"/>
          <a:ea typeface="+mn-ea"/>
          <a:cs typeface="+mn-cs"/>
        </a:defRPr>
      </a:lvl2pPr>
      <a:lvl3pPr marL="914400" algn="l" defTabSz="914400" rtl="0" eaLnBrk="1" latinLnBrk="0" hangingPunct="1">
        <a:defRPr sz="2200" kern="1200">
          <a:solidFill>
            <a:schemeClr val="tx1"/>
          </a:solidFill>
          <a:latin typeface="+mn-lt"/>
          <a:ea typeface="+mn-ea"/>
          <a:cs typeface="+mn-cs"/>
        </a:defRPr>
      </a:lvl3pPr>
      <a:lvl4pPr marL="1371600" algn="l" defTabSz="914400" rtl="0" eaLnBrk="1" latinLnBrk="0" hangingPunct="1">
        <a:defRPr sz="2200" kern="1200">
          <a:solidFill>
            <a:schemeClr val="tx1"/>
          </a:solidFill>
          <a:latin typeface="+mn-lt"/>
          <a:ea typeface="+mn-ea"/>
          <a:cs typeface="+mn-cs"/>
        </a:defRPr>
      </a:lvl4pPr>
      <a:lvl5pPr marL="1828800" algn="l" defTabSz="914400" rtl="0" eaLnBrk="1" latinLnBrk="0" hangingPunct="1">
        <a:defRPr sz="2200" kern="1200">
          <a:solidFill>
            <a:schemeClr val="tx1"/>
          </a:solidFill>
          <a:latin typeface="+mn-lt"/>
          <a:ea typeface="+mn-ea"/>
          <a:cs typeface="+mn-cs"/>
        </a:defRPr>
      </a:lvl5pPr>
      <a:lvl6pPr marL="2286000" algn="l" defTabSz="914400" rtl="0" eaLnBrk="1" latinLnBrk="0" hangingPunct="1">
        <a:defRPr sz="2200" kern="1200">
          <a:solidFill>
            <a:schemeClr val="tx1"/>
          </a:solidFill>
          <a:latin typeface="+mn-lt"/>
          <a:ea typeface="+mn-ea"/>
          <a:cs typeface="+mn-cs"/>
        </a:defRPr>
      </a:lvl6pPr>
      <a:lvl7pPr marL="2743200" algn="l" defTabSz="914400" rtl="0" eaLnBrk="1" latinLnBrk="0" hangingPunct="1">
        <a:defRPr sz="2200" kern="1200">
          <a:solidFill>
            <a:schemeClr val="tx1"/>
          </a:solidFill>
          <a:latin typeface="+mn-lt"/>
          <a:ea typeface="+mn-ea"/>
          <a:cs typeface="+mn-cs"/>
        </a:defRPr>
      </a:lvl7pPr>
      <a:lvl8pPr marL="3200400" algn="l" defTabSz="914400" rtl="0" eaLnBrk="1" latinLnBrk="0" hangingPunct="1">
        <a:defRPr sz="2200" kern="1200">
          <a:solidFill>
            <a:schemeClr val="tx1"/>
          </a:solidFill>
          <a:latin typeface="+mn-lt"/>
          <a:ea typeface="+mn-ea"/>
          <a:cs typeface="+mn-cs"/>
        </a:defRPr>
      </a:lvl8pPr>
      <a:lvl9pPr marL="3657600" algn="l" defTabSz="91440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spalab.cs.ucr.edu/teaching/cs165"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2"/>
          <p:cNvSpPr>
            <a:spLocks noGrp="1"/>
          </p:cNvSpPr>
          <p:nvPr>
            <p:ph type="ctrTitle"/>
          </p:nvPr>
        </p:nvSpPr>
        <p:spPr/>
        <p:txBody>
          <a:bodyPr/>
          <a:lstStyle/>
          <a:p>
            <a:r>
              <a:rPr lang="en-US" dirty="0"/>
              <a:t>CS 165: Computer Security</a:t>
            </a:r>
          </a:p>
        </p:txBody>
      </p:sp>
      <p:sp>
        <p:nvSpPr>
          <p:cNvPr id="3" name="Subtitle 3"/>
          <p:cNvSpPr>
            <a:spLocks noGrp="1"/>
          </p:cNvSpPr>
          <p:nvPr>
            <p:ph type="subTitle" idx="1"/>
          </p:nvPr>
        </p:nvSpPr>
        <p:spPr/>
        <p:txBody>
          <a:bodyPr/>
          <a:lstStyle/>
          <a:p>
            <a:r>
              <a:rPr lang="en-US" dirty="0"/>
              <a:t>Introduction</a:t>
            </a:r>
          </a:p>
        </p:txBody>
      </p:sp>
      <p:sp>
        <p:nvSpPr>
          <p:cNvPr id="4" name="Details 4"/>
          <p:cNvSpPr>
            <a:spLocks noGrp="1"/>
          </p:cNvSpPr>
          <p:nvPr>
            <p:ph type="body" sz="quarter" idx="13"/>
          </p:nvPr>
        </p:nvSpPr>
        <p:spPr/>
        <p:txBody>
          <a:bodyPr>
            <a:normAutofit lnSpcReduction="10000"/>
          </a:bodyPr>
          <a:lstStyle/>
          <a:p>
            <a:r>
              <a:rPr lang="en-US" dirty="0"/>
              <a:t>Emiliano De Cristofaro</a:t>
            </a:r>
            <a:endParaRPr lang="en-US" dirty="0">
              <a:solidFill>
                <a:srgbClr val="000000"/>
              </a:solidFill>
            </a:endParaRPr>
          </a:p>
          <a:p>
            <a:r>
              <a:rPr lang="en-US" dirty="0"/>
              <a:t>University of California, Riverside</a:t>
            </a:r>
            <a:endParaRPr lang="en-US" dirty="0">
              <a:solidFill>
                <a:srgbClr val="000000"/>
              </a:solidFill>
            </a:endParaRPr>
          </a:p>
          <a:p>
            <a:r>
              <a:rPr lang="en-US" dirty="0"/>
              <a:t>Fall 2026  |  Monday, September 28</a:t>
            </a:r>
            <a:endParaRPr lang="en-US" dirty="0">
              <a:solidFill>
                <a:srgbClr val="000000"/>
              </a:solidFill>
            </a:endParaRPr>
          </a:p>
        </p:txBody>
      </p:sp>
    </p:spTree>
    <p:extLst>
      <p:ext uri="{BB962C8B-B14F-4D97-AF65-F5344CB8AC3E}">
        <p14:creationId xmlns:p14="http://schemas.microsoft.com/office/powerpoint/2010/main" val="168695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Today</a:t>
            </a:r>
          </a:p>
        </p:txBody>
      </p:sp>
      <p:sp>
        <p:nvSpPr>
          <p:cNvPr id="3" name="Content 3"/>
          <p:cNvSpPr>
            <a:spLocks noGrp="1"/>
          </p:cNvSpPr>
          <p:nvPr>
            <p:ph idx="1"/>
          </p:nvPr>
        </p:nvSpPr>
        <p:spPr/>
        <p:txBody>
          <a:bodyPr/>
          <a:lstStyle/>
          <a:p>
            <a:r>
              <a:rPr lang="en-US"/>
              <a:t>Welcome and introduction</a:t>
            </a:r>
            <a:endParaRPr lang="en-US" dirty="0"/>
          </a:p>
          <a:p>
            <a:r>
              <a:rPr lang="en-US"/>
              <a:t>Security TL;DR</a:t>
            </a:r>
            <a:endParaRPr lang="en-US" dirty="0"/>
          </a:p>
          <a:p>
            <a:r>
              <a:rPr lang="en-US" dirty="0"/>
              <a:t>What you will learn to do</a:t>
            </a:r>
          </a:p>
          <a:p>
            <a:r>
              <a:rPr lang="en-US" dirty="0"/>
              <a:t>Logistics </a:t>
            </a:r>
            <a:r>
              <a:rPr lang="en-US"/>
              <a:t>and grading</a:t>
            </a:r>
            <a:br>
              <a:rPr lang="en-US"/>
            </a:br>
            <a:endParaRPr lang="en-US" dirty="0"/>
          </a:p>
          <a:p>
            <a:r>
              <a:rPr lang="en-US" dirty="0"/>
              <a:t>The security mindset</a:t>
            </a:r>
          </a:p>
        </p:txBody>
      </p:sp>
      <p:sp>
        <p:nvSpPr>
          <p:cNvPr id="4" name="Slide Number 4"/>
          <p:cNvSpPr>
            <a:spLocks noGrp="1"/>
          </p:cNvSpPr>
          <p:nvPr>
            <p:ph type="sldNum" sz="quarter" idx="4"/>
          </p:nvPr>
        </p:nvSpPr>
        <p:spPr/>
        <p:txBody>
          <a:bodyPr/>
          <a:lstStyle/>
          <a:p>
            <a:fld id="{B6F15528-21DE-4FAA-801E-634DDDAF4B2B}" type="slidenum">
              <a:rPr lang="en-US"/>
              <a:t>2</a:t>
            </a:fld>
            <a:endParaRPr lang="en-US" dirty="0"/>
          </a:p>
        </p:txBody>
      </p:sp>
    </p:spTree>
    <p:extLst>
      <p:ext uri="{BB962C8B-B14F-4D97-AF65-F5344CB8AC3E}">
        <p14:creationId xmlns:p14="http://schemas.microsoft.com/office/powerpoint/2010/main" val="3209390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Course information</a:t>
            </a:r>
          </a:p>
        </p:txBody>
      </p:sp>
      <p:sp>
        <p:nvSpPr>
          <p:cNvPr id="3" name="Content 3"/>
          <p:cNvSpPr>
            <a:spLocks noGrp="1"/>
          </p:cNvSpPr>
          <p:nvPr>
            <p:ph idx="1"/>
          </p:nvPr>
        </p:nvSpPr>
        <p:spPr/>
        <p:txBody>
          <a:bodyPr>
            <a:normAutofit lnSpcReduction="10000"/>
          </a:bodyPr>
          <a:lstStyle/>
          <a:p>
            <a:r>
              <a:rPr lang="en-US" dirty="0"/>
              <a:t>Instructor: Emiliano De Cristofaro, emilianodc@cs.ucr.edu</a:t>
            </a:r>
          </a:p>
          <a:p>
            <a:pPr lvl="1"/>
            <a:r>
              <a:rPr lang="en-US" dirty="0"/>
              <a:t>Office hours: TBD</a:t>
            </a:r>
            <a:endParaRPr lang="en-US" sz="2000" dirty="0"/>
          </a:p>
          <a:p>
            <a:r>
              <a:rPr lang="en-US" dirty="0"/>
              <a:t>TA: Md. Olid Hasan Bhuiyan, mbhui008@ucr.edu</a:t>
            </a:r>
          </a:p>
          <a:p>
            <a:pPr lvl="1"/>
            <a:r>
              <a:rPr lang="en-US" dirty="0"/>
              <a:t>Office hours: TBD</a:t>
            </a:r>
            <a:endParaRPr lang="en-US" sz="2000" dirty="0"/>
          </a:p>
          <a:p>
            <a:r>
              <a:rPr lang="en-US" dirty="0"/>
              <a:t>Lecture: Monday and Wednesday, 3:30 to 4:50pm, UTLF 315</a:t>
            </a:r>
          </a:p>
          <a:p>
            <a:r>
              <a:rPr lang="en-US" dirty="0"/>
              <a:t>Lab: Thursday, 3:00 to 5:50pm, UTLF 215</a:t>
            </a:r>
          </a:p>
          <a:p>
            <a:r>
              <a:rPr lang="en-US" dirty="0"/>
              <a:t>Website: </a:t>
            </a:r>
            <a:r>
              <a:rPr lang="en-US" dirty="0">
                <a:hlinkClick r:id="rId3"/>
              </a:rPr>
              <a:t>https://spalab.cs.ucr.edu/teaching/cs165</a:t>
            </a:r>
            <a:r>
              <a:rPr lang="en-US" dirty="0"/>
              <a:t> </a:t>
            </a:r>
          </a:p>
          <a:p>
            <a:pPr lvl="1"/>
            <a:r>
              <a:rPr lang="en-US" dirty="0"/>
              <a:t>Schedule, readings and handouts are posted there</a:t>
            </a:r>
            <a:endParaRPr lang="en-US" sz="2000" dirty="0"/>
          </a:p>
          <a:p>
            <a:r>
              <a:rPr lang="en-US" dirty="0"/>
              <a:t>Canvas: announcements, submissions, discussion</a:t>
            </a:r>
          </a:p>
        </p:txBody>
      </p:sp>
      <p:sp>
        <p:nvSpPr>
          <p:cNvPr id="4" name="Slide Number 4"/>
          <p:cNvSpPr>
            <a:spLocks noGrp="1"/>
          </p:cNvSpPr>
          <p:nvPr>
            <p:ph type="sldNum" sz="quarter" idx="4"/>
          </p:nvPr>
        </p:nvSpPr>
        <p:spPr/>
        <p:txBody>
          <a:bodyPr/>
          <a:lstStyle/>
          <a:p>
            <a:fld id="{B6F15528-21DE-4FAA-801E-634DDDAF4B2B}" type="slidenum">
              <a:rPr lang="en-US"/>
              <a:t>3</a:t>
            </a:fld>
            <a:endParaRPr lang="en-US" dirty="0"/>
          </a:p>
        </p:txBody>
      </p:sp>
    </p:spTree>
    <p:extLst>
      <p:ext uri="{BB962C8B-B14F-4D97-AF65-F5344CB8AC3E}">
        <p14:creationId xmlns:p14="http://schemas.microsoft.com/office/powerpoint/2010/main" val="3624371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About me</a:t>
            </a:r>
          </a:p>
        </p:txBody>
      </p:sp>
      <p:sp>
        <p:nvSpPr>
          <p:cNvPr id="3" name="Content 3"/>
          <p:cNvSpPr>
            <a:spLocks noGrp="1"/>
          </p:cNvSpPr>
          <p:nvPr>
            <p:ph idx="1"/>
          </p:nvPr>
        </p:nvSpPr>
        <p:spPr/>
        <p:txBody>
          <a:bodyPr/>
          <a:lstStyle/>
          <a:p>
            <a:r>
              <a:rPr lang="en-US" dirty="0"/>
              <a:t>Professor, Computer Science and Engineering, UC Riverside</a:t>
            </a:r>
          </a:p>
          <a:p>
            <a:r>
              <a:rPr lang="en-US" dirty="0"/>
              <a:t>Security and Privacy Advanced Research Lab (SPA Lab)</a:t>
            </a:r>
          </a:p>
          <a:p>
            <a:r>
              <a:rPr lang="en-US" dirty="0"/>
              <a:t>Research on the security and privacy of computing systems</a:t>
            </a:r>
          </a:p>
          <a:p>
            <a:r>
              <a:rPr lang="en-US" i="1" dirty="0"/>
              <a:t>Fun facts about each of us?</a:t>
            </a:r>
            <a:endParaRPr lang="en-US" dirty="0"/>
          </a:p>
        </p:txBody>
      </p:sp>
      <p:sp>
        <p:nvSpPr>
          <p:cNvPr id="4" name="Slide Number 4"/>
          <p:cNvSpPr>
            <a:spLocks noGrp="1"/>
          </p:cNvSpPr>
          <p:nvPr>
            <p:ph type="sldNum" sz="quarter" idx="4"/>
          </p:nvPr>
        </p:nvSpPr>
        <p:spPr/>
        <p:txBody>
          <a:bodyPr/>
          <a:lstStyle/>
          <a:p>
            <a:fld id="{B6F15528-21DE-4FAA-801E-634DDDAF4B2B}" type="slidenum">
              <a:rPr lang="en-US"/>
              <a:t>4</a:t>
            </a:fld>
            <a:endParaRPr lang="en-US" dirty="0">
              <a:solidFill>
                <a:srgbClr val="000000"/>
              </a:solidFill>
            </a:endParaRPr>
          </a:p>
        </p:txBody>
      </p:sp>
    </p:spTree>
    <p:extLst>
      <p:ext uri="{BB962C8B-B14F-4D97-AF65-F5344CB8AC3E}">
        <p14:creationId xmlns:p14="http://schemas.microsoft.com/office/powerpoint/2010/main" val="372534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a:t>Infamous bugs</a:t>
            </a:r>
            <a:endParaRPr lang="en-US" dirty="0"/>
          </a:p>
        </p:txBody>
      </p:sp>
      <p:sp>
        <p:nvSpPr>
          <p:cNvPr id="3" name="Content 3"/>
          <p:cNvSpPr>
            <a:spLocks noGrp="1"/>
          </p:cNvSpPr>
          <p:nvPr>
            <p:ph idx="1"/>
          </p:nvPr>
        </p:nvSpPr>
        <p:spPr/>
        <p:txBody>
          <a:bodyPr>
            <a:normAutofit lnSpcReduction="10000"/>
          </a:bodyPr>
          <a:lstStyle/>
          <a:p>
            <a:r>
              <a:rPr lang="en-US" dirty="0"/>
              <a:t>1988, the Morris worm</a:t>
            </a:r>
          </a:p>
          <a:p>
            <a:pPr lvl="1"/>
            <a:r>
              <a:rPr lang="en-US" dirty="0"/>
              <a:t>Spread partly through a buffer overflow in fingerd. Took down an estimated 10 percent of the machines then on the internet.</a:t>
            </a:r>
            <a:endParaRPr lang="en-US" sz="2000" dirty="0"/>
          </a:p>
          <a:p>
            <a:r>
              <a:rPr lang="en-US" dirty="0"/>
              <a:t>2003, SQL Slammer</a:t>
            </a:r>
          </a:p>
          <a:p>
            <a:pPr lvl="1"/>
            <a:r>
              <a:rPr lang="en-US" dirty="0"/>
              <a:t>A single UDP packet exploiting a buffer overflow. Roughly 75,000 hosts in ten minutes.</a:t>
            </a:r>
            <a:endParaRPr lang="en-US" sz="2000" dirty="0"/>
          </a:p>
          <a:p>
            <a:r>
              <a:rPr lang="en-US" dirty="0"/>
              <a:t>2017, WannaCry</a:t>
            </a:r>
          </a:p>
          <a:p>
            <a:pPr lvl="1"/>
            <a:r>
              <a:rPr lang="en-US" dirty="0"/>
              <a:t>Spread via a flaw in Windows SMB. Over 200,000 machines across 150 countries.</a:t>
            </a:r>
            <a:endParaRPr lang="en-US" sz="2000" dirty="0"/>
          </a:p>
          <a:p>
            <a:r>
              <a:rPr lang="en-US" b="1" dirty="0"/>
              <a:t>Twenty-nine years apart. The same class of bug.</a:t>
            </a:r>
            <a:endParaRPr lang="en-US" dirty="0"/>
          </a:p>
        </p:txBody>
      </p:sp>
      <p:sp>
        <p:nvSpPr>
          <p:cNvPr id="4" name="Slide Number 4"/>
          <p:cNvSpPr>
            <a:spLocks noGrp="1"/>
          </p:cNvSpPr>
          <p:nvPr>
            <p:ph type="sldNum" sz="quarter" idx="4"/>
          </p:nvPr>
        </p:nvSpPr>
        <p:spPr/>
        <p:txBody>
          <a:bodyPr/>
          <a:lstStyle/>
          <a:p>
            <a:fld id="{B6F15528-21DE-4FAA-801E-634DDDAF4B2B}" type="slidenum">
              <a:rPr lang="en-US"/>
              <a:t>5</a:t>
            </a:fld>
            <a:endParaRPr lang="en-US" dirty="0">
              <a:solidFill>
                <a:srgbClr val="000000"/>
              </a:solidFill>
            </a:endParaRPr>
          </a:p>
        </p:txBody>
      </p:sp>
    </p:spTree>
    <p:extLst>
      <p:ext uri="{BB962C8B-B14F-4D97-AF65-F5344CB8AC3E}">
        <p14:creationId xmlns:p14="http://schemas.microsoft.com/office/powerpoint/2010/main" val="63745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a:t>Mitigations?</a:t>
            </a:r>
            <a:endParaRPr lang="en-US" dirty="0"/>
          </a:p>
        </p:txBody>
      </p:sp>
      <p:sp>
        <p:nvSpPr>
          <p:cNvPr id="3" name="Content 3"/>
          <p:cNvSpPr>
            <a:spLocks noGrp="1"/>
          </p:cNvSpPr>
          <p:nvPr>
            <p:ph idx="1"/>
          </p:nvPr>
        </p:nvSpPr>
        <p:spPr/>
        <p:txBody>
          <a:bodyPr/>
          <a:lstStyle/>
          <a:p>
            <a:r>
              <a:rPr lang="en-US" dirty="0"/>
              <a:t>If a network-facing program is going to be compromised, limit what that buys the attacker</a:t>
            </a:r>
          </a:p>
          <a:p>
            <a:pPr lvl="1"/>
            <a:r>
              <a:rPr lang="en-US" dirty="0"/>
              <a:t>chroot, privilege separation, seccomp, containers, SELinux and AppArmor</a:t>
            </a:r>
            <a:endParaRPr lang="en-US" sz="2000" dirty="0"/>
          </a:p>
          <a:p>
            <a:r>
              <a:rPr lang="en-US" dirty="0"/>
              <a:t>This genuinely helps. A compromised daemon no longer means a compromised host.</a:t>
            </a:r>
          </a:p>
          <a:p>
            <a:r>
              <a:rPr lang="en-US" b="1" dirty="0"/>
              <a:t>But note what it does not do</a:t>
            </a:r>
            <a:endParaRPr lang="en-US" dirty="0"/>
          </a:p>
          <a:p>
            <a:pPr lvl="1"/>
            <a:r>
              <a:rPr lang="en-US" dirty="0"/>
              <a:t>The bug is still there. Containment changes the blast radius, not the vulnerability.</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6</a:t>
            </a:fld>
            <a:endParaRPr lang="en-US" dirty="0">
              <a:solidFill>
                <a:srgbClr val="000000"/>
              </a:solidFill>
            </a:endParaRPr>
          </a:p>
        </p:txBody>
      </p:sp>
    </p:spTree>
    <p:extLst>
      <p:ext uri="{BB962C8B-B14F-4D97-AF65-F5344CB8AC3E}">
        <p14:creationId xmlns:p14="http://schemas.microsoft.com/office/powerpoint/2010/main" val="699746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a:t>Software </a:t>
            </a:r>
            <a:r>
              <a:rPr lang="en-US" dirty="0"/>
              <a:t>is </a:t>
            </a:r>
            <a:r>
              <a:rPr lang="en-US"/>
              <a:t>still buggy…</a:t>
            </a:r>
            <a:endParaRPr lang="en-US" dirty="0"/>
          </a:p>
        </p:txBody>
      </p:sp>
      <p:sp>
        <p:nvSpPr>
          <p:cNvPr id="3" name="Content 3"/>
          <p:cNvSpPr>
            <a:spLocks noGrp="1"/>
          </p:cNvSpPr>
          <p:nvPr>
            <p:ph idx="1"/>
          </p:nvPr>
        </p:nvSpPr>
        <p:spPr/>
        <p:txBody>
          <a:bodyPr/>
          <a:lstStyle/>
          <a:p>
            <a:r>
              <a:rPr lang="en-US" dirty="0"/>
              <a:t>Memory-safety errors remain a large share of severe vulnerabilities in C/C++ code</a:t>
            </a:r>
          </a:p>
          <a:p>
            <a:pPr lvl="1"/>
            <a:r>
              <a:rPr lang="en-US" dirty="0"/>
              <a:t>Microsoft and Google have each reported that roughly 70 percent of their severe vulnerabilities are memory-safety issues</a:t>
            </a:r>
            <a:endParaRPr lang="en-US" sz="2000" dirty="0"/>
          </a:p>
          <a:p>
            <a:r>
              <a:rPr lang="en-US" dirty="0"/>
              <a:t>The bug classes have barely changed</a:t>
            </a:r>
          </a:p>
          <a:p>
            <a:pPr lvl="1"/>
            <a:r>
              <a:rPr lang="en-US" dirty="0"/>
              <a:t>Out-of-bounds reads and writes (spatial)</a:t>
            </a:r>
            <a:endParaRPr lang="en-US" sz="2000" dirty="0"/>
          </a:p>
          <a:p>
            <a:pPr lvl="1"/>
            <a:r>
              <a:rPr lang="en-US" dirty="0"/>
              <a:t>Use-after-free and double-free (temporal)</a:t>
            </a:r>
            <a:endParaRPr lang="en-US" sz="2000" dirty="0"/>
          </a:p>
          <a:p>
            <a:pPr lvl="1"/>
            <a:r>
              <a:rPr lang="en-US" dirty="0"/>
              <a:t>Type confusion</a:t>
            </a:r>
            <a:endParaRPr lang="en-US" sz="2000" dirty="0"/>
          </a:p>
          <a:p>
            <a:r>
              <a:rPr lang="en-US" b="1" dirty="0"/>
              <a:t>You will find, exploit, and then fix every one of these yourself this term.</a:t>
            </a:r>
            <a:endParaRPr lang="en-US" dirty="0"/>
          </a:p>
        </p:txBody>
      </p:sp>
      <p:sp>
        <p:nvSpPr>
          <p:cNvPr id="4" name="Slide Number 4"/>
          <p:cNvSpPr>
            <a:spLocks noGrp="1"/>
          </p:cNvSpPr>
          <p:nvPr>
            <p:ph type="sldNum" sz="quarter" idx="4"/>
          </p:nvPr>
        </p:nvSpPr>
        <p:spPr/>
        <p:txBody>
          <a:bodyPr/>
          <a:lstStyle/>
          <a:p>
            <a:fld id="{B6F15528-21DE-4FAA-801E-634DDDAF4B2B}" type="slidenum">
              <a:rPr lang="en-US"/>
              <a:t>7</a:t>
            </a:fld>
            <a:endParaRPr lang="en-US" dirty="0">
              <a:solidFill>
                <a:srgbClr val="000000"/>
              </a:solidFill>
            </a:endParaRPr>
          </a:p>
        </p:txBody>
      </p:sp>
    </p:spTree>
    <p:extLst>
      <p:ext uri="{BB962C8B-B14F-4D97-AF65-F5344CB8AC3E}">
        <p14:creationId xmlns:p14="http://schemas.microsoft.com/office/powerpoint/2010/main" val="188985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a:t>Mixing </a:t>
            </a:r>
            <a:r>
              <a:rPr lang="en-US" dirty="0"/>
              <a:t>code and data</a:t>
            </a:r>
          </a:p>
        </p:txBody>
      </p:sp>
      <p:sp>
        <p:nvSpPr>
          <p:cNvPr id="3" name="Content 3"/>
          <p:cNvSpPr>
            <a:spLocks noGrp="1"/>
          </p:cNvSpPr>
          <p:nvPr>
            <p:ph idx="1"/>
          </p:nvPr>
        </p:nvSpPr>
        <p:spPr/>
        <p:txBody>
          <a:bodyPr/>
          <a:lstStyle/>
          <a:p>
            <a:r>
              <a:rPr lang="en-US" dirty="0"/>
              <a:t>Programs routinely treat attacker-supplied data as if it were control information</a:t>
            </a:r>
          </a:p>
          <a:p>
            <a:pPr lvl="1"/>
            <a:r>
              <a:rPr lang="en-US" dirty="0"/>
              <a:t>A saved return address is just bytes on the stack, until the CPU jumps to it</a:t>
            </a:r>
            <a:endParaRPr lang="en-US" sz="2000" dirty="0"/>
          </a:p>
          <a:p>
            <a:pPr lvl="1"/>
            <a:r>
              <a:rPr lang="en-US" dirty="0"/>
              <a:t>A function pointer is just a word in a struct, until it is called</a:t>
            </a:r>
            <a:endParaRPr lang="en-US" sz="2000" dirty="0"/>
          </a:p>
          <a:p>
            <a:pPr lvl="1"/>
            <a:r>
              <a:rPr lang="en-US" dirty="0"/>
              <a:t>A SQL query is just a string, until the database parses it</a:t>
            </a:r>
            <a:endParaRPr lang="en-US" sz="2000" dirty="0"/>
          </a:p>
          <a:p>
            <a:r>
              <a:rPr lang="en-US" b="1" dirty="0"/>
              <a:t>Most of the first half of this course is variations on that single idea.</a:t>
            </a:r>
            <a:endParaRPr lang="en-US" dirty="0"/>
          </a:p>
        </p:txBody>
      </p:sp>
      <p:sp>
        <p:nvSpPr>
          <p:cNvPr id="4" name="Slide Number 4"/>
          <p:cNvSpPr>
            <a:spLocks noGrp="1"/>
          </p:cNvSpPr>
          <p:nvPr>
            <p:ph type="sldNum" sz="quarter" idx="4"/>
          </p:nvPr>
        </p:nvSpPr>
        <p:spPr/>
        <p:txBody>
          <a:bodyPr/>
          <a:lstStyle/>
          <a:p>
            <a:fld id="{B6F15528-21DE-4FAA-801E-634DDDAF4B2B}" type="slidenum">
              <a:rPr lang="en-US"/>
              <a:t>8</a:t>
            </a:fld>
            <a:endParaRPr lang="en-US" dirty="0">
              <a:solidFill>
                <a:srgbClr val="000000"/>
              </a:solidFill>
            </a:endParaRPr>
          </a:p>
        </p:txBody>
      </p:sp>
    </p:spTree>
    <p:extLst>
      <p:ext uri="{BB962C8B-B14F-4D97-AF65-F5344CB8AC3E}">
        <p14:creationId xmlns:p14="http://schemas.microsoft.com/office/powerpoint/2010/main" val="3065122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What you will learn to do</a:t>
            </a:r>
          </a:p>
        </p:txBody>
      </p:sp>
      <p:sp>
        <p:nvSpPr>
          <p:cNvPr id="3" name="Content 3"/>
          <p:cNvSpPr>
            <a:spLocks noGrp="1"/>
          </p:cNvSpPr>
          <p:nvPr>
            <p:ph idx="1"/>
          </p:nvPr>
        </p:nvSpPr>
        <p:spPr/>
        <p:txBody>
          <a:bodyPr/>
          <a:lstStyle/>
          <a:p>
            <a:r>
              <a:rPr lang="en-US" dirty="0"/>
              <a:t>Carry out attacks that exploit real programs</a:t>
            </a:r>
          </a:p>
          <a:p>
            <a:r>
              <a:rPr lang="en-US" dirty="0"/>
              <a:t>Find vulnerabilities before an attacker does, with sanitizers, static analysis and fuzzing</a:t>
            </a:r>
          </a:p>
          <a:p>
            <a:r>
              <a:rPr lang="en-US" dirty="0"/>
              <a:t>Apply defenses, and understand exactly what each one does and does not stop</a:t>
            </a:r>
          </a:p>
          <a:p>
            <a:r>
              <a:rPr lang="en-US" dirty="0"/>
              <a:t>Read a system critically, the way an adversary would</a:t>
            </a:r>
          </a:p>
          <a:p>
            <a:r>
              <a:rPr lang="en-US" b="1" dirty="0"/>
              <a:t>Security is a dimension of every design decision, not a feature you add at the end.</a:t>
            </a:r>
            <a:endParaRPr lang="en-US" dirty="0"/>
          </a:p>
        </p:txBody>
      </p:sp>
      <p:sp>
        <p:nvSpPr>
          <p:cNvPr id="4" name="Slide Number 4"/>
          <p:cNvSpPr>
            <a:spLocks noGrp="1"/>
          </p:cNvSpPr>
          <p:nvPr>
            <p:ph type="sldNum" sz="quarter" idx="4"/>
          </p:nvPr>
        </p:nvSpPr>
        <p:spPr/>
        <p:txBody>
          <a:bodyPr/>
          <a:lstStyle/>
          <a:p>
            <a:fld id="{B6F15528-21DE-4FAA-801E-634DDDAF4B2B}" type="slidenum">
              <a:rPr lang="en-US"/>
              <a:t>9</a:t>
            </a:fld>
            <a:endParaRPr lang="en-US" dirty="0">
              <a:solidFill>
                <a:srgbClr val="000000"/>
              </a:solidFill>
            </a:endParaRPr>
          </a:p>
        </p:txBody>
      </p:sp>
    </p:spTree>
    <p:extLst>
      <p:ext uri="{BB962C8B-B14F-4D97-AF65-F5344CB8AC3E}">
        <p14:creationId xmlns:p14="http://schemas.microsoft.com/office/powerpoint/2010/main" val="30165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This is a hands-on course</a:t>
            </a:r>
          </a:p>
        </p:txBody>
      </p:sp>
      <p:sp>
        <p:nvSpPr>
          <p:cNvPr id="3" name="Content 3"/>
          <p:cNvSpPr>
            <a:spLocks noGrp="1"/>
          </p:cNvSpPr>
          <p:nvPr>
            <p:ph idx="1"/>
          </p:nvPr>
        </p:nvSpPr>
        <p:spPr/>
        <p:txBody>
          <a:bodyPr/>
          <a:lstStyle/>
          <a:p>
            <a:r>
              <a:rPr lang="en-US" dirty="0"/>
              <a:t>Eight Thursday afternoons attacking and defending a </a:t>
            </a:r>
            <a:r>
              <a:rPr lang="en-US"/>
              <a:t>real stuff</a:t>
            </a:r>
            <a:endParaRPr lang="en-US" dirty="0"/>
          </a:p>
          <a:p>
            <a:r>
              <a:rPr lang="en-US" dirty="0"/>
              <a:t>Not a theory course. Not a cryptography course.</a:t>
            </a:r>
          </a:p>
          <a:p>
            <a:r>
              <a:rPr lang="en-US" dirty="0"/>
              <a:t>Assumes you are comfortable with C, the stack, and a debugger</a:t>
            </a:r>
          </a:p>
          <a:p>
            <a:pPr lvl="1"/>
            <a:r>
              <a:rPr lang="en-US" dirty="0"/>
              <a:t>If you are rusty, Lab 1 exists to fix that. Come anyway.</a:t>
            </a:r>
            <a:endParaRPr lang="en-US" sz="2000" dirty="0"/>
          </a:p>
          <a:p>
            <a:r>
              <a:rPr lang="en-US" dirty="0"/>
              <a:t>It </a:t>
            </a:r>
            <a:r>
              <a:rPr lang="en-US"/>
              <a:t>is demanding. Lots of independent, constant work</a:t>
            </a:r>
            <a:endParaRPr lang="en-US" dirty="0"/>
          </a:p>
        </p:txBody>
      </p:sp>
      <p:sp>
        <p:nvSpPr>
          <p:cNvPr id="4" name="Slide Number 4"/>
          <p:cNvSpPr>
            <a:spLocks noGrp="1"/>
          </p:cNvSpPr>
          <p:nvPr>
            <p:ph type="sldNum" sz="quarter" idx="4"/>
          </p:nvPr>
        </p:nvSpPr>
        <p:spPr/>
        <p:txBody>
          <a:bodyPr/>
          <a:lstStyle/>
          <a:p>
            <a:fld id="{B6F15528-21DE-4FAA-801E-634DDDAF4B2B}" type="slidenum">
              <a:rPr lang="en-US"/>
              <a:t>10</a:t>
            </a:fld>
            <a:endParaRPr lang="en-US" dirty="0">
              <a:solidFill>
                <a:srgbClr val="000000"/>
              </a:solidFill>
            </a:endParaRPr>
          </a:p>
        </p:txBody>
      </p:sp>
    </p:spTree>
    <p:extLst>
      <p:ext uri="{BB962C8B-B14F-4D97-AF65-F5344CB8AC3E}">
        <p14:creationId xmlns:p14="http://schemas.microsoft.com/office/powerpoint/2010/main" val="263884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Logistics</a:t>
            </a:r>
          </a:p>
        </p:txBody>
      </p:sp>
      <p:sp>
        <p:nvSpPr>
          <p:cNvPr id="5" name="Text Placeholder 4">
            <a:extLst>
              <a:ext uri="{FF2B5EF4-FFF2-40B4-BE49-F238E27FC236}">
                <a16:creationId xmlns:a16="http://schemas.microsoft.com/office/drawing/2014/main" id="{630D511C-BF21-FF2B-ECE2-DEE3F9E331D4}"/>
              </a:ext>
            </a:extLst>
          </p:cNvPr>
          <p:cNvSpPr>
            <a:spLocks noGrp="1"/>
          </p:cNvSpPr>
          <p:nvPr>
            <p:ph type="body" idx="1"/>
          </p:nvPr>
        </p:nvSpPr>
        <p:spPr/>
        <p:txBody>
          <a:bodyPr/>
          <a:lstStyle/>
          <a:p>
            <a:endParaRPr lang="en-US"/>
          </a:p>
        </p:txBody>
      </p:sp>
      <p:sp>
        <p:nvSpPr>
          <p:cNvPr id="4" name="Slide Number 4"/>
          <p:cNvSpPr>
            <a:spLocks noGrp="1"/>
          </p:cNvSpPr>
          <p:nvPr>
            <p:ph type="sldNum" sz="quarter" idx="4"/>
          </p:nvPr>
        </p:nvSpPr>
        <p:spPr/>
        <p:txBody>
          <a:bodyPr/>
          <a:lstStyle/>
          <a:p>
            <a:fld id="{B6F15528-21DE-4FAA-801E-634DDDAF4B2B}" type="slidenum">
              <a:rPr lang="en-US"/>
              <a:t>11</a:t>
            </a:fld>
            <a:endParaRPr lang="en-US" dirty="0">
              <a:solidFill>
                <a:srgbClr val="000000"/>
              </a:solidFill>
            </a:endParaRPr>
          </a:p>
        </p:txBody>
      </p:sp>
    </p:spTree>
    <p:extLst>
      <p:ext uri="{BB962C8B-B14F-4D97-AF65-F5344CB8AC3E}">
        <p14:creationId xmlns:p14="http://schemas.microsoft.com/office/powerpoint/2010/main" val="3205488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Materials</a:t>
            </a:r>
          </a:p>
        </p:txBody>
      </p:sp>
      <p:sp>
        <p:nvSpPr>
          <p:cNvPr id="3" name="Content 3"/>
          <p:cNvSpPr>
            <a:spLocks noGrp="1"/>
          </p:cNvSpPr>
          <p:nvPr>
            <p:ph idx="1"/>
          </p:nvPr>
        </p:nvSpPr>
        <p:spPr/>
        <p:txBody>
          <a:bodyPr/>
          <a:lstStyle/>
          <a:p>
            <a:r>
              <a:rPr lang="en-US" dirty="0"/>
              <a:t>Primary text: Tools and Jewels, Paul van Oorschot</a:t>
            </a:r>
          </a:p>
          <a:p>
            <a:pPr lvl="1"/>
            <a:r>
              <a:rPr lang="en-US" dirty="0"/>
              <a:t>Free online. Chapter readings are listed with the schedule.</a:t>
            </a:r>
            <a:endParaRPr lang="en-US" sz="2000" dirty="0"/>
          </a:p>
          <a:p>
            <a:r>
              <a:rPr lang="en-US" dirty="0"/>
              <a:t>Optional: Hacking: The Art of Exploitation (2nd edition), Jon Erickson</a:t>
            </a:r>
          </a:p>
          <a:p>
            <a:pPr lvl="1"/>
            <a:r>
              <a:rPr lang="en-US" dirty="0"/>
              <a:t>Useful if you want more depth on the attack mechanics.</a:t>
            </a:r>
            <a:endParaRPr lang="en-US" sz="2000" dirty="0"/>
          </a:p>
          <a:p>
            <a:r>
              <a:rPr lang="en-US" dirty="0"/>
              <a:t>Readings are posted per lecture on the course website</a:t>
            </a:r>
          </a:p>
        </p:txBody>
      </p:sp>
      <p:sp>
        <p:nvSpPr>
          <p:cNvPr id="4" name="Slide Number 4"/>
          <p:cNvSpPr>
            <a:spLocks noGrp="1"/>
          </p:cNvSpPr>
          <p:nvPr>
            <p:ph type="sldNum" sz="quarter" idx="4"/>
          </p:nvPr>
        </p:nvSpPr>
        <p:spPr/>
        <p:txBody>
          <a:bodyPr/>
          <a:lstStyle/>
          <a:p>
            <a:fld id="{B6F15528-21DE-4FAA-801E-634DDDAF4B2B}" type="slidenum">
              <a:rPr lang="en-US"/>
              <a:t>12</a:t>
            </a:fld>
            <a:endParaRPr lang="en-US" dirty="0">
              <a:solidFill>
                <a:srgbClr val="000000"/>
              </a:solidFill>
            </a:endParaRPr>
          </a:p>
        </p:txBody>
      </p:sp>
    </p:spTree>
    <p:extLst>
      <p:ext uri="{BB962C8B-B14F-4D97-AF65-F5344CB8AC3E}">
        <p14:creationId xmlns:p14="http://schemas.microsoft.com/office/powerpoint/2010/main" val="2213400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Grading</a:t>
            </a:r>
          </a:p>
        </p:txBody>
      </p:sp>
      <p:sp>
        <p:nvSpPr>
          <p:cNvPr id="12" name="Slide Number 12"/>
          <p:cNvSpPr>
            <a:spLocks noGrp="1"/>
          </p:cNvSpPr>
          <p:nvPr>
            <p:ph type="sldNum" sz="quarter" idx="4"/>
          </p:nvPr>
        </p:nvSpPr>
        <p:spPr/>
        <p:txBody>
          <a:bodyPr/>
          <a:lstStyle/>
          <a:p>
            <a:fld id="{B6F15528-21DE-4FAA-801E-634DDDAF4B2B}" type="slidenum">
              <a:rPr lang="en-US"/>
              <a:t>13</a:t>
            </a:fld>
            <a:endParaRPr lang="en-US" dirty="0">
              <a:solidFill>
                <a:srgbClr val="000000"/>
              </a:solidFill>
            </a:endParaRPr>
          </a:p>
        </p:txBody>
      </p:sp>
      <p:sp>
        <p:nvSpPr>
          <p:cNvPr id="3" name="Text 1"/>
          <p:cNvSpPr txBox="1"/>
          <p:nvPr/>
        </p:nvSpPr>
        <p:spPr>
          <a:xfrm>
            <a:off x="548640" y="1417320"/>
            <a:ext cx="5120640" cy="502920"/>
          </a:xfrm>
          <a:prstGeom prst="rect">
            <a:avLst/>
          </a:prstGeom>
          <a:noFill/>
          <a:ln/>
        </p:spPr>
        <p:txBody>
          <a:bodyPr wrap="square" lIns="0" tIns="0" rIns="0" bIns="0" rtlCol="0" anchor="ctr"/>
          <a:lstStyle/>
          <a:p>
            <a:pPr marL="0" indent="0" algn="l">
              <a:buNone/>
            </a:pPr>
            <a:r>
              <a:rPr lang="en-US" sz="2600" dirty="0">
                <a:solidFill>
                  <a:srgbClr val="000000"/>
                </a:solidFill>
                <a:latin typeface="Arial" pitchFamily="34" charset="0"/>
                <a:ea typeface="Arial" pitchFamily="34" charset="-122"/>
                <a:cs typeface="Arial" pitchFamily="34" charset="-120"/>
              </a:rPr>
              <a:t>Labs</a:t>
            </a:r>
            <a:endParaRPr lang="en-US" sz="2600" dirty="0"/>
          </a:p>
        </p:txBody>
      </p:sp>
      <p:sp>
        <p:nvSpPr>
          <p:cNvPr id="4" name="Text 2"/>
          <p:cNvSpPr txBox="1"/>
          <p:nvPr/>
        </p:nvSpPr>
        <p:spPr>
          <a:xfrm>
            <a:off x="5669280" y="1417320"/>
            <a:ext cx="1463040" cy="502920"/>
          </a:xfrm>
          <a:prstGeom prst="rect">
            <a:avLst/>
          </a:prstGeom>
          <a:noFill/>
          <a:ln/>
        </p:spPr>
        <p:txBody>
          <a:bodyPr wrap="square" lIns="0" tIns="0" rIns="0" bIns="0" rtlCol="0" anchor="ctr"/>
          <a:lstStyle/>
          <a:p>
            <a:pPr marL="0" indent="0" algn="r">
              <a:buNone/>
            </a:pPr>
            <a:r>
              <a:rPr lang="en-US" sz="2600" b="1" dirty="0">
                <a:solidFill>
                  <a:srgbClr val="000000"/>
                </a:solidFill>
                <a:latin typeface="Arial" pitchFamily="34" charset="0"/>
                <a:ea typeface="Arial" pitchFamily="34" charset="-122"/>
                <a:cs typeface="Arial" pitchFamily="34" charset="-120"/>
              </a:rPr>
              <a:t>25%</a:t>
            </a:r>
            <a:endParaRPr lang="en-US" sz="2600" dirty="0"/>
          </a:p>
        </p:txBody>
      </p:sp>
      <p:sp>
        <p:nvSpPr>
          <p:cNvPr id="5" name="Text 3"/>
          <p:cNvSpPr txBox="1"/>
          <p:nvPr/>
        </p:nvSpPr>
        <p:spPr>
          <a:xfrm>
            <a:off x="548640" y="1984248"/>
            <a:ext cx="5120640" cy="502920"/>
          </a:xfrm>
          <a:prstGeom prst="rect">
            <a:avLst/>
          </a:prstGeom>
          <a:noFill/>
          <a:ln/>
        </p:spPr>
        <p:txBody>
          <a:bodyPr wrap="square" lIns="0" tIns="0" rIns="0" bIns="0" rtlCol="0" anchor="ctr"/>
          <a:lstStyle/>
          <a:p>
            <a:pPr marL="0" indent="0" algn="l">
              <a:buNone/>
            </a:pPr>
            <a:r>
              <a:rPr lang="en-US" sz="2600" dirty="0">
                <a:solidFill>
                  <a:srgbClr val="000000"/>
                </a:solidFill>
                <a:latin typeface="Arial" pitchFamily="34" charset="0"/>
                <a:ea typeface="Arial" pitchFamily="34" charset="-122"/>
                <a:cs typeface="Arial" pitchFamily="34" charset="-120"/>
              </a:rPr>
              <a:t>Quizzes (5, drop lowest 2)</a:t>
            </a:r>
            <a:endParaRPr lang="en-US" sz="2600" dirty="0"/>
          </a:p>
        </p:txBody>
      </p:sp>
      <p:sp>
        <p:nvSpPr>
          <p:cNvPr id="6" name="Text 4"/>
          <p:cNvSpPr txBox="1"/>
          <p:nvPr/>
        </p:nvSpPr>
        <p:spPr>
          <a:xfrm>
            <a:off x="5669280" y="1984248"/>
            <a:ext cx="1463040" cy="502920"/>
          </a:xfrm>
          <a:prstGeom prst="rect">
            <a:avLst/>
          </a:prstGeom>
          <a:noFill/>
          <a:ln/>
        </p:spPr>
        <p:txBody>
          <a:bodyPr wrap="square" lIns="0" tIns="0" rIns="0" bIns="0" rtlCol="0" anchor="ctr"/>
          <a:lstStyle/>
          <a:p>
            <a:pPr marL="0" indent="0" algn="r">
              <a:buNone/>
            </a:pPr>
            <a:r>
              <a:rPr lang="en-US" sz="2600" b="1" dirty="0">
                <a:solidFill>
                  <a:srgbClr val="000000"/>
                </a:solidFill>
                <a:latin typeface="Arial" pitchFamily="34" charset="0"/>
                <a:ea typeface="Arial" pitchFamily="34" charset="-122"/>
                <a:cs typeface="Arial" pitchFamily="34" charset="-120"/>
              </a:rPr>
              <a:t>20%</a:t>
            </a:r>
            <a:endParaRPr lang="en-US" sz="2600" dirty="0"/>
          </a:p>
        </p:txBody>
      </p:sp>
      <p:sp>
        <p:nvSpPr>
          <p:cNvPr id="7" name="Text 5"/>
          <p:cNvSpPr txBox="1"/>
          <p:nvPr/>
        </p:nvSpPr>
        <p:spPr>
          <a:xfrm>
            <a:off x="548640" y="2551176"/>
            <a:ext cx="5120640" cy="502920"/>
          </a:xfrm>
          <a:prstGeom prst="rect">
            <a:avLst/>
          </a:prstGeom>
          <a:noFill/>
          <a:ln/>
        </p:spPr>
        <p:txBody>
          <a:bodyPr wrap="square" lIns="0" tIns="0" rIns="0" bIns="0" rtlCol="0" anchor="ctr"/>
          <a:lstStyle/>
          <a:p>
            <a:pPr marL="0" indent="0" algn="l">
              <a:buNone/>
            </a:pPr>
            <a:r>
              <a:rPr lang="en-US" sz="2600" dirty="0">
                <a:solidFill>
                  <a:srgbClr val="000000"/>
                </a:solidFill>
                <a:latin typeface="Arial" pitchFamily="34" charset="0"/>
                <a:ea typeface="Arial" pitchFamily="34" charset="-122"/>
                <a:cs typeface="Arial" pitchFamily="34" charset="-120"/>
              </a:rPr>
              <a:t>Midterm</a:t>
            </a:r>
            <a:endParaRPr lang="en-US" sz="2600" dirty="0"/>
          </a:p>
        </p:txBody>
      </p:sp>
      <p:sp>
        <p:nvSpPr>
          <p:cNvPr id="8" name="Text 6"/>
          <p:cNvSpPr txBox="1"/>
          <p:nvPr/>
        </p:nvSpPr>
        <p:spPr>
          <a:xfrm>
            <a:off x="5669280" y="2551176"/>
            <a:ext cx="1463040" cy="502920"/>
          </a:xfrm>
          <a:prstGeom prst="rect">
            <a:avLst/>
          </a:prstGeom>
          <a:noFill/>
          <a:ln/>
        </p:spPr>
        <p:txBody>
          <a:bodyPr wrap="square" lIns="0" tIns="0" rIns="0" bIns="0" rtlCol="0" anchor="ctr"/>
          <a:lstStyle/>
          <a:p>
            <a:pPr marL="0" indent="0" algn="r">
              <a:buNone/>
            </a:pPr>
            <a:r>
              <a:rPr lang="en-US" sz="2600" b="1" dirty="0">
                <a:solidFill>
                  <a:srgbClr val="000000"/>
                </a:solidFill>
                <a:latin typeface="Arial" pitchFamily="34" charset="0"/>
                <a:ea typeface="Arial" pitchFamily="34" charset="-122"/>
                <a:cs typeface="Arial" pitchFamily="34" charset="-120"/>
              </a:rPr>
              <a:t>25%</a:t>
            </a:r>
            <a:endParaRPr lang="en-US" sz="2600" dirty="0"/>
          </a:p>
        </p:txBody>
      </p:sp>
      <p:sp>
        <p:nvSpPr>
          <p:cNvPr id="9" name="Text 7"/>
          <p:cNvSpPr txBox="1"/>
          <p:nvPr/>
        </p:nvSpPr>
        <p:spPr>
          <a:xfrm>
            <a:off x="548640" y="3118104"/>
            <a:ext cx="5120640" cy="502920"/>
          </a:xfrm>
          <a:prstGeom prst="rect">
            <a:avLst/>
          </a:prstGeom>
          <a:noFill/>
          <a:ln/>
        </p:spPr>
        <p:txBody>
          <a:bodyPr wrap="square" lIns="0" tIns="0" rIns="0" bIns="0" rtlCol="0" anchor="ctr"/>
          <a:lstStyle/>
          <a:p>
            <a:pPr marL="0" indent="0" algn="l">
              <a:buNone/>
            </a:pPr>
            <a:r>
              <a:rPr lang="en-US" sz="2600" dirty="0">
                <a:solidFill>
                  <a:srgbClr val="000000"/>
                </a:solidFill>
                <a:latin typeface="Arial" pitchFamily="34" charset="0"/>
                <a:ea typeface="Arial" pitchFamily="34" charset="-122"/>
                <a:cs typeface="Arial" pitchFamily="34" charset="-120"/>
              </a:rPr>
              <a:t>Final, comprehensive</a:t>
            </a:r>
            <a:endParaRPr lang="en-US" sz="2600" dirty="0"/>
          </a:p>
        </p:txBody>
      </p:sp>
      <p:sp>
        <p:nvSpPr>
          <p:cNvPr id="10" name="Text 8"/>
          <p:cNvSpPr txBox="1"/>
          <p:nvPr/>
        </p:nvSpPr>
        <p:spPr>
          <a:xfrm>
            <a:off x="5669280" y="3118104"/>
            <a:ext cx="1463040" cy="502920"/>
          </a:xfrm>
          <a:prstGeom prst="rect">
            <a:avLst/>
          </a:prstGeom>
          <a:noFill/>
          <a:ln/>
        </p:spPr>
        <p:txBody>
          <a:bodyPr wrap="square" lIns="0" tIns="0" rIns="0" bIns="0" rtlCol="0" anchor="ctr"/>
          <a:lstStyle/>
          <a:p>
            <a:pPr marL="0" indent="0" algn="r">
              <a:buNone/>
            </a:pPr>
            <a:r>
              <a:rPr lang="en-US" sz="2600" b="1" dirty="0">
                <a:solidFill>
                  <a:srgbClr val="000000"/>
                </a:solidFill>
                <a:latin typeface="Arial" pitchFamily="34" charset="0"/>
                <a:ea typeface="Arial" pitchFamily="34" charset="-122"/>
                <a:cs typeface="Arial" pitchFamily="34" charset="-120"/>
              </a:rPr>
              <a:t>30%</a:t>
            </a:r>
            <a:endParaRPr lang="en-US" sz="2600" dirty="0"/>
          </a:p>
        </p:txBody>
      </p:sp>
    </p:spTree>
    <p:extLst>
      <p:ext uri="{BB962C8B-B14F-4D97-AF65-F5344CB8AC3E}">
        <p14:creationId xmlns:p14="http://schemas.microsoft.com/office/powerpoint/2010/main" val="428604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The labs: 25 percent</a:t>
            </a:r>
          </a:p>
        </p:txBody>
      </p:sp>
      <p:sp>
        <p:nvSpPr>
          <p:cNvPr id="3" name="Content 3"/>
          <p:cNvSpPr>
            <a:spLocks noGrp="1"/>
          </p:cNvSpPr>
          <p:nvPr>
            <p:ph idx="1"/>
          </p:nvPr>
        </p:nvSpPr>
        <p:spPr/>
        <p:txBody>
          <a:bodyPr/>
          <a:lstStyle/>
          <a:p>
            <a:r>
              <a:rPr lang="en-US" dirty="0"/>
              <a:t>Lab/discussion sessions, Thursdays, UTLF 215</a:t>
            </a:r>
          </a:p>
          <a:p>
            <a:r>
              <a:rPr lang="en-US" dirty="0"/>
              <a:t>One instructor-provided vulnerable C program runs through the whole sequence</a:t>
            </a:r>
          </a:p>
          <a:p>
            <a:pPr lvl="1"/>
            <a:r>
              <a:rPr lang="en-US" dirty="0"/>
              <a:t>You never write the buggy code. You attack it, measure it, then harden it.</a:t>
            </a:r>
            <a:endParaRPr lang="en-US" sz="2000" dirty="0"/>
          </a:p>
          <a:p>
            <a:r>
              <a:rPr lang="en-US" dirty="0"/>
              <a:t>Every student gets their own seeded build</a:t>
            </a:r>
          </a:p>
          <a:p>
            <a:pPr lvl="1"/>
            <a:r>
              <a:rPr lang="en-US" dirty="0"/>
              <a:t>Different secret, different buffer size, different target, per person.</a:t>
            </a:r>
            <a:endParaRPr lang="en-US" sz="2000" dirty="0"/>
          </a:p>
          <a:p>
            <a:r>
              <a:rPr lang="en-US" b="1" dirty="0"/>
              <a:t>Individual work</a:t>
            </a:r>
            <a:endParaRPr lang="en-US" dirty="0"/>
          </a:p>
          <a:p>
            <a:pPr lvl="1"/>
            <a:r>
              <a:rPr lang="en-US" dirty="0"/>
              <a:t>An exploit that works against someone else's seed did not come from you.</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14</a:t>
            </a:fld>
            <a:endParaRPr lang="en-US" dirty="0">
              <a:solidFill>
                <a:srgbClr val="000000"/>
              </a:solidFill>
            </a:endParaRPr>
          </a:p>
        </p:txBody>
      </p:sp>
    </p:spTree>
    <p:extLst>
      <p:ext uri="{BB962C8B-B14F-4D97-AF65-F5344CB8AC3E}">
        <p14:creationId xmlns:p14="http://schemas.microsoft.com/office/powerpoint/2010/main" val="1876501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How a lab is graded</a:t>
            </a:r>
          </a:p>
        </p:txBody>
      </p:sp>
      <p:sp>
        <p:nvSpPr>
          <p:cNvPr id="3" name="Content 3"/>
          <p:cNvSpPr>
            <a:spLocks noGrp="1"/>
          </p:cNvSpPr>
          <p:nvPr>
            <p:ph idx="1"/>
          </p:nvPr>
        </p:nvSpPr>
        <p:spPr/>
        <p:txBody>
          <a:bodyPr/>
          <a:lstStyle/>
          <a:p>
            <a:r>
              <a:rPr lang="en-US" b="1" dirty="0"/>
              <a:t>60 percent: the in-lab demo</a:t>
            </a:r>
            <a:endParaRPr lang="en-US" dirty="0"/>
          </a:p>
          <a:p>
            <a:pPr lvl="1"/>
            <a:r>
              <a:rPr lang="en-US" dirty="0"/>
              <a:t>You show the TA your working exploit, crash or patch during the session.</a:t>
            </a:r>
            <a:endParaRPr lang="en-US" sz="2000" dirty="0"/>
          </a:p>
          <a:p>
            <a:pPr lvl="1"/>
            <a:r>
              <a:rPr lang="en-US" dirty="0"/>
              <a:t>This is where 'it actually runs' gets verified.</a:t>
            </a:r>
            <a:endParaRPr lang="en-US" sz="2000" dirty="0"/>
          </a:p>
          <a:p>
            <a:r>
              <a:rPr lang="en-US" b="1" dirty="0"/>
              <a:t>40 percent: a one-page writeup</a:t>
            </a:r>
            <a:endParaRPr lang="en-US" dirty="0"/>
          </a:p>
          <a:p>
            <a:pPr lvl="1"/>
            <a:r>
              <a:rPr lang="en-US" dirty="0"/>
              <a:t>Due the following Sunday at 11:59pm. What the flaw was, how your payload or patch works, and your evidence.</a:t>
            </a:r>
            <a:endParaRPr lang="en-US" sz="2000" dirty="0"/>
          </a:p>
          <a:p>
            <a:r>
              <a:rPr lang="en-US" dirty="0"/>
              <a:t>Your lowest writeup is dropped.</a:t>
            </a:r>
          </a:p>
          <a:p>
            <a:r>
              <a:rPr lang="en-US" b="1" dirty="0"/>
              <a:t>Demos cannot be made up. If you are not there, there is no demo credit.</a:t>
            </a:r>
            <a:endParaRPr lang="en-US" dirty="0"/>
          </a:p>
        </p:txBody>
      </p:sp>
      <p:sp>
        <p:nvSpPr>
          <p:cNvPr id="4" name="Slide Number 4"/>
          <p:cNvSpPr>
            <a:spLocks noGrp="1"/>
          </p:cNvSpPr>
          <p:nvPr>
            <p:ph type="sldNum" sz="quarter" idx="4"/>
          </p:nvPr>
        </p:nvSpPr>
        <p:spPr/>
        <p:txBody>
          <a:bodyPr/>
          <a:lstStyle/>
          <a:p>
            <a:fld id="{B6F15528-21DE-4FAA-801E-634DDDAF4B2B}" type="slidenum">
              <a:rPr lang="en-US"/>
              <a:t>15</a:t>
            </a:fld>
            <a:endParaRPr lang="en-US" dirty="0">
              <a:solidFill>
                <a:srgbClr val="000000"/>
              </a:solidFill>
            </a:endParaRPr>
          </a:p>
        </p:txBody>
      </p:sp>
    </p:spTree>
    <p:extLst>
      <p:ext uri="{BB962C8B-B14F-4D97-AF65-F5344CB8AC3E}">
        <p14:creationId xmlns:p14="http://schemas.microsoft.com/office/powerpoint/2010/main" val="732014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Quizzes: 20 percent</a:t>
            </a:r>
          </a:p>
        </p:txBody>
      </p:sp>
      <p:sp>
        <p:nvSpPr>
          <p:cNvPr id="3" name="Content 3"/>
          <p:cNvSpPr>
            <a:spLocks noGrp="1"/>
          </p:cNvSpPr>
          <p:nvPr>
            <p:ph idx="1"/>
          </p:nvPr>
        </p:nvSpPr>
        <p:spPr/>
        <p:txBody>
          <a:bodyPr/>
          <a:lstStyle/>
          <a:p>
            <a:r>
              <a:rPr lang="en-US" dirty="0"/>
              <a:t>Five quizzes, held at the start of class</a:t>
            </a:r>
          </a:p>
          <a:p>
            <a:r>
              <a:rPr lang="en-US" dirty="0"/>
              <a:t>One or two questions, drawn from the lectures since the last quiz</a:t>
            </a:r>
          </a:p>
          <a:p>
            <a:r>
              <a:rPr lang="en-US" b="1" dirty="0"/>
              <a:t>The lowest two are dropped</a:t>
            </a:r>
            <a:endParaRPr lang="en-US" dirty="0"/>
          </a:p>
          <a:p>
            <a:pPr lvl="1"/>
            <a:r>
              <a:rPr lang="en-US" dirty="0"/>
              <a:t>That also covers any you miss. No note required.</a:t>
            </a:r>
            <a:endParaRPr lang="en-US" sz="2000" dirty="0"/>
          </a:p>
          <a:p>
            <a:r>
              <a:rPr lang="en-US" dirty="0"/>
              <a:t>Keeping up with the slides and readings is the cheapest way to do well on these.</a:t>
            </a:r>
          </a:p>
        </p:txBody>
      </p:sp>
      <p:sp>
        <p:nvSpPr>
          <p:cNvPr id="4" name="Slide Number 4"/>
          <p:cNvSpPr>
            <a:spLocks noGrp="1"/>
          </p:cNvSpPr>
          <p:nvPr>
            <p:ph type="sldNum" sz="quarter" idx="4"/>
          </p:nvPr>
        </p:nvSpPr>
        <p:spPr/>
        <p:txBody>
          <a:bodyPr/>
          <a:lstStyle/>
          <a:p>
            <a:fld id="{B6F15528-21DE-4FAA-801E-634DDDAF4B2B}" type="slidenum">
              <a:rPr lang="en-US"/>
              <a:t>16</a:t>
            </a:fld>
            <a:endParaRPr lang="en-US" dirty="0">
              <a:solidFill>
                <a:srgbClr val="000000"/>
              </a:solidFill>
            </a:endParaRPr>
          </a:p>
        </p:txBody>
      </p:sp>
    </p:spTree>
    <p:extLst>
      <p:ext uri="{BB962C8B-B14F-4D97-AF65-F5344CB8AC3E}">
        <p14:creationId xmlns:p14="http://schemas.microsoft.com/office/powerpoint/2010/main" val="2674194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Exams: 55 percent</a:t>
            </a:r>
          </a:p>
        </p:txBody>
      </p:sp>
      <p:sp>
        <p:nvSpPr>
          <p:cNvPr id="3" name="Content 3"/>
          <p:cNvSpPr>
            <a:spLocks noGrp="1"/>
          </p:cNvSpPr>
          <p:nvPr>
            <p:ph idx="1"/>
          </p:nvPr>
        </p:nvSpPr>
        <p:spPr/>
        <p:txBody>
          <a:bodyPr/>
          <a:lstStyle/>
          <a:p>
            <a:r>
              <a:rPr lang="en-US" dirty="0"/>
              <a:t>Midterm, in class, 25 percent</a:t>
            </a:r>
          </a:p>
          <a:p>
            <a:r>
              <a:rPr lang="en-US" dirty="0"/>
              <a:t>Final, comprehensive, 30 percent, date TBA</a:t>
            </a:r>
          </a:p>
          <a:p>
            <a:r>
              <a:rPr lang="en-US" dirty="0"/>
              <a:t>Both test the material broadly and deeply</a:t>
            </a:r>
          </a:p>
          <a:p>
            <a:pPr lvl="1"/>
            <a:r>
              <a:rPr lang="en-US" dirty="0"/>
              <a:t>Expect some conceptual questions and problem-solving, not recall.</a:t>
            </a:r>
            <a:endParaRPr lang="en-US" sz="2000" dirty="0"/>
          </a:p>
          <a:p>
            <a:r>
              <a:rPr lang="en-US" b="1" dirty="0"/>
              <a:t>The quizzes and some review sessions will prepare you for these.</a:t>
            </a:r>
            <a:endParaRPr lang="en-US" dirty="0"/>
          </a:p>
        </p:txBody>
      </p:sp>
      <p:sp>
        <p:nvSpPr>
          <p:cNvPr id="4" name="Slide Number 4"/>
          <p:cNvSpPr>
            <a:spLocks noGrp="1"/>
          </p:cNvSpPr>
          <p:nvPr>
            <p:ph type="sldNum" sz="quarter" idx="4"/>
          </p:nvPr>
        </p:nvSpPr>
        <p:spPr/>
        <p:txBody>
          <a:bodyPr/>
          <a:lstStyle/>
          <a:p>
            <a:fld id="{B6F15528-21DE-4FAA-801E-634DDDAF4B2B}" type="slidenum">
              <a:rPr lang="en-US"/>
              <a:t>17</a:t>
            </a:fld>
            <a:endParaRPr lang="en-US" dirty="0">
              <a:solidFill>
                <a:srgbClr val="000000"/>
              </a:solidFill>
            </a:endParaRPr>
          </a:p>
        </p:txBody>
      </p:sp>
    </p:spTree>
    <p:extLst>
      <p:ext uri="{BB962C8B-B14F-4D97-AF65-F5344CB8AC3E}">
        <p14:creationId xmlns:p14="http://schemas.microsoft.com/office/powerpoint/2010/main" val="3170420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Academic integrity</a:t>
            </a:r>
          </a:p>
        </p:txBody>
      </p:sp>
      <p:sp>
        <p:nvSpPr>
          <p:cNvPr id="3" name="Content 3"/>
          <p:cNvSpPr>
            <a:spLocks noGrp="1"/>
          </p:cNvSpPr>
          <p:nvPr>
            <p:ph idx="1"/>
          </p:nvPr>
        </p:nvSpPr>
        <p:spPr/>
        <p:txBody>
          <a:bodyPr/>
          <a:lstStyle/>
          <a:p>
            <a:r>
              <a:rPr lang="en-US" dirty="0"/>
              <a:t>UCR Academic Integrity Policies and Procedures apply in full</a:t>
            </a:r>
          </a:p>
          <a:p>
            <a:pPr lvl="1"/>
            <a:r>
              <a:rPr lang="en-US" dirty="0"/>
              <a:t>Linked from the course website.</a:t>
            </a:r>
            <a:endParaRPr lang="en-US" sz="2000" dirty="0"/>
          </a:p>
          <a:p>
            <a:r>
              <a:rPr lang="en-US" dirty="0"/>
              <a:t>Labs are individual. Do not share code, payloads, or writeups.</a:t>
            </a:r>
          </a:p>
          <a:p>
            <a:pPr lvl="1"/>
            <a:r>
              <a:rPr lang="en-US" dirty="0"/>
              <a:t>Because builds are seeded per student, a shared payload is visible as a shared payload.</a:t>
            </a:r>
            <a:endParaRPr lang="en-US" sz="2000" dirty="0"/>
          </a:p>
          <a:p>
            <a:r>
              <a:rPr lang="en-US" dirty="0"/>
              <a:t>Discussing concepts is fine. Handing over a working exploit is not.</a:t>
            </a:r>
          </a:p>
          <a:p>
            <a:r>
              <a:rPr lang="en-US" dirty="0"/>
              <a:t>If you are unsure where the line is, ask me. That is always the cheaper option.</a:t>
            </a:r>
          </a:p>
        </p:txBody>
      </p:sp>
      <p:sp>
        <p:nvSpPr>
          <p:cNvPr id="4" name="Slide Number 4"/>
          <p:cNvSpPr>
            <a:spLocks noGrp="1"/>
          </p:cNvSpPr>
          <p:nvPr>
            <p:ph type="sldNum" sz="quarter" idx="4"/>
          </p:nvPr>
        </p:nvSpPr>
        <p:spPr/>
        <p:txBody>
          <a:bodyPr/>
          <a:lstStyle/>
          <a:p>
            <a:fld id="{B6F15528-21DE-4FAA-801E-634DDDAF4B2B}" type="slidenum">
              <a:rPr lang="en-US"/>
              <a:t>18</a:t>
            </a:fld>
            <a:endParaRPr lang="en-US" dirty="0">
              <a:solidFill>
                <a:srgbClr val="000000"/>
              </a:solidFill>
            </a:endParaRPr>
          </a:p>
        </p:txBody>
      </p:sp>
    </p:spTree>
    <p:extLst>
      <p:ext uri="{BB962C8B-B14F-4D97-AF65-F5344CB8AC3E}">
        <p14:creationId xmlns:p14="http://schemas.microsoft.com/office/powerpoint/2010/main" val="111479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Ethics</a:t>
            </a:r>
          </a:p>
        </p:txBody>
      </p:sp>
      <p:sp>
        <p:nvSpPr>
          <p:cNvPr id="3" name="Content 3"/>
          <p:cNvSpPr>
            <a:spLocks noGrp="1"/>
          </p:cNvSpPr>
          <p:nvPr>
            <p:ph idx="1"/>
          </p:nvPr>
        </p:nvSpPr>
        <p:spPr>
          <a:prstGeom prst="rect">
            <a:avLst/>
          </a:prstGeom>
        </p:spPr>
        <p:txBody>
          <a:bodyPr>
            <a:normAutofit lnSpcReduction="10000"/>
          </a:bodyPr>
          <a:lstStyle/>
          <a:p>
            <a:pPr marL="0" indent="0">
              <a:spcBef>
                <a:spcPts val="0"/>
              </a:spcBef>
              <a:spcAft>
                <a:spcPts val="500"/>
              </a:spcAft>
              <a:buNone/>
            </a:pPr>
            <a:r>
              <a:rPr lang="en-US" sz="1900" dirty="0"/>
              <a:t>This course covers software exploitation techniques. Some of what you learn could be abused to infringe on the rights of others.</a:t>
            </a:r>
          </a:p>
          <a:p>
            <a:pPr marL="0" indent="0">
              <a:spcBef>
                <a:spcPts val="0"/>
              </a:spcBef>
              <a:spcAft>
                <a:spcPts val="500"/>
              </a:spcAft>
              <a:buNone/>
            </a:pPr>
            <a:r>
              <a:rPr lang="en-US" sz="1900" dirty="0"/>
              <a:t>I am relying on you to use it ethically. Unethical use includes circumventing security or privacy measures for any purpose, and disseminating, promoting or exploiting vulnerabilities in systems you do not own.</a:t>
            </a:r>
          </a:p>
          <a:p>
            <a:pPr marL="0" indent="0">
              <a:spcBef>
                <a:spcPts val="0"/>
              </a:spcBef>
              <a:spcAft>
                <a:spcPts val="500"/>
              </a:spcAft>
              <a:buNone/>
            </a:pPr>
            <a:r>
              <a:rPr lang="en-US" sz="1900" dirty="0"/>
              <a:t>Responsible disclosure through proper channels is an exception, and a good one.</a:t>
            </a:r>
          </a:p>
          <a:p>
            <a:pPr marL="0" indent="0">
              <a:spcBef>
                <a:spcPts val="0"/>
              </a:spcBef>
              <a:spcAft>
                <a:spcPts val="500"/>
              </a:spcAft>
              <a:buNone/>
            </a:pPr>
            <a:r>
              <a:rPr lang="en-US" sz="1900" dirty="0"/>
              <a:t>Anything outside the letter or spirit of this will be reported and may result in dismissal from the class.</a:t>
            </a:r>
          </a:p>
          <a:p>
            <a:pPr marL="0" indent="0">
              <a:spcBef>
                <a:spcPts val="0"/>
              </a:spcBef>
              <a:spcAft>
                <a:spcPts val="500"/>
              </a:spcAft>
              <a:buNone/>
            </a:pPr>
            <a:r>
              <a:rPr lang="en-US" sz="1900" b="1" dirty="0"/>
              <a:t>When in doubt, ask me first. Do not take any action that could be read as misuse without explicit permission.</a:t>
            </a:r>
            <a:endParaRPr lang="en-US" sz="1900" dirty="0"/>
          </a:p>
        </p:txBody>
      </p:sp>
      <p:sp>
        <p:nvSpPr>
          <p:cNvPr id="4" name="Slide Number 4"/>
          <p:cNvSpPr>
            <a:spLocks noGrp="1"/>
          </p:cNvSpPr>
          <p:nvPr>
            <p:ph type="sldNum" sz="quarter" idx="4"/>
          </p:nvPr>
        </p:nvSpPr>
        <p:spPr/>
        <p:txBody>
          <a:bodyPr/>
          <a:lstStyle/>
          <a:p>
            <a:fld id="{B6F15528-21DE-4FAA-801E-634DDDAF4B2B}" type="slidenum">
              <a:rPr lang="en-US"/>
              <a:t>19</a:t>
            </a:fld>
            <a:endParaRPr lang="en-US" dirty="0">
              <a:solidFill>
                <a:srgbClr val="000000"/>
              </a:solidFill>
            </a:endParaRPr>
          </a:p>
        </p:txBody>
      </p:sp>
    </p:spTree>
    <p:extLst>
      <p:ext uri="{BB962C8B-B14F-4D97-AF65-F5344CB8AC3E}">
        <p14:creationId xmlns:p14="http://schemas.microsoft.com/office/powerpoint/2010/main" val="1706792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a:t>Caveat Emptor</a:t>
            </a:r>
            <a:endParaRPr lang="en-US" dirty="0"/>
          </a:p>
        </p:txBody>
      </p:sp>
      <p:sp>
        <p:nvSpPr>
          <p:cNvPr id="3" name="Content 3"/>
          <p:cNvSpPr>
            <a:spLocks noGrp="1"/>
          </p:cNvSpPr>
          <p:nvPr>
            <p:ph idx="1"/>
          </p:nvPr>
        </p:nvSpPr>
        <p:spPr/>
        <p:txBody>
          <a:bodyPr/>
          <a:lstStyle/>
          <a:p>
            <a:r>
              <a:rPr lang="en-US" dirty="0"/>
              <a:t>University of California Electronic Communications Policy</a:t>
            </a:r>
          </a:p>
          <a:p>
            <a:pPr lvl="1"/>
            <a:r>
              <a:rPr lang="en-US" dirty="0"/>
              <a:t>Violations can result in expulsion.</a:t>
            </a:r>
            <a:endParaRPr lang="en-US" sz="2000" dirty="0"/>
          </a:p>
          <a:p>
            <a:r>
              <a:rPr lang="en-US" dirty="0"/>
              <a:t>Federal and state law criminalize computer intrusion and wiretapping</a:t>
            </a:r>
          </a:p>
          <a:p>
            <a:pPr lvl="1"/>
            <a:r>
              <a:rPr lang="en-US" dirty="0"/>
              <a:t>Computer Fraud and Abuse Act (CFAA)</a:t>
            </a:r>
            <a:endParaRPr lang="en-US" sz="2000" dirty="0"/>
          </a:p>
          <a:p>
            <a:pPr lvl="1"/>
            <a:r>
              <a:rPr lang="en-US" dirty="0"/>
              <a:t>Electronic Communications Privacy Act (ECPA)</a:t>
            </a:r>
            <a:endParaRPr lang="en-US" sz="2000" dirty="0"/>
          </a:p>
          <a:p>
            <a:r>
              <a:rPr lang="en-US" b="1" dirty="0"/>
              <a:t>Only ever test systems you own, or have explicit written authorization to test.</a:t>
            </a:r>
            <a:endParaRPr lang="en-US" dirty="0"/>
          </a:p>
        </p:txBody>
      </p:sp>
      <p:sp>
        <p:nvSpPr>
          <p:cNvPr id="4" name="Slide Number 4"/>
          <p:cNvSpPr>
            <a:spLocks noGrp="1"/>
          </p:cNvSpPr>
          <p:nvPr>
            <p:ph type="sldNum" sz="quarter" idx="4"/>
          </p:nvPr>
        </p:nvSpPr>
        <p:spPr/>
        <p:txBody>
          <a:bodyPr/>
          <a:lstStyle/>
          <a:p>
            <a:fld id="{B6F15528-21DE-4FAA-801E-634DDDAF4B2B}" type="slidenum">
              <a:rPr lang="en-US"/>
              <a:t>20</a:t>
            </a:fld>
            <a:endParaRPr lang="en-US" dirty="0">
              <a:solidFill>
                <a:srgbClr val="000000"/>
              </a:solidFill>
            </a:endParaRPr>
          </a:p>
        </p:txBody>
      </p:sp>
    </p:spTree>
    <p:extLst>
      <p:ext uri="{BB962C8B-B14F-4D97-AF65-F5344CB8AC3E}">
        <p14:creationId xmlns:p14="http://schemas.microsoft.com/office/powerpoint/2010/main" val="3928826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Background, and how to do well</a:t>
            </a:r>
          </a:p>
        </p:txBody>
      </p:sp>
      <p:sp>
        <p:nvSpPr>
          <p:cNvPr id="3" name="Content 3"/>
          <p:cNvSpPr>
            <a:spLocks noGrp="1"/>
          </p:cNvSpPr>
          <p:nvPr>
            <p:ph idx="1"/>
          </p:nvPr>
        </p:nvSpPr>
        <p:spPr/>
        <p:txBody>
          <a:bodyPr/>
          <a:lstStyle/>
          <a:p>
            <a:r>
              <a:rPr lang="en-US" dirty="0"/>
              <a:t>This course assumes</a:t>
            </a:r>
          </a:p>
          <a:p>
            <a:pPr lvl="1"/>
            <a:r>
              <a:rPr lang="en-US" dirty="0"/>
              <a:t>Working knowledge of C, computer organization, operating systems, and a little networking</a:t>
            </a:r>
            <a:endParaRPr lang="en-US" sz="2000" dirty="0"/>
          </a:p>
          <a:p>
            <a:pPr lvl="1"/>
            <a:r>
              <a:rPr lang="en-US" dirty="0"/>
              <a:t>CS 61, CS 161, CS 153</a:t>
            </a:r>
            <a:endParaRPr lang="en-US" sz="2000" dirty="0"/>
          </a:p>
          <a:p>
            <a:r>
              <a:rPr lang="en-US" dirty="0"/>
              <a:t>During the term</a:t>
            </a:r>
          </a:p>
          <a:p>
            <a:pPr lvl="1"/>
            <a:r>
              <a:rPr lang="en-US" dirty="0"/>
              <a:t>Keep up with the readings. The course moves quickly and does not wait.</a:t>
            </a:r>
            <a:endParaRPr lang="en-US" sz="2000" dirty="0"/>
          </a:p>
          <a:p>
            <a:pPr lvl="1"/>
            <a:r>
              <a:rPr lang="en-US" dirty="0"/>
              <a:t>Treat the labs as exam preparation, because they are.</a:t>
            </a:r>
            <a:endParaRPr lang="en-US" sz="2000" dirty="0"/>
          </a:p>
          <a:p>
            <a:pPr lvl="1"/>
            <a:r>
              <a:rPr lang="en-US" dirty="0"/>
              <a:t>Come to the Thursday sessions. Fifteen percent of your grade is demonstrated there and cannot be made up.</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21</a:t>
            </a:fld>
            <a:endParaRPr lang="en-US" dirty="0">
              <a:solidFill>
                <a:srgbClr val="000000"/>
              </a:solidFill>
            </a:endParaRPr>
          </a:p>
        </p:txBody>
      </p:sp>
    </p:spTree>
    <p:extLst>
      <p:ext uri="{BB962C8B-B14F-4D97-AF65-F5344CB8AC3E}">
        <p14:creationId xmlns:p14="http://schemas.microsoft.com/office/powerpoint/2010/main" val="2910423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The security mindset</a:t>
            </a:r>
          </a:p>
        </p:txBody>
      </p:sp>
      <p:sp>
        <p:nvSpPr>
          <p:cNvPr id="6" name="Text Placeholder 5">
            <a:extLst>
              <a:ext uri="{FF2B5EF4-FFF2-40B4-BE49-F238E27FC236}">
                <a16:creationId xmlns:a16="http://schemas.microsoft.com/office/drawing/2014/main" id="{B5D6D830-11A8-FFBB-5F64-CD974C43BBE2}"/>
              </a:ext>
            </a:extLst>
          </p:cNvPr>
          <p:cNvSpPr>
            <a:spLocks noGrp="1"/>
          </p:cNvSpPr>
          <p:nvPr>
            <p:ph type="body" idx="1"/>
          </p:nvPr>
        </p:nvSpPr>
        <p:spPr/>
        <p:txBody>
          <a:bodyPr/>
          <a:lstStyle/>
          <a:p>
            <a:endParaRPr lang="en-US"/>
          </a:p>
        </p:txBody>
      </p:sp>
      <p:sp>
        <p:nvSpPr>
          <p:cNvPr id="4" name="Slide Number 4"/>
          <p:cNvSpPr>
            <a:spLocks noGrp="1"/>
          </p:cNvSpPr>
          <p:nvPr>
            <p:ph type="sldNum" sz="quarter" idx="4"/>
          </p:nvPr>
        </p:nvSpPr>
        <p:spPr/>
        <p:txBody>
          <a:bodyPr/>
          <a:lstStyle/>
          <a:p>
            <a:fld id="{B6F15528-21DE-4FAA-801E-634DDDAF4B2B}" type="slidenum">
              <a:rPr lang="en-US"/>
              <a:t>22</a:t>
            </a:fld>
            <a:endParaRPr lang="en-US" dirty="0">
              <a:solidFill>
                <a:srgbClr val="000000"/>
              </a:solidFill>
            </a:endParaRPr>
          </a:p>
        </p:txBody>
      </p:sp>
    </p:spTree>
    <p:extLst>
      <p:ext uri="{BB962C8B-B14F-4D97-AF65-F5344CB8AC3E}">
        <p14:creationId xmlns:p14="http://schemas.microsoft.com/office/powerpoint/2010/main" val="962669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783080"/>
            <a:ext cx="8046720" cy="1097280"/>
          </a:xfrm>
          <a:prstGeom prst="rect">
            <a:avLst/>
          </a:prstGeom>
          <a:noFill/>
          <a:ln/>
        </p:spPr>
        <p:txBody>
          <a:bodyPr wrap="square" lIns="0" tIns="0" rIns="0" bIns="0" rtlCol="0" anchor="ctr"/>
          <a:lstStyle/>
          <a:p>
            <a:pPr marL="0" indent="0" algn="l">
              <a:buNone/>
            </a:pPr>
            <a:r>
              <a:rPr lang="en-US" sz="3400" b="1" dirty="0">
                <a:solidFill>
                  <a:srgbClr val="000000"/>
                </a:solidFill>
                <a:latin typeface="Arial" pitchFamily="34" charset="0"/>
                <a:ea typeface="Arial" pitchFamily="34" charset="-122"/>
                <a:cs typeface="Arial" pitchFamily="34" charset="-120"/>
              </a:rPr>
              <a:t>"The study of how a system behaves under adversarial actions."</a:t>
            </a:r>
            <a:endParaRPr lang="en-US" sz="3400" dirty="0"/>
          </a:p>
        </p:txBody>
      </p:sp>
      <p:sp>
        <p:nvSpPr>
          <p:cNvPr id="4" name="Slide Number 4"/>
          <p:cNvSpPr>
            <a:spLocks noGrp="1"/>
          </p:cNvSpPr>
          <p:nvPr>
            <p:ph type="sldNum" sz="quarter" idx="4"/>
          </p:nvPr>
        </p:nvSpPr>
        <p:spPr/>
        <p:txBody>
          <a:bodyPr/>
          <a:lstStyle/>
          <a:p>
            <a:fld id="{B6F15528-21DE-4FAA-801E-634DDDAF4B2B}" type="slidenum">
              <a:rPr lang="en-US"/>
              <a:t>23</a:t>
            </a:fld>
            <a:endParaRPr lang="en-US" dirty="0">
              <a:solidFill>
                <a:srgbClr val="000000"/>
              </a:solidFill>
            </a:endParaRPr>
          </a:p>
        </p:txBody>
      </p:sp>
    </p:spTree>
    <p:extLst>
      <p:ext uri="{BB962C8B-B14F-4D97-AF65-F5344CB8AC3E}">
        <p14:creationId xmlns:p14="http://schemas.microsoft.com/office/powerpoint/2010/main" val="3332491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How things can be made to fail</a:t>
            </a:r>
          </a:p>
        </p:txBody>
      </p:sp>
      <p:sp>
        <p:nvSpPr>
          <p:cNvPr id="3" name="Content 3"/>
          <p:cNvSpPr>
            <a:spLocks noGrp="1"/>
          </p:cNvSpPr>
          <p:nvPr>
            <p:ph idx="1"/>
          </p:nvPr>
        </p:nvSpPr>
        <p:spPr/>
        <p:txBody>
          <a:bodyPr/>
          <a:lstStyle/>
          <a:p>
            <a:pPr marL="0" indent="0">
              <a:spcBef>
                <a:spcPts val="0"/>
              </a:spcBef>
              <a:spcAft>
                <a:spcPts val="500"/>
              </a:spcAft>
              <a:buNone/>
            </a:pPr>
            <a:r>
              <a:rPr lang="en-US" sz="1700" dirty="0"/>
              <a:t>Uncle Milton Industries has been selling ant farms to children since 1956. Some years ago, I remember opening one up with a friend. There were no actual ants included in the box. Instead, there was a card that you filled in with your address, and the company would mail you some ants. My friend expressed surprise that you could get ants sent to you in the mail.</a:t>
            </a:r>
          </a:p>
          <a:p>
            <a:pPr marL="0" indent="0">
              <a:spcBef>
                <a:spcPts val="0"/>
              </a:spcBef>
              <a:spcAft>
                <a:spcPts val="500"/>
              </a:spcAft>
              <a:buNone/>
            </a:pPr>
            <a:r>
              <a:rPr lang="en-US" sz="1700" dirty="0"/>
              <a:t>I replied: “What’s really interesting is that these people will send a tube of live ants to anyone you tell them to.”</a:t>
            </a:r>
          </a:p>
          <a:p>
            <a:pPr marL="0" indent="0">
              <a:spcBef>
                <a:spcPts val="0"/>
              </a:spcBef>
              <a:spcAft>
                <a:spcPts val="500"/>
              </a:spcAft>
              <a:buNone/>
            </a:pPr>
            <a:r>
              <a:rPr lang="en-US" sz="1700" dirty="0"/>
              <a:t>Good engineering involves thinking about how things can be made to work; </a:t>
            </a:r>
            <a:r>
              <a:rPr lang="en-US" sz="1700" b="1" dirty="0"/>
              <a:t>the security mindset involves thinking about how things can be made to fail.</a:t>
            </a:r>
            <a:r>
              <a:rPr lang="en-US" sz="1700" dirty="0"/>
              <a:t> It involves thinking like an attacker, an adversary or a criminal. You don’t have to exploit the vulnerabilities you find, but if you don’t see the world that way, you’ll never notice most security problems.</a:t>
            </a:r>
          </a:p>
          <a:p>
            <a:pPr marL="0" indent="0">
              <a:spcBef>
                <a:spcPts val="0"/>
              </a:spcBef>
              <a:spcAft>
                <a:spcPts val="0"/>
              </a:spcAft>
              <a:buNone/>
            </a:pPr>
            <a:r>
              <a:rPr lang="en-US" sz="1200" dirty="0">
                <a:solidFill>
                  <a:srgbClr val="7F7F7F"/>
                </a:solidFill>
              </a:rPr>
              <a:t>Bruce Schneier, “The Security Mindset”, 2008</a:t>
            </a:r>
          </a:p>
        </p:txBody>
      </p:sp>
      <p:sp>
        <p:nvSpPr>
          <p:cNvPr id="4" name="Slide Number 4"/>
          <p:cNvSpPr>
            <a:spLocks noGrp="1"/>
          </p:cNvSpPr>
          <p:nvPr>
            <p:ph type="sldNum" sz="quarter" idx="4"/>
          </p:nvPr>
        </p:nvSpPr>
        <p:spPr/>
        <p:txBody>
          <a:bodyPr/>
          <a:lstStyle/>
          <a:p>
            <a:fld id="{B6F15528-21DE-4FAA-801E-634DDDAF4B2B}" type="slidenum">
              <a:rPr lang="en-US"/>
              <a:t>24</a:t>
            </a:fld>
            <a:endParaRPr lang="en-US" dirty="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Security versus systems</a:t>
            </a:r>
          </a:p>
        </p:txBody>
      </p:sp>
      <p:sp>
        <p:nvSpPr>
          <p:cNvPr id="3" name="Content 3"/>
          <p:cNvSpPr>
            <a:spLocks noGrp="1"/>
          </p:cNvSpPr>
          <p:nvPr>
            <p:ph idx="1"/>
          </p:nvPr>
        </p:nvSpPr>
        <p:spPr/>
        <p:txBody>
          <a:bodyPr/>
          <a:lstStyle/>
          <a:p>
            <a:r>
              <a:rPr lang="en-US" dirty="0"/>
              <a:t>Systems engineering optimizes the common case</a:t>
            </a:r>
          </a:p>
          <a:p>
            <a:pPr lvl="1"/>
            <a:r>
              <a:rPr lang="en-US" dirty="0"/>
              <a:t>Correctness, safety, robustness: the right output, never a dangerous one, and graceful handling of errors.</a:t>
            </a:r>
            <a:endParaRPr lang="en-US" sz="2000" dirty="0"/>
          </a:p>
          <a:p>
            <a:r>
              <a:rPr lang="en-US" dirty="0"/>
              <a:t>Security lives in the corner cases</a:t>
            </a:r>
          </a:p>
          <a:p>
            <a:pPr lvl="1"/>
            <a:r>
              <a:rPr lang="en-US" dirty="0"/>
              <a:t>The same properties must hold against a resourceful, strategic adversary choosing the input nobody expected.</a:t>
            </a:r>
            <a:endParaRPr lang="en-US" sz="2000" dirty="0"/>
          </a:p>
          <a:p>
            <a:r>
              <a:rPr lang="en-US" b="1" dirty="0"/>
              <a:t>A program can work perfectly for every honest user and still be completely broken.</a:t>
            </a:r>
            <a:endParaRPr lang="en-US" dirty="0"/>
          </a:p>
          <a:p>
            <a:r>
              <a:rPr lang="en-US" dirty="0"/>
              <a:t>This is why testing for correctness does not give you security for free.</a:t>
            </a:r>
          </a:p>
        </p:txBody>
      </p:sp>
      <p:sp>
        <p:nvSpPr>
          <p:cNvPr id="4" name="Slide Number 4"/>
          <p:cNvSpPr>
            <a:spLocks noGrp="1"/>
          </p:cNvSpPr>
          <p:nvPr>
            <p:ph type="sldNum" sz="quarter" idx="4"/>
          </p:nvPr>
        </p:nvSpPr>
        <p:spPr/>
        <p:txBody>
          <a:bodyPr/>
          <a:lstStyle/>
          <a:p>
            <a:fld id="{B6F15528-21DE-4FAA-801E-634DDDAF4B2B}" type="slidenum">
              <a:rPr lang="en-US"/>
              <a:t>25</a:t>
            </a:fld>
            <a:endParaRPr lang="en-US" dirty="0">
              <a:solidFill>
                <a:srgbClr val="000000"/>
              </a:solidFill>
            </a:endParaRPr>
          </a:p>
        </p:txBody>
      </p:sp>
    </p:spTree>
    <p:extLst>
      <p:ext uri="{BB962C8B-B14F-4D97-AF65-F5344CB8AC3E}">
        <p14:creationId xmlns:p14="http://schemas.microsoft.com/office/powerpoint/2010/main" val="2193193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Rules have bugs</a:t>
            </a:r>
          </a:p>
        </p:txBody>
      </p:sp>
      <p:sp>
        <p:nvSpPr>
          <p:cNvPr id="3" name="Content 3"/>
          <p:cNvSpPr>
            <a:spLocks noGrp="1"/>
          </p:cNvSpPr>
          <p:nvPr>
            <p:ph idx="1"/>
          </p:nvPr>
        </p:nvSpPr>
        <p:spPr/>
        <p:txBody>
          <a:bodyPr/>
          <a:lstStyle/>
          <a:p>
            <a:r>
              <a:rPr lang="en-US" dirty="0"/>
              <a:t>Security is a game played against a set of rules somebody made up</a:t>
            </a:r>
          </a:p>
          <a:p>
            <a:pPr lvl="1"/>
            <a:r>
              <a:rPr lang="en-US" dirty="0"/>
              <a:t>Protocols, file permissions, calling conventions, type systems.</a:t>
            </a:r>
            <a:endParaRPr lang="en-US" sz="2000" dirty="0"/>
          </a:p>
          <a:p>
            <a:r>
              <a:rPr lang="en-US" dirty="0"/>
              <a:t>Any sufficiently complex rule system has gaps its designers did not intend</a:t>
            </a:r>
          </a:p>
          <a:p>
            <a:pPr lvl="1"/>
            <a:r>
              <a:rPr lang="en-US" dirty="0"/>
              <a:t>Tax codes. Building codes. Board games. Network protocols.</a:t>
            </a:r>
            <a:endParaRPr lang="en-US" sz="2000" dirty="0"/>
          </a:p>
          <a:p>
            <a:r>
              <a:rPr lang="en-US" b="1" dirty="0"/>
              <a:t>The more complex the rules, the more places to hide.</a:t>
            </a:r>
            <a:endParaRPr lang="en-US" dirty="0"/>
          </a:p>
          <a:p>
            <a:pPr lvl="1"/>
            <a:r>
              <a:rPr lang="en-US" dirty="0"/>
              <a:t>Complexity is the enemy. Remember this when you design something.</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26</a:t>
            </a:fld>
            <a:endParaRPr lang="en-US" dirty="0">
              <a:solidFill>
                <a:srgbClr val="000000"/>
              </a:solidFill>
            </a:endParaRPr>
          </a:p>
        </p:txBody>
      </p:sp>
    </p:spTree>
    <p:extLst>
      <p:ext uri="{BB962C8B-B14F-4D97-AF65-F5344CB8AC3E}">
        <p14:creationId xmlns:p14="http://schemas.microsoft.com/office/powerpoint/2010/main" val="1362725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Thinking like an attacker</a:t>
            </a:r>
          </a:p>
        </p:txBody>
      </p:sp>
      <p:sp>
        <p:nvSpPr>
          <p:cNvPr id="3" name="Content 3"/>
          <p:cNvSpPr>
            <a:spLocks noGrp="1"/>
          </p:cNvSpPr>
          <p:nvPr>
            <p:ph idx="1"/>
          </p:nvPr>
        </p:nvSpPr>
        <p:spPr/>
        <p:txBody>
          <a:bodyPr/>
          <a:lstStyle/>
          <a:p>
            <a:r>
              <a:rPr lang="en-US" dirty="0"/>
              <a:t>Read the rules looking for what they fail to forbid</a:t>
            </a:r>
          </a:p>
          <a:p>
            <a:r>
              <a:rPr lang="en-US" dirty="0"/>
              <a:t>Find the assumption the designer made without noticing, then break it</a:t>
            </a:r>
          </a:p>
          <a:p>
            <a:r>
              <a:rPr lang="en-US" dirty="0"/>
              <a:t>You only need one path in. You do not have to play fair.</a:t>
            </a:r>
          </a:p>
          <a:p>
            <a:r>
              <a:rPr lang="en-US" b="1" dirty="0"/>
              <a:t>Thought experiment</a:t>
            </a:r>
            <a:endParaRPr lang="en-US" dirty="0"/>
          </a:p>
          <a:p>
            <a:pPr lvl="1"/>
            <a:r>
              <a:rPr lang="en-US" dirty="0"/>
              <a:t>How would you get into a locked campus office after hours? List every approach, including the ones that are not technical.</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27</a:t>
            </a:fld>
            <a:endParaRPr lang="en-US" dirty="0">
              <a:solidFill>
                <a:srgbClr val="000000"/>
              </a:solidFill>
            </a:endParaRPr>
          </a:p>
        </p:txBody>
      </p:sp>
    </p:spTree>
    <p:extLst>
      <p:ext uri="{BB962C8B-B14F-4D97-AF65-F5344CB8AC3E}">
        <p14:creationId xmlns:p14="http://schemas.microsoft.com/office/powerpoint/2010/main" val="1621366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Thinking like a defender</a:t>
            </a:r>
          </a:p>
        </p:txBody>
      </p:sp>
      <p:sp>
        <p:nvSpPr>
          <p:cNvPr id="3" name="Content 3"/>
          <p:cNvSpPr>
            <a:spLocks noGrp="1"/>
          </p:cNvSpPr>
          <p:nvPr>
            <p:ph idx="1"/>
          </p:nvPr>
        </p:nvSpPr>
        <p:spPr/>
        <p:txBody>
          <a:bodyPr/>
          <a:lstStyle/>
          <a:p>
            <a:r>
              <a:rPr lang="en-US" dirty="0"/>
              <a:t>You have to cover every corner case. The attacker needs one.</a:t>
            </a:r>
          </a:p>
          <a:p>
            <a:r>
              <a:rPr lang="en-US" dirty="0"/>
              <a:t>Defense is only meaningful relative to a threat model</a:t>
            </a:r>
          </a:p>
          <a:p>
            <a:pPr lvl="1"/>
            <a:r>
              <a:rPr lang="en-US" dirty="0"/>
              <a:t>"Is this secure?" is not a question until you say against whom.</a:t>
            </a:r>
            <a:endParaRPr lang="en-US" sz="2000" dirty="0"/>
          </a:p>
          <a:p>
            <a:r>
              <a:rPr lang="en-US" dirty="0"/>
              <a:t>The hard part is preventing bad outcomes without blocking legitimate use</a:t>
            </a:r>
          </a:p>
          <a:p>
            <a:pPr lvl="1"/>
            <a:r>
              <a:rPr lang="en-US" dirty="0"/>
              <a:t>A system nobody can use is secure and useless.</a:t>
            </a:r>
            <a:endParaRPr lang="en-US" sz="2000" dirty="0"/>
          </a:p>
          <a:p>
            <a:r>
              <a:rPr lang="en-US" b="1" dirty="0"/>
              <a:t>Defense is structurally more expensive than offense. That asymmetry never goes away.</a:t>
            </a:r>
            <a:endParaRPr lang="en-US" dirty="0"/>
          </a:p>
        </p:txBody>
      </p:sp>
      <p:sp>
        <p:nvSpPr>
          <p:cNvPr id="4" name="Slide Number 4"/>
          <p:cNvSpPr>
            <a:spLocks noGrp="1"/>
          </p:cNvSpPr>
          <p:nvPr>
            <p:ph type="sldNum" sz="quarter" idx="4"/>
          </p:nvPr>
        </p:nvSpPr>
        <p:spPr/>
        <p:txBody>
          <a:bodyPr/>
          <a:lstStyle/>
          <a:p>
            <a:fld id="{B6F15528-21DE-4FAA-801E-634DDDAF4B2B}" type="slidenum">
              <a:rPr lang="en-US"/>
              <a:t>28</a:t>
            </a:fld>
            <a:endParaRPr lang="en-US" dirty="0">
              <a:solidFill>
                <a:srgbClr val="000000"/>
              </a:solidFill>
            </a:endParaRPr>
          </a:p>
        </p:txBody>
      </p:sp>
    </p:spTree>
    <p:extLst>
      <p:ext uri="{BB962C8B-B14F-4D97-AF65-F5344CB8AC3E}">
        <p14:creationId xmlns:p14="http://schemas.microsoft.com/office/powerpoint/2010/main" val="928145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Why security is hard</a:t>
            </a:r>
          </a:p>
        </p:txBody>
      </p:sp>
      <p:sp>
        <p:nvSpPr>
          <p:cNvPr id="3" name="Content 3"/>
          <p:cNvSpPr>
            <a:spLocks noGrp="1"/>
          </p:cNvSpPr>
          <p:nvPr>
            <p:ph idx="1"/>
          </p:nvPr>
        </p:nvSpPr>
        <p:spPr/>
        <p:txBody>
          <a:bodyPr/>
          <a:lstStyle/>
          <a:p>
            <a:r>
              <a:rPr lang="en-US" dirty="0"/>
              <a:t>The internet was not designed for it</a:t>
            </a:r>
          </a:p>
          <a:p>
            <a:pPr lvl="1"/>
            <a:r>
              <a:rPr lang="en-US" dirty="0"/>
              <a:t>ARPANET connected universities that trusted each other. TCP/IP inherited those assumptions.</a:t>
            </a:r>
            <a:endParaRPr lang="en-US" sz="2000" dirty="0"/>
          </a:p>
          <a:p>
            <a:r>
              <a:rPr lang="en-US" dirty="0"/>
              <a:t>Legacy software outlives its assumptions</a:t>
            </a:r>
          </a:p>
          <a:p>
            <a:r>
              <a:rPr lang="en-US" dirty="0"/>
              <a:t>Attacker capability keeps improving, and attacking is now a business</a:t>
            </a:r>
          </a:p>
          <a:p>
            <a:pPr lvl="1"/>
            <a:r>
              <a:rPr lang="en-US" dirty="0"/>
              <a:t>Organized, funded, sometimes state-sponsored.</a:t>
            </a:r>
            <a:endParaRPr lang="en-US" sz="2000" dirty="0"/>
          </a:p>
          <a:p>
            <a:r>
              <a:rPr lang="en-US" dirty="0"/>
              <a:t>People are reliably the weakest link</a:t>
            </a:r>
          </a:p>
          <a:p>
            <a:pPr lvl="1"/>
            <a:r>
              <a:rPr lang="en-US" dirty="0"/>
              <a:t>Social engineering beats cryptography every time it is tried.</a:t>
            </a:r>
            <a:endParaRPr lang="en-US" sz="2000" dirty="0"/>
          </a:p>
        </p:txBody>
      </p:sp>
      <p:sp>
        <p:nvSpPr>
          <p:cNvPr id="4" name="Slide Number 4"/>
          <p:cNvSpPr>
            <a:spLocks noGrp="1"/>
          </p:cNvSpPr>
          <p:nvPr>
            <p:ph type="sldNum" sz="quarter" idx="4"/>
          </p:nvPr>
        </p:nvSpPr>
        <p:spPr/>
        <p:txBody>
          <a:bodyPr/>
          <a:lstStyle/>
          <a:p>
            <a:fld id="{B6F15528-21DE-4FAA-801E-634DDDAF4B2B}" type="slidenum">
              <a:rPr lang="en-US"/>
              <a:t>29</a:t>
            </a:fld>
            <a:endParaRPr lang="en-US" dirty="0">
              <a:solidFill>
                <a:srgbClr val="000000"/>
              </a:solidFill>
            </a:endParaRPr>
          </a:p>
        </p:txBody>
      </p:sp>
    </p:spTree>
    <p:extLst>
      <p:ext uri="{BB962C8B-B14F-4D97-AF65-F5344CB8AC3E}">
        <p14:creationId xmlns:p14="http://schemas.microsoft.com/office/powerpoint/2010/main" val="4047741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What defenders actually do</a:t>
            </a:r>
          </a:p>
        </p:txBody>
      </p:sp>
      <p:sp>
        <p:nvSpPr>
          <p:cNvPr id="3" name="Content 3"/>
          <p:cNvSpPr>
            <a:spLocks noGrp="1"/>
          </p:cNvSpPr>
          <p:nvPr>
            <p:ph idx="1"/>
          </p:nvPr>
        </p:nvSpPr>
        <p:spPr/>
        <p:txBody>
          <a:bodyPr/>
          <a:lstStyle/>
          <a:p>
            <a:r>
              <a:rPr lang="en-US" dirty="0"/>
              <a:t>Avoidance: find and fix the bugs before shipping</a:t>
            </a:r>
          </a:p>
          <a:p>
            <a:pPr lvl="1"/>
            <a:r>
              <a:rPr lang="en-US" dirty="0"/>
              <a:t>Labs 2, 5 and 7.</a:t>
            </a:r>
            <a:endParaRPr lang="en-US" sz="2000" dirty="0"/>
          </a:p>
          <a:p>
            <a:r>
              <a:rPr lang="en-US" dirty="0"/>
              <a:t>Prevention: make the bad outcome structurally impossible</a:t>
            </a:r>
          </a:p>
          <a:p>
            <a:pPr lvl="1"/>
            <a:r>
              <a:rPr lang="en-US" dirty="0"/>
              <a:t>Lab 6, and most of the second half of the course.</a:t>
            </a:r>
            <a:endParaRPr lang="en-US" sz="2000" dirty="0"/>
          </a:p>
          <a:p>
            <a:r>
              <a:rPr lang="en-US" dirty="0"/>
              <a:t>Deterrence: raise the cost of attacking enough that it is not worth it</a:t>
            </a:r>
          </a:p>
          <a:p>
            <a:r>
              <a:rPr lang="en-US" dirty="0"/>
              <a:t>Detection: assume some attacks succeed, and notice when they do</a:t>
            </a:r>
          </a:p>
          <a:p>
            <a:r>
              <a:rPr lang="en-US" b="1" dirty="0"/>
              <a:t>No single one of these is sufficient. You need all four.</a:t>
            </a:r>
            <a:endParaRPr lang="en-US" dirty="0"/>
          </a:p>
        </p:txBody>
      </p:sp>
      <p:sp>
        <p:nvSpPr>
          <p:cNvPr id="4" name="Slide Number 4"/>
          <p:cNvSpPr>
            <a:spLocks noGrp="1"/>
          </p:cNvSpPr>
          <p:nvPr>
            <p:ph type="sldNum" sz="quarter" idx="4"/>
          </p:nvPr>
        </p:nvSpPr>
        <p:spPr/>
        <p:txBody>
          <a:bodyPr/>
          <a:lstStyle/>
          <a:p>
            <a:fld id="{B6F15528-21DE-4FAA-801E-634DDDAF4B2B}" type="slidenum">
              <a:rPr lang="en-US"/>
              <a:t>30</a:t>
            </a:fld>
            <a:endParaRPr lang="en-US" dirty="0">
              <a:solidFill>
                <a:srgbClr val="000000"/>
              </a:solidFill>
            </a:endParaRPr>
          </a:p>
        </p:txBody>
      </p:sp>
    </p:spTree>
    <p:extLst>
      <p:ext uri="{BB962C8B-B14F-4D97-AF65-F5344CB8AC3E}">
        <p14:creationId xmlns:p14="http://schemas.microsoft.com/office/powerpoint/2010/main" val="1529139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2"/>
          <p:cNvSpPr>
            <a:spLocks noGrp="1"/>
          </p:cNvSpPr>
          <p:nvPr>
            <p:ph type="title"/>
          </p:nvPr>
        </p:nvSpPr>
        <p:spPr/>
        <p:txBody>
          <a:bodyPr>
            <a:normAutofit/>
          </a:bodyPr>
          <a:lstStyle/>
          <a:p>
            <a:r>
              <a:rPr lang="en-US" sz="2600" dirty="0"/>
              <a:t>Confidentiality, integrity, availability</a:t>
            </a:r>
          </a:p>
        </p:txBody>
      </p:sp>
      <p:sp>
        <p:nvSpPr>
          <p:cNvPr id="3" name="Content 3"/>
          <p:cNvSpPr>
            <a:spLocks noGrp="1"/>
          </p:cNvSpPr>
          <p:nvPr>
            <p:ph idx="1"/>
          </p:nvPr>
        </p:nvSpPr>
        <p:spPr/>
        <p:txBody>
          <a:bodyPr/>
          <a:lstStyle/>
          <a:p>
            <a:r>
              <a:rPr lang="en-US" b="1" dirty="0"/>
              <a:t>Confidentiality</a:t>
            </a:r>
            <a:endParaRPr lang="en-US" dirty="0"/>
          </a:p>
          <a:p>
            <a:pPr lvl="1"/>
            <a:r>
              <a:rPr lang="en-US" dirty="0"/>
              <a:t>Keeping data and resources hidden from those who should not see them.</a:t>
            </a:r>
            <a:endParaRPr lang="en-US" sz="2000" dirty="0"/>
          </a:p>
          <a:p>
            <a:r>
              <a:rPr lang="en-US" b="1" dirty="0"/>
              <a:t>Integrity</a:t>
            </a:r>
            <a:endParaRPr lang="en-US" dirty="0"/>
          </a:p>
          <a:p>
            <a:pPr lvl="1"/>
            <a:r>
              <a:rPr lang="en-US" dirty="0"/>
              <a:t>Data integrity: the content has not been tampered with. Origin integrity: it came from who it claims. That second one is authentication.</a:t>
            </a:r>
            <a:endParaRPr lang="en-US" sz="2000" dirty="0"/>
          </a:p>
          <a:p>
            <a:r>
              <a:rPr lang="en-US" b="1" dirty="0"/>
              <a:t>Availability</a:t>
            </a:r>
            <a:endParaRPr lang="en-US" dirty="0"/>
          </a:p>
          <a:p>
            <a:pPr lvl="1"/>
            <a:r>
              <a:rPr lang="en-US" dirty="0"/>
              <a:t>Keeping access to data and resources actually working.</a:t>
            </a:r>
            <a:endParaRPr lang="en-US" sz="2000" dirty="0"/>
          </a:p>
          <a:p>
            <a:r>
              <a:rPr lang="en-US" dirty="0"/>
              <a:t>Real incidents usually violate more than one at once.</a:t>
            </a:r>
          </a:p>
        </p:txBody>
      </p:sp>
      <p:sp>
        <p:nvSpPr>
          <p:cNvPr id="4" name="Slide Number 4"/>
          <p:cNvSpPr>
            <a:spLocks noGrp="1"/>
          </p:cNvSpPr>
          <p:nvPr>
            <p:ph type="sldNum" sz="quarter" idx="4"/>
          </p:nvPr>
        </p:nvSpPr>
        <p:spPr/>
        <p:txBody>
          <a:bodyPr/>
          <a:lstStyle/>
          <a:p>
            <a:fld id="{B6F15528-21DE-4FAA-801E-634DDDAF4B2B}" type="slidenum">
              <a:rPr lang="en-US"/>
              <a:t>31</a:t>
            </a:fld>
            <a:endParaRPr lang="en-US" dirty="0">
              <a:solidFill>
                <a:srgbClr val="000000"/>
              </a:solidFill>
            </a:endParaRPr>
          </a:p>
        </p:txBody>
      </p:sp>
    </p:spTree>
    <p:extLst>
      <p:ext uri="{BB962C8B-B14F-4D97-AF65-F5344CB8AC3E}">
        <p14:creationId xmlns:p14="http://schemas.microsoft.com/office/powerpoint/2010/main" val="31368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STRIDE: six ways to break those properties</a:t>
            </a:r>
          </a:p>
        </p:txBody>
      </p:sp>
      <p:sp>
        <p:nvSpPr>
          <p:cNvPr id="4" name="Slide Number 4"/>
          <p:cNvSpPr>
            <a:spLocks noGrp="1"/>
          </p:cNvSpPr>
          <p:nvPr>
            <p:ph type="sldNum" sz="quarter" idx="4"/>
          </p:nvPr>
        </p:nvSpPr>
        <p:spPr/>
        <p:txBody>
          <a:bodyPr/>
          <a:lstStyle/>
          <a:p>
            <a:fld id="{B6F15528-21DE-4FAA-801E-634DDDAF4B2B}" type="slidenum">
              <a:rPr lang="en-US"/>
              <a:t>32</a:t>
            </a:fld>
            <a:endParaRPr lang="en-US" dirty="0">
              <a:solidFill>
                <a:srgbClr val="000000"/>
              </a:solidFill>
            </a:endParaRPr>
          </a:p>
        </p:txBody>
      </p:sp>
      <p:graphicFrame>
        <p:nvGraphicFramePr>
          <p:cNvPr id="5" name="Table 4"/>
          <p:cNvGraphicFramePr>
            <a:graphicFrameLocks noGrp="1"/>
          </p:cNvGraphicFramePr>
          <p:nvPr/>
        </p:nvGraphicFramePr>
        <p:xfrm>
          <a:off x="548640" y="1188720"/>
          <a:ext cx="8046720" cy="2798064"/>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48">
                <a:tc>
                  <a:txBody>
                    <a:bodyPr/>
                    <a:lstStyle/>
                    <a:p>
                      <a:pPr algn="l"/>
                      <a:r>
                        <a:rPr sz="1400" b="1">
                          <a:solidFill>
                            <a:srgbClr val="000000"/>
                          </a:solidFill>
                          <a:latin typeface="Arial"/>
                        </a:rPr>
                        <a:t>Threat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a:txBody>
                    <a:bodyPr/>
                    <a:lstStyle/>
                    <a:p>
                      <a:pPr algn="l"/>
                      <a:r>
                        <a:rPr sz="1400" b="1">
                          <a:solidFill>
                            <a:srgbClr val="000000"/>
                          </a:solidFill>
                          <a:latin typeface="Arial"/>
                        </a:rPr>
                        <a:t>Violates</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a:txBody>
                    <a:bodyPr/>
                    <a:lstStyle/>
                    <a:p>
                      <a:pPr algn="l"/>
                      <a:r>
                        <a:rPr sz="1400" b="1">
                          <a:solidFill>
                            <a:srgbClr val="000000"/>
                          </a:solidFill>
                          <a:latin typeface="Arial"/>
                        </a:rPr>
                        <a:t>Example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extLst>
                  <a:ext uri="{0D108BD9-81ED-4DB2-BD59-A6C34878D82A}">
                    <a16:rowId xmlns:a16="http://schemas.microsoft.com/office/drawing/2014/main" val="10000"/>
                  </a:ext>
                </a:extLst>
              </a:tr>
              <a:tr h="402336">
                <a:tc>
                  <a:txBody>
                    <a:bodyPr/>
                    <a:lstStyle/>
                    <a:p>
                      <a:pPr algn="l"/>
                      <a:r>
                        <a:rPr sz="1400" b="1">
                          <a:solidFill>
                            <a:srgbClr val="000000"/>
                          </a:solidFill>
                          <a:latin typeface="Arial"/>
                        </a:rPr>
                        <a:t>Spoofing</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Authenticity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“It’s me, Alice!” when it isn’t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1"/>
                  </a:ext>
                </a:extLst>
              </a:tr>
              <a:tr h="402336">
                <a:tc>
                  <a:txBody>
                    <a:bodyPr/>
                    <a:lstStyle/>
                    <a:p>
                      <a:pPr algn="l"/>
                      <a:r>
                        <a:rPr sz="1400" b="1">
                          <a:solidFill>
                            <a:srgbClr val="000000"/>
                          </a:solidFill>
                          <a:latin typeface="Arial"/>
                        </a:rPr>
                        <a:t>Tampering</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Integrity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Altering data at rest or in transit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2"/>
                  </a:ext>
                </a:extLst>
              </a:tr>
              <a:tr h="402336">
                <a:tc>
                  <a:txBody>
                    <a:bodyPr/>
                    <a:lstStyle/>
                    <a:p>
                      <a:pPr algn="l"/>
                      <a:r>
                        <a:rPr sz="1400" b="1">
                          <a:solidFill>
                            <a:srgbClr val="000000"/>
                          </a:solidFill>
                          <a:latin typeface="Arial"/>
                        </a:rPr>
                        <a:t>Repudiation</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Non-repudiation</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“It wasn’t me!”, with no proof it was</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3"/>
                  </a:ext>
                </a:extLst>
              </a:tr>
              <a:tr h="402336">
                <a:tc>
                  <a:txBody>
                    <a:bodyPr/>
                    <a:lstStyle/>
                    <a:p>
                      <a:pPr algn="l"/>
                      <a:r>
                        <a:rPr sz="1400" b="1">
                          <a:solidFill>
                            <a:srgbClr val="000000"/>
                          </a:solidFill>
                          <a:latin typeface="Arial"/>
                        </a:rPr>
                        <a:t>Information disclosure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Confidentiality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Users’ account details leak out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4"/>
                  </a:ext>
                </a:extLst>
              </a:tr>
              <a:tr h="402336">
                <a:tc>
                  <a:txBody>
                    <a:bodyPr/>
                    <a:lstStyle/>
                    <a:p>
                      <a:pPr algn="l"/>
                      <a:r>
                        <a:rPr sz="1400" b="1">
                          <a:solidFill>
                            <a:srgbClr val="000000"/>
                          </a:solidFill>
                          <a:latin typeface="Arial"/>
                        </a:rPr>
                        <a:t>Denial of service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Availability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Alice can no longer reach her bank</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5"/>
                  </a:ext>
                </a:extLst>
              </a:tr>
              <a:tr h="402336">
                <a:tc>
                  <a:txBody>
                    <a:bodyPr/>
                    <a:lstStyle/>
                    <a:p>
                      <a:pPr algn="l"/>
                      <a:r>
                        <a:rPr sz="1400" b="1">
                          <a:solidFill>
                            <a:srgbClr val="000000"/>
                          </a:solidFill>
                          <a:latin typeface="Arial"/>
                        </a:rPr>
                        <a:t>Elevation of privilege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Authorization</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r>
                        <a:rPr sz="1400" b="0">
                          <a:solidFill>
                            <a:srgbClr val="000000"/>
                          </a:solidFill>
                          <a:latin typeface="Arial"/>
                        </a:rPr>
                        <a:t>An ordinary user gains admin rights</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48640" y="4160520"/>
            <a:ext cx="7498079" cy="256032"/>
          </a:xfrm>
          <a:prstGeom prst="rect">
            <a:avLst/>
          </a:prstGeom>
          <a:noFill/>
        </p:spPr>
        <p:txBody>
          <a:bodyPr wrap="square" lIns="0" tIns="0" rIns="0" bIns="0">
            <a:spAutoFit/>
          </a:bodyPr>
          <a:lstStyle/>
          <a:p>
            <a:r>
              <a:rPr sz="1200">
                <a:solidFill>
                  <a:srgbClr val="7F7F7F"/>
                </a:solidFill>
                <a:latin typeface="Arial"/>
              </a:rPr>
              <a:t>T, I and D are the CIA triad. S breaks origin integrity, which is authentication.</a:t>
            </a:r>
          </a:p>
        </p:txBody>
      </p:sp>
      <p:sp>
        <p:nvSpPr>
          <p:cNvPr id="7" name="TextBox 6"/>
          <p:cNvSpPr txBox="1"/>
          <p:nvPr/>
        </p:nvSpPr>
        <p:spPr>
          <a:xfrm>
            <a:off x="548640" y="4480560"/>
            <a:ext cx="7498079" cy="201168"/>
          </a:xfrm>
          <a:prstGeom prst="rect">
            <a:avLst/>
          </a:prstGeom>
          <a:noFill/>
        </p:spPr>
        <p:txBody>
          <a:bodyPr wrap="square" lIns="0" tIns="0" rIns="0" bIns="0">
            <a:spAutoFit/>
          </a:bodyPr>
          <a:lstStyle/>
          <a:p>
            <a:r>
              <a:rPr sz="1000">
                <a:solidFill>
                  <a:srgbClr val="7F7F7F"/>
                </a:solidFill>
                <a:latin typeface="Arial"/>
              </a:rPr>
              <a:t>Kohnfelder and Garg, Microsoft, 1999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A resourceful, strategic adversary</a:t>
            </a:r>
          </a:p>
        </p:txBody>
      </p:sp>
      <p:sp>
        <p:nvSpPr>
          <p:cNvPr id="3" name="Content 3"/>
          <p:cNvSpPr>
            <a:spLocks noGrp="1"/>
          </p:cNvSpPr>
          <p:nvPr>
            <p:ph idx="1"/>
          </p:nvPr>
        </p:nvSpPr>
        <p:spPr/>
        <p:txBody>
          <a:bodyPr/>
          <a:lstStyle/>
          <a:p>
            <a:r>
              <a:rPr lang="en-US" dirty="0"/>
              <a:t>What resources does the adversary have? What can they...</a:t>
            </a:r>
          </a:p>
          <a:p>
            <a:pPr lvl="1"/>
            <a:r>
              <a:rPr lang="en-US" dirty="0"/>
              <a:t>observe? A network connection</a:t>
            </a:r>
          </a:p>
          <a:p>
            <a:pPr lvl="1"/>
            <a:r>
              <a:rPr lang="en-US" dirty="0"/>
              <a:t>corrupt? A router</a:t>
            </a:r>
          </a:p>
          <a:p>
            <a:pPr lvl="1"/>
            <a:r>
              <a:rPr lang="en-US" dirty="0"/>
              <a:t>influence? A network configuration</a:t>
            </a:r>
          </a:p>
          <a:p>
            <a:pPr lvl="1"/>
            <a:r>
              <a:rPr lang="en-US" dirty="0"/>
              <a:t>modify? Packet data</a:t>
            </a:r>
          </a:p>
          <a:p>
            <a:pPr lvl="1"/>
            <a:r>
              <a:rPr lang="en-US" dirty="0"/>
              <a:t>control? A company employee</a:t>
            </a:r>
          </a:p>
          <a:p>
            <a:r>
              <a:rPr lang="en-US" dirty="0"/>
              <a:t>An attack is any series of actions that lets the adversary violate a given security policy</a:t>
            </a:r>
          </a:p>
          <a:p>
            <a:r>
              <a:rPr lang="en-US" b="1" dirty="0"/>
              <a:t>A strategic adversary picks the best way to spend those resources. Assume yours will.</a:t>
            </a:r>
          </a:p>
        </p:txBody>
      </p:sp>
      <p:sp>
        <p:nvSpPr>
          <p:cNvPr id="4" name="Slide Number 4"/>
          <p:cNvSpPr>
            <a:spLocks noGrp="1"/>
          </p:cNvSpPr>
          <p:nvPr>
            <p:ph type="sldNum" sz="quarter" idx="4"/>
          </p:nvPr>
        </p:nvSpPr>
        <p:spPr/>
        <p:txBody>
          <a:bodyPr/>
          <a:lstStyle/>
          <a:p>
            <a:fld id="{B6F15528-21DE-4FAA-801E-634DDDAF4B2B}" type="slidenum">
              <a:rPr lang="en-US"/>
              <a:t>33</a:t>
            </a:fld>
            <a:endParaRPr lang="en-US" dirty="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The threat landscape</a:t>
            </a:r>
          </a:p>
        </p:txBody>
      </p:sp>
      <p:sp>
        <p:nvSpPr>
          <p:cNvPr id="4" name="Slide Number 4"/>
          <p:cNvSpPr>
            <a:spLocks noGrp="1"/>
          </p:cNvSpPr>
          <p:nvPr>
            <p:ph type="sldNum" sz="quarter" idx="4"/>
          </p:nvPr>
        </p:nvSpPr>
        <p:spPr/>
        <p:txBody>
          <a:bodyPr/>
          <a:lstStyle/>
          <a:p>
            <a:fld id="{B6F15528-21DE-4FAA-801E-634DDDAF4B2B}" type="slidenum">
              <a:rPr lang="en-US"/>
              <a:t>34</a:t>
            </a:fld>
            <a:endParaRPr lang="en-US" dirty="0">
              <a:solidFill>
                <a:srgbClr val="000000"/>
              </a:solidFill>
            </a:endParaRPr>
          </a:p>
        </p:txBody>
      </p:sp>
      <p:graphicFrame>
        <p:nvGraphicFramePr>
          <p:cNvPr id="5" name="Table 4"/>
          <p:cNvGraphicFramePr>
            <a:graphicFrameLocks noGrp="1"/>
          </p:cNvGraphicFramePr>
          <p:nvPr/>
        </p:nvGraphicFramePr>
        <p:xfrm>
          <a:off x="548640" y="1188720"/>
          <a:ext cx="8046720" cy="2651760"/>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384048">
                <a:tc>
                  <a:txBody>
                    <a:bodyPr/>
                    <a:lstStyle/>
                    <a:p>
                      <a:pPr algn="l"/>
                      <a:r>
                        <a:rPr sz="1100" b="0">
                          <a:solidFill>
                            <a:srgbClr val="7F7F7F"/>
                          </a:solidFill>
                          <a:latin typeface="Arial"/>
                        </a:rPr>
                        <a:t>Motivation ↓   Capability →</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ctr"/>
                      <a:r>
                        <a:rPr sz="1400" b="1">
                          <a:solidFill>
                            <a:srgbClr val="000000"/>
                          </a:solidFill>
                          <a:latin typeface="Arial"/>
                        </a:rPr>
                        <a:t>Script kiddie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ctr"/>
                      <a:r>
                        <a:rPr sz="1400" b="1">
                          <a:solidFill>
                            <a:srgbClr val="000000"/>
                          </a:solidFill>
                          <a:latin typeface="Arial"/>
                        </a:rPr>
                        <a:t>Hacker</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ctr"/>
                      <a:r>
                        <a:rPr sz="1400" b="1">
                          <a:solidFill>
                            <a:srgbClr val="000000"/>
                          </a:solidFill>
                          <a:latin typeface="Arial"/>
                        </a:rPr>
                        <a:t>Expert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ctr"/>
                      <a:r>
                        <a:rPr sz="1400" b="1">
                          <a:solidFill>
                            <a:srgbClr val="000000"/>
                          </a:solidFill>
                          <a:latin typeface="Arial"/>
                        </a:rPr>
                        <a:t>Specialist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0"/>
                  </a:ext>
                </a:extLst>
              </a:tr>
              <a:tr h="566928">
                <a:tc>
                  <a:txBody>
                    <a:bodyPr/>
                    <a:lstStyle/>
                    <a:p>
                      <a:pPr algn="l"/>
                      <a:r>
                        <a:rPr sz="1400" b="1">
                          <a:solidFill>
                            <a:srgbClr val="000000"/>
                          </a:solidFill>
                          <a:latin typeface="Arial"/>
                        </a:rPr>
                        <a:t>National interest</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gridSpan="2">
                  <a:txBody>
                    <a:bodyPr/>
                    <a:lstStyle/>
                    <a:p>
                      <a:pPr algn="ctr"/>
                      <a:r>
                        <a:rPr sz="1500" b="0">
                          <a:solidFill>
                            <a:srgbClr val="000000"/>
                          </a:solidFill>
                          <a:latin typeface="Arial"/>
                        </a:rPr>
                        <a:t>Spy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hMerge="1">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r>
                        <a:rPr sz="1400" b="1">
                          <a:solidFill>
                            <a:srgbClr val="000000"/>
                          </a:solidFill>
                          <a:latin typeface="Arial"/>
                        </a:rPr>
                        <a:t>Personal gain</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gridSpan="2">
                  <a:txBody>
                    <a:bodyPr/>
                    <a:lstStyle/>
                    <a:p>
                      <a:pPr algn="ctr"/>
                      <a:r>
                        <a:rPr sz="1500" b="0">
                          <a:solidFill>
                            <a:srgbClr val="000000"/>
                          </a:solidFill>
                          <a:latin typeface="Arial"/>
                        </a:rPr>
                        <a:t>Thief</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hMerge="1">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2"/>
                  </a:ext>
                </a:extLst>
              </a:tr>
              <a:tr h="566928">
                <a:tc>
                  <a:txBody>
                    <a:bodyPr/>
                    <a:lstStyle/>
                    <a:p>
                      <a:pPr algn="l"/>
                      <a:r>
                        <a:rPr sz="1400" b="1">
                          <a:solidFill>
                            <a:srgbClr val="000000"/>
                          </a:solidFill>
                          <a:latin typeface="Arial"/>
                        </a:rPr>
                        <a:t>Personal fame</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gridSpan="2">
                  <a:txBody>
                    <a:bodyPr/>
                    <a:lstStyle/>
                    <a:p>
                      <a:pPr algn="ctr"/>
                      <a:r>
                        <a:rPr sz="1500" b="0">
                          <a:solidFill>
                            <a:srgbClr val="000000"/>
                          </a:solidFill>
                          <a:latin typeface="Arial"/>
                        </a:rPr>
                        <a:t>Trespasser</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hMerge="1">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rowSpan="2">
                  <a:txBody>
                    <a:bodyPr/>
                    <a:lstStyle/>
                    <a:p>
                      <a:pPr algn="ctr"/>
                      <a:r>
                        <a:rPr sz="1500" b="0">
                          <a:solidFill>
                            <a:srgbClr val="000000"/>
                          </a:solidFill>
                          <a:latin typeface="Arial"/>
                        </a:rPr>
                        <a:t>Author</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3"/>
                  </a:ext>
                </a:extLst>
              </a:tr>
              <a:tr h="566928">
                <a:tc>
                  <a:txBody>
                    <a:bodyPr/>
                    <a:lstStyle/>
                    <a:p>
                      <a:pPr algn="l"/>
                      <a:r>
                        <a:rPr sz="1400" b="1">
                          <a:solidFill>
                            <a:srgbClr val="000000"/>
                          </a:solidFill>
                          <a:latin typeface="Arial"/>
                        </a:rPr>
                        <a:t>Curiosity</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ctr"/>
                      <a:r>
                        <a:rPr sz="1500" b="0">
                          <a:solidFill>
                            <a:srgbClr val="000000"/>
                          </a:solidFill>
                          <a:latin typeface="Arial"/>
                        </a:rPr>
                        <a:t>Vandal</a:t>
                      </a: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E8E8E8"/>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vMerge="1">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tc>
                  <a:txBody>
                    <a:bodyPr/>
                    <a:lstStyle/>
                    <a:p>
                      <a:pPr algn="l"/>
                      <a:endParaRPr/>
                    </a:p>
                  </a:txBody>
                  <a:tcPr marT="36576" marB="36576" anchor="ctr">
                    <a:lnL w="9525" cap="flat" cmpd="sng" algn="ctr">
                      <a:solidFill>
                        <a:srgbClr val="7F7F7F"/>
                      </a:solidFill>
                      <a:prstDash val="solid"/>
                    </a:lnL>
                    <a:lnR w="9525" cap="flat" cmpd="sng" algn="ctr">
                      <a:solidFill>
                        <a:srgbClr val="7F7F7F"/>
                      </a:solidFill>
                      <a:prstDash val="solid"/>
                    </a:lnR>
                    <a:lnT w="9525" cap="flat" cmpd="sng" algn="ctr">
                      <a:solidFill>
                        <a:srgbClr val="7F7F7F"/>
                      </a:solidFill>
                      <a:prstDash val="solid"/>
                    </a:lnT>
                    <a:lnB w="9525" cap="flat" cmpd="sng" algn="ctr">
                      <a:solidFill>
                        <a:srgbClr val="7F7F7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48640" y="3977639"/>
            <a:ext cx="7498079" cy="320040"/>
          </a:xfrm>
          <a:prstGeom prst="rect">
            <a:avLst/>
          </a:prstGeom>
          <a:noFill/>
        </p:spPr>
        <p:txBody>
          <a:bodyPr wrap="square" lIns="0" tIns="0" rIns="0" bIns="0">
            <a:spAutoFit/>
          </a:bodyPr>
          <a:lstStyle/>
          <a:p>
            <a:r>
              <a:rPr sz="1500">
                <a:solidFill>
                  <a:srgbClr val="000000"/>
                </a:solidFill>
                <a:latin typeface="Arial"/>
              </a:rPr>
              <a:t>Tools written by experts are now used by less-skilled attackers and criminals.</a:t>
            </a:r>
          </a:p>
        </p:txBody>
      </p:sp>
      <p:sp>
        <p:nvSpPr>
          <p:cNvPr id="7" name="TextBox 6"/>
          <p:cNvSpPr txBox="1"/>
          <p:nvPr/>
        </p:nvSpPr>
        <p:spPr>
          <a:xfrm>
            <a:off x="548640" y="4389120"/>
            <a:ext cx="7498079" cy="201168"/>
          </a:xfrm>
          <a:prstGeom prst="rect">
            <a:avLst/>
          </a:prstGeom>
          <a:noFill/>
        </p:spPr>
        <p:txBody>
          <a:bodyPr wrap="square" lIns="0" tIns="0" rIns="0" bIns="0">
            <a:spAutoFit/>
          </a:bodyPr>
          <a:lstStyle/>
          <a:p>
            <a:r>
              <a:rPr sz="1000">
                <a:solidFill>
                  <a:srgbClr val="7F7F7F"/>
                </a:solidFill>
                <a:latin typeface="Arial"/>
              </a:rPr>
              <a:t>After David Aucsmith, Microsoft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Threat models</a:t>
            </a:r>
          </a:p>
        </p:txBody>
      </p:sp>
      <p:sp>
        <p:nvSpPr>
          <p:cNvPr id="3" name="Content 3"/>
          <p:cNvSpPr>
            <a:spLocks noGrp="1"/>
          </p:cNvSpPr>
          <p:nvPr>
            <p:ph idx="1"/>
          </p:nvPr>
        </p:nvSpPr>
        <p:spPr/>
        <p:txBody>
          <a:bodyPr/>
          <a:lstStyle/>
          <a:p>
            <a:r>
              <a:rPr lang="en-US" dirty="0"/>
              <a:t>Before you can defend anything, write down</a:t>
            </a:r>
          </a:p>
          <a:p>
            <a:pPr lvl="1"/>
            <a:r>
              <a:rPr lang="en-US" dirty="0"/>
              <a:t>Who the attacker is, what they can do, and what they want</a:t>
            </a:r>
            <a:endParaRPr lang="en-US" sz="2000" dirty="0"/>
          </a:p>
          <a:p>
            <a:pPr lvl="1"/>
            <a:r>
              <a:rPr lang="en-US" dirty="0"/>
              <a:t>What defenses are already in place</a:t>
            </a:r>
            <a:endParaRPr lang="en-US" sz="2000" dirty="0"/>
          </a:p>
          <a:p>
            <a:r>
              <a:rPr lang="en-US" dirty="0"/>
              <a:t>A useful ladder of terms</a:t>
            </a:r>
          </a:p>
          <a:p>
            <a:pPr lvl="1"/>
            <a:r>
              <a:rPr lang="en-US" sz="2000" b="1" dirty="0"/>
              <a:t>Weakness  &lt;  Vulnerability  &lt;  Exploit  &lt;  Attack</a:t>
            </a:r>
            <a:endParaRPr lang="en-US" sz="2000" dirty="0"/>
          </a:p>
          <a:p>
            <a:r>
              <a:rPr lang="en-US" b="1" dirty="0"/>
              <a:t>Without a threat model, "is it secure?" has no answer at all.</a:t>
            </a:r>
            <a:endParaRPr lang="en-US" dirty="0"/>
          </a:p>
        </p:txBody>
      </p:sp>
      <p:sp>
        <p:nvSpPr>
          <p:cNvPr id="4" name="Slide Number 4"/>
          <p:cNvSpPr>
            <a:spLocks noGrp="1"/>
          </p:cNvSpPr>
          <p:nvPr>
            <p:ph type="sldNum" sz="quarter" idx="4"/>
          </p:nvPr>
        </p:nvSpPr>
        <p:spPr/>
        <p:txBody>
          <a:bodyPr/>
          <a:lstStyle/>
          <a:p>
            <a:fld id="{B6F15528-21DE-4FAA-801E-634DDDAF4B2B}" type="slidenum">
              <a:rPr lang="en-US"/>
              <a:t>35</a:t>
            </a:fld>
            <a:endParaRPr lang="en-US" dirty="0">
              <a:solidFill>
                <a:srgbClr val="000000"/>
              </a:solidFill>
            </a:endParaRPr>
          </a:p>
        </p:txBody>
      </p:sp>
    </p:spTree>
    <p:extLst>
      <p:ext uri="{BB962C8B-B14F-4D97-AF65-F5344CB8AC3E}">
        <p14:creationId xmlns:p14="http://schemas.microsoft.com/office/powerpoint/2010/main" val="2608079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So, is the system secure?</a:t>
            </a:r>
          </a:p>
        </p:txBody>
      </p:sp>
      <p:sp>
        <p:nvSpPr>
          <p:cNvPr id="3" name="Content 3"/>
          <p:cNvSpPr>
            <a:spLocks noGrp="1"/>
          </p:cNvSpPr>
          <p:nvPr>
            <p:ph idx="1"/>
          </p:nvPr>
        </p:nvSpPr>
        <p:spPr/>
        <p:txBody>
          <a:bodyPr/>
          <a:lstStyle/>
          <a:p>
            <a:r>
              <a:rPr lang="en-US" dirty="0"/>
              <a:t>Only relative to a threat model: secure means no adversary within it can violate the policy</a:t>
            </a:r>
          </a:p>
          <a:p>
            <a:r>
              <a:rPr lang="en-US" dirty="0"/>
              <a:t>Security mechanisms enforce the policy</a:t>
            </a:r>
          </a:p>
          <a:p>
            <a:pPr lvl="1"/>
            <a:r>
              <a:rPr lang="en-US" dirty="0"/>
              <a:t>Software, hardware, cryptography, or people and procedures</a:t>
            </a:r>
          </a:p>
          <a:p>
            <a:pPr lvl="1"/>
            <a:r>
              <a:rPr lang="en-US" dirty="0"/>
              <a:t>For example, no one employee may alter the log, so keep copies on machines no one employee can all reach</a:t>
            </a:r>
          </a:p>
          <a:p>
            <a:r>
              <a:rPr lang="en-US" dirty="0"/>
              <a:t>A security argument shows the mechanisms uphold the policy under the threat model’s assumptions</a:t>
            </a:r>
          </a:p>
          <a:p>
            <a:r>
              <a:rPr lang="en-US" b="1" dirty="0"/>
              <a:t>If the threat model is wrong, so is the argument.</a:t>
            </a:r>
          </a:p>
        </p:txBody>
      </p:sp>
      <p:sp>
        <p:nvSpPr>
          <p:cNvPr id="4" name="Slide Number 4"/>
          <p:cNvSpPr>
            <a:spLocks noGrp="1"/>
          </p:cNvSpPr>
          <p:nvPr>
            <p:ph type="sldNum" sz="quarter" idx="4"/>
          </p:nvPr>
        </p:nvSpPr>
        <p:spPr/>
        <p:txBody>
          <a:bodyPr/>
          <a:lstStyle/>
          <a:p>
            <a:fld id="{B6F15528-21DE-4FAA-801E-634DDDAF4B2B}" type="slidenum">
              <a:rPr lang="en-US"/>
              <a:t>36</a:t>
            </a:fld>
            <a:endParaRPr lang="en-US" dirty="0">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dirty="0"/>
              <a:t>Before Wednesday</a:t>
            </a:r>
          </a:p>
        </p:txBody>
      </p:sp>
      <p:sp>
        <p:nvSpPr>
          <p:cNvPr id="3" name="Content 3"/>
          <p:cNvSpPr>
            <a:spLocks noGrp="1"/>
          </p:cNvSpPr>
          <p:nvPr>
            <p:ph idx="1"/>
          </p:nvPr>
        </p:nvSpPr>
        <p:spPr/>
        <p:txBody>
          <a:bodyPr/>
          <a:lstStyle/>
          <a:p>
            <a:r>
              <a:rPr lang="en-US" dirty="0"/>
              <a:t>Read the syllabus, check the schedule, etc.</a:t>
            </a:r>
          </a:p>
          <a:p>
            <a:endParaRPr lang="en-US" sz="2000" dirty="0"/>
          </a:p>
          <a:p>
            <a:r>
              <a:rPr lang="en-US" sz="2600" b="1" dirty="0"/>
              <a:t>Questions?</a:t>
            </a:r>
            <a:endParaRPr lang="en-US" dirty="0"/>
          </a:p>
        </p:txBody>
      </p:sp>
      <p:sp>
        <p:nvSpPr>
          <p:cNvPr id="4" name="Slide Number 4"/>
          <p:cNvSpPr>
            <a:spLocks noGrp="1"/>
          </p:cNvSpPr>
          <p:nvPr>
            <p:ph type="sldNum" sz="quarter" idx="4"/>
          </p:nvPr>
        </p:nvSpPr>
        <p:spPr/>
        <p:txBody>
          <a:bodyPr/>
          <a:lstStyle/>
          <a:p>
            <a:fld id="{B6F15528-21DE-4FAA-801E-634DDDAF4B2B}" type="slidenum">
              <a:rPr lang="en-US"/>
              <a:t>37</a:t>
            </a:fld>
            <a:endParaRPr lang="en-US" dirty="0">
              <a:solidFill>
                <a:srgbClr val="000000"/>
              </a:solidFill>
            </a:endParaRPr>
          </a:p>
        </p:txBody>
      </p:sp>
    </p:spTree>
    <p:extLst>
      <p:ext uri="{BB962C8B-B14F-4D97-AF65-F5344CB8AC3E}">
        <p14:creationId xmlns:p14="http://schemas.microsoft.com/office/powerpoint/2010/main" val="1386048013"/>
      </p:ext>
    </p:extLst>
  </p:cSld>
  <p:clrMapOvr>
    <a:masterClrMapping/>
  </p:clrMapOvr>
</p:sld>
</file>

<file path=ppt/theme/theme1.xml><?xml version="1.0" encoding="utf-8"?>
<a:theme xmlns:a="http://schemas.openxmlformats.org/drawingml/2006/main" name="Office Theme [179030053091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9030150647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E3E257-B7BB-1E4C-832B-AC3269718715}">
  <we:reference id="wa200010725" version="1.0.0.1" store="en-US" storeType="OMEX"/>
  <we:alternateReferences>
    <we:reference id="WA200010725" version="1.0.0.1" store="WA200010725" storeType="OMEX"/>
  </we:alternateReferences>
  <we:properties>
    <we:property name="claude.fileId" value="&quot;42c19a9a-14eb-4c36-94eb-9b21c8c37e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45</TotalTime>
  <Words>2683</Words>
  <Application>Microsoft Macintosh PowerPoint</Application>
  <PresentationFormat>On-screen Show (16:9)</PresentationFormat>
  <Paragraphs>351</Paragraphs>
  <Slides>37</Slides>
  <Notes>37</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37</vt:i4>
      </vt:variant>
    </vt:vector>
  </HeadingPairs>
  <TitlesOfParts>
    <vt:vector size="40" baseType="lpstr">
      <vt:lpstr>Arial</vt:lpstr>
      <vt:lpstr>Office Theme [1790300530915]</vt:lpstr>
      <vt:lpstr>Office Theme [1790301506474]</vt:lpstr>
      <vt:lpstr>CS 165: Computer Security</vt:lpstr>
      <vt:lpstr>Today</vt:lpstr>
      <vt:lpstr>Course information</vt:lpstr>
      <vt:lpstr>About me</vt:lpstr>
      <vt:lpstr>Infamous bugs</vt:lpstr>
      <vt:lpstr>Mitigations?</vt:lpstr>
      <vt:lpstr>Software is still buggy…</vt:lpstr>
      <vt:lpstr>Mixing code and data</vt:lpstr>
      <vt:lpstr>What you will learn to do</vt:lpstr>
      <vt:lpstr>This is a hands-on course</vt:lpstr>
      <vt:lpstr>Logistics</vt:lpstr>
      <vt:lpstr>Materials</vt:lpstr>
      <vt:lpstr>Grading</vt:lpstr>
      <vt:lpstr>The labs: 25 percent</vt:lpstr>
      <vt:lpstr>How a lab is graded</vt:lpstr>
      <vt:lpstr>Quizzes: 20 percent</vt:lpstr>
      <vt:lpstr>Exams: 55 percent</vt:lpstr>
      <vt:lpstr>Academic integrity</vt:lpstr>
      <vt:lpstr>Ethics</vt:lpstr>
      <vt:lpstr>Caveat Emptor</vt:lpstr>
      <vt:lpstr>Background, and how to do well</vt:lpstr>
      <vt:lpstr>The security mindset</vt:lpstr>
      <vt:lpstr>PowerPoint Presentation</vt:lpstr>
      <vt:lpstr>How things can be made to fail</vt:lpstr>
      <vt:lpstr>Security versus systems</vt:lpstr>
      <vt:lpstr>Rules have bugs</vt:lpstr>
      <vt:lpstr>Thinking like an attacker</vt:lpstr>
      <vt:lpstr>Thinking like a defender</vt:lpstr>
      <vt:lpstr>Why security is hard</vt:lpstr>
      <vt:lpstr>What defenders actually do</vt:lpstr>
      <vt:lpstr>Confidentiality, integrity, availability</vt:lpstr>
      <vt:lpstr>STRIDE: six ways to break those properties</vt:lpstr>
      <vt:lpstr>A resourceful, strategic adversary</vt:lpstr>
      <vt:lpstr>The threat landscape</vt:lpstr>
      <vt:lpstr>Threat models</vt:lpstr>
      <vt:lpstr>So, is the system secure?</vt:lpstr>
      <vt:lpstr>Before Wednesday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165 Computer Security - Introduction</dc:title>
  <dc:subject>PptxGenJS Presentation</dc:subject>
  <dc:creator>Emiliano De Cristofaro</dc:creator>
  <cp:lastModifiedBy>emiliano de cristofaro</cp:lastModifiedBy>
  <cp:revision>28</cp:revision>
  <dcterms:created xsi:type="dcterms:W3CDTF">2026-09-25T01:00:46Z</dcterms:created>
  <dcterms:modified xsi:type="dcterms:W3CDTF">2026-09-27T22:39:20Z</dcterms:modified>
</cp:coreProperties>
</file>