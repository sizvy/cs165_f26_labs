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6F481-76FE-430A-8033-0D9017D95D37}">
  <a:tblStyle styleId="{9096F481-76FE-430A-8033-0D9017D95D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F7BAC6-EEA7-4524-A375-4FD7C61763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9"/>
  </p:normalViewPr>
  <p:slideViewPr>
    <p:cSldViewPr snapToGrid="0">
      <p:cViewPr varScale="1">
        <p:scale>
          <a:sx n="153" d="100"/>
          <a:sy n="153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Lecture 8, Wednesday October 21. The classic anti-overflow defenses, and the code-reuse technique that defeats them: Return-Oriented Programming, or ROP.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1 covers three defenses: stack canaries, Address Space Layout Randomization, and Data Execution Prevention. Part 2 covers code reuse: return-to-libc and ROP.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Recap: overflow, overwrite the return address, run injected code. Now the industry fights back, and we see what still works.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three defenses are on by default in today's systems. Each one targets a different requirement of the attack.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exploit needs two things: code to run (computation) and a way to redirect execution (control). Keep this split in mind, each defense attacks one side.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canary is a secret value placed between the local buffers and the saved return address. The function checks it right before returning; an overflow long enough to reach the return address also smashed the canary, so the check fails.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Bypasses: leak the canary value and write it back correctly, overwrite a pointer that sits before the canary, or move to the heap where there is no canary.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Canary scorecard: cheap and catches the classic stack smash, but bypassable with an information leak and useless off the stack.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Address Space Layout Randomization puts the stack, heap, and libraries at random addresses on each run, so the attacker no longer knows where to jump.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Defeat it with an information leak that reveals one real address, or by brute force on 32-bit systems where the randomness is small. Scorecard: strong until a single address leaks.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Execution Prevention, enforced by the processor's No-eXecute bit, marks the stack and heap as non-executable. Injected shellcode can no longer run as code.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Normally you cannot just disable it. But No-eXecute only stops running data as code; it does nothing against reusing code that is already executable. That gap is Part 2.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defense raises the bar, none is complete. Together they push attackers away from injecting code and toward reusing it.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we cannot inject code, we reuse the code already in the program. No-eXecute has nothing to say about executing code that was always executable.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still control the stack, so we still control the return address and everything after it. We chain fragments of existing code instead of injecting new code.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Return-to-libc means returning into a whole existing function, such as system() in the C standard library (libc), with arguments we laid out on the stack. Zero injected code.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Instead of whole functions, use tiny instruction sequences called gadgets. More flexible, and with enough of them the technique is Turing-complete.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gadget is a short instruction sequence ending in a return. That return hands control to the next gadget whose address we placed on the stack.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fill the stack with a list of gadget addresses. Each return pops the next one, so the stack itself drives execution. This is Return-Oriented Programming.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Chain a pop gadget to load a value into a register, then a store gadget to write that register to memory. Complex behavior built from simple pieces.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Tools scan the binary for useful sequences. Bigger binaries and linked libraries give a richer set of gadgets to work with.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example: a two-gadget chain that pops a value then adds. It shows concretely how the stack layout encodes the program.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Defenses made injection hard, so attackers reuse existing code instead. The arms race continues in the November 4 lecture on current defenses.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floor.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exercise: build a chain that stores a value at a chosen address. Use only if time remains.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8640" y="24505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700"/>
              <a:buNone/>
              <a:defRPr sz="17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48640" y="27614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None/>
              <a:defRPr sz="19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t>CS 165: Computer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dirty="0"/>
              <a:t>Return-Oriented Programming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dirty="0"/>
              <a:t>Emiliano De Cristofaro</a:t>
            </a:r>
          </a:p>
          <a:p>
            <a:pPr marL="0" indent="0" algn="l">
              <a:buNone/>
            </a:pPr>
            <a:r>
              <a:rPr dirty="0"/>
              <a:t>University of California, Riverside</a:t>
            </a:r>
          </a:p>
          <a:p>
            <a:pPr marL="0" indent="0" algn="l">
              <a:buNone/>
            </a:pPr>
            <a:r>
              <a:rPr dirty="0"/>
              <a:t>Fall 2026  |  </a:t>
            </a:r>
            <a:r>
              <a:rPr lang="en-US" dirty="0"/>
              <a:t>Monday/</a:t>
            </a:r>
            <a:r>
              <a:rPr dirty="0"/>
              <a:t>Wednesday, October </a:t>
            </a:r>
            <a:r>
              <a:rPr lang="en-US" dirty="0"/>
              <a:t>19/</a:t>
            </a:r>
            <a:r>
              <a:rPr dirty="0"/>
              <a:t>21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568" y="0"/>
            <a:ext cx="2868864" cy="979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Recap: an overflow already hands us the return address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Part 1, the classic defenses: stack canaries, ASLR, DEP/NX, and how each is bypassed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Why these turned off straight code injection by default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Part 2, code reuse: return-to-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libc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, then return-oriented programming (ROP)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Gadgets, the ROP execution model, and a look ahead to Lab 4 and Current Defenses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4327571"/>
            <a:ext cx="2529840" cy="50000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Defenses raise the bar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07080" y="4327571"/>
            <a:ext cx="2529840" cy="50000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Injection stops working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65520" y="4327571"/>
            <a:ext cx="2529840" cy="50000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Reuse the code there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Recap: From Overflow to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298448"/>
            <a:ext cx="8046720" cy="2561552"/>
          </a:xfrm>
        </p:spPr>
        <p:txBody>
          <a:bodyPr wrap="square" lIns="0" tIns="0" rIns="0" bIns="0">
            <a:normAutofit lnSpcReduction="10000"/>
          </a:bodyPr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Lectures 5-6: an unchecked copy runs past a stack buffer and overwrites the saved return address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On ret, the program jumps wherever those bytes point: control flow is the attacker's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The classic finish was code injection (Aleph One, 1996), taught as principle in Lecture 6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Lab 3 (Oct 22) does this with every defense off; today </a:t>
            </a:r>
            <a:r>
              <a:rPr lang="en-US" sz="2000" b="0" i="0" dirty="0">
                <a:solidFill>
                  <a:srgbClr val="202020"/>
                </a:solidFill>
                <a:latin typeface="Arial"/>
              </a:rPr>
              <a:t>we see 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what happens when they are on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0000" y="3900000"/>
            <a:ext cx="2500000" cy="26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return address (overwritten)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0000" y="4160000"/>
            <a:ext cx="25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saved ebp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0000" y="4420000"/>
            <a:ext cx="2500000" cy="42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02020"/>
                </a:solidFill>
                <a:latin typeface="Arial"/>
              </a:rPr>
              <a:t>char buf (overflow starts here)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50000" y="388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50000" y="463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900000" y="3920000"/>
            <a:ext cx="0" cy="880000"/>
          </a:xfrm>
          <a:prstGeom prst="bentConnector3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02020"/>
                </a:solidFill>
                <a:latin typeface="Arial"/>
              </a:rPr>
              <a:t>Part 1: The Classic Defenses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1" i="0">
                <a:solidFill>
                  <a:srgbClr val="E47932"/>
                </a:solidFill>
                <a:latin typeface="Arial"/>
              </a:rPr>
              <a:t>Why straight code injection stopped working by default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A Hijack Needs Computation and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Every injection exploit combines two things: computation (the shellcode) and control (redirecting ret)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three classic defenses each attack one of these ingredients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3050000"/>
            <a:ext cx="2970000" cy="48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shellcode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585000"/>
            <a:ext cx="297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0392B"/>
                </a:solidFill>
                <a:latin typeface="Arial"/>
              </a:rPr>
              <a:t>computation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18640" y="3050000"/>
            <a:ext cx="1980000" cy="48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padding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98640" y="3050000"/>
            <a:ext cx="1650000" cy="48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ret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98640" y="3585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0392B"/>
                </a:solidFill>
                <a:latin typeface="Arial"/>
              </a:rPr>
              <a:t>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800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Arial"/>
              </a:rPr>
              <a:t>DEP/NX: shellcode not executable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0000" y="3800000"/>
            <a:ext cx="2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Arial"/>
              </a:rPr>
              <a:t>Canary: detects the overwrite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0000" y="3800000"/>
            <a:ext cx="2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Arial"/>
              </a:rPr>
              <a:t>ASLR: hides where to jump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Defense 1: Stack Canaries (StackGuard)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Idea (Cowan et al., 1998): the prologue writes a guard word, the canary, between locals and the saved return address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The epilogue re-checks it just before ret; a mismatch aborts the program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A contiguous overflow must cross the canary to reach the return address, so it is detected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0000" y="3507941"/>
            <a:ext cx="23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arguments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0000" y="3767941"/>
            <a:ext cx="23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return address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0000" y="4027941"/>
            <a:ext cx="23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saved ebp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0000" y="4287941"/>
            <a:ext cx="2300000" cy="26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canary (guard word)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0000" y="4287941"/>
            <a:ext cx="22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C0392B"/>
                </a:solidFill>
                <a:latin typeface="Arial"/>
              </a:rPr>
              <a:t>prologue sets, epilogue checks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0000" y="4547941"/>
            <a:ext cx="2300000" cy="36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local buffer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0000" y="4547941"/>
            <a:ext cx="225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overflow writes upward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50000" y="3487941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50000" y="4697941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800000" y="4417941"/>
            <a:ext cx="0" cy="450000"/>
          </a:xfrm>
          <a:prstGeom prst="bentConnector3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Canaries Can Be Bypassed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Data-pointer corruption: overwrite a pointer below the canary, then write through it, skipping the canary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Disclosure: an over-read leaks the canary value, so the payload replays the correct word and passes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Lesson: a canary detects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one contiguous overwrite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not every memory error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Scorecard: The Canary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A recompile buys real protection against the classic overwrite, but not a safety guarantee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00000" y="2700000"/>
            <a:ext cx="190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Aspect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00000" y="2700000"/>
            <a:ext cx="320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Canary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0000" y="3000000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Performance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00000" y="3000000"/>
            <a:ext cx="320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few %, optimizable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0000" y="3300000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Deployment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00000" y="3300000"/>
            <a:ext cx="320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recompile, no code change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00000" y="3600000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Compatibility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00000" y="3600000"/>
            <a:ext cx="320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perfect, invisible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00000" y="3900000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Safety guarantee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00000" y="3900000"/>
            <a:ext cx="320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not really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384048"/>
            <a:ext cx="8304415" cy="685800"/>
          </a:xfrm>
        </p:spPr>
        <p:txBody>
          <a:bodyPr wrap="square">
            <a:normAutofit fontScale="90000"/>
          </a:bodyPr>
          <a:lstStyle/>
          <a:p>
            <a:pPr algn="l"/>
            <a:r>
              <a:rPr sz="2800" b="1" i="0" dirty="0">
                <a:solidFill>
                  <a:srgbClr val="202020"/>
                </a:solidFill>
                <a:latin typeface="Arial"/>
              </a:rPr>
              <a:t>Defense 2: Address Space Layout Randomization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Without it, the stack sits at the same address every run, so injected code has a predictable location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ASLR picks a different base address each run for the stack (later also libraries and the image)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 hardcoded jump target usually misses; strength depends on the entropy, how many base addresses exist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00000" y="3328191"/>
            <a:ext cx="1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dirty="0">
                <a:solidFill>
                  <a:srgbClr val="8A8A8A"/>
                </a:solidFill>
                <a:latin typeface="Arial"/>
              </a:rPr>
              <a:t>run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0000" y="3500000"/>
            <a:ext cx="1200000" cy="2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Code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00000" y="3740000"/>
            <a:ext cx="1200000" cy="2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0000" y="3980000"/>
            <a:ext cx="1200000" cy="2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Heap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00000" y="4220000"/>
            <a:ext cx="1200000" cy="24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Stack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00000" y="3328191"/>
            <a:ext cx="1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Arial"/>
              </a:rPr>
              <a:t>run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00000" y="3500000"/>
            <a:ext cx="1200000" cy="2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Code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00000" y="3740000"/>
            <a:ext cx="1200000" cy="2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00000" y="3980000"/>
            <a:ext cx="1200000" cy="2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Heap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00000" y="4370000"/>
            <a:ext cx="1200000" cy="24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Stack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0000" y="4680000"/>
            <a:ext cx="3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  <a:latin typeface="Arial"/>
              </a:rPr>
              <a:t>stack base differs every run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Defeating ASLR, and Its Scorecard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Bypass: an info leak (for example an over-read) discloses a live address, revealing the base and offsets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Low entropy also hurts: 32-bit systems can be brute-forced; 64-bit offers far more randomness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00000" y="2850000"/>
            <a:ext cx="190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Aspect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00000" y="2850000"/>
            <a:ext cx="320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ASLR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0000" y="3150000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Performance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00000" y="3150000"/>
            <a:ext cx="320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very little overhead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0000" y="3450000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Deployment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00000" y="3450000"/>
            <a:ext cx="320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recompile, no code change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00000" y="3750000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Compatibility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00000" y="3750000"/>
            <a:ext cx="320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perfect, invisible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00000" y="4050000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Safety guarantee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00000" y="4050000"/>
            <a:ext cx="320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not really (one leak)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Defense 3: DEP / NX (Non-Executable Stack)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Rule: a memory region is writable or executable, never both (W xor X); the stack is rw, not executable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Injected bytes are data, so the CPU refuses to execute them and faults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This retired straight code injection, and it is the defense Lab 4 must get around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850000" y="3600000"/>
            <a:ext cx="17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Code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10000" y="3600000"/>
            <a:ext cx="6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0" i="0">
                <a:solidFill>
                  <a:srgbClr val="202020"/>
                </a:solidFill>
                <a:latin typeface="Courier New"/>
              </a:rPr>
              <a:t>r-x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50000" y="3900000"/>
            <a:ext cx="17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10000" y="3900000"/>
            <a:ext cx="6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0" i="0">
                <a:solidFill>
                  <a:srgbClr val="202020"/>
                </a:solidFill>
                <a:latin typeface="Courier New"/>
              </a:rPr>
              <a:t>rw-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50000" y="4200000"/>
            <a:ext cx="17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Heap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10000" y="4200000"/>
            <a:ext cx="6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0" i="0">
                <a:solidFill>
                  <a:srgbClr val="202020"/>
                </a:solidFill>
                <a:latin typeface="Courier New"/>
              </a:rPr>
              <a:t>rw-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50000" y="4500000"/>
            <a:ext cx="1700000" cy="30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Stack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10000" y="4500000"/>
            <a:ext cx="6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0" i="0">
                <a:solidFill>
                  <a:srgbClr val="202020"/>
                </a:solidFill>
                <a:latin typeface="Courier New"/>
              </a:rPr>
              <a:t>rw-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00000" y="4540000"/>
            <a:ext cx="1200000" cy="18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00" b="0" i="0">
                <a:solidFill>
                  <a:srgbClr val="202020"/>
                </a:solidFill>
                <a:latin typeface="Arial"/>
              </a:rPr>
              <a:t>shellcode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000" y="450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  <a:latin typeface="Arial"/>
              </a:rPr>
              <a:t>data, not executable -&gt; fault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Can You Just Turn NX Off?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mprotect() can mark a page executable at runtime, in principle re-enabling execution on the stack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But calling it requires code already running under attacker control, which is what NX blocks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way out is not to inject code, but to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reuse code that is already executable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00000" y="3641192"/>
            <a:ext cx="190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Aspect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00000" y="3641192"/>
            <a:ext cx="320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DEP/NX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0000" y="3941192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Performance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00000" y="3941192"/>
            <a:ext cx="320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essentially none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0000" y="4241192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Deployment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00000" y="4241192"/>
            <a:ext cx="320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recompile, no code change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00000" y="4541192"/>
            <a:ext cx="19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Safety guarantee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00000" y="4541192"/>
            <a:ext cx="320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better, but...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Three Defenses, All Bypassable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Canary detects the classic contiguous overwrite; ASLR adds randomness; DEP/NX stops data running as code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Each helps, each is bypassable, and together they push attackers from injection toward code reuse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0000" y="3000000"/>
            <a:ext cx="170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Aspect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0000" y="3000000"/>
            <a:ext cx="175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Canary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0000" y="3000000"/>
            <a:ext cx="175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ASLR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00000" y="3000000"/>
            <a:ext cx="1750000" cy="300000"/>
          </a:xfrm>
          <a:prstGeom prst="rect">
            <a:avLst/>
          </a:prstGeom>
          <a:solidFill>
            <a:srgbClr val="30549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DEP/NX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000" y="3300000"/>
            <a:ext cx="17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Performance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0000" y="3300000"/>
            <a:ext cx="17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few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50000" y="3300000"/>
            <a:ext cx="17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~none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0000" y="3300000"/>
            <a:ext cx="17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~none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0000" y="3600000"/>
            <a:ext cx="17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Deployment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0000" y="3600000"/>
            <a:ext cx="17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recompile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50000" y="3600000"/>
            <a:ext cx="17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recompile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00000" y="3600000"/>
            <a:ext cx="17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recompile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0000" y="3900000"/>
            <a:ext cx="17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Compatibility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00000" y="3900000"/>
            <a:ext cx="17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invisible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50000" y="3900000"/>
            <a:ext cx="17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invisible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00000" y="3900000"/>
            <a:ext cx="175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invisible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0000" y="4200000"/>
            <a:ext cx="17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Safety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0000" y="4200000"/>
            <a:ext cx="175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bypassable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50000" y="4200000"/>
            <a:ext cx="175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bypassable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00000" y="4200000"/>
            <a:ext cx="175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0" i="0">
                <a:solidFill>
                  <a:srgbClr val="202020"/>
                </a:solidFill>
                <a:latin typeface="Arial"/>
              </a:rPr>
              <a:t>bypassable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02020"/>
                </a:solidFill>
                <a:latin typeface="Arial"/>
              </a:rPr>
              <a:t>Part 2: Code Reuse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1" i="0">
                <a:solidFill>
                  <a:srgbClr val="E47932"/>
                </a:solidFill>
                <a:latin typeface="Arial"/>
              </a:rPr>
              <a:t>Shellcode behavior without injecting any code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Control Without Executable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After NX, the overflow still hands us control: ret goes where we choose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But the shellcode we placed in the buffer will not execute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So keep the control and drop the injection: build the computation from instructions already present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0000" y="3550000"/>
            <a:ext cx="2700000" cy="30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ret addr (redirects control)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0000" y="3550000"/>
            <a:ext cx="22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2E7D32"/>
                </a:solidFill>
                <a:latin typeface="Arial"/>
              </a:rPr>
              <a:t>control still works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0000" y="3850000"/>
            <a:ext cx="2700000" cy="42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C0392B"/>
                </a:solidFill>
                <a:latin typeface="Arial"/>
              </a:rPr>
              <a:t>shellcode   [ X  NX: will not run 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0000" y="3850000"/>
            <a:ext cx="225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C0392B"/>
                </a:solidFill>
                <a:latin typeface="Arial"/>
              </a:rPr>
              <a:t>injection lost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50000" y="353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50000" y="406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Return-to-libc: Reuse a Whole Function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Overwrite the return address with an existing libc function (e.g. system); above it lay a fake return address, then its argument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On ret the program enters that function, which reads its argument from the stack: no injected code, so NX is bypassed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This is the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Lecture 6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return-into-a-function move, aimed at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system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(principle only)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850000" y="3650000"/>
            <a:ext cx="2500000" cy="24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202020"/>
                </a:solidFill>
                <a:latin typeface="Arial"/>
              </a:rPr>
              <a:t>pointer to "/bin/sh"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0000" y="3650000"/>
            <a:ext cx="225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system's argument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50000" y="3890000"/>
            <a:ext cx="2500000" cy="2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fake return address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0000" y="3890000"/>
            <a:ext cx="225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where system returns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50000" y="4130000"/>
            <a:ext cx="2500000" cy="24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&amp;system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0000" y="4130000"/>
            <a:ext cx="225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C0392B"/>
                </a:solidFill>
                <a:latin typeface="Arial"/>
              </a:rPr>
              <a:t>overwritten return slot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50000" y="4370000"/>
            <a:ext cx="25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filler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0000" y="4370000"/>
            <a:ext cx="22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buf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50000" y="363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50000" y="446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From One Function to Many Gadgets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if system is not linked, or you need several operations rather than one call?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Generalize: instead of reusing one whole function, chain many tiny snippets already in the code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Return-oriented programming (ROP) is this generalization of return-to-libc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Requirements stay modest: a vulnerability, enough reusable code, and some code whose address you know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Gadgets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A gadget is any short instruction sequence that ends in ret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Examples already in the binary or libc: pop eax; ret, pop ebx; ret, mov [ebx], eax; ret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Each gadget does one small thing, then its ret hands control to the next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700000" y="3250000"/>
            <a:ext cx="25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pop eax ; ret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00000" y="3550000"/>
            <a:ext cx="0" cy="120000"/>
          </a:xfrm>
          <a:prstGeom prst="bentConnector3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700000" y="3670000"/>
            <a:ext cx="25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pop ebx ; ret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00000" y="3970000"/>
            <a:ext cx="0" cy="120000"/>
          </a:xfrm>
          <a:prstGeom prst="bentConnector3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700000" y="4090000"/>
            <a:ext cx="25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mov [ebx], eax ; ret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0" y="335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each ret</a:t>
            </a:r>
          </a:p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chains to the next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The Stack Becomes the Program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Normal execution: eip names the next instruction, and the CPU advances eip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ROP execution: the stack pointer names the next gadget, and each ret advances esp to the next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attacker-controlled stack is a sequence of gadget addresses: a program written in return addresses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0000" y="3480000"/>
            <a:ext cx="2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A8A8A"/>
                </a:solidFill>
                <a:latin typeface="Arial"/>
              </a:rPr>
              <a:t>Normal: eip drives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0000" y="3720000"/>
            <a:ext cx="20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instr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000" y="4000000"/>
            <a:ext cx="20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instr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000" y="4280000"/>
            <a:ext cx="20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Arial"/>
              </a:rPr>
              <a:t>instr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0000" y="3720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rial"/>
              </a:rPr>
              <a:t>eip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00000" y="3480000"/>
            <a:ext cx="2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A8A8A"/>
                </a:solidFill>
                <a:latin typeface="Arial"/>
              </a:rPr>
              <a:t>ROP: esp drives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00000" y="3720000"/>
            <a:ext cx="2000000" cy="2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addr a1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0000" y="4000000"/>
            <a:ext cx="2000000" cy="2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addr a2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00000" y="4280000"/>
            <a:ext cx="2000000" cy="2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addr a3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00000" y="3720000"/>
            <a:ext cx="14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rial"/>
              </a:rPr>
              <a:t>esp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Chaining Gadgets: Writing to Memory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Goal: store value v1 into address v2, using only gadgets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Lay the stack as: a1, v1, a3, v2, a5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a1 does pop eax (eax=v1); a3 does pop ebx (ebx=v2); a5 does mov [ebx], eax, giving Mem[v2]=v1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00000" y="3350000"/>
            <a:ext cx="30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a1  (pop eax; ret)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0000" y="3620000"/>
            <a:ext cx="3000000" cy="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v1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000" y="3890000"/>
            <a:ext cx="30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a3  (pop ebx; ret)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000" y="4160000"/>
            <a:ext cx="3000000" cy="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v2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0000" y="4430000"/>
            <a:ext cx="300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a5  (mov [ebx],eax; ret)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000" y="3350000"/>
            <a:ext cx="6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Arial"/>
              </a:rPr>
              <a:t>esp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0000" y="3450000"/>
            <a:ext cx="300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eax &lt;- v1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0000" y="3810000"/>
            <a:ext cx="300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ebx &lt;- v2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0000" y="4170000"/>
            <a:ext cx="300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Mem[v2] &lt;- eax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Finding Gadgets, and How Far They Reach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Finding them: scan the code for ret bytes and read backward for useful sequences; ROPgadget and ropper automate this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Expressiveness: with enough gadgets, ROP is Turing-complete (Shacham, CCS 2007)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It gives conditional branching and arbitrary writes, and changes control flow by popping a value into esp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So ROP can do anything injected shellcode could: reuse is as powerful as injection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Worked Example: Pop and Add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Task: load 0xBBBBBBBB into eax, then add 0x80, using two gadgets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Gadgets: a2 = pop eax; ret, and a1 = add eax, 0x80; pop ebp; ret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a1 also pops ebp, so the chain must supply a filler dword after it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00000" y="3350000"/>
            <a:ext cx="3400000" cy="27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a2  (pop eax; ret)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0000" y="3630000"/>
            <a:ext cx="3400000" cy="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0xBBBBBBBB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000" y="3910000"/>
            <a:ext cx="3400000" cy="27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a1  (add eax,0x80; pop ebp; ret)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000" y="4190000"/>
            <a:ext cx="3400000" cy="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0">
                <a:solidFill>
                  <a:srgbClr val="202020"/>
                </a:solidFill>
                <a:latin typeface="Courier New"/>
              </a:rPr>
              <a:t>filler (for pop ebp)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00000" y="3450000"/>
            <a:ext cx="300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eax &lt;- 0xBBBBBBBB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00000" y="3810000"/>
            <a:ext cx="300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eax &lt;- eax + 0x80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00000" y="4170000"/>
            <a:ext cx="3000000" cy="3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ebp &lt;- filler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The classic defenses (canary, ASLR, DEP/NX) make straight code injection impractical by default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Code reuse sidesteps NX: return-to-libc reuses a function, ROP reuses instruction-level gadgets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With enough code present, ROP is Turing-complete, as powerful as the injection it replaced</a:t>
            </a:r>
          </a:p>
          <a:p>
            <a:r>
              <a:rPr sz="2000" b="0" i="0">
                <a:solidFill>
                  <a:srgbClr val="8A8A8A"/>
                </a:solidFill>
                <a:latin typeface="Arial"/>
              </a:rPr>
              <a:t>Each defense here is bypassable, so stronger ones are needed: Current Defenses (Week 6, Nov 4) covers CFI, shadow stacks, and safer languages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Questions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100000" y="2550000"/>
            <a:ext cx="950000" cy="950000"/>
          </a:xfrm>
          <a:prstGeom prst="roundRect">
            <a:avLst>
              <a:gd name="adj" fmla="val 50000"/>
            </a:avLst>
          </a:prstGeom>
          <a:solidFill>
            <a:srgbClr val="E47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Backup Quiz: Store a Value at an Address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Task: store 0xBBBBBBB into address 0xAAAAAAA using gadgets a1..a7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Gadgets include a1 pop ebx; ret, a2 pop eax; ret, a3 mov eax,(ebx); ret, a4 mov ebx,(eax); ret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These are AT&amp;T-style: (reg) is the destination, so a4 'mov ebx,(eax)' means Mem[eax]=ebx (reverse of slides 18, 20)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One answer: a1; 0xBBBBBBB; a2; 0xAAAAAAA; a4   (symmetric alternative uses a3)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Extension: popping into esp (a7) redirects execution, which is how ROP changes control flow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301506474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2398</Words>
  <Application>Microsoft Macintosh PowerPoint</Application>
  <PresentationFormat>On-screen Show (16:9)</PresentationFormat>
  <Paragraphs>288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Courier New</vt:lpstr>
      <vt:lpstr>Office Theme [1790301506474]</vt:lpstr>
      <vt:lpstr>CS 165: Computer Security</vt:lpstr>
      <vt:lpstr>Outline</vt:lpstr>
      <vt:lpstr>Recap: From Overflow to Control</vt:lpstr>
      <vt:lpstr>Part 1: The Classic Defenses</vt:lpstr>
      <vt:lpstr>A Hijack Needs Computation and Control</vt:lpstr>
      <vt:lpstr>Defense 1: Stack Canaries (StackGuard)</vt:lpstr>
      <vt:lpstr>Canaries Can Be Bypassed</vt:lpstr>
      <vt:lpstr>Scorecard: The Canary</vt:lpstr>
      <vt:lpstr>Defense 2: Address Space Layout Randomization</vt:lpstr>
      <vt:lpstr>Defeating ASLR, and Its Scorecard</vt:lpstr>
      <vt:lpstr>Defense 3: DEP / NX (Non-Executable Stack)</vt:lpstr>
      <vt:lpstr>Can You Just Turn NX Off?</vt:lpstr>
      <vt:lpstr>Three Defenses, All Bypassable</vt:lpstr>
      <vt:lpstr>Part 2: Code Reuse</vt:lpstr>
      <vt:lpstr>Control Without Executable Code</vt:lpstr>
      <vt:lpstr>Return-to-libc: Reuse a Whole Function</vt:lpstr>
      <vt:lpstr>From One Function to Many Gadgets</vt:lpstr>
      <vt:lpstr>Gadgets</vt:lpstr>
      <vt:lpstr>The Stack Becomes the Program</vt:lpstr>
      <vt:lpstr>Chaining Gadgets: Writing to Memory</vt:lpstr>
      <vt:lpstr>Finding Gadgets, and How Far They Reach</vt:lpstr>
      <vt:lpstr>Worked Example: Pop and Add</vt:lpstr>
      <vt:lpstr>Conclusions</vt:lpstr>
      <vt:lpstr>Questions</vt:lpstr>
      <vt:lpstr>Backup Quiz: Store a Value at an Address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Emiliano De Cristofaro</cp:lastModifiedBy>
  <cp:revision>5</cp:revision>
  <dcterms:modified xsi:type="dcterms:W3CDTF">2026-10-18T17:21:51Z</dcterms:modified>
</cp:coreProperties>
</file>