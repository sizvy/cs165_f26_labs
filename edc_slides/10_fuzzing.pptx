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9"/>
  </p:normalViewPr>
  <p:slideViewPr>
    <p:cSldViewPr snapToGrid="0">
      <p:cViewPr varScale="1">
        <p:scale>
          <a:sx n="120" d="100"/>
          <a:sy n="120" d="100"/>
        </p:scale>
        <p:origin x="18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Software Testing &amp; Fuzzing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Wednesday, October 28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goal: detect vulnerabilities automatically, before attackers do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Flaws, and what a crash tells us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Regression testing vs fuzz testing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Black box, mutation-based, and grey box fuzzing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AFL: coverage-guided fuzzing in practice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Sanitizers: make silent bugs crash (a modern companion)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4864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Generate inputs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708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Watch for crashes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552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Guide by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Our Goal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Detect vulnerabilities automatically, before an adversary exploits them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 vulnerability is a flaw that an adversary can reach and exploit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So we need to find flaws, and decide which ones are reachable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0000" y="3750000"/>
            <a:ext cx="1900000" cy="4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a flaw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00000" y="3980000"/>
            <a:ext cx="300000" cy="0"/>
          </a:xfrm>
          <a:prstGeom prst="bentConnector3">
            <a:avLst/>
          </a:prstGeom>
          <a:ln w="22225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200000" y="3750000"/>
            <a:ext cx="1900000" cy="4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reachable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00000" y="3980000"/>
            <a:ext cx="300000" cy="0"/>
          </a:xfrm>
          <a:prstGeom prst="bentConnector3">
            <a:avLst/>
          </a:prstGeom>
          <a:ln w="22225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00000" y="3750000"/>
            <a:ext cx="1900000" cy="4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exploitable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Finding Flaws: Which Inputs?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How do we know a program has a flaw? Run it and watch for a crash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 crash is a memory error: an instruction touched an illegal location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catch: a flaw may only trigger on particular inputs - which ones?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00000" y="3600000"/>
            <a:ext cx="1500000" cy="52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Arial"/>
              </a:rPr>
              <a:t>tested inputs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00000" y="3600000"/>
            <a:ext cx="5500000" cy="52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everything else - where flaws hide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000" y="4200000"/>
            <a:ext cx="6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Arial"/>
              </a:rPr>
              <a:t>Hand-written tests cover a sliver; we need to search the rest automatically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Two Kinds of Dynamic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Both run the program; they differ in the inputs and what they look for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50000" y="2850000"/>
            <a:ext cx="3550000" cy="1850000"/>
          </a:xfrm>
          <a:prstGeom prst="roundRect">
            <a:avLst>
              <a:gd name="adj" fmla="val 6000"/>
            </a:avLst>
          </a:prstGeom>
          <a:solidFill>
            <a:srgbClr val="D6E4F0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0000" y="2940000"/>
            <a:ext cx="3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94B6D2"/>
                </a:solidFill>
                <a:latin typeface="Arial"/>
              </a:rPr>
              <a:t>Regression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000" y="3340000"/>
            <a:ext cx="32000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Normal, expected inputs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Check output matches expected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Catches behavior that changed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0000" y="2850000"/>
            <a:ext cx="3550000" cy="1850000"/>
          </a:xfrm>
          <a:prstGeom prst="roundRect">
            <a:avLst>
              <a:gd name="adj" fmla="val 6000"/>
            </a:avLst>
          </a:prstGeom>
          <a:solidFill>
            <a:srgbClr val="F6D8C4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70000" y="2940000"/>
            <a:ext cx="3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47932"/>
                </a:solidFill>
                <a:latin typeface="Arial"/>
              </a:rPr>
              <a:t>Fuzz 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0000" y="3340000"/>
            <a:ext cx="32000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Many odd / random inputs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Watch for crashes and hangs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- Catches memory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Fuzz Testing: the Origin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Proposed by Bart Miller at Wisconsin in 1988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People assumed utilities could handle any input - they could not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Random inputs crashed a surprising fraction of Unix utilities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48640" y="3500000"/>
            <a:ext cx="6600000" cy="105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format.c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 (line 276)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69CD6"/>
                </a:solidFill>
                <a:latin typeface="Courier New"/>
              </a:rPr>
              <a:t>while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lastc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!= '\n')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rdc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();  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read next char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}           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rdc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() hits EOF -&gt; loop runs past input -&gt; crash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Black Box Fuzzing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Like Miller: feed the program random inputs and see if it crashes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Easy to set up, but inefficient and blind to the program's structure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Random inputs rarely pass the checks guarding the vulnerable code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48640" y="3400000"/>
            <a:ext cx="6600000" cy="120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function(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*name, 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*passwd, 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*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buf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</a:t>
            </a:r>
            <a:r>
              <a:rPr sz="1050" b="0" i="0" dirty="0">
                <a:solidFill>
                  <a:srgbClr val="569CD6"/>
                </a:solidFill>
                <a:latin typeface="Courier New"/>
              </a:rPr>
              <a:t>if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authenticate_user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(name, passwd))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>
                <a:solidFill>
                  <a:srgbClr val="569CD6"/>
                </a:solidFill>
                <a:latin typeface="Courier New"/>
              </a:rPr>
              <a:t>if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check_format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buf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  update(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buf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);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the bug is in here - hard to reach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} }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Mutation-Based Fuzzing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Start from a well-formed input, then make random changes to it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Variants stay close to valid, so they reach deeper than pure random bytes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Easy, and needs no knowledge of the program (e.g. zzuf on objdump)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But it is biased by the seed input you start from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16131" y="4059452"/>
            <a:ext cx="1900000" cy="48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Arial"/>
              </a:rPr>
              <a:t>valid seed input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6131" y="3699452"/>
            <a:ext cx="2200000" cy="30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mutated variant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2916131" y="3849452"/>
            <a:ext cx="700000" cy="450000"/>
          </a:xfrm>
          <a:prstGeom prst="bentConnector3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16131" y="4079452"/>
            <a:ext cx="2200000" cy="30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mutated variant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2916131" y="4229452"/>
            <a:ext cx="700000" cy="70000"/>
          </a:xfrm>
          <a:prstGeom prst="bentConnector3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616131" y="4459452"/>
            <a:ext cx="2200000" cy="30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mutated variant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916131" y="4299452"/>
            <a:ext cx="700000" cy="310000"/>
          </a:xfrm>
          <a:prstGeom prst="bentConnector3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Grey Box Fuzzing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5400"/>
            <a:ext cx="8051800" cy="127000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Instrument the program to record which branches each input runs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Keep any input that reaches a new branch, and mutate it further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saved inputs climb deeper into the program over time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98500" y="2717800"/>
            <a:ext cx="2159000" cy="4318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>
                <a:solidFill>
                  <a:srgbClr val="202020"/>
                </a:solidFill>
                <a:latin typeface="Courier New"/>
              </a:rPr>
              <a:t>if x &gt;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29000" y="3327400"/>
            <a:ext cx="2159000" cy="4318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>
                <a:solidFill>
                  <a:srgbClr val="202020"/>
                </a:solidFill>
                <a:latin typeface="Courier New"/>
              </a:rPr>
              <a:t>if y &gt;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9500" y="3937000"/>
            <a:ext cx="2159000" cy="4318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>
                <a:solidFill>
                  <a:srgbClr val="202020"/>
                </a:solidFill>
                <a:latin typeface="Courier New"/>
              </a:rPr>
              <a:t>if a &gt; 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57500" y="2933700"/>
            <a:ext cx="1079500" cy="393700"/>
          </a:xfrm>
          <a:prstGeom prst="bentConnector2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3700" y="2692400"/>
            <a:ext cx="1778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saved: x = 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88000" y="3543300"/>
            <a:ext cx="1079500" cy="393700"/>
          </a:xfrm>
          <a:prstGeom prst="bentConnector2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64200" y="3302000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saved: x = 3, y =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500" y="3853934"/>
            <a:ext cx="254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8A8A8A"/>
                </a:solidFill>
                <a:latin typeface="Arial"/>
              </a:rPr>
              <a:t>each input that reaches a new branch is kept and mutated further</a:t>
            </a:r>
          </a:p>
        </p:txBody>
      </p:sp>
    </p:spTree>
    <p:extLst>
      <p:ext uri="{BB962C8B-B14F-4D97-AF65-F5344CB8AC3E}">
        <p14:creationId xmlns:p14="http://schemas.microsoft.com/office/powerpoint/2010/main" val="375835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AFL: Coverage-Guided Fuzzing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AFL is the standard grey box fuzzer: compiler wrappers instrument your 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They track edge (branch) coverage and detect when an input hits a new path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Build with afl-gcc instead of gcc, then run afl-fuzz on a seed corpus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48640" y="3550000"/>
            <a:ext cx="6600000" cy="90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$ CC=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afl-gcc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make                     # instrument the target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$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afl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-fuzz -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i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input/ -o output/ -- ./prog @@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C586C0"/>
                </a:solidFill>
                <a:latin typeface="Courier New"/>
              </a:rPr>
              <a:t>#   seeds in input/, findings (incl. crashes) in output/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How AFL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Keep a corpus; mutate inputs; an input that hits new coverage is added back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Mutations start deterministic (bit flips, add/sub), then get random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display tracks total paths and unique crashes; crashes are saved to reproduce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50000" y="3550000"/>
            <a:ext cx="1750000" cy="5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Arial"/>
              </a:rPr>
              <a:t>seed corpus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00000" y="3830000"/>
            <a:ext cx="350000" cy="0"/>
          </a:xfrm>
          <a:prstGeom prst="bentConnector3">
            <a:avLst/>
          </a:prstGeom>
          <a:ln w="2540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450000" y="3550000"/>
            <a:ext cx="1700000" cy="56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mutate input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50000" y="3830000"/>
            <a:ext cx="350000" cy="0"/>
          </a:xfrm>
          <a:prstGeom prst="bentConnector3">
            <a:avLst/>
          </a:prstGeom>
          <a:ln w="2540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500000" y="3550000"/>
            <a:ext cx="2200000" cy="56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run instrumented target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200000" y="3430000"/>
            <a:ext cx="4400000" cy="0"/>
          </a:xfrm>
          <a:prstGeom prst="bentConnector3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00000" y="3180000"/>
            <a:ext cx="4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2E7D32"/>
                </a:solidFill>
                <a:latin typeface="Arial"/>
              </a:rPr>
              <a:t>new coverage -&gt; keep in the corpus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00000" y="4110000"/>
            <a:ext cx="0" cy="26000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500000" y="4370000"/>
            <a:ext cx="2200000" cy="43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C0392B"/>
                </a:solidFill>
                <a:latin typeface="Arial"/>
              </a:rPr>
              <a:t>crash -&gt; save test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Sanitizers: Make Silent Bugs Crash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>
            <a:normAutofit/>
          </a:bodyPr>
          <a:lstStyle/>
          <a:p>
            <a:r>
              <a:rPr sz="1900" b="0" i="0" dirty="0">
                <a:solidFill>
                  <a:srgbClr val="202020"/>
                </a:solidFill>
                <a:latin typeface="Arial"/>
              </a:rPr>
              <a:t>A modern companion to fuzzing, not in the original tools</a:t>
            </a:r>
          </a:p>
          <a:p>
            <a:r>
              <a:rPr sz="1900" b="0" i="0" dirty="0">
                <a:solidFill>
                  <a:srgbClr val="202020"/>
                </a:solidFill>
                <a:latin typeface="Arial"/>
              </a:rPr>
              <a:t>Many memory bugs corrupt silently, so the </a:t>
            </a:r>
            <a:r>
              <a:rPr sz="1900" b="0" i="0" dirty="0" err="1">
                <a:solidFill>
                  <a:srgbClr val="202020"/>
                </a:solidFill>
                <a:latin typeface="Arial"/>
              </a:rPr>
              <a:t>fuzzer</a:t>
            </a:r>
            <a:r>
              <a:rPr sz="1900" b="0" i="0" dirty="0">
                <a:solidFill>
                  <a:srgbClr val="202020"/>
                </a:solidFill>
                <a:latin typeface="Arial"/>
              </a:rPr>
              <a:t> gets no crash to see</a:t>
            </a:r>
          </a:p>
          <a:p>
            <a:r>
              <a:rPr sz="1900" b="0" i="0" dirty="0" err="1">
                <a:solidFill>
                  <a:srgbClr val="202020"/>
                </a:solidFill>
                <a:latin typeface="Arial"/>
              </a:rPr>
              <a:t>AddressSanitizer</a:t>
            </a:r>
            <a:r>
              <a:rPr sz="1900" b="0" i="0" dirty="0">
                <a:solidFill>
                  <a:srgbClr val="202020"/>
                </a:solidFill>
                <a:latin typeface="Arial"/>
              </a:rPr>
              <a:t> detects the error the moment it happens, and aborts</a:t>
            </a:r>
          </a:p>
          <a:p>
            <a:r>
              <a:rPr sz="1900" b="0" i="0" dirty="0">
                <a:solidFill>
                  <a:srgbClr val="202020"/>
                </a:solidFill>
                <a:latin typeface="Arial"/>
              </a:rPr>
              <a:t>Fuzz a sanitized build and the </a:t>
            </a:r>
            <a:r>
              <a:rPr sz="1900" b="0" i="0" dirty="0" err="1">
                <a:solidFill>
                  <a:srgbClr val="202020"/>
                </a:solidFill>
                <a:latin typeface="Arial"/>
              </a:rPr>
              <a:t>fuzzer</a:t>
            </a:r>
            <a:r>
              <a:rPr sz="1900" b="0" i="0" dirty="0">
                <a:solidFill>
                  <a:srgbClr val="202020"/>
                </a:solidFill>
                <a:latin typeface="Arial"/>
              </a:rPr>
              <a:t> finds bugs it would otherwise miss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0000" y="3400000"/>
            <a:ext cx="17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A8A8A"/>
                </a:solidFill>
                <a:latin typeface="Arial"/>
              </a:rPr>
              <a:t>normal build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3650000"/>
            <a:ext cx="2000000" cy="4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out-of-bounds write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50000" y="3870000"/>
            <a:ext cx="400000" cy="0"/>
          </a:xfrm>
          <a:prstGeom prst="bentConnector3">
            <a:avLst/>
          </a:prstGeom>
          <a:ln w="22225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750000" y="3650000"/>
            <a:ext cx="2200000" cy="44000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runs on silently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50000" y="3710000"/>
            <a:ext cx="28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fuzzer sees nothing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000" y="4100000"/>
            <a:ext cx="20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ASan build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0000" y="4350000"/>
            <a:ext cx="2000000" cy="4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out-of-bounds write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50000" y="4570000"/>
            <a:ext cx="400000" cy="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750000" y="4350000"/>
            <a:ext cx="2200000" cy="44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C0392B"/>
                </a:solidFill>
                <a:latin typeface="Arial"/>
              </a:rPr>
              <a:t>detected: abort +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50000" y="4410000"/>
            <a:ext cx="28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Arial"/>
              </a:rPr>
              <a:t>now the fuzzer sees the bug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Grey Box Fuzzing: Strengths and Limits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Finds real flaws without understanding the program - much better than black box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Essentially no configuration, and it produces many crashes to triage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Still does not understand semantics: it misses logic and correctness bugs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And struggles past checksums, encryption, or deep protocol state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00" y="1298448"/>
            <a:ext cx="8046720" cy="3383280"/>
          </a:xfrm>
        </p:spPr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Find vulnerabilities yourself, before adversaries do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Dynamic testing is a long-standing way to surface flaws in a program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Coverage-guided grey box fuzzing (AFL), plus sanitizers, is the modern standard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Every crash it finds is a concrete, reproducible test case</a:t>
            </a:r>
          </a:p>
          <a:p>
            <a:r>
              <a:rPr sz="2000" b="0" i="0">
                <a:solidFill>
                  <a:srgbClr val="8A8A8A"/>
                </a:solidFill>
                <a:latin typeface="Arial"/>
              </a:rPr>
              <a:t>Next: Midterm Exam (Mon, Nov 2)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300" y="224048"/>
            <a:ext cx="8046720" cy="685800"/>
          </a:xfrm>
        </p:spPr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Questions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800000" y="2550000"/>
            <a:ext cx="950000" cy="950000"/>
          </a:xfrm>
          <a:prstGeom prst="roundRect">
            <a:avLst>
              <a:gd name="adj" fmla="val 50000"/>
            </a:avLst>
          </a:prstGeom>
          <a:solidFill>
            <a:srgbClr val="E4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6CD309-A97D-4942-9299-C5D556E02DF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e79ee039-edd0-4d0c-a1bb-9346384df8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1741</Words>
  <Application>Microsoft Macintosh PowerPoint</Application>
  <PresentationFormat>On-screen Show (16:9)</PresentationFormat>
  <Paragraphs>142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 [1790301506474]</vt:lpstr>
      <vt:lpstr>CS 165: Computer Security</vt:lpstr>
      <vt:lpstr>Outline</vt:lpstr>
      <vt:lpstr>Our Goal</vt:lpstr>
      <vt:lpstr>Finding Flaws: Which Inputs?</vt:lpstr>
      <vt:lpstr>Two Kinds of Dynamic Testing</vt:lpstr>
      <vt:lpstr>Fuzz Testing: the Origin</vt:lpstr>
      <vt:lpstr>Black Box Fuzzing</vt:lpstr>
      <vt:lpstr>Mutation-Based Fuzzing</vt:lpstr>
      <vt:lpstr>Grey Box Fuzzing</vt:lpstr>
      <vt:lpstr>AFL: Coverage-Guided Fuzzing</vt:lpstr>
      <vt:lpstr>How AFL Works</vt:lpstr>
      <vt:lpstr>Sanitizers: Make Silent Bugs Crash</vt:lpstr>
      <vt:lpstr>Grey Box Fuzzing: Strengths and Limits</vt:lpstr>
      <vt:lpstr>Conclusions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6</cp:revision>
  <dcterms:modified xsi:type="dcterms:W3CDTF">2026-10-26T02:23:18Z</dcterms:modified>
</cp:coreProperties>
</file>