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153" d="100"/>
          <a:sy n="153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Exploitation: Building an Exploit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Wednesday, October 14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Recap: we can overwrite the return address and jump to win()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Return into a real library function, not a planted one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Hand that function arguments you choose, on the stack (32-bit cdecl)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Inject your own code: shellcode as mixed code and data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What shellcode does: a system call that spawns a shell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recipe for a basic exploit, and why it gets harder next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Return into real code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708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Hand it arguments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65520" y="4020000"/>
            <a:ext cx="2529840" cy="500000"/>
          </a:xfrm>
          <a:prstGeom prst="roundRect">
            <a:avLst>
              <a:gd name="adj" fmla="val 12000"/>
            </a:avLst>
          </a:prstGeom>
          <a:solidFill>
            <a:srgbClr val="94B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 i="0">
                <a:solidFill>
                  <a:srgbClr val="202020"/>
                </a:solidFill>
                <a:latin typeface="Arial"/>
              </a:rPr>
              <a:t>Inject your own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Recap: We Have Control, Now We Make It Useful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Lecture 5: a stack overflow reaches the saved return address, and ret sends control wherever you wrote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We pointed it at win(), a function already in the program, and printed a token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Today assumes that skill and builds on it: real targets, real arguments, then injected 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shape never changes: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computation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(what runs) plus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control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(where ret goes)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02020"/>
                </a:solidFill>
                <a:latin typeface="Arial"/>
              </a:rPr>
              <a:t>Returning Into Real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 i="0">
                <a:solidFill>
                  <a:srgbClr val="E47932"/>
                </a:solidFill>
                <a:latin typeface="Arial"/>
              </a:rPr>
              <a:t>From a planted win() to any function already linked in the binary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Beyond win(): Hijack Into a Real Function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win() was a convenience: the real move is to return into any function already in the binary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In the lab target that function is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printf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reached through its PLT entry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printf@plt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Find its address once with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objdump -d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on the binary, then hardcode it (defenses off)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Same overwrite as Lecture 5: the only change is the address you drop into the return slot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48640" y="3980000"/>
            <a:ext cx="5200000" cy="60000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68580" rIns="54864" bIns="68580" rtlCol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$ objdump -d vault | grep printf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4D4"/>
                </a:solidFill>
                <a:latin typeface="Courier New"/>
              </a:rPr>
              <a:t>  804c220:  printf@plt   </a:t>
            </a:r>
            <a:r>
              <a:rPr sz="1050" b="0" i="0">
                <a:solidFill>
                  <a:srgbClr val="6A9955"/>
                </a:solidFill>
                <a:latin typeface="Courier New"/>
              </a:rPr>
              <a:t>// use 0x0804C220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Build the Payload: Padding, Then the Address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298448"/>
            <a:ext cx="8420793" cy="3383280"/>
          </a:xfrm>
        </p:spPr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Fill the buffer and saved frame pointer with filler: 68 bytes for a 64-byte buffer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The next 4 bytes land on the return slot: write the target address there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Addresses go in as raw little-endian bytes (as with &amp;win in Lecture 5)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2980000"/>
            <a:ext cx="2250000" cy="275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argv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0000" y="3255000"/>
            <a:ext cx="2250000" cy="275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argc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3530000"/>
            <a:ext cx="2250000" cy="275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printf@plt   20 C2 04 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0000" y="3530000"/>
            <a:ext cx="225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target address, little-endian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0000" y="3805000"/>
            <a:ext cx="2250000" cy="275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filler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0000" y="3805000"/>
            <a:ext cx="225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saved ebp overwritten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0000" y="4080000"/>
            <a:ext cx="2250000" cy="52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filler  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0000" y="4080000"/>
            <a:ext cx="2250000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buf (64 bytes)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50000" y="296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50000" y="439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  <p:sp>
        <p:nvSpPr>
          <p:cNvPr id="52" name="Right Brace 51"/>
          <p:cNvSpPr/>
          <p:nvPr/>
        </p:nvSpPr>
        <p:spPr>
          <a:xfrm>
            <a:off x="5980000" y="3805000"/>
            <a:ext cx="120000" cy="795000"/>
          </a:xfrm>
          <a:prstGeom prst="rightBrace">
            <a:avLst/>
          </a:prstGeom>
          <a:noFill/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30000" y="3805000"/>
            <a:ext cx="1180000" cy="79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1">
                <a:solidFill>
                  <a:srgbClr val="8A8A8A"/>
                </a:solidFill>
                <a:latin typeface="Arial"/>
              </a:rPr>
              <a:t>filler x 68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3560000"/>
            <a:ext cx="285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02020"/>
                </a:solidFill>
                <a:latin typeface="Courier New"/>
              </a:rPr>
              <a:t>payload =</a:t>
            </a:r>
          </a:p>
          <a:p>
            <a:pPr algn="l"/>
            <a:r>
              <a:rPr sz="1200" b="1" i="0">
                <a:solidFill>
                  <a:srgbClr val="202020"/>
                </a:solidFill>
                <a:latin typeface="Courier New"/>
              </a:rPr>
              <a:t>filler x 68 + 4-byte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Hand the Function Its Arguments (cdecl)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In 32-bit cdecl a function reads its arguments from the stack, above its return address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After ret jumps to printf, the next slots are read as printf's return address, then arg 1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So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Lab 3 (Oct 22)</a:t>
            </a:r>
            <a:r>
              <a:rPr sz="2000" b="0" i="0">
                <a:solidFill>
                  <a:srgbClr val="202020"/>
                </a:solidFill>
                <a:latin typeface="Arial"/>
              </a:rPr>
              <a:t>: redirect to a target with a chosen argument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0000" y="3020000"/>
            <a:ext cx="2250000" cy="26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Arial"/>
              </a:rPr>
              <a:t>arg 1  (value you choose)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0000" y="3020000"/>
            <a:ext cx="22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printf reads this as its argument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0000" y="3280000"/>
            <a:ext cx="225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return address for printf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0000" y="3280000"/>
            <a:ext cx="22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where printf goes when done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0000" y="3540000"/>
            <a:ext cx="2250000" cy="26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printf@plt address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90000" y="3540000"/>
            <a:ext cx="22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C0392B"/>
                </a:solidFill>
                <a:latin typeface="Arial"/>
              </a:rPr>
              <a:t>esp points here at ret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0000" y="3800000"/>
            <a:ext cx="2250000" cy="2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filler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0000" y="3800000"/>
            <a:ext cx="225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saved ebp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0000" y="4060000"/>
            <a:ext cx="2250000" cy="4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 i="0">
                <a:solidFill>
                  <a:srgbClr val="202020"/>
                </a:solidFill>
                <a:latin typeface="Arial"/>
              </a:rPr>
              <a:t>filler  ...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90000" y="4060000"/>
            <a:ext cx="225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buf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50000" y="300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higher addresses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50000" y="4250000"/>
            <a:ext cx="136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Arial"/>
              </a:rPr>
              <a:t>lower addresses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02020"/>
                </a:solidFill>
                <a:latin typeface="Arial"/>
              </a:rPr>
              <a:t>Injecting Your Own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 i="0">
                <a:solidFill>
                  <a:srgbClr val="E47932"/>
                </a:solidFill>
                <a:latin typeface="Arial"/>
              </a:rPr>
              <a:t>When no existing function does what you want, bring your own instructions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Shellcode: Inject Instructions, Then Return Into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Instead of reusing code, place your own machine instructions in the buffer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Overwrite the return address to point back into the buffer, so ret runs your bytes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The classic payload opens a shell, which is why these bytes are called </a:t>
            </a:r>
            <a:r>
              <a:rPr sz="2000" b="1" i="0">
                <a:solidFill>
                  <a:srgbClr val="202020"/>
                </a:solidFill>
                <a:latin typeface="Arial"/>
              </a:rPr>
              <a:t>shellcode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Lecture 5 raised this as a concept (Aleph One, Smashing the Stack, Phrack 49, 1996); here is how it is built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Shellcode Is Both Data and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same bytes are written as data by the copy, then executed as code after ret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That only works if the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stack page is executable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: the assumption to remember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900000" y="2650000"/>
            <a:ext cx="2300000" cy="36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0000" y="2680000"/>
            <a:ext cx="1050000" cy="140000"/>
          </a:xfrm>
          <a:prstGeom prst="rect">
            <a:avLst/>
          </a:prstGeom>
          <a:solidFill>
            <a:srgbClr val="E4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ret addr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00000" y="3010000"/>
            <a:ext cx="1600000" cy="20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0" i="0">
                <a:solidFill>
                  <a:srgbClr val="202020"/>
                </a:solidFill>
                <a:latin typeface="Arial"/>
              </a:rPr>
              <a:t>shellcode (bytes)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00000" y="3220000"/>
            <a:ext cx="2300000" cy="220000"/>
          </a:xfrm>
          <a:prstGeom prst="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8A8A8A"/>
                </a:solidFill>
                <a:latin typeface="Arial"/>
              </a:rPr>
              <a:t>...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00000" y="3440000"/>
            <a:ext cx="23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heap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00000" y="3740000"/>
            <a:ext cx="23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Arial"/>
              </a:rPr>
              <a:t>code (program text)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200000" y="2760000"/>
            <a:ext cx="100000" cy="35000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900000" y="4080000"/>
            <a:ext cx="23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written as data, run as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What the Shellcode Wants: a Shell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The goal is usually one call: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execve("/bin/sh", NULL, NULL)</a:t>
            </a:r>
          </a:p>
          <a:p>
            <a:r>
              <a:rPr sz="2000" b="0" i="0">
                <a:solidFill>
                  <a:srgbClr val="202020"/>
                </a:solidFill>
                <a:latin typeface="Courier New"/>
              </a:rPr>
              <a:t>execve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replaces the running process image with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/bin/sh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handing the attacker a shell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Written in C it is a few lines; as shellcode it must be tiny and self-contained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No libraries and no loader: the injected bytes must ask the kernel directly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Asking the Kernel Directly: the System-Call Convention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A system call is how user code asks the kernel to act; shellcode uses it to reach execve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32-bit Linux: number in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eax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args in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ebx, ecx, edx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then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int 0x80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0000" y="2800000"/>
            <a:ext cx="9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Courier New"/>
              </a:rPr>
              <a:t>eax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000" y="2800000"/>
            <a:ext cx="30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/>
            <a:r>
              <a:rPr sz="1100" b="0" i="0">
                <a:solidFill>
                  <a:srgbClr val="202020"/>
                </a:solidFill>
                <a:latin typeface="Courier New"/>
              </a:rPr>
              <a:t>execve number (0x0b)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0000" y="3100000"/>
            <a:ext cx="9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Courier New"/>
              </a:rPr>
              <a:t>ebx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0000" y="3100000"/>
            <a:ext cx="30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/>
            <a:r>
              <a:rPr sz="1100" b="0" i="0">
                <a:solidFill>
                  <a:srgbClr val="202020"/>
                </a:solidFill>
                <a:latin typeface="Courier New"/>
              </a:rPr>
              <a:t>pointer to "/bin/sh"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0000" y="3400000"/>
            <a:ext cx="9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Courier New"/>
              </a:rPr>
              <a:t>ecx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0000" y="3400000"/>
            <a:ext cx="30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/>
            <a:r>
              <a:rPr sz="1100" b="0" i="0">
                <a:solidFill>
                  <a:srgbClr val="202020"/>
                </a:solidFill>
                <a:latin typeface="Courier New"/>
              </a:rPr>
              <a:t>0   (argv)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0000" y="3700000"/>
            <a:ext cx="900000" cy="30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202020"/>
                </a:solidFill>
                <a:latin typeface="Courier New"/>
              </a:rPr>
              <a:t>edx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00000" y="3700000"/>
            <a:ext cx="30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/>
            <a:r>
              <a:rPr sz="1100" b="0" i="0">
                <a:solidFill>
                  <a:srgbClr val="202020"/>
                </a:solidFill>
                <a:latin typeface="Courier New"/>
              </a:rPr>
              <a:t>0   (envp)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0000" y="4000000"/>
            <a:ext cx="900000" cy="30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int 0x80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00000" y="4000000"/>
            <a:ext cx="3000000" cy="3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l"/>
            <a:r>
              <a:rPr sz="1100" b="0" i="0">
                <a:solidFill>
                  <a:srgbClr val="202020"/>
                </a:solidFill>
                <a:latin typeface="Courier New"/>
              </a:rPr>
              <a:t>trap into the kernel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00000" y="2640000"/>
            <a:ext cx="33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8A8A8A"/>
                </a:solidFill>
                <a:latin typeface="Arial"/>
              </a:rPr>
              <a:t>building "/bin/sh" on the stack: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0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/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2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8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4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0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20000" y="2900000"/>
            <a:ext cx="360000" cy="360000"/>
          </a:xfrm>
          <a:prstGeom prst="rect">
            <a:avLst/>
          </a:prstGeom>
          <a:solidFill>
            <a:srgbClr val="F6D8C4"/>
          </a:solidFill>
          <a:ln w="12700">
            <a:solidFill>
              <a:srgbClr val="E47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 i="0">
                <a:solidFill>
                  <a:srgbClr val="202020"/>
                </a:solidFill>
                <a:latin typeface="Courier New"/>
              </a:rPr>
              <a:t>\0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5220000" y="3270000"/>
            <a:ext cx="0" cy="100000"/>
          </a:xfrm>
          <a:prstGeom prst="bentConnector3">
            <a:avLst/>
          </a:prstGeom>
          <a:ln w="254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200000" y="338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Arial"/>
              </a:rPr>
              <a:t>ebx points at the start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20000"/>
            <a:ext cx="804672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Concept only: the kernel returns its result in eax; int 0x80 is the traditional teaching path (sysenter is faster).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From Assembly to an Injectable String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Written as a short assembly routine, then assembled into raw bytes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Hard constraint: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no NUL (0x00) bytes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since a copy like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strcpy</a:t>
            </a:r>
            <a:r>
              <a:rPr sz="2000" b="0" i="0">
                <a:solidFill>
                  <a:srgbClr val="202020"/>
                </a:solidFill>
                <a:latin typeface="Arial"/>
              </a:rPr>
              <a:t> stops at the first NUL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Authors pick instructions that avoid zero bytes (for example, zero a register with xor reg, reg)</a:t>
            </a:r>
          </a:p>
          <a:p>
            <a:r>
              <a:rPr sz="2000" b="0" i="0">
                <a:solidFill>
                  <a:srgbClr val="8A8A8A"/>
                </a:solidFill>
                <a:latin typeface="Arial"/>
              </a:rPr>
              <a:t>Principle only: weaponized byte strings are published elsewhere and are not reproduced here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Recap: the Recipe for a Basic Overflow Exploit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Measure the distance from the buffer to the saved return address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Overflow the buffer with filler of exactly that size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Overwrite the return address with where you want control to go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Targets, easiest first: a planted win(), a real function plus arguments, or injected shellcode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3550000"/>
            <a:ext cx="2970000" cy="52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padding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18640" y="3550000"/>
            <a:ext cx="2310000" cy="52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shellcode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8640" y="4125000"/>
            <a:ext cx="231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computation = what runs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28640" y="3550000"/>
            <a:ext cx="1320000" cy="52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8640" y="4125000"/>
            <a:ext cx="13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control = where ret goes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450000"/>
            <a:ext cx="804672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8A8A8A"/>
                </a:solidFill>
                <a:latin typeface="Arial"/>
              </a:rPr>
              <a:t>Returning into real code drops the shellcode segment: the payload is padding, then control, then arguments.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Code Injection Has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Everything today assumed two things the attacker needs but a hardened system does not grant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One: the stack page must be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executable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so bytes written as data can run as code</a:t>
            </a:r>
          </a:p>
          <a:p>
            <a:r>
              <a:rPr sz="2000" b="0" i="0">
                <a:solidFill>
                  <a:srgbClr val="202020"/>
                </a:solidFill>
                <a:latin typeface="Arial"/>
              </a:rPr>
              <a:t>Two: the address of the injected code must be </a:t>
            </a:r>
            <a:r>
              <a:rPr sz="2000" b="1" i="0">
                <a:solidFill>
                  <a:srgbClr val="C0392B"/>
                </a:solidFill>
                <a:latin typeface="Arial"/>
              </a:rPr>
              <a:t>predictable</a:t>
            </a:r>
            <a:r>
              <a:rPr sz="2000" b="0" i="0">
                <a:solidFill>
                  <a:srgbClr val="202020"/>
                </a:solidFill>
                <a:latin typeface="Arial"/>
              </a:rPr>
              <a:t>, so ret can name it</a:t>
            </a:r>
          </a:p>
          <a:p>
            <a:r>
              <a:rPr sz="2000" b="1" i="0">
                <a:solidFill>
                  <a:srgbClr val="202020"/>
                </a:solidFill>
                <a:latin typeface="Arial"/>
              </a:rPr>
              <a:t>Remove either and the exploit breaks</a:t>
            </a:r>
            <a:r>
              <a:rPr sz="2000" b="0" i="0">
                <a:solidFill>
                  <a:srgbClr val="8A8A8A"/>
                </a:solidFill>
                <a:latin typeface="Arial"/>
              </a:rPr>
              <a:t> (that is what defenses do)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3700000"/>
            <a:ext cx="2970000" cy="44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padding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18640" y="3700000"/>
            <a:ext cx="2310000" cy="440000"/>
          </a:xfrm>
          <a:prstGeom prst="rect">
            <a:avLst/>
          </a:prstGeom>
          <a:solidFill>
            <a:srgbClr val="E4793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shellcode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8640" y="4195000"/>
            <a:ext cx="231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needs: executable stack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28640" y="3700000"/>
            <a:ext cx="1320000" cy="440000"/>
          </a:xfrm>
          <a:prstGeom prst="rect">
            <a:avLst/>
          </a:prstGeom>
          <a:solidFill>
            <a:srgbClr val="94B6D2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202020"/>
                </a:solidFill>
                <a:latin typeface="Arial"/>
              </a:rPr>
              <a:t>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28640" y="4195000"/>
            <a:ext cx="132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C0392B"/>
                </a:solidFill>
                <a:latin typeface="Arial"/>
              </a:rPr>
              <a:t>needs: predictable address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620000"/>
            <a:ext cx="804672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202020"/>
                </a:solidFill>
                <a:latin typeface="Arial"/>
              </a:rPr>
              <a:t>Next: heap attacks (Lec 7), then ROP (Lec 8) reuses existing code to beat NX; the full defenses come in Week 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/>
          <a:lstStyle/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A return-address overwrite is a launch pad: it can reach a real function, pass arguments, or run injected code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In 32-bit </a:t>
            </a:r>
            <a:r>
              <a:rPr sz="2000" b="0" i="0" dirty="0" err="1">
                <a:solidFill>
                  <a:srgbClr val="202020"/>
                </a:solidFill>
                <a:latin typeface="Arial"/>
              </a:rPr>
              <a:t>cdecl</a:t>
            </a:r>
            <a:r>
              <a:rPr sz="2000" b="0" i="0" dirty="0">
                <a:solidFill>
                  <a:srgbClr val="202020"/>
                </a:solidFill>
                <a:latin typeface="Arial"/>
              </a:rPr>
              <a:t>, arguments ride on the stack, which is what lets you call a function with values you choose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Shellcode is just bytes that are both data and code and issue a system call to spawn a shell</a:t>
            </a:r>
          </a:p>
          <a:p>
            <a:r>
              <a:rPr sz="2000" b="0" i="0" dirty="0">
                <a:solidFill>
                  <a:srgbClr val="202020"/>
                </a:solidFill>
                <a:latin typeface="Arial"/>
              </a:rPr>
              <a:t>The basic exploit is a fixed recipe: padding, then a target, assembled as computation plus control</a:t>
            </a:r>
          </a:p>
          <a:p>
            <a:r>
              <a:rPr sz="2000" b="0" i="0" dirty="0">
                <a:solidFill>
                  <a:srgbClr val="8A8A8A"/>
                </a:solidFill>
                <a:latin typeface="Arial"/>
              </a:rPr>
              <a:t>Lab 3 (Oct 22): redirect the return into a target with a chosen argument. Next: heap, then ROP, then defenses (Week 6)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 i="0">
                <a:solidFill>
                  <a:srgbClr val="202020"/>
                </a:solidFill>
                <a:latin typeface="Arial"/>
              </a:rPr>
              <a:t>Questions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100000" y="2550000"/>
            <a:ext cx="950000" cy="950000"/>
          </a:xfrm>
          <a:prstGeom prst="roundRect">
            <a:avLst>
              <a:gd name="adj" fmla="val 50000"/>
            </a:avLst>
          </a:prstGeom>
          <a:solidFill>
            <a:srgbClr val="E47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1783</Words>
  <Application>Microsoft Macintosh PowerPoint</Application>
  <PresentationFormat>On-screen Show (16:9)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 [1790301506474]</vt:lpstr>
      <vt:lpstr>CS 165: Computer Security</vt:lpstr>
      <vt:lpstr>Outline</vt:lpstr>
      <vt:lpstr>Recap: We Have Control, Now We Make It Useful</vt:lpstr>
      <vt:lpstr>Returning Into Real Code</vt:lpstr>
      <vt:lpstr>Beyond win(): Hijack Into a Real Function</vt:lpstr>
      <vt:lpstr>Build the Payload: Padding, Then the Address</vt:lpstr>
      <vt:lpstr>Hand the Function Its Arguments (cdecl)</vt:lpstr>
      <vt:lpstr>Injecting Your Own Code</vt:lpstr>
      <vt:lpstr>Shellcode: Inject Instructions, Then Return Into Them</vt:lpstr>
      <vt:lpstr>Shellcode Is Both Data and Code</vt:lpstr>
      <vt:lpstr>What the Shellcode Wants: a Shell</vt:lpstr>
      <vt:lpstr>Asking the Kernel Directly: the System-Call Convention</vt:lpstr>
      <vt:lpstr>From Assembly to an Injectable String</vt:lpstr>
      <vt:lpstr>Recap: the Recipe for a Basic Overflow Exploit</vt:lpstr>
      <vt:lpstr>Code Injection Has Requirements</vt:lpstr>
      <vt:lpstr>Conclusions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4</cp:revision>
  <dcterms:modified xsi:type="dcterms:W3CDTF">2026-10-15T22:34:10Z</dcterms:modified>
</cp:coreProperties>
</file>