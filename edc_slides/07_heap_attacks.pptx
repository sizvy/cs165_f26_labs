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96F481-76FE-430A-8033-0D9017D95D37}">
  <a:tblStyle styleId="{9096F481-76FE-430A-8033-0D9017D95D3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1F7BAC6-EEA7-4524-A375-4FD7C61763D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9"/>
  </p:normalViewPr>
  <p:slideViewPr>
    <p:cSldViewPr snapToGrid="0">
      <p:cViewPr varScale="1">
        <p:scale>
          <a:sx n="153" d="100"/>
          <a:sy n="153" d="100"/>
        </p:scale>
        <p:origin x="6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Every process has the same regions. Low to high: code (read-only instructions), globals/static data (live for the whole run), the heap (grows up), a large free gap, then the stack (grows down). Stack memory is automatic: the compiler lays down a frame on each call and reclaims it on return, strict LIFO. Heap memory is manual: malloc gives you any size at any time and it lives until you free it, in any order. The two grow toward each other across the free gap. Click to reveal each side. Today's attacks all target the heap.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stack frame is what one function call occupies on the stack. Higher to lower addresses: the caller's frame, this call's arguments, the saved return address (where the CPU jumps back to when the function returns), the saved base pointer, then the locals such as char buf[100]. Because buf sits just below the saved return address, an overflow past buf runs upward into it and overwrites it - the Lecture 5 stack smash. On the heap there is no return address beside buf, so a heap overflow hits a neighbor object or allocator metadata instead.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bug, different home. If packet is a stack array, the overflow runs into the saved return address and nearby flags - that is Lecture 5. If packet is malloc'd, the identical overflow instead runs into whatever is next on the heap: an adjacent object's data or function pointer, or the allocator's metadata. The missing bounds check is the same; only the victim changes. The rest of the lecture works through the heap victims.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48640" y="1600200"/>
            <a:ext cx="8046720" cy="86868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11;p2"/>
          <p:cNvSpPr txBox="1">
            <a:spLocks noGrp="1"/>
          </p:cNvSpPr>
          <p:nvPr>
            <p:ph type="subTitle" idx="1"/>
          </p:nvPr>
        </p:nvSpPr>
        <p:spPr>
          <a:xfrm>
            <a:off x="548640" y="2450592"/>
            <a:ext cx="8046720" cy="502920"/>
          </a:xfrm>
          <a:prstGeom prst="rect">
            <a:avLst/>
          </a:prstGeom>
          <a:noFill/>
          <a:ln>
            <a:noFill/>
          </a:ln>
        </p:spPr>
        <p:txBody>
          <a:bodyPr spcFirstLastPara="1" wrap="square" lIns="0" tIns="0" rIns="0" bIns="0" anchor="ctr" anchorCtr="0">
            <a:normAutofit/>
          </a:bodyPr>
          <a:lstStyle>
            <a:lvl1pPr lvl="0" algn="l">
              <a:spcBef>
                <a:spcPts val="0"/>
              </a:spcBef>
              <a:spcAft>
                <a:spcPts val="0"/>
              </a:spcAft>
              <a:buClr>
                <a:schemeClr val="dk1"/>
              </a:buClr>
              <a:buSzPts val="2900"/>
              <a:buNone/>
              <a:defRPr sz="2900"/>
            </a:lvl1pPr>
            <a:lvl2pPr lvl="1" algn="l">
              <a:spcBef>
                <a:spcPts val="0"/>
              </a:spcBef>
              <a:spcAft>
                <a:spcPts val="0"/>
              </a:spcAft>
              <a:buClr>
                <a:schemeClr val="dk1"/>
              </a:buClr>
              <a:buSzPts val="1800"/>
              <a:buChar char="–"/>
              <a:defRPr/>
            </a:lvl2pPr>
            <a:lvl3pPr lvl="2" algn="l">
              <a:spcBef>
                <a:spcPts val="500"/>
              </a:spcBef>
              <a:spcAft>
                <a:spcPts val="0"/>
              </a:spcAft>
              <a:buClr>
                <a:schemeClr val="dk1"/>
              </a:buClr>
              <a:buSzPts val="1800"/>
              <a:buChar char="•"/>
              <a:defRPr/>
            </a:lvl3pPr>
            <a:lvl4pPr lvl="3" algn="l">
              <a:spcBef>
                <a:spcPts val="400"/>
              </a:spcBef>
              <a:spcAft>
                <a:spcPts val="0"/>
              </a:spcAft>
              <a:buClr>
                <a:schemeClr val="dk1"/>
              </a:buClr>
              <a:buSzPts val="1800"/>
              <a:buChar char="–"/>
              <a:defRPr/>
            </a:lvl4pPr>
            <a:lvl5pPr lvl="4" algn="l">
              <a:spcBef>
                <a:spcPts val="400"/>
              </a:spcBef>
              <a:spcAft>
                <a:spcPts val="0"/>
              </a:spcAft>
              <a:buClr>
                <a:schemeClr val="dk1"/>
              </a:buClr>
              <a:buSzPts val="1800"/>
              <a:buChar char="•"/>
              <a:defRPr/>
            </a:lvl5pPr>
            <a:lvl6pPr lvl="5" algn="l">
              <a:spcBef>
                <a:spcPts val="400"/>
              </a:spcBef>
              <a:spcAft>
                <a:spcPts val="0"/>
              </a:spcAft>
              <a:buClr>
                <a:schemeClr val="dk1"/>
              </a:buClr>
              <a:buSzPts val="1800"/>
              <a:buChar char="•"/>
              <a:defRPr/>
            </a:lvl6pPr>
            <a:lvl7pPr lvl="6" algn="l">
              <a:spcBef>
                <a:spcPts val="400"/>
              </a:spcBef>
              <a:spcAft>
                <a:spcPts val="0"/>
              </a:spcAft>
              <a:buClr>
                <a:schemeClr val="dk1"/>
              </a:buClr>
              <a:buSzPts val="1800"/>
              <a:buChar char="•"/>
              <a:defRPr/>
            </a:lvl7pPr>
            <a:lvl8pPr lvl="7" algn="l">
              <a:spcBef>
                <a:spcPts val="400"/>
              </a:spcBef>
              <a:spcAft>
                <a:spcPts val="0"/>
              </a:spcAft>
              <a:buClr>
                <a:schemeClr val="dk1"/>
              </a:buClr>
              <a:buSzPts val="1800"/>
              <a:buChar char="•"/>
              <a:defRPr/>
            </a:lvl8pPr>
            <a:lvl9pPr lvl="8" algn="l">
              <a:spcBef>
                <a:spcPts val="400"/>
              </a:spcBef>
              <a:spcAft>
                <a:spcPts val="400"/>
              </a:spcAft>
              <a:buClr>
                <a:schemeClr val="dk1"/>
              </a:buClr>
              <a:buSzPts val="1800"/>
              <a:buChar char="•"/>
              <a:defRPr/>
            </a:lvl9pPr>
          </a:lstStyle>
          <a:p>
            <a:endParaRPr/>
          </a:p>
        </p:txBody>
      </p:sp>
      <p:sp>
        <p:nvSpPr>
          <p:cNvPr id="12" name="Google Shape;12;p2"/>
          <p:cNvSpPr txBox="1">
            <a:spLocks noGrp="1"/>
          </p:cNvSpPr>
          <p:nvPr>
            <p:ph type="body" idx="2"/>
          </p:nvPr>
        </p:nvSpPr>
        <p:spPr>
          <a:xfrm>
            <a:off x="548640" y="3246120"/>
            <a:ext cx="8046720" cy="914400"/>
          </a:xfrm>
          <a:prstGeom prst="rect">
            <a:avLst/>
          </a:prstGeom>
          <a:noFill/>
          <a:ln>
            <a:noFill/>
          </a:ln>
        </p:spPr>
        <p:txBody>
          <a:bodyPr spcFirstLastPara="1" wrap="square" lIns="0" tIns="0" rIns="0" bIns="0" anchor="t" anchorCtr="0">
            <a:normAutofit/>
          </a:bodyPr>
          <a:lstStyle>
            <a:lvl1pPr marL="457200" lvl="0" indent="-228600" algn="l">
              <a:lnSpc>
                <a:spcPct val="125000"/>
              </a:lnSpc>
              <a:spcBef>
                <a:spcPts val="0"/>
              </a:spcBef>
              <a:spcAft>
                <a:spcPts val="0"/>
              </a:spcAft>
              <a:buClr>
                <a:srgbClr val="8A8A8A"/>
              </a:buClr>
              <a:buSzPts val="1700"/>
              <a:buNone/>
              <a:defRPr sz="1700">
                <a:solidFill>
                  <a:srgbClr val="8A8A8A"/>
                </a:solidFill>
              </a:defRPr>
            </a:lvl1pPr>
            <a:lvl2pPr marL="914400" lvl="1" indent="-342900" algn="l">
              <a:spcBef>
                <a:spcPts val="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3"/>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lvl1pPr marL="457200" lvl="0" indent="-342900" algn="l">
              <a:spcBef>
                <a:spcPts val="600"/>
              </a:spcBef>
              <a:spcAft>
                <a:spcPts val="0"/>
              </a:spcAft>
              <a:buClr>
                <a:schemeClr val="dk1"/>
              </a:buClr>
              <a:buSzPts val="1800"/>
              <a:buChar char="•"/>
              <a:defRPr/>
            </a:lvl1pPr>
            <a:lvl2pPr marL="914400" lvl="1" indent="-342900" algn="l">
              <a:spcBef>
                <a:spcPts val="6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
        <p:nvSpPr>
          <p:cNvPr id="16" name="Google Shape;16;p3"/>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548640" y="1965960"/>
            <a:ext cx="8046720" cy="82296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548640" y="2761488"/>
            <a:ext cx="8046720" cy="4572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8A8A8A"/>
              </a:buClr>
              <a:buSzPts val="1900"/>
              <a:buNone/>
              <a:defRPr sz="1900">
                <a:solidFill>
                  <a:srgbClr val="8A8A8A"/>
                </a:solidFill>
              </a:defRPr>
            </a:lvl1pPr>
            <a:lvl2pPr marL="914400" lvl="1" indent="-342900" algn="l">
              <a:spcBef>
                <a:spcPts val="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
        <p:nvSpPr>
          <p:cNvPr id="20" name="Google Shape;20;p4"/>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6"/>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lvl1pPr marL="457200" marR="0" lvl="0" indent="-355600" algn="l" rtl="0">
              <a:spcBef>
                <a:spcPts val="6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36550" algn="l" rtl="0">
              <a:spcBef>
                <a:spcPts val="6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2pPr>
            <a:lvl3pPr marL="1371600" marR="0" lvl="2" indent="-336550" algn="l" rtl="0">
              <a:spcBef>
                <a:spcPts val="5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3pPr>
            <a:lvl4pPr marL="1828800" marR="0" lvl="3"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4pPr>
            <a:lvl5pPr marL="2286000" marR="0" lvl="4"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5pPr>
            <a:lvl6pPr marL="2743200" marR="0" lvl="5"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6pPr>
            <a:lvl7pPr marL="3200400" marR="0" lvl="6"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7pPr>
            <a:lvl8pPr marL="3657600" marR="0" lvl="7"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8pPr>
            <a:lvl9pPr marL="4114800" marR="0" lvl="8" indent="-336550" algn="l" rtl="0">
              <a:spcBef>
                <a:spcPts val="400"/>
              </a:spcBef>
              <a:spcAft>
                <a:spcPts val="400"/>
              </a:spcAft>
              <a:buClr>
                <a:schemeClr val="dk1"/>
              </a:buClr>
              <a:buSzPts val="1700"/>
              <a:buFont typeface="Arial"/>
              <a:buChar char="•"/>
              <a:defRPr sz="17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200" b="0" i="0" u="none" strike="noStrike" cap="none">
                <a:solidFill>
                  <a:srgbClr val="8A8A8A"/>
                </a:solidFill>
                <a:latin typeface="Arial"/>
                <a:ea typeface="Arial"/>
                <a:cs typeface="Arial"/>
                <a:sym typeface="Arial"/>
              </a:defRPr>
            </a:lvl1pPr>
            <a:lvl2pPr marL="0" marR="0" lvl="1" indent="0" algn="r" rtl="0">
              <a:spcBef>
                <a:spcPts val="0"/>
              </a:spcBef>
              <a:buNone/>
              <a:defRPr sz="1200" b="0" i="0" u="none" strike="noStrike" cap="none">
                <a:solidFill>
                  <a:srgbClr val="8A8A8A"/>
                </a:solidFill>
                <a:latin typeface="Arial"/>
                <a:ea typeface="Arial"/>
                <a:cs typeface="Arial"/>
                <a:sym typeface="Arial"/>
              </a:defRPr>
            </a:lvl2pPr>
            <a:lvl3pPr marL="0" marR="0" lvl="2" indent="0" algn="r" rtl="0">
              <a:spcBef>
                <a:spcPts val="0"/>
              </a:spcBef>
              <a:buNone/>
              <a:defRPr sz="1200" b="0" i="0" u="none" strike="noStrike" cap="none">
                <a:solidFill>
                  <a:srgbClr val="8A8A8A"/>
                </a:solidFill>
                <a:latin typeface="Arial"/>
                <a:ea typeface="Arial"/>
                <a:cs typeface="Arial"/>
                <a:sym typeface="Arial"/>
              </a:defRPr>
            </a:lvl3pPr>
            <a:lvl4pPr marL="0" marR="0" lvl="3" indent="0" algn="r" rtl="0">
              <a:spcBef>
                <a:spcPts val="0"/>
              </a:spcBef>
              <a:buNone/>
              <a:defRPr sz="1200" b="0" i="0" u="none" strike="noStrike" cap="none">
                <a:solidFill>
                  <a:srgbClr val="8A8A8A"/>
                </a:solidFill>
                <a:latin typeface="Arial"/>
                <a:ea typeface="Arial"/>
                <a:cs typeface="Arial"/>
                <a:sym typeface="Arial"/>
              </a:defRPr>
            </a:lvl4pPr>
            <a:lvl5pPr marL="0" marR="0" lvl="4" indent="0" algn="r" rtl="0">
              <a:spcBef>
                <a:spcPts val="0"/>
              </a:spcBef>
              <a:buNone/>
              <a:defRPr sz="1200" b="0" i="0" u="none" strike="noStrike" cap="none">
                <a:solidFill>
                  <a:srgbClr val="8A8A8A"/>
                </a:solidFill>
                <a:latin typeface="Arial"/>
                <a:ea typeface="Arial"/>
                <a:cs typeface="Arial"/>
                <a:sym typeface="Arial"/>
              </a:defRPr>
            </a:lvl5pPr>
            <a:lvl6pPr marL="0" marR="0" lvl="5" indent="0" algn="r" rtl="0">
              <a:spcBef>
                <a:spcPts val="0"/>
              </a:spcBef>
              <a:buNone/>
              <a:defRPr sz="1200" b="0" i="0" u="none" strike="noStrike" cap="none">
                <a:solidFill>
                  <a:srgbClr val="8A8A8A"/>
                </a:solidFill>
                <a:latin typeface="Arial"/>
                <a:ea typeface="Arial"/>
                <a:cs typeface="Arial"/>
                <a:sym typeface="Arial"/>
              </a:defRPr>
            </a:lvl6pPr>
            <a:lvl7pPr marL="0" marR="0" lvl="6" indent="0" algn="r" rtl="0">
              <a:spcBef>
                <a:spcPts val="0"/>
              </a:spcBef>
              <a:buNone/>
              <a:defRPr sz="1200" b="0" i="0" u="none" strike="noStrike" cap="none">
                <a:solidFill>
                  <a:srgbClr val="8A8A8A"/>
                </a:solidFill>
                <a:latin typeface="Arial"/>
                <a:ea typeface="Arial"/>
                <a:cs typeface="Arial"/>
                <a:sym typeface="Arial"/>
              </a:defRPr>
            </a:lvl7pPr>
            <a:lvl8pPr marL="0" marR="0" lvl="7" indent="0" algn="r" rtl="0">
              <a:spcBef>
                <a:spcPts val="0"/>
              </a:spcBef>
              <a:buNone/>
              <a:defRPr sz="1200" b="0" i="0" u="none" strike="noStrike" cap="none">
                <a:solidFill>
                  <a:srgbClr val="8A8A8A"/>
                </a:solidFill>
                <a:latin typeface="Arial"/>
                <a:ea typeface="Arial"/>
                <a:cs typeface="Arial"/>
                <a:sym typeface="Arial"/>
              </a:defRPr>
            </a:lvl8pPr>
            <a:lvl9pPr marL="0" marR="0" lvl="8" indent="0" algn="r" rtl="0">
              <a:spcBef>
                <a:spcPts val="0"/>
              </a:spcBef>
              <a:buNone/>
              <a:defRPr sz="1200" b="0" i="0" u="none" strike="noStrike" cap="none">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indent="0" algn="l">
              <a:buNone/>
            </a:pPr>
            <a:r>
              <a:t>CS 165: Computer Security</a:t>
            </a:r>
          </a:p>
        </p:txBody>
      </p:sp>
      <p:sp>
        <p:nvSpPr>
          <p:cNvPr id="3" name="Subtitle 2"/>
          <p:cNvSpPr>
            <a:spLocks noGrp="1"/>
          </p:cNvSpPr>
          <p:nvPr>
            <p:ph type="subTitle" idx="1"/>
          </p:nvPr>
        </p:nvSpPr>
        <p:spPr/>
        <p:txBody>
          <a:bodyPr/>
          <a:lstStyle/>
          <a:p>
            <a:pPr marL="0" indent="0" algn="l">
              <a:buNone/>
            </a:pPr>
            <a:r>
              <a:t>Heap Attacks</a:t>
            </a:r>
          </a:p>
        </p:txBody>
      </p:sp>
      <p:sp>
        <p:nvSpPr>
          <p:cNvPr id="4" name="Text Placeholder 3"/>
          <p:cNvSpPr>
            <a:spLocks noGrp="1"/>
          </p:cNvSpPr>
          <p:nvPr>
            <p:ph type="body" idx="2"/>
          </p:nvPr>
        </p:nvSpPr>
        <p:spPr/>
        <p:txBody>
          <a:bodyPr/>
          <a:lstStyle/>
          <a:p>
            <a:pPr marL="0" indent="0" algn="l">
              <a:buNone/>
            </a:pPr>
            <a:r>
              <a:t>Emiliano De Cristofaro</a:t>
            </a:r>
          </a:p>
          <a:p>
            <a:pPr marL="0" indent="0" algn="l">
              <a:buNone/>
            </a:pPr>
            <a:r>
              <a:t>University of California, Riverside</a:t>
            </a:r>
          </a:p>
          <a:p>
            <a:pPr marL="0" indent="0" algn="l">
              <a:buNone/>
            </a:pPr>
            <a:r>
              <a:t>Fall 2026  |  Monday, October 19</a:t>
            </a:r>
          </a:p>
        </p:txBody>
      </p:sp>
      <p:pic>
        <p:nvPicPr>
          <p:cNvPr id="5" name="Picture 4" descr="image.png"/>
          <p:cNvPicPr>
            <a:picLocks noChangeAspect="1"/>
          </p:cNvPicPr>
          <p:nvPr/>
        </p:nvPicPr>
        <p:blipFill>
          <a:blip r:embed="rId2"/>
          <a:stretch>
            <a:fillRect/>
          </a:stretch>
        </p:blipFill>
        <p:spPr>
          <a:xfrm>
            <a:off x="3137568" y="0"/>
            <a:ext cx="2868864" cy="9796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Outline</a:t>
            </a:r>
          </a:p>
        </p:txBody>
      </p:sp>
      <p:sp>
        <p:nvSpPr>
          <p:cNvPr id="3" name="Text Placeholder 2"/>
          <p:cNvSpPr>
            <a:spLocks noGrp="1"/>
          </p:cNvSpPr>
          <p:nvPr>
            <p:ph type="body" idx="1"/>
          </p:nvPr>
        </p:nvSpPr>
        <p:spPr/>
        <p:txBody>
          <a:bodyPr wrap="square" lIns="0" tIns="0" rIns="0" bIns="0"/>
          <a:lstStyle/>
          <a:p>
            <a:r>
              <a:rPr sz="2000" b="0" i="0" dirty="0">
                <a:solidFill>
                  <a:srgbClr val="202020"/>
                </a:solidFill>
                <a:latin typeface="Arial"/>
              </a:rPr>
              <a:t>The heap: dynamic allocation with malloc and free</a:t>
            </a:r>
          </a:p>
          <a:p>
            <a:r>
              <a:rPr sz="2000" b="0" i="0" dirty="0">
                <a:solidFill>
                  <a:srgbClr val="202020"/>
                </a:solidFill>
                <a:latin typeface="Arial"/>
              </a:rPr>
              <a:t>The same overflow bug, now on the heap</a:t>
            </a:r>
            <a:endParaRPr lang="en-US" sz="2000" b="0" i="0" dirty="0">
              <a:solidFill>
                <a:srgbClr val="202020"/>
              </a:solidFill>
              <a:latin typeface="Arial"/>
            </a:endParaRPr>
          </a:p>
          <a:p>
            <a:r>
              <a:rPr sz="2000" b="0" i="0" dirty="0">
                <a:solidFill>
                  <a:srgbClr val="202020"/>
                </a:solidFill>
                <a:latin typeface="Arial"/>
              </a:rPr>
              <a:t>Corrupting the allocator's metadata</a:t>
            </a:r>
            <a:endParaRPr lang="en-US" sz="2000" b="0" i="0" dirty="0">
              <a:solidFill>
                <a:srgbClr val="202020"/>
              </a:solidFill>
              <a:latin typeface="Arial"/>
            </a:endParaRPr>
          </a:p>
          <a:p>
            <a:r>
              <a:rPr sz="2000" b="0" i="0" dirty="0">
                <a:solidFill>
                  <a:srgbClr val="202020"/>
                </a:solidFill>
                <a:latin typeface="Arial"/>
              </a:rPr>
              <a:t>Overflowing into a neighbor's data or function pointer</a:t>
            </a:r>
          </a:p>
          <a:p>
            <a:r>
              <a:rPr sz="2000" b="0" i="0" dirty="0">
                <a:solidFill>
                  <a:srgbClr val="202020"/>
                </a:solidFill>
                <a:latin typeface="Arial"/>
              </a:rPr>
              <a:t>Reusing freed memory: use-after-free as a heap technique</a:t>
            </a:r>
          </a:p>
          <a:p>
            <a:r>
              <a:rPr sz="2000" b="0" i="0" dirty="0">
                <a:solidFill>
                  <a:srgbClr val="202020"/>
                </a:solidFill>
                <a:latin typeface="Arial"/>
              </a:rPr>
              <a:t>Why canaries, ASLR, and NX mostly do not help here</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a:t>
            </a:fld>
            <a:endParaRPr/>
          </a:p>
        </p:txBody>
      </p:sp>
      <p:sp>
        <p:nvSpPr>
          <p:cNvPr id="42" name="Rounded Rectangle 41"/>
          <p:cNvSpPr/>
          <p:nvPr/>
        </p:nvSpPr>
        <p:spPr>
          <a:xfrm>
            <a:off x="548640" y="4020000"/>
            <a:ext cx="2529840" cy="500000"/>
          </a:xfrm>
          <a:prstGeom prst="roundRect">
            <a:avLst>
              <a:gd name="adj" fmla="val 12000"/>
            </a:avLst>
          </a:prstGeom>
          <a:solidFill>
            <a:srgbClr val="94B6D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i="0">
                <a:solidFill>
                  <a:srgbClr val="202020"/>
                </a:solidFill>
                <a:latin typeface="Arial"/>
              </a:rPr>
              <a:t>Corrupt the metadata</a:t>
            </a:r>
          </a:p>
        </p:txBody>
      </p:sp>
      <p:sp>
        <p:nvSpPr>
          <p:cNvPr id="43" name="Rounded Rectangle 42"/>
          <p:cNvSpPr/>
          <p:nvPr/>
        </p:nvSpPr>
        <p:spPr>
          <a:xfrm>
            <a:off x="3307080" y="4020000"/>
            <a:ext cx="2529840" cy="500000"/>
          </a:xfrm>
          <a:prstGeom prst="roundRect">
            <a:avLst>
              <a:gd name="adj" fmla="val 12000"/>
            </a:avLst>
          </a:prstGeom>
          <a:solidFill>
            <a:srgbClr val="94B6D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i="0">
                <a:solidFill>
                  <a:srgbClr val="202020"/>
                </a:solidFill>
                <a:latin typeface="Arial"/>
              </a:rPr>
              <a:t>Overwrite a neighbor</a:t>
            </a:r>
          </a:p>
        </p:txBody>
      </p:sp>
      <p:sp>
        <p:nvSpPr>
          <p:cNvPr id="44" name="Rounded Rectangle 43"/>
          <p:cNvSpPr/>
          <p:nvPr/>
        </p:nvSpPr>
        <p:spPr>
          <a:xfrm>
            <a:off x="6065520" y="4020000"/>
            <a:ext cx="2529840" cy="500000"/>
          </a:xfrm>
          <a:prstGeom prst="roundRect">
            <a:avLst>
              <a:gd name="adj" fmla="val 12000"/>
            </a:avLst>
          </a:prstGeom>
          <a:solidFill>
            <a:srgbClr val="94B6D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i="0">
                <a:solidFill>
                  <a:srgbClr val="202020"/>
                </a:solidFill>
                <a:latin typeface="Arial"/>
              </a:rPr>
              <a:t>Reuse freed memory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Stack vs Heap: Where Dynamic Memory Lives</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The heap is one of a process's memory regions</a:t>
            </a:r>
          </a:p>
          <a:p>
            <a:r>
              <a:rPr sz="2000" b="0" i="0">
                <a:solidFill>
                  <a:srgbClr val="202020"/>
                </a:solidFill>
                <a:latin typeface="Arial"/>
              </a:rPr>
              <a:t>Stack vs heap: different managers, different rules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a:t>
            </a:fld>
            <a:endParaRPr/>
          </a:p>
        </p:txBody>
      </p:sp>
      <p:sp>
        <p:nvSpPr>
          <p:cNvPr id="42" name="Rectangle 41"/>
          <p:cNvSpPr/>
          <p:nvPr/>
        </p:nvSpPr>
        <p:spPr>
          <a:xfrm>
            <a:off x="600000" y="2720000"/>
            <a:ext cx="1950000" cy="330000"/>
          </a:xfrm>
          <a:prstGeom prst="rect">
            <a:avLst/>
          </a:prstGeom>
          <a:solidFill>
            <a:srgbClr val="94B6D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202020"/>
                </a:solidFill>
                <a:latin typeface="Arial"/>
              </a:rPr>
              <a:t>Stack</a:t>
            </a:r>
          </a:p>
        </p:txBody>
      </p:sp>
      <p:sp>
        <p:nvSpPr>
          <p:cNvPr id="43" name="Rectangle 42"/>
          <p:cNvSpPr/>
          <p:nvPr/>
        </p:nvSpPr>
        <p:spPr>
          <a:xfrm>
            <a:off x="600000" y="3050000"/>
            <a:ext cx="1950000" cy="470000"/>
          </a:xfrm>
          <a:prstGeom prst="rect">
            <a:avLst/>
          </a:prstGeom>
          <a:solidFill>
            <a:srgbClr val="EFEFE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8A8A8A"/>
                </a:solidFill>
                <a:latin typeface="Arial"/>
              </a:rPr>
              <a:t>free space</a:t>
            </a:r>
          </a:p>
        </p:txBody>
      </p:sp>
      <p:sp>
        <p:nvSpPr>
          <p:cNvPr id="44" name="Rectangle 43"/>
          <p:cNvSpPr/>
          <p:nvPr/>
        </p:nvSpPr>
        <p:spPr>
          <a:xfrm>
            <a:off x="600000" y="3520000"/>
            <a:ext cx="1950000" cy="330000"/>
          </a:xfrm>
          <a:prstGeom prst="rect">
            <a:avLst/>
          </a:prstGeom>
          <a:solidFill>
            <a:srgbClr val="E4793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FFFFFF"/>
                </a:solidFill>
                <a:latin typeface="Arial"/>
              </a:rPr>
              <a:t>Heap</a:t>
            </a:r>
          </a:p>
        </p:txBody>
      </p:sp>
      <p:sp>
        <p:nvSpPr>
          <p:cNvPr id="45" name="Rectangle 44"/>
          <p:cNvSpPr/>
          <p:nvPr/>
        </p:nvSpPr>
        <p:spPr>
          <a:xfrm>
            <a:off x="600000" y="3850000"/>
            <a:ext cx="1950000" cy="33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Arial"/>
              </a:rPr>
              <a:t>Globals (static)</a:t>
            </a:r>
          </a:p>
        </p:txBody>
      </p:sp>
      <p:sp>
        <p:nvSpPr>
          <p:cNvPr id="46" name="Rectangle 45"/>
          <p:cNvSpPr/>
          <p:nvPr/>
        </p:nvSpPr>
        <p:spPr>
          <a:xfrm>
            <a:off x="600000" y="4180000"/>
            <a:ext cx="1950000" cy="33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Arial"/>
              </a:rPr>
              <a:t>Code (read-only)</a:t>
            </a:r>
          </a:p>
        </p:txBody>
      </p:sp>
      <p:cxnSp>
        <p:nvCxnSpPr>
          <p:cNvPr id="47" name="Connector 46"/>
          <p:cNvCxnSpPr/>
          <p:nvPr/>
        </p:nvCxnSpPr>
        <p:spPr>
          <a:xfrm>
            <a:off x="930000" y="3130000"/>
            <a:ext cx="0" cy="310000"/>
          </a:xfrm>
          <a:prstGeom prst="bentConnector3">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220000" y="3130000"/>
            <a:ext cx="0" cy="310000"/>
          </a:xfrm>
          <a:prstGeom prst="bentConnector3">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00000" y="2480000"/>
            <a:ext cx="1950000" cy="210000"/>
          </a:xfrm>
          <a:prstGeom prst="rect">
            <a:avLst/>
          </a:prstGeom>
          <a:noFill/>
        </p:spPr>
        <p:txBody>
          <a:bodyPr wrap="square" lIns="0" tIns="0" rIns="0" bIns="0" anchor="t">
            <a:spAutoFit/>
          </a:bodyPr>
          <a:lstStyle/>
          <a:p>
            <a:pPr algn="ctr"/>
            <a:r>
              <a:rPr sz="850" b="0" i="0">
                <a:solidFill>
                  <a:srgbClr val="8A8A8A"/>
                </a:solidFill>
                <a:latin typeface="Arial"/>
              </a:rPr>
              <a:t>high addresses</a:t>
            </a:r>
          </a:p>
        </p:txBody>
      </p:sp>
      <p:sp>
        <p:nvSpPr>
          <p:cNvPr id="50" name="TextBox 49"/>
          <p:cNvSpPr txBox="1"/>
          <p:nvPr/>
        </p:nvSpPr>
        <p:spPr>
          <a:xfrm>
            <a:off x="600000" y="4540000"/>
            <a:ext cx="1950000" cy="210000"/>
          </a:xfrm>
          <a:prstGeom prst="rect">
            <a:avLst/>
          </a:prstGeom>
          <a:noFill/>
        </p:spPr>
        <p:txBody>
          <a:bodyPr wrap="square" lIns="0" tIns="0" rIns="0" bIns="0" anchor="t">
            <a:spAutoFit/>
          </a:bodyPr>
          <a:lstStyle/>
          <a:p>
            <a:pPr algn="ctr"/>
            <a:r>
              <a:rPr sz="850" b="0" i="0">
                <a:solidFill>
                  <a:srgbClr val="8A8A8A"/>
                </a:solidFill>
                <a:latin typeface="Arial"/>
              </a:rPr>
              <a:t>low addresses</a:t>
            </a:r>
          </a:p>
        </p:txBody>
      </p:sp>
      <p:sp>
        <p:nvSpPr>
          <p:cNvPr id="51" name="Rounded Rectangle 50"/>
          <p:cNvSpPr/>
          <p:nvPr/>
        </p:nvSpPr>
        <p:spPr>
          <a:xfrm>
            <a:off x="2800000" y="2680000"/>
            <a:ext cx="2750000" cy="2000000"/>
          </a:xfrm>
          <a:prstGeom prst="roundRect">
            <a:avLst>
              <a:gd name="adj" fmla="val 6000"/>
            </a:avLst>
          </a:prstGeom>
          <a:solidFill>
            <a:srgbClr val="D6E4F0"/>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970000" y="2780000"/>
            <a:ext cx="2410000" cy="340000"/>
          </a:xfrm>
          <a:prstGeom prst="rect">
            <a:avLst/>
          </a:prstGeom>
          <a:noFill/>
        </p:spPr>
        <p:txBody>
          <a:bodyPr wrap="square" lIns="0" tIns="0" rIns="0" bIns="0" anchor="t">
            <a:spAutoFit/>
          </a:bodyPr>
          <a:lstStyle/>
          <a:p>
            <a:pPr algn="l"/>
            <a:r>
              <a:rPr sz="1700" b="1" i="0">
                <a:solidFill>
                  <a:srgbClr val="94B6D2"/>
                </a:solidFill>
                <a:latin typeface="Arial"/>
              </a:rPr>
              <a:t>Stack</a:t>
            </a:r>
          </a:p>
        </p:txBody>
      </p:sp>
      <p:sp>
        <p:nvSpPr>
          <p:cNvPr id="53" name="TextBox 52"/>
          <p:cNvSpPr txBox="1"/>
          <p:nvPr/>
        </p:nvSpPr>
        <p:spPr>
          <a:xfrm>
            <a:off x="2980000" y="3200000"/>
            <a:ext cx="2390000" cy="1380000"/>
          </a:xfrm>
          <a:prstGeom prst="rect">
            <a:avLst/>
          </a:prstGeom>
          <a:noFill/>
        </p:spPr>
        <p:txBody>
          <a:bodyPr wrap="square" lIns="0" tIns="0" rIns="0" bIns="0" anchor="t">
            <a:spAutoFit/>
          </a:bodyPr>
          <a:lstStyle/>
          <a:p>
            <a:pPr algn="l"/>
            <a:r>
              <a:rPr sz="1200" b="0" i="0">
                <a:solidFill>
                  <a:srgbClr val="202020"/>
                </a:solidFill>
                <a:latin typeface="Arial"/>
              </a:rPr>
              <a:t>- Compiler manages it</a:t>
            </a:r>
          </a:p>
          <a:p>
            <a:pPr algn="l"/>
            <a:r>
              <a:rPr sz="1200" b="0" i="0">
                <a:solidFill>
                  <a:srgbClr val="202020"/>
                </a:solidFill>
                <a:latin typeface="Arial"/>
              </a:rPr>
              <a:t>- LIFO: one frame per call</a:t>
            </a:r>
          </a:p>
          <a:p>
            <a:pPr algn="l"/>
            <a:r>
              <a:rPr sz="1200" b="0" i="0">
                <a:solidFill>
                  <a:srgbClr val="202020"/>
                </a:solidFill>
                <a:latin typeface="Arial"/>
              </a:rPr>
              <a:t>- Freed when the call returns</a:t>
            </a:r>
          </a:p>
          <a:p>
            <a:pPr algn="l"/>
            <a:r>
              <a:rPr sz="1200" b="0" i="0">
                <a:solidFill>
                  <a:srgbClr val="202020"/>
                </a:solidFill>
                <a:latin typeface="Arial"/>
              </a:rPr>
              <a:t>- Grows down, high to low</a:t>
            </a:r>
          </a:p>
        </p:txBody>
      </p:sp>
      <p:sp>
        <p:nvSpPr>
          <p:cNvPr id="54" name="Rounded Rectangle 53"/>
          <p:cNvSpPr/>
          <p:nvPr/>
        </p:nvSpPr>
        <p:spPr>
          <a:xfrm>
            <a:off x="5800000" y="2680000"/>
            <a:ext cx="2750000" cy="2000000"/>
          </a:xfrm>
          <a:prstGeom prst="roundRect">
            <a:avLst>
              <a:gd name="adj" fmla="val 6000"/>
            </a:avLst>
          </a:prstGeom>
          <a:solidFill>
            <a:srgbClr val="F6D8C4"/>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970000" y="2780000"/>
            <a:ext cx="2410000" cy="340000"/>
          </a:xfrm>
          <a:prstGeom prst="rect">
            <a:avLst/>
          </a:prstGeom>
          <a:noFill/>
        </p:spPr>
        <p:txBody>
          <a:bodyPr wrap="square" lIns="0" tIns="0" rIns="0" bIns="0" anchor="t">
            <a:spAutoFit/>
          </a:bodyPr>
          <a:lstStyle/>
          <a:p>
            <a:pPr algn="l"/>
            <a:r>
              <a:rPr sz="1700" b="1" i="0">
                <a:solidFill>
                  <a:srgbClr val="E47932"/>
                </a:solidFill>
                <a:latin typeface="Arial"/>
              </a:rPr>
              <a:t>Heap</a:t>
            </a:r>
          </a:p>
        </p:txBody>
      </p:sp>
      <p:sp>
        <p:nvSpPr>
          <p:cNvPr id="56" name="TextBox 55"/>
          <p:cNvSpPr txBox="1"/>
          <p:nvPr/>
        </p:nvSpPr>
        <p:spPr>
          <a:xfrm>
            <a:off x="5980000" y="3200000"/>
            <a:ext cx="2390000" cy="1380000"/>
          </a:xfrm>
          <a:prstGeom prst="rect">
            <a:avLst/>
          </a:prstGeom>
          <a:noFill/>
        </p:spPr>
        <p:txBody>
          <a:bodyPr wrap="square" lIns="0" tIns="0" rIns="0" bIns="0" anchor="t">
            <a:spAutoFit/>
          </a:bodyPr>
          <a:lstStyle/>
          <a:p>
            <a:pPr algn="l"/>
            <a:r>
              <a:rPr sz="1200" b="0" i="0">
                <a:solidFill>
                  <a:srgbClr val="202020"/>
                </a:solidFill>
                <a:latin typeface="Arial"/>
              </a:rPr>
              <a:t>- You call malloc / free</a:t>
            </a:r>
          </a:p>
          <a:p>
            <a:pPr algn="l"/>
            <a:r>
              <a:rPr sz="1200" b="0" i="0">
                <a:solidFill>
                  <a:srgbClr val="202020"/>
                </a:solidFill>
                <a:latin typeface="Arial"/>
              </a:rPr>
              <a:t>- Any size, any order</a:t>
            </a:r>
          </a:p>
          <a:p>
            <a:pPr algn="l"/>
            <a:r>
              <a:rPr sz="1200" b="0" i="0">
                <a:solidFill>
                  <a:srgbClr val="202020"/>
                </a:solidFill>
                <a:latin typeface="Arial"/>
              </a:rPr>
              <a:t>- Lives until you free() it</a:t>
            </a:r>
          </a:p>
          <a:p>
            <a:pPr algn="l"/>
            <a:r>
              <a:rPr sz="1200" b="0" i="0">
                <a:solidFill>
                  <a:srgbClr val="202020"/>
                </a:solidFill>
                <a:latin typeface="Arial"/>
              </a:rPr>
              <a:t>- Grows up, low to high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10"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fade">
                                      <p:cBhvr>
                                        <p:cTn id="18" dur="500"/>
                                        <p:tgtEl>
                                          <p:spTgt spid="54"/>
                                        </p:tgtEl>
                                      </p:cBhvr>
                                    </p:animEffect>
                                  </p:childTnLst>
                                </p:cTn>
                              </p:par>
                              <p:par>
                                <p:cTn id="19" presetID="10" presetClass="entr" presetSubtype="0"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par>
                                <p:cTn id="22" presetID="10" presetClass="entr" presetSubtype="0" fill="hold" nodeType="with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Where the Return Address Lives</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Each function call pushes a frame onto the stack</a:t>
            </a:r>
          </a:p>
          <a:p>
            <a:r>
              <a:rPr sz="2000" b="0" i="0">
                <a:solidFill>
                  <a:srgbClr val="202020"/>
                </a:solidFill>
                <a:latin typeface="Arial"/>
              </a:rPr>
              <a:t>The saved return address sits just above the function's locals</a:t>
            </a:r>
          </a:p>
          <a:p>
            <a:r>
              <a:rPr sz="2000" b="0" i="0">
                <a:solidFill>
                  <a:srgbClr val="202020"/>
                </a:solidFill>
                <a:latin typeface="Arial"/>
              </a:rPr>
              <a:t>Overflowing buf writes up into it - the Lecture 5 attack</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4</a:t>
            </a:fld>
            <a:endParaRPr/>
          </a:p>
        </p:txBody>
      </p:sp>
      <p:sp>
        <p:nvSpPr>
          <p:cNvPr id="42" name="Rectangle 41"/>
          <p:cNvSpPr/>
          <p:nvPr/>
        </p:nvSpPr>
        <p:spPr>
          <a:xfrm>
            <a:off x="1500000" y="2800000"/>
            <a:ext cx="2600000" cy="360000"/>
          </a:xfrm>
          <a:prstGeom prst="rect">
            <a:avLst/>
          </a:prstGeom>
          <a:solidFill>
            <a:srgbClr val="EFEFE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8A8A8A"/>
                </a:solidFill>
                <a:latin typeface="Arial"/>
              </a:rPr>
              <a:t>caller's frame</a:t>
            </a:r>
          </a:p>
        </p:txBody>
      </p:sp>
      <p:sp>
        <p:nvSpPr>
          <p:cNvPr id="43" name="Rectangle 42"/>
          <p:cNvSpPr/>
          <p:nvPr/>
        </p:nvSpPr>
        <p:spPr>
          <a:xfrm>
            <a:off x="1500000" y="3160000"/>
            <a:ext cx="2600000" cy="360000"/>
          </a:xfrm>
          <a:prstGeom prst="rect">
            <a:avLst/>
          </a:prstGeom>
          <a:solidFill>
            <a:srgbClr val="EFEFE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Arial"/>
              </a:rPr>
              <a:t>function arguments</a:t>
            </a:r>
          </a:p>
        </p:txBody>
      </p:sp>
      <p:sp>
        <p:nvSpPr>
          <p:cNvPr id="44" name="Rectangle 43"/>
          <p:cNvSpPr/>
          <p:nvPr/>
        </p:nvSpPr>
        <p:spPr>
          <a:xfrm>
            <a:off x="1500000" y="3520000"/>
            <a:ext cx="2600000" cy="360000"/>
          </a:xfrm>
          <a:prstGeom prst="rect">
            <a:avLst/>
          </a:prstGeom>
          <a:solidFill>
            <a:srgbClr val="F6D8C4"/>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C0392B"/>
                </a:solidFill>
                <a:latin typeface="Arial"/>
              </a:rPr>
              <a:t>saved return address</a:t>
            </a:r>
          </a:p>
        </p:txBody>
      </p:sp>
      <p:sp>
        <p:nvSpPr>
          <p:cNvPr id="45" name="Rectangle 44"/>
          <p:cNvSpPr/>
          <p:nvPr/>
        </p:nvSpPr>
        <p:spPr>
          <a:xfrm>
            <a:off x="1500000" y="3880000"/>
            <a:ext cx="2600000" cy="360000"/>
          </a:xfrm>
          <a:prstGeom prst="rect">
            <a:avLst/>
          </a:prstGeom>
          <a:solidFill>
            <a:srgbClr val="EFEFE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Arial"/>
              </a:rPr>
              <a:t>saved base pointer</a:t>
            </a:r>
          </a:p>
        </p:txBody>
      </p:sp>
      <p:sp>
        <p:nvSpPr>
          <p:cNvPr id="46" name="Rectangle 45"/>
          <p:cNvSpPr/>
          <p:nvPr/>
        </p:nvSpPr>
        <p:spPr>
          <a:xfrm>
            <a:off x="1500000" y="4240000"/>
            <a:ext cx="2600000" cy="360000"/>
          </a:xfrm>
          <a:prstGeom prst="rect">
            <a:avLst/>
          </a:prstGeom>
          <a:solidFill>
            <a:srgbClr val="94B6D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202020"/>
                </a:solidFill>
                <a:latin typeface="Courier New"/>
              </a:rPr>
              <a:t>char buf[100]</a:t>
            </a:r>
          </a:p>
        </p:txBody>
      </p:sp>
      <p:sp>
        <p:nvSpPr>
          <p:cNvPr id="47" name="TextBox 46"/>
          <p:cNvSpPr txBox="1"/>
          <p:nvPr/>
        </p:nvSpPr>
        <p:spPr>
          <a:xfrm>
            <a:off x="50000" y="2790000"/>
            <a:ext cx="1300000" cy="230000"/>
          </a:xfrm>
          <a:prstGeom prst="rect">
            <a:avLst/>
          </a:prstGeom>
          <a:noFill/>
        </p:spPr>
        <p:txBody>
          <a:bodyPr wrap="square" lIns="0" tIns="0" rIns="0" bIns="0" anchor="t">
            <a:spAutoFit/>
          </a:bodyPr>
          <a:lstStyle/>
          <a:p>
            <a:pPr algn="r"/>
            <a:r>
              <a:rPr sz="900" b="0" i="0">
                <a:solidFill>
                  <a:srgbClr val="8A8A8A"/>
                </a:solidFill>
                <a:latin typeface="Arial"/>
              </a:rPr>
              <a:t>higher addresses</a:t>
            </a:r>
          </a:p>
        </p:txBody>
      </p:sp>
      <p:sp>
        <p:nvSpPr>
          <p:cNvPr id="48" name="TextBox 47"/>
          <p:cNvSpPr txBox="1"/>
          <p:nvPr/>
        </p:nvSpPr>
        <p:spPr>
          <a:xfrm>
            <a:off x="50000" y="4350000"/>
            <a:ext cx="1300000" cy="230000"/>
          </a:xfrm>
          <a:prstGeom prst="rect">
            <a:avLst/>
          </a:prstGeom>
          <a:noFill/>
        </p:spPr>
        <p:txBody>
          <a:bodyPr wrap="square" lIns="0" tIns="0" rIns="0" bIns="0" anchor="t">
            <a:spAutoFit/>
          </a:bodyPr>
          <a:lstStyle/>
          <a:p>
            <a:pPr algn="r"/>
            <a:r>
              <a:rPr sz="900" b="0" i="0">
                <a:solidFill>
                  <a:srgbClr val="8A8A8A"/>
                </a:solidFill>
                <a:latin typeface="Arial"/>
              </a:rPr>
              <a:t>lower addresses</a:t>
            </a:r>
          </a:p>
        </p:txBody>
      </p:sp>
      <p:cxnSp>
        <p:nvCxnSpPr>
          <p:cNvPr id="49" name="Connector 48"/>
          <p:cNvCxnSpPr/>
          <p:nvPr/>
        </p:nvCxnSpPr>
        <p:spPr>
          <a:xfrm flipV="1">
            <a:off x="4250000" y="3700000"/>
            <a:ext cx="0" cy="720000"/>
          </a:xfrm>
          <a:prstGeom prst="bentConnector3">
            <a:avLst/>
          </a:prstGeom>
          <a:ln w="3175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420000" y="3580000"/>
            <a:ext cx="3400000" cy="260000"/>
          </a:xfrm>
          <a:prstGeom prst="rect">
            <a:avLst/>
          </a:prstGeom>
          <a:noFill/>
        </p:spPr>
        <p:txBody>
          <a:bodyPr wrap="square" lIns="0" tIns="0" rIns="0" bIns="0" anchor="t">
            <a:spAutoFit/>
          </a:bodyPr>
          <a:lstStyle/>
          <a:p>
            <a:pPr algn="l"/>
            <a:r>
              <a:rPr sz="1200" b="1" i="0">
                <a:solidFill>
                  <a:srgbClr val="C0392B"/>
                </a:solidFill>
                <a:latin typeface="Arial"/>
              </a:rPr>
              <a:t>the return pointer</a:t>
            </a:r>
          </a:p>
        </p:txBody>
      </p:sp>
      <p:sp>
        <p:nvSpPr>
          <p:cNvPr id="51" name="TextBox 50"/>
          <p:cNvSpPr txBox="1"/>
          <p:nvPr/>
        </p:nvSpPr>
        <p:spPr>
          <a:xfrm>
            <a:off x="4420000" y="3840000"/>
            <a:ext cx="3400000" cy="240000"/>
          </a:xfrm>
          <a:prstGeom prst="rect">
            <a:avLst/>
          </a:prstGeom>
          <a:noFill/>
        </p:spPr>
        <p:txBody>
          <a:bodyPr wrap="square" lIns="0" tIns="0" rIns="0" bIns="0" anchor="t">
            <a:spAutoFit/>
          </a:bodyPr>
          <a:lstStyle/>
          <a:p>
            <a:pPr algn="l"/>
            <a:r>
              <a:rPr sz="1050" b="0" i="1">
                <a:solidFill>
                  <a:srgbClr val="8A8A8A"/>
                </a:solidFill>
                <a:latin typeface="Arial"/>
              </a:rPr>
              <a:t>= where the CPU resumes on return</a:t>
            </a:r>
          </a:p>
        </p:txBody>
      </p:sp>
      <p:sp>
        <p:nvSpPr>
          <p:cNvPr id="52" name="TextBox 51"/>
          <p:cNvSpPr txBox="1"/>
          <p:nvPr/>
        </p:nvSpPr>
        <p:spPr>
          <a:xfrm>
            <a:off x="4420000" y="4340000"/>
            <a:ext cx="3400000" cy="240000"/>
          </a:xfrm>
          <a:prstGeom prst="rect">
            <a:avLst/>
          </a:prstGeom>
          <a:noFill/>
        </p:spPr>
        <p:txBody>
          <a:bodyPr wrap="square" lIns="0" tIns="0" rIns="0" bIns="0" anchor="t">
            <a:spAutoFit/>
          </a:bodyPr>
          <a:lstStyle/>
          <a:p>
            <a:pPr algn="l"/>
            <a:r>
              <a:rPr sz="1050" b="0" i="1">
                <a:solidFill>
                  <a:srgbClr val="C0392B"/>
                </a:solidFill>
                <a:latin typeface="Arial"/>
              </a:rPr>
              <a:t>overflow of buf writes up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The Heap: malloc and free</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The heap holds dynamic allocations: a contiguous span of virtual memory that can grow</a:t>
            </a:r>
          </a:p>
          <a:p>
            <a:r>
              <a:rPr sz="2000" b="0" i="0">
                <a:solidFill>
                  <a:srgbClr val="202020"/>
                </a:solidFill>
                <a:latin typeface="Arial"/>
              </a:rPr>
              <a:t>Managed by hand, not LIFO: malloc and free, any size, lifetime, or order</a:t>
            </a:r>
          </a:p>
          <a:p>
            <a:r>
              <a:rPr sz="2000" b="0" i="0">
                <a:solidFill>
                  <a:srgbClr val="202020"/>
                </a:solidFill>
                <a:latin typeface="Arial"/>
              </a:rPr>
              <a:t>malloc carves a range for an object; free returns it for reuse; forget to free and it leaks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5</a:t>
            </a:fld>
            <a:endParaRPr/>
          </a:p>
        </p:txBody>
      </p:sp>
      <p:sp>
        <p:nvSpPr>
          <p:cNvPr id="42" name="Rectangle 41"/>
          <p:cNvSpPr/>
          <p:nvPr/>
        </p:nvSpPr>
        <p:spPr>
          <a:xfrm>
            <a:off x="900000" y="3450000"/>
            <a:ext cx="1500000" cy="36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A</a:t>
            </a:r>
          </a:p>
        </p:txBody>
      </p:sp>
      <p:sp>
        <p:nvSpPr>
          <p:cNvPr id="43" name="Rectangle 42"/>
          <p:cNvSpPr/>
          <p:nvPr/>
        </p:nvSpPr>
        <p:spPr>
          <a:xfrm>
            <a:off x="900000" y="3810000"/>
            <a:ext cx="1500000" cy="36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B</a:t>
            </a:r>
          </a:p>
        </p:txBody>
      </p:sp>
      <p:sp>
        <p:nvSpPr>
          <p:cNvPr id="44" name="Rectangle 43"/>
          <p:cNvSpPr/>
          <p:nvPr/>
        </p:nvSpPr>
        <p:spPr>
          <a:xfrm>
            <a:off x="900000" y="4170000"/>
            <a:ext cx="1500000" cy="36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C</a:t>
            </a:r>
          </a:p>
        </p:txBody>
      </p:sp>
      <p:sp>
        <p:nvSpPr>
          <p:cNvPr id="45" name="TextBox 44"/>
          <p:cNvSpPr txBox="1"/>
          <p:nvPr/>
        </p:nvSpPr>
        <p:spPr>
          <a:xfrm>
            <a:off x="900000" y="4560000"/>
            <a:ext cx="1500000" cy="240000"/>
          </a:xfrm>
          <a:prstGeom prst="rect">
            <a:avLst/>
          </a:prstGeom>
          <a:noFill/>
        </p:spPr>
        <p:txBody>
          <a:bodyPr wrap="square" lIns="0" tIns="0" rIns="0" bIns="0" anchor="t">
            <a:spAutoFit/>
          </a:bodyPr>
          <a:lstStyle/>
          <a:p>
            <a:pPr algn="ctr"/>
            <a:r>
              <a:rPr sz="950" b="0" i="1">
                <a:solidFill>
                  <a:srgbClr val="8A8A8A"/>
                </a:solidFill>
                <a:latin typeface="Arial"/>
              </a:rPr>
              <a:t>allocated</a:t>
            </a:r>
          </a:p>
        </p:txBody>
      </p:sp>
      <p:sp>
        <p:nvSpPr>
          <p:cNvPr id="46" name="Rectangle 45"/>
          <p:cNvSpPr/>
          <p:nvPr/>
        </p:nvSpPr>
        <p:spPr>
          <a:xfrm>
            <a:off x="2920000" y="3450000"/>
            <a:ext cx="1500000" cy="36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A</a:t>
            </a:r>
          </a:p>
        </p:txBody>
      </p:sp>
      <p:sp>
        <p:nvSpPr>
          <p:cNvPr id="47" name="Rectangle 46"/>
          <p:cNvSpPr/>
          <p:nvPr/>
        </p:nvSpPr>
        <p:spPr>
          <a:xfrm>
            <a:off x="2920000" y="3810000"/>
            <a:ext cx="1500000" cy="360000"/>
          </a:xfrm>
          <a:prstGeom prst="rect">
            <a:avLst/>
          </a:prstGeom>
          <a:solidFill>
            <a:srgbClr val="EFEFE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8A8A8A"/>
                </a:solidFill>
                <a:latin typeface="Arial"/>
              </a:rPr>
              <a:t>free</a:t>
            </a:r>
          </a:p>
        </p:txBody>
      </p:sp>
      <p:sp>
        <p:nvSpPr>
          <p:cNvPr id="48" name="Rectangle 47"/>
          <p:cNvSpPr/>
          <p:nvPr/>
        </p:nvSpPr>
        <p:spPr>
          <a:xfrm>
            <a:off x="2920000" y="4170000"/>
            <a:ext cx="1500000" cy="36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C</a:t>
            </a:r>
          </a:p>
        </p:txBody>
      </p:sp>
      <p:sp>
        <p:nvSpPr>
          <p:cNvPr id="49" name="TextBox 48"/>
          <p:cNvSpPr txBox="1"/>
          <p:nvPr/>
        </p:nvSpPr>
        <p:spPr>
          <a:xfrm>
            <a:off x="2920000" y="4560000"/>
            <a:ext cx="1500000" cy="240000"/>
          </a:xfrm>
          <a:prstGeom prst="rect">
            <a:avLst/>
          </a:prstGeom>
          <a:noFill/>
        </p:spPr>
        <p:txBody>
          <a:bodyPr wrap="square" lIns="0" tIns="0" rIns="0" bIns="0" anchor="t">
            <a:spAutoFit/>
          </a:bodyPr>
          <a:lstStyle/>
          <a:p>
            <a:pPr algn="ctr"/>
            <a:r>
              <a:rPr sz="950" b="0" i="1">
                <a:solidFill>
                  <a:srgbClr val="8A8A8A"/>
                </a:solidFill>
                <a:latin typeface="Arial"/>
              </a:rPr>
              <a:t>free(B)</a:t>
            </a:r>
          </a:p>
        </p:txBody>
      </p:sp>
      <p:sp>
        <p:nvSpPr>
          <p:cNvPr id="50" name="Rectangle 49"/>
          <p:cNvSpPr/>
          <p:nvPr/>
        </p:nvSpPr>
        <p:spPr>
          <a:xfrm>
            <a:off x="4940000" y="3450000"/>
            <a:ext cx="1500000" cy="36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A</a:t>
            </a:r>
          </a:p>
        </p:txBody>
      </p:sp>
      <p:sp>
        <p:nvSpPr>
          <p:cNvPr id="51" name="Rectangle 50"/>
          <p:cNvSpPr/>
          <p:nvPr/>
        </p:nvSpPr>
        <p:spPr>
          <a:xfrm>
            <a:off x="4940000" y="3810000"/>
            <a:ext cx="1500000" cy="360000"/>
          </a:xfrm>
          <a:prstGeom prst="rect">
            <a:avLst/>
          </a:prstGeom>
          <a:solidFill>
            <a:srgbClr val="E4793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D</a:t>
            </a:r>
          </a:p>
        </p:txBody>
      </p:sp>
      <p:sp>
        <p:nvSpPr>
          <p:cNvPr id="52" name="Rectangle 51"/>
          <p:cNvSpPr/>
          <p:nvPr/>
        </p:nvSpPr>
        <p:spPr>
          <a:xfrm>
            <a:off x="4940000" y="4170000"/>
            <a:ext cx="1500000" cy="36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C</a:t>
            </a:r>
          </a:p>
        </p:txBody>
      </p:sp>
      <p:sp>
        <p:nvSpPr>
          <p:cNvPr id="53" name="TextBox 52"/>
          <p:cNvSpPr txBox="1"/>
          <p:nvPr/>
        </p:nvSpPr>
        <p:spPr>
          <a:xfrm>
            <a:off x="4940000" y="4560000"/>
            <a:ext cx="1500000" cy="240000"/>
          </a:xfrm>
          <a:prstGeom prst="rect">
            <a:avLst/>
          </a:prstGeom>
          <a:noFill/>
        </p:spPr>
        <p:txBody>
          <a:bodyPr wrap="square" lIns="0" tIns="0" rIns="0" bIns="0" anchor="t">
            <a:spAutoFit/>
          </a:bodyPr>
          <a:lstStyle/>
          <a:p>
            <a:pPr algn="ctr"/>
            <a:r>
              <a:rPr sz="950" b="0" i="1">
                <a:solidFill>
                  <a:srgbClr val="8A8A8A"/>
                </a:solidFill>
                <a:latin typeface="Arial"/>
              </a:rPr>
              <a:t>reuse -&gt; Obj D</a:t>
            </a:r>
          </a:p>
        </p:txBody>
      </p:sp>
      <p:sp>
        <p:nvSpPr>
          <p:cNvPr id="54" name="Rectangle 53"/>
          <p:cNvSpPr/>
          <p:nvPr/>
        </p:nvSpPr>
        <p:spPr>
          <a:xfrm>
            <a:off x="6960000" y="3450000"/>
            <a:ext cx="1500000" cy="360000"/>
          </a:xfrm>
          <a:prstGeom prst="rect">
            <a:avLst/>
          </a:prstGeom>
          <a:solidFill>
            <a:srgbClr val="EFEFE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8A8A8A"/>
                </a:solidFill>
                <a:latin typeface="Arial"/>
              </a:rPr>
              <a:t>lost</a:t>
            </a:r>
          </a:p>
        </p:txBody>
      </p:sp>
      <p:sp>
        <p:nvSpPr>
          <p:cNvPr id="55" name="Rectangle 54"/>
          <p:cNvSpPr/>
          <p:nvPr/>
        </p:nvSpPr>
        <p:spPr>
          <a:xfrm>
            <a:off x="6960000" y="3810000"/>
            <a:ext cx="1500000" cy="360000"/>
          </a:xfrm>
          <a:prstGeom prst="rect">
            <a:avLst/>
          </a:prstGeom>
          <a:solidFill>
            <a:srgbClr val="E4793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D</a:t>
            </a:r>
          </a:p>
        </p:txBody>
      </p:sp>
      <p:sp>
        <p:nvSpPr>
          <p:cNvPr id="56" name="Rectangle 55"/>
          <p:cNvSpPr/>
          <p:nvPr/>
        </p:nvSpPr>
        <p:spPr>
          <a:xfrm>
            <a:off x="6960000" y="4170000"/>
            <a:ext cx="1500000" cy="360000"/>
          </a:xfrm>
          <a:prstGeom prst="rect">
            <a:avLst/>
          </a:prstGeom>
          <a:solidFill>
            <a:srgbClr val="EFEFE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8A8A8A"/>
                </a:solidFill>
                <a:latin typeface="Arial"/>
              </a:rPr>
              <a:t>lost</a:t>
            </a:r>
          </a:p>
        </p:txBody>
      </p:sp>
      <p:sp>
        <p:nvSpPr>
          <p:cNvPr id="57" name="TextBox 56"/>
          <p:cNvSpPr txBox="1"/>
          <p:nvPr/>
        </p:nvSpPr>
        <p:spPr>
          <a:xfrm>
            <a:off x="6960000" y="4560000"/>
            <a:ext cx="1500000" cy="240000"/>
          </a:xfrm>
          <a:prstGeom prst="rect">
            <a:avLst/>
          </a:prstGeom>
          <a:noFill/>
        </p:spPr>
        <p:txBody>
          <a:bodyPr wrap="square" lIns="0" tIns="0" rIns="0" bIns="0" anchor="t">
            <a:spAutoFit/>
          </a:bodyPr>
          <a:lstStyle/>
          <a:p>
            <a:pPr algn="ctr"/>
            <a:r>
              <a:rPr sz="950" b="0" i="1">
                <a:solidFill>
                  <a:srgbClr val="8A8A8A"/>
                </a:solidFill>
                <a:latin typeface="Arial"/>
              </a:rPr>
              <a:t>leak: A, C unreclaimed</a:t>
            </a:r>
          </a:p>
        </p:txBody>
      </p:sp>
      <p:sp>
        <p:nvSpPr>
          <p:cNvPr id="58" name="TextBox 57"/>
          <p:cNvSpPr txBox="1"/>
          <p:nvPr/>
        </p:nvSpPr>
        <p:spPr>
          <a:xfrm>
            <a:off x="250000" y="3440000"/>
            <a:ext cx="600000" cy="230000"/>
          </a:xfrm>
          <a:prstGeom prst="rect">
            <a:avLst/>
          </a:prstGeom>
          <a:noFill/>
        </p:spPr>
        <p:txBody>
          <a:bodyPr wrap="square" lIns="0" tIns="0" rIns="0" bIns="0" anchor="t">
            <a:spAutoFit/>
          </a:bodyPr>
          <a:lstStyle/>
          <a:p>
            <a:pPr algn="l"/>
            <a:r>
              <a:rPr sz="800" b="0" i="0">
                <a:solidFill>
                  <a:srgbClr val="8A8A8A"/>
                </a:solidFill>
                <a:latin typeface="Arial"/>
              </a:rPr>
              <a:t>heap low</a:t>
            </a:r>
          </a:p>
        </p:txBody>
      </p:sp>
      <p:sp>
        <p:nvSpPr>
          <p:cNvPr id="59" name="TextBox 58"/>
          <p:cNvSpPr txBox="1"/>
          <p:nvPr/>
        </p:nvSpPr>
        <p:spPr>
          <a:xfrm>
            <a:off x="250000" y="4330000"/>
            <a:ext cx="600000" cy="230000"/>
          </a:xfrm>
          <a:prstGeom prst="rect">
            <a:avLst/>
          </a:prstGeom>
          <a:noFill/>
        </p:spPr>
        <p:txBody>
          <a:bodyPr wrap="square" lIns="0" tIns="0" rIns="0" bIns="0" anchor="t">
            <a:spAutoFit/>
          </a:bodyPr>
          <a:lstStyle/>
          <a:p>
            <a:pPr algn="l"/>
            <a:r>
              <a:rPr sz="800" b="0" i="0">
                <a:solidFill>
                  <a:srgbClr val="8A8A8A"/>
                </a:solidFill>
                <a:latin typeface="Arial"/>
              </a:rPr>
              <a:t>heap high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par>
                                <p:cTn id="14" presetID="10" presetClass="entr" presetSubtype="0" fill="hold"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fade">
                                      <p:cBhvr>
                                        <p:cTn id="21" dur="500"/>
                                        <p:tgtEl>
                                          <p:spTgt spid="50"/>
                                        </p:tgtEl>
                                      </p:cBhvr>
                                    </p:animEffect>
                                  </p:childTnLst>
                                </p:cTn>
                              </p:par>
                              <p:par>
                                <p:cTn id="22" presetID="10" presetClass="entr" presetSubtype="0" fill="hold" nodeType="with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fade">
                                      <p:cBhvr>
                                        <p:cTn id="24" dur="500"/>
                                        <p:tgtEl>
                                          <p:spTgt spid="51"/>
                                        </p:tgtEl>
                                      </p:cBhvr>
                                    </p:animEffect>
                                  </p:childTnLst>
                                </p:cTn>
                              </p:par>
                              <p:par>
                                <p:cTn id="25" presetID="10"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500"/>
                                        <p:tgtEl>
                                          <p:spTgt spid="52"/>
                                        </p:tgtEl>
                                      </p:cBhvr>
                                    </p:animEffect>
                                  </p:childTnLst>
                                </p:cTn>
                              </p:par>
                              <p:par>
                                <p:cTn id="28" presetID="10" presetClass="entr" presetSubtype="0" fill="hold" nodeType="with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500"/>
                                        <p:tgtEl>
                                          <p:spTgt spid="54"/>
                                        </p:tgtEl>
                                      </p:cBhvr>
                                    </p:animEffect>
                                  </p:childTnLst>
                                </p:cTn>
                              </p:par>
                              <p:par>
                                <p:cTn id="36" presetID="10" presetClass="entr" presetSubtype="0" fill="hold" nodeType="with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fade">
                                      <p:cBhvr>
                                        <p:cTn id="38" dur="500"/>
                                        <p:tgtEl>
                                          <p:spTgt spid="55"/>
                                        </p:tgtEl>
                                      </p:cBhvr>
                                    </p:animEffect>
                                  </p:childTnLst>
                                </p:cTn>
                              </p:par>
                              <p:par>
                                <p:cTn id="39" presetID="10" presetClass="entr" presetSubtype="0" fill="hold" nodeType="with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fade">
                                      <p:cBhvr>
                                        <p:cTn id="41" dur="500"/>
                                        <p:tgtEl>
                                          <p:spTgt spid="56"/>
                                        </p:tgtEl>
                                      </p:cBhvr>
                                    </p:animEffect>
                                  </p:childTnLst>
                                </p:cTn>
                              </p:par>
                              <p:par>
                                <p:cTn id="42" presetID="10" presetClass="entr" presetSubtype="0" fill="hold" nodeType="with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Recall the Principle: an Overflow Hits Adjacent Data</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Lecture 5: an unchecked copy into a local buffer writes past it, into whatever shares the frame</a:t>
            </a:r>
          </a:p>
          <a:p>
            <a:r>
              <a:rPr sz="2000" b="0" i="0">
                <a:solidFill>
                  <a:srgbClr val="202020"/>
                </a:solidFill>
                <a:latin typeface="Arial"/>
              </a:rPr>
              <a:t>A fresh instance: an overflow of packet could set authenticated and bypass the check</a:t>
            </a:r>
          </a:p>
          <a:p>
            <a:r>
              <a:rPr sz="2000" b="0" i="0">
                <a:solidFill>
                  <a:srgbClr val="202020"/>
                </a:solidFill>
                <a:latin typeface="Arial"/>
              </a:rPr>
              <a:t>Today's question: what if that same buffer lives on the heap instead?</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6</a:t>
            </a:fld>
            <a:endParaRPr/>
          </a:p>
        </p:txBody>
      </p:sp>
      <p:sp>
        <p:nvSpPr>
          <p:cNvPr id="42" name="Rounded Rectangle 41"/>
          <p:cNvSpPr/>
          <p:nvPr/>
        </p:nvSpPr>
        <p:spPr>
          <a:xfrm>
            <a:off x="1554480" y="3585192"/>
            <a:ext cx="6200000" cy="1380000"/>
          </a:xfrm>
          <a:prstGeom prst="roundRect">
            <a:avLst>
              <a:gd name="adj" fmla="val 5000"/>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109728" tIns="68580" rIns="54864" bIns="68580" rtlCol="0" anchor="t"/>
          <a:lstStyle/>
          <a:p>
            <a:pPr>
              <a:lnSpc>
                <a:spcPct val="100000"/>
              </a:lnSpc>
              <a:spcBef>
                <a:spcPts val="0"/>
              </a:spcBef>
              <a:spcAft>
                <a:spcPts val="0"/>
              </a:spcAft>
            </a:pPr>
            <a:r>
              <a:rPr sz="1050" b="0" i="0" dirty="0">
                <a:solidFill>
                  <a:srgbClr val="4EC9B0"/>
                </a:solidFill>
                <a:latin typeface="Courier New"/>
              </a:rPr>
              <a:t>int</a:t>
            </a:r>
            <a:r>
              <a:rPr sz="1050" b="0" i="0" dirty="0">
                <a:solidFill>
                  <a:srgbClr val="D4D4D4"/>
                </a:solidFill>
                <a:latin typeface="Courier New"/>
              </a:rPr>
              <a:t> authenticated = </a:t>
            </a:r>
            <a:r>
              <a:rPr sz="1050" b="0" i="0" dirty="0">
                <a:solidFill>
                  <a:srgbClr val="B5CEA8"/>
                </a:solidFill>
                <a:latin typeface="Courier New"/>
              </a:rPr>
              <a:t>0</a:t>
            </a:r>
            <a:r>
              <a:rPr sz="1050" b="0" i="0" dirty="0">
                <a:solidFill>
                  <a:srgbClr val="D4D4D4"/>
                </a:solidFill>
                <a:latin typeface="Courier New"/>
              </a:rPr>
              <a:t>;</a:t>
            </a:r>
          </a:p>
          <a:p>
            <a:pPr>
              <a:lnSpc>
                <a:spcPct val="100000"/>
              </a:lnSpc>
              <a:spcBef>
                <a:spcPts val="0"/>
              </a:spcBef>
              <a:spcAft>
                <a:spcPts val="0"/>
              </a:spcAft>
            </a:pPr>
            <a:r>
              <a:rPr sz="1050" b="0" i="0" dirty="0">
                <a:solidFill>
                  <a:srgbClr val="4EC9B0"/>
                </a:solidFill>
                <a:latin typeface="Courier New"/>
              </a:rPr>
              <a:t>char</a:t>
            </a:r>
            <a:r>
              <a:rPr sz="1050" b="0" i="0" dirty="0">
                <a:solidFill>
                  <a:srgbClr val="D4D4D4"/>
                </a:solidFill>
                <a:latin typeface="Courier New"/>
              </a:rPr>
              <a:t> packet[</a:t>
            </a:r>
            <a:r>
              <a:rPr sz="1050" b="0" i="0" dirty="0">
                <a:solidFill>
                  <a:srgbClr val="B5CEA8"/>
                </a:solidFill>
                <a:latin typeface="Courier New"/>
              </a:rPr>
              <a:t>1000</a:t>
            </a:r>
            <a:r>
              <a:rPr sz="1050" b="0" i="0" dirty="0">
                <a:solidFill>
                  <a:srgbClr val="D4D4D4"/>
                </a:solidFill>
                <a:latin typeface="Courier New"/>
              </a:rPr>
              <a:t>];</a:t>
            </a:r>
          </a:p>
          <a:p>
            <a:pPr>
              <a:lnSpc>
                <a:spcPct val="100000"/>
              </a:lnSpc>
              <a:spcBef>
                <a:spcPts val="0"/>
              </a:spcBef>
              <a:spcAft>
                <a:spcPts val="0"/>
              </a:spcAft>
            </a:pPr>
            <a:r>
              <a:rPr sz="1050" b="0" i="0" dirty="0">
                <a:solidFill>
                  <a:srgbClr val="569CD6"/>
                </a:solidFill>
                <a:latin typeface="Courier New"/>
              </a:rPr>
              <a:t>while</a:t>
            </a:r>
            <a:r>
              <a:rPr sz="1050" b="0" i="0" dirty="0">
                <a:solidFill>
                  <a:srgbClr val="D4D4D4"/>
                </a:solidFill>
                <a:latin typeface="Courier New"/>
              </a:rPr>
              <a:t> (!authenticated) {</a:t>
            </a:r>
          </a:p>
          <a:p>
            <a:pPr>
              <a:lnSpc>
                <a:spcPct val="100000"/>
              </a:lnSpc>
              <a:spcBef>
                <a:spcPts val="0"/>
              </a:spcBef>
              <a:spcAft>
                <a:spcPts val="0"/>
              </a:spcAft>
            </a:pPr>
            <a:r>
              <a:rPr sz="1050" b="0" i="0" dirty="0">
                <a:solidFill>
                  <a:srgbClr val="D4D4D4"/>
                </a:solidFill>
                <a:latin typeface="Courier New"/>
              </a:rPr>
              <a:t>    </a:t>
            </a:r>
            <a:r>
              <a:rPr sz="1050" b="0" i="0" dirty="0" err="1">
                <a:solidFill>
                  <a:srgbClr val="D4D4D4"/>
                </a:solidFill>
                <a:latin typeface="Courier New"/>
              </a:rPr>
              <a:t>PacketRead</a:t>
            </a:r>
            <a:r>
              <a:rPr sz="1050" b="0" i="0" dirty="0">
                <a:solidFill>
                  <a:srgbClr val="D4D4D4"/>
                </a:solidFill>
                <a:latin typeface="Courier New"/>
              </a:rPr>
              <a:t>(packet);                 </a:t>
            </a:r>
            <a:r>
              <a:rPr sz="1050" b="0" i="0" dirty="0">
                <a:solidFill>
                  <a:srgbClr val="6A9955"/>
                </a:solidFill>
                <a:latin typeface="Courier New"/>
              </a:rPr>
              <a:t>// unchecked copy</a:t>
            </a:r>
          </a:p>
          <a:p>
            <a:pPr>
              <a:lnSpc>
                <a:spcPct val="100000"/>
              </a:lnSpc>
              <a:spcBef>
                <a:spcPts val="0"/>
              </a:spcBef>
              <a:spcAft>
                <a:spcPts val="0"/>
              </a:spcAft>
            </a:pPr>
            <a:r>
              <a:rPr sz="1050" b="0" i="0" dirty="0">
                <a:solidFill>
                  <a:srgbClr val="D4D4D4"/>
                </a:solidFill>
                <a:latin typeface="Courier New"/>
              </a:rPr>
              <a:t>    </a:t>
            </a:r>
            <a:r>
              <a:rPr sz="1050" b="0" i="0" dirty="0">
                <a:solidFill>
                  <a:srgbClr val="569CD6"/>
                </a:solidFill>
                <a:latin typeface="Courier New"/>
              </a:rPr>
              <a:t>if</a:t>
            </a:r>
            <a:r>
              <a:rPr sz="1050" b="0" i="0" dirty="0">
                <a:solidFill>
                  <a:srgbClr val="D4D4D4"/>
                </a:solidFill>
                <a:latin typeface="Courier New"/>
              </a:rPr>
              <a:t> (Authenticate(packet)) authenticated = </a:t>
            </a:r>
            <a:r>
              <a:rPr sz="1050" b="0" i="0" dirty="0">
                <a:solidFill>
                  <a:srgbClr val="B5CEA8"/>
                </a:solidFill>
                <a:latin typeface="Courier New"/>
              </a:rPr>
              <a:t>1</a:t>
            </a:r>
            <a:r>
              <a:rPr sz="1050" b="0" i="0" dirty="0">
                <a:solidFill>
                  <a:srgbClr val="D4D4D4"/>
                </a:solidFill>
                <a:latin typeface="Courier New"/>
              </a:rPr>
              <a:t>;</a:t>
            </a:r>
          </a:p>
          <a:p>
            <a:pPr>
              <a:lnSpc>
                <a:spcPct val="100000"/>
              </a:lnSpc>
              <a:spcBef>
                <a:spcPts val="0"/>
              </a:spcBef>
              <a:spcAft>
                <a:spcPts val="0"/>
              </a:spcAft>
            </a:pPr>
            <a:r>
              <a:rPr sz="1050" b="0" i="0" dirty="0">
                <a:solidFill>
                  <a:srgbClr val="D4D4D4"/>
                </a:solidFill>
                <a:latin typeface="Courier New"/>
              </a:rPr>
              <a:t>}</a:t>
            </a:r>
          </a:p>
          <a:p>
            <a:pPr>
              <a:lnSpc>
                <a:spcPct val="100000"/>
              </a:lnSpc>
              <a:spcBef>
                <a:spcPts val="0"/>
              </a:spcBef>
              <a:spcAft>
                <a:spcPts val="0"/>
              </a:spcAft>
            </a:pPr>
            <a:r>
              <a:rPr sz="1050" b="0" i="0" dirty="0">
                <a:solidFill>
                  <a:srgbClr val="569CD6"/>
                </a:solidFill>
                <a:latin typeface="Courier New"/>
              </a:rPr>
              <a:t>if</a:t>
            </a:r>
            <a:r>
              <a:rPr sz="1050" b="0" i="0" dirty="0">
                <a:solidFill>
                  <a:srgbClr val="D4D4D4"/>
                </a:solidFill>
                <a:latin typeface="Courier New"/>
              </a:rPr>
              <a:t> (authenticated) </a:t>
            </a:r>
            <a:r>
              <a:rPr sz="1050" b="0" i="0" dirty="0" err="1">
                <a:solidFill>
                  <a:srgbClr val="D4D4D4"/>
                </a:solidFill>
                <a:latin typeface="Courier New"/>
              </a:rPr>
              <a:t>ProcessPacket</a:t>
            </a:r>
            <a:r>
              <a:rPr sz="1050" b="0" i="0" dirty="0">
                <a:solidFill>
                  <a:srgbClr val="D4D4D4"/>
                </a:solidFill>
                <a:latin typeface="Courier New"/>
              </a:rPr>
              <a:t>(packet);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The Same Bug on the Heap</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Put packet on the heap (</a:t>
            </a:r>
            <a:r>
              <a:rPr sz="2000" b="0" i="0">
                <a:solidFill>
                  <a:srgbClr val="202020"/>
                </a:solidFill>
                <a:latin typeface="Courier New"/>
              </a:rPr>
              <a:t>malloc</a:t>
            </a:r>
            <a:r>
              <a:rPr sz="2000" b="0" i="0">
                <a:solidFill>
                  <a:srgbClr val="202020"/>
                </a:solidFill>
                <a:latin typeface="Arial"/>
              </a:rPr>
              <a:t>) and it is the very same overflow bug</a:t>
            </a:r>
          </a:p>
          <a:p>
            <a:r>
              <a:rPr sz="2000" b="0" i="0">
                <a:solidFill>
                  <a:srgbClr val="202020"/>
                </a:solidFill>
                <a:latin typeface="Arial"/>
              </a:rPr>
              <a:t>The victim differs depending on where buf lives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7</a:t>
            </a:fld>
            <a:endParaRPr/>
          </a:p>
        </p:txBody>
      </p:sp>
      <p:sp>
        <p:nvSpPr>
          <p:cNvPr id="42" name="TextBox 41"/>
          <p:cNvSpPr txBox="1"/>
          <p:nvPr/>
        </p:nvSpPr>
        <p:spPr>
          <a:xfrm>
            <a:off x="900000" y="2710000"/>
            <a:ext cx="2700000" cy="300000"/>
          </a:xfrm>
          <a:prstGeom prst="rect">
            <a:avLst/>
          </a:prstGeom>
          <a:noFill/>
        </p:spPr>
        <p:txBody>
          <a:bodyPr wrap="square" lIns="0" tIns="0" rIns="0" bIns="0" anchor="t">
            <a:spAutoFit/>
          </a:bodyPr>
          <a:lstStyle/>
          <a:p>
            <a:pPr algn="ctr"/>
            <a:r>
              <a:rPr sz="1450" b="1" i="0">
                <a:solidFill>
                  <a:srgbClr val="94B6D2"/>
                </a:solidFill>
                <a:latin typeface="Arial"/>
              </a:rPr>
              <a:t>Buffer on the STACK</a:t>
            </a:r>
          </a:p>
        </p:txBody>
      </p:sp>
      <p:sp>
        <p:nvSpPr>
          <p:cNvPr id="43" name="Rectangle 42"/>
          <p:cNvSpPr/>
          <p:nvPr/>
        </p:nvSpPr>
        <p:spPr>
          <a:xfrm>
            <a:off x="900000" y="3060000"/>
            <a:ext cx="2700000" cy="400000"/>
          </a:xfrm>
          <a:prstGeom prst="rect">
            <a:avLst/>
          </a:prstGeom>
          <a:solidFill>
            <a:srgbClr val="94B6D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202020"/>
                </a:solidFill>
                <a:latin typeface="Arial"/>
              </a:rPr>
              <a:t>char buf</a:t>
            </a:r>
          </a:p>
        </p:txBody>
      </p:sp>
      <p:sp>
        <p:nvSpPr>
          <p:cNvPr id="44" name="Rectangle 43"/>
          <p:cNvSpPr/>
          <p:nvPr/>
        </p:nvSpPr>
        <p:spPr>
          <a:xfrm>
            <a:off x="900000" y="3480000"/>
            <a:ext cx="2700000" cy="420000"/>
          </a:xfrm>
          <a:prstGeom prst="rect">
            <a:avLst/>
          </a:prstGeom>
          <a:solidFill>
            <a:srgbClr val="F6D8C4"/>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i="0">
                <a:solidFill>
                  <a:srgbClr val="202020"/>
                </a:solidFill>
                <a:latin typeface="Arial"/>
              </a:rPr>
              <a:t>saved return addr / auth flag</a:t>
            </a:r>
          </a:p>
        </p:txBody>
      </p:sp>
      <p:cxnSp>
        <p:nvCxnSpPr>
          <p:cNvPr id="45" name="Connector 44"/>
          <p:cNvCxnSpPr/>
          <p:nvPr/>
        </p:nvCxnSpPr>
        <p:spPr>
          <a:xfrm>
            <a:off x="2250000" y="3400000"/>
            <a:ext cx="0" cy="310000"/>
          </a:xfrm>
          <a:prstGeom prst="bentConnector3">
            <a:avLst/>
          </a:prstGeom>
          <a:ln w="381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00000" y="3980000"/>
            <a:ext cx="2700000" cy="300000"/>
          </a:xfrm>
          <a:prstGeom prst="rect">
            <a:avLst/>
          </a:prstGeom>
          <a:noFill/>
        </p:spPr>
        <p:txBody>
          <a:bodyPr wrap="square" lIns="0" tIns="0" rIns="0" bIns="0" anchor="t">
            <a:spAutoFit/>
          </a:bodyPr>
          <a:lstStyle/>
          <a:p>
            <a:pPr algn="ctr"/>
            <a:r>
              <a:rPr sz="1050" b="0" i="1">
                <a:solidFill>
                  <a:srgbClr val="8A8A8A"/>
                </a:solidFill>
                <a:latin typeface="Arial"/>
              </a:rPr>
              <a:t>-&gt; hijack control, bypass check</a:t>
            </a:r>
          </a:p>
        </p:txBody>
      </p:sp>
      <p:sp>
        <p:nvSpPr>
          <p:cNvPr id="47" name="TextBox 46"/>
          <p:cNvSpPr txBox="1"/>
          <p:nvPr/>
        </p:nvSpPr>
        <p:spPr>
          <a:xfrm>
            <a:off x="5500000" y="2710000"/>
            <a:ext cx="2700000" cy="300000"/>
          </a:xfrm>
          <a:prstGeom prst="rect">
            <a:avLst/>
          </a:prstGeom>
          <a:noFill/>
        </p:spPr>
        <p:txBody>
          <a:bodyPr wrap="square" lIns="0" tIns="0" rIns="0" bIns="0" anchor="t">
            <a:spAutoFit/>
          </a:bodyPr>
          <a:lstStyle/>
          <a:p>
            <a:pPr algn="ctr"/>
            <a:r>
              <a:rPr sz="1450" b="1" i="0">
                <a:solidFill>
                  <a:srgbClr val="E47932"/>
                </a:solidFill>
                <a:latin typeface="Arial"/>
              </a:rPr>
              <a:t>Buffer on the HEAP</a:t>
            </a:r>
          </a:p>
        </p:txBody>
      </p:sp>
      <p:sp>
        <p:nvSpPr>
          <p:cNvPr id="48" name="Rectangle 47"/>
          <p:cNvSpPr/>
          <p:nvPr/>
        </p:nvSpPr>
        <p:spPr>
          <a:xfrm>
            <a:off x="5500000" y="3060000"/>
            <a:ext cx="2700000" cy="400000"/>
          </a:xfrm>
          <a:prstGeom prst="rect">
            <a:avLst/>
          </a:prstGeom>
          <a:solidFill>
            <a:srgbClr val="94B6D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202020"/>
                </a:solidFill>
                <a:latin typeface="Arial"/>
              </a:rPr>
              <a:t>char buf</a:t>
            </a:r>
          </a:p>
        </p:txBody>
      </p:sp>
      <p:sp>
        <p:nvSpPr>
          <p:cNvPr id="49" name="Rectangle 48"/>
          <p:cNvSpPr/>
          <p:nvPr/>
        </p:nvSpPr>
        <p:spPr>
          <a:xfrm>
            <a:off x="5500000" y="3480000"/>
            <a:ext cx="2700000" cy="420000"/>
          </a:xfrm>
          <a:prstGeom prst="rect">
            <a:avLst/>
          </a:prstGeom>
          <a:solidFill>
            <a:srgbClr val="C9B88A"/>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0" i="0">
                <a:solidFill>
                  <a:srgbClr val="202020"/>
                </a:solidFill>
                <a:latin typeface="Arial"/>
              </a:rPr>
              <a:t>neighbor object / metadata</a:t>
            </a:r>
          </a:p>
        </p:txBody>
      </p:sp>
      <p:cxnSp>
        <p:nvCxnSpPr>
          <p:cNvPr id="50" name="Connector 49"/>
          <p:cNvCxnSpPr/>
          <p:nvPr/>
        </p:nvCxnSpPr>
        <p:spPr>
          <a:xfrm>
            <a:off x="6850000" y="3400000"/>
            <a:ext cx="0" cy="310000"/>
          </a:xfrm>
          <a:prstGeom prst="bentConnector3">
            <a:avLst/>
          </a:prstGeom>
          <a:ln w="381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500000" y="3980000"/>
            <a:ext cx="2700000" cy="300000"/>
          </a:xfrm>
          <a:prstGeom prst="rect">
            <a:avLst/>
          </a:prstGeom>
          <a:noFill/>
        </p:spPr>
        <p:txBody>
          <a:bodyPr wrap="square" lIns="0" tIns="0" rIns="0" bIns="0" anchor="t">
            <a:spAutoFit/>
          </a:bodyPr>
          <a:lstStyle/>
          <a:p>
            <a:pPr algn="ctr"/>
            <a:r>
              <a:rPr sz="1050" b="0" i="1">
                <a:solidFill>
                  <a:srgbClr val="8A8A8A"/>
                </a:solidFill>
                <a:latin typeface="Arial"/>
              </a:rPr>
              <a:t>-&gt; corrupt neighbor or metadata</a:t>
            </a:r>
          </a:p>
        </p:txBody>
      </p:sp>
      <p:sp>
        <p:nvSpPr>
          <p:cNvPr id="52" name="TextBox 51"/>
          <p:cNvSpPr txBox="1"/>
          <p:nvPr/>
        </p:nvSpPr>
        <p:spPr>
          <a:xfrm>
            <a:off x="548640" y="4500000"/>
            <a:ext cx="8046720" cy="320000"/>
          </a:xfrm>
          <a:prstGeom prst="rect">
            <a:avLst/>
          </a:prstGeom>
          <a:noFill/>
        </p:spPr>
        <p:txBody>
          <a:bodyPr wrap="square" lIns="0" tIns="0" rIns="0" bIns="0" anchor="t">
            <a:spAutoFit/>
          </a:bodyPr>
          <a:lstStyle/>
          <a:p>
            <a:pPr algn="ctr"/>
            <a:r>
              <a:rPr sz="1250" b="1" i="1">
                <a:solidFill>
                  <a:srgbClr val="202020"/>
                </a:solidFill>
                <a:latin typeface="Arial"/>
              </a:rPr>
              <a:t>Same overflow, different victim: only where the buffer lives changed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Heap Layout: Objects Plus Metadata</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The real layout depends on the allocator; this picture is idealized</a:t>
            </a:r>
          </a:p>
          <a:p>
            <a:r>
              <a:rPr sz="2000" b="0" i="0">
                <a:solidFill>
                  <a:srgbClr val="202020"/>
                </a:solidFill>
                <a:latin typeface="Arial"/>
              </a:rPr>
              <a:t>Most allocators store metadata alongside objects to manage the heap</a:t>
            </a:r>
          </a:p>
          <a:p>
            <a:r>
              <a:rPr sz="2000" b="0" i="0">
                <a:solidFill>
                  <a:srgbClr val="202020"/>
                </a:solidFill>
                <a:latin typeface="Arial"/>
              </a:rPr>
              <a:t>Metadata between chunks records bookkeeping: sizes and status (for example an in-use bit)</a:t>
            </a:r>
          </a:p>
          <a:p>
            <a:r>
              <a:rPr sz="2000" b="0" i="0">
                <a:solidFill>
                  <a:srgbClr val="202020"/>
                </a:solidFill>
                <a:latin typeface="Arial"/>
              </a:rPr>
              <a:t>That bookkeeping is exactly what a heap overflow can reach next</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8</a:t>
            </a:fld>
            <a:endParaRPr/>
          </a:p>
        </p:txBody>
      </p:sp>
      <p:sp>
        <p:nvSpPr>
          <p:cNvPr id="42" name="Rectangle 41"/>
          <p:cNvSpPr/>
          <p:nvPr/>
        </p:nvSpPr>
        <p:spPr>
          <a:xfrm>
            <a:off x="3900000" y="3480000"/>
            <a:ext cx="2300000" cy="28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A</a:t>
            </a:r>
          </a:p>
        </p:txBody>
      </p:sp>
      <p:sp>
        <p:nvSpPr>
          <p:cNvPr id="43" name="Rectangle 42"/>
          <p:cNvSpPr/>
          <p:nvPr/>
        </p:nvSpPr>
        <p:spPr>
          <a:xfrm>
            <a:off x="3900000" y="3760000"/>
            <a:ext cx="2300000" cy="200000"/>
          </a:xfrm>
          <a:prstGeom prst="rect">
            <a:avLst/>
          </a:prstGeom>
          <a:solidFill>
            <a:srgbClr val="C9B88A"/>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C0392B"/>
                </a:solidFill>
                <a:latin typeface="Arial"/>
              </a:rPr>
              <a:t>metadata</a:t>
            </a:r>
          </a:p>
        </p:txBody>
      </p:sp>
      <p:sp>
        <p:nvSpPr>
          <p:cNvPr id="44" name="Rectangle 43"/>
          <p:cNvSpPr/>
          <p:nvPr/>
        </p:nvSpPr>
        <p:spPr>
          <a:xfrm>
            <a:off x="3900000" y="3960000"/>
            <a:ext cx="2300000" cy="28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C</a:t>
            </a:r>
          </a:p>
        </p:txBody>
      </p:sp>
      <p:sp>
        <p:nvSpPr>
          <p:cNvPr id="45" name="Rectangle 44"/>
          <p:cNvSpPr/>
          <p:nvPr/>
        </p:nvSpPr>
        <p:spPr>
          <a:xfrm>
            <a:off x="3900000" y="4240000"/>
            <a:ext cx="2300000" cy="200000"/>
          </a:xfrm>
          <a:prstGeom prst="rect">
            <a:avLst/>
          </a:prstGeom>
          <a:solidFill>
            <a:srgbClr val="C9B88A"/>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C0392B"/>
                </a:solidFill>
                <a:latin typeface="Arial"/>
              </a:rPr>
              <a:t>metadata</a:t>
            </a:r>
          </a:p>
        </p:txBody>
      </p:sp>
      <p:sp>
        <p:nvSpPr>
          <p:cNvPr id="46" name="Rectangle 45"/>
          <p:cNvSpPr/>
          <p:nvPr/>
        </p:nvSpPr>
        <p:spPr>
          <a:xfrm>
            <a:off x="3900000" y="4440000"/>
            <a:ext cx="2300000" cy="28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D</a:t>
            </a:r>
          </a:p>
        </p:txBody>
      </p:sp>
      <p:sp>
        <p:nvSpPr>
          <p:cNvPr id="47" name="TextBox 46"/>
          <p:cNvSpPr txBox="1"/>
          <p:nvPr/>
        </p:nvSpPr>
        <p:spPr>
          <a:xfrm>
            <a:off x="6290000" y="3760000"/>
            <a:ext cx="2300000" cy="230000"/>
          </a:xfrm>
          <a:prstGeom prst="rect">
            <a:avLst/>
          </a:prstGeom>
          <a:noFill/>
        </p:spPr>
        <p:txBody>
          <a:bodyPr wrap="square" lIns="0" tIns="0" rIns="0" bIns="0" anchor="ctr">
            <a:spAutoFit/>
          </a:bodyPr>
          <a:lstStyle/>
          <a:p>
            <a:pPr algn="l"/>
            <a:r>
              <a:rPr sz="1000" b="0" i="1">
                <a:solidFill>
                  <a:srgbClr val="C0392B"/>
                </a:solidFill>
                <a:latin typeface="Arial"/>
              </a:rPr>
              <a:t>size, status, in-use bit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i="0">
                <a:solidFill>
                  <a:srgbClr val="202020"/>
                </a:solidFill>
                <a:latin typeface="Arial"/>
              </a:rPr>
              <a:t>Attack 1: Corrupting Allocator Metadata</a:t>
            </a:r>
          </a:p>
        </p:txBody>
      </p:sp>
      <p:sp>
        <p:nvSpPr>
          <p:cNvPr id="3" name="Text Placeholder 2"/>
          <p:cNvSpPr>
            <a:spLocks noGrp="1"/>
          </p:cNvSpPr>
          <p:nvPr>
            <p:ph type="body" idx="1"/>
          </p:nvPr>
        </p:nvSpPr>
        <p:spPr/>
        <p:txBody>
          <a:bodyPr/>
          <a:lstStyle/>
          <a:p>
            <a:r>
              <a:rPr sz="1800" b="1" i="0">
                <a:solidFill>
                  <a:srgbClr val="E47932"/>
                </a:solidFill>
                <a:latin typeface="Arial"/>
              </a:rPr>
              <a:t>Overflow one chunk to rewrite the bookkeeping the allocator trusts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Chunks in a Doubly-Linked List</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Many allocators track chunks in a doubly-linked list of allocated and free chunks</a:t>
            </a:r>
          </a:p>
          <a:p>
            <a:r>
              <a:rPr sz="2000" b="0" i="0">
                <a:solidFill>
                  <a:srgbClr val="202020"/>
                </a:solidFill>
                <a:latin typeface="Arial"/>
              </a:rPr>
              <a:t>Each chunk stores a forward pointer (fd, next) and a back pointer (bk, previous)</a:t>
            </a:r>
          </a:p>
          <a:p>
            <a:r>
              <a:rPr sz="2000" b="0" i="0">
                <a:solidFill>
                  <a:srgbClr val="202020"/>
                </a:solidFill>
                <a:latin typeface="Arial"/>
              </a:rPr>
              <a:t>For Chunk 2: fd holds the address of Chunk 3, bk holds the address of Chunk 1</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10</a:t>
            </a:fld>
            <a:endParaRPr/>
          </a:p>
        </p:txBody>
      </p:sp>
      <p:sp>
        <p:nvSpPr>
          <p:cNvPr id="42" name="Rectangle 41"/>
          <p:cNvSpPr/>
          <p:nvPr/>
        </p:nvSpPr>
        <p:spPr>
          <a:xfrm>
            <a:off x="900000" y="3520000"/>
            <a:ext cx="2300000" cy="78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0000" y="3560000"/>
            <a:ext cx="2300000" cy="240000"/>
          </a:xfrm>
          <a:prstGeom prst="rect">
            <a:avLst/>
          </a:prstGeom>
          <a:noFill/>
        </p:spPr>
        <p:txBody>
          <a:bodyPr wrap="square" lIns="0" tIns="0" rIns="0" bIns="0" anchor="t">
            <a:spAutoFit/>
          </a:bodyPr>
          <a:lstStyle/>
          <a:p>
            <a:pPr algn="ctr"/>
            <a:r>
              <a:rPr sz="1200" b="1" i="0">
                <a:solidFill>
                  <a:srgbClr val="202020"/>
                </a:solidFill>
                <a:latin typeface="Arial"/>
              </a:rPr>
              <a:t>Chunk 1</a:t>
            </a:r>
          </a:p>
        </p:txBody>
      </p:sp>
      <p:sp>
        <p:nvSpPr>
          <p:cNvPr id="44" name="Rectangle 43"/>
          <p:cNvSpPr/>
          <p:nvPr/>
        </p:nvSpPr>
        <p:spPr>
          <a:xfrm>
            <a:off x="1020000" y="3850000"/>
            <a:ext cx="980000" cy="300000"/>
          </a:xfrm>
          <a:prstGeom prst="rect">
            <a:avLst/>
          </a:prstGeom>
          <a:solidFill>
            <a:srgbClr val="FFFFF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fd</a:t>
            </a:r>
          </a:p>
        </p:txBody>
      </p:sp>
      <p:sp>
        <p:nvSpPr>
          <p:cNvPr id="45" name="Rectangle 44"/>
          <p:cNvSpPr/>
          <p:nvPr/>
        </p:nvSpPr>
        <p:spPr>
          <a:xfrm>
            <a:off x="2100000" y="3850000"/>
            <a:ext cx="980000" cy="300000"/>
          </a:xfrm>
          <a:prstGeom prst="rect">
            <a:avLst/>
          </a:prstGeom>
          <a:solidFill>
            <a:srgbClr val="FFFFF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bk</a:t>
            </a:r>
          </a:p>
        </p:txBody>
      </p:sp>
      <p:sp>
        <p:nvSpPr>
          <p:cNvPr id="46" name="Rectangle 45"/>
          <p:cNvSpPr/>
          <p:nvPr/>
        </p:nvSpPr>
        <p:spPr>
          <a:xfrm>
            <a:off x="3760000" y="3520000"/>
            <a:ext cx="2300000" cy="78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760000" y="3560000"/>
            <a:ext cx="2300000" cy="240000"/>
          </a:xfrm>
          <a:prstGeom prst="rect">
            <a:avLst/>
          </a:prstGeom>
          <a:noFill/>
        </p:spPr>
        <p:txBody>
          <a:bodyPr wrap="square" lIns="0" tIns="0" rIns="0" bIns="0" anchor="t">
            <a:spAutoFit/>
          </a:bodyPr>
          <a:lstStyle/>
          <a:p>
            <a:pPr algn="ctr"/>
            <a:r>
              <a:rPr sz="1200" b="1" i="0">
                <a:solidFill>
                  <a:srgbClr val="202020"/>
                </a:solidFill>
                <a:latin typeface="Arial"/>
              </a:rPr>
              <a:t>Chunk 2</a:t>
            </a:r>
          </a:p>
        </p:txBody>
      </p:sp>
      <p:sp>
        <p:nvSpPr>
          <p:cNvPr id="48" name="Rectangle 47"/>
          <p:cNvSpPr/>
          <p:nvPr/>
        </p:nvSpPr>
        <p:spPr>
          <a:xfrm>
            <a:off x="3880000" y="3850000"/>
            <a:ext cx="980000" cy="300000"/>
          </a:xfrm>
          <a:prstGeom prst="rect">
            <a:avLst/>
          </a:prstGeom>
          <a:solidFill>
            <a:srgbClr val="FFFFF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fd</a:t>
            </a:r>
          </a:p>
        </p:txBody>
      </p:sp>
      <p:sp>
        <p:nvSpPr>
          <p:cNvPr id="49" name="Rectangle 48"/>
          <p:cNvSpPr/>
          <p:nvPr/>
        </p:nvSpPr>
        <p:spPr>
          <a:xfrm>
            <a:off x="4960000" y="3850000"/>
            <a:ext cx="980000" cy="300000"/>
          </a:xfrm>
          <a:prstGeom prst="rect">
            <a:avLst/>
          </a:prstGeom>
          <a:solidFill>
            <a:srgbClr val="FFFFF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bk</a:t>
            </a:r>
          </a:p>
        </p:txBody>
      </p:sp>
      <p:sp>
        <p:nvSpPr>
          <p:cNvPr id="50" name="Rectangle 49"/>
          <p:cNvSpPr/>
          <p:nvPr/>
        </p:nvSpPr>
        <p:spPr>
          <a:xfrm>
            <a:off x="6620000" y="3520000"/>
            <a:ext cx="2300000" cy="78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620000" y="3560000"/>
            <a:ext cx="2300000" cy="240000"/>
          </a:xfrm>
          <a:prstGeom prst="rect">
            <a:avLst/>
          </a:prstGeom>
          <a:noFill/>
        </p:spPr>
        <p:txBody>
          <a:bodyPr wrap="square" lIns="0" tIns="0" rIns="0" bIns="0" anchor="t">
            <a:spAutoFit/>
          </a:bodyPr>
          <a:lstStyle/>
          <a:p>
            <a:pPr algn="ctr"/>
            <a:r>
              <a:rPr sz="1200" b="1" i="0">
                <a:solidFill>
                  <a:srgbClr val="202020"/>
                </a:solidFill>
                <a:latin typeface="Arial"/>
              </a:rPr>
              <a:t>Chunk 3</a:t>
            </a:r>
          </a:p>
        </p:txBody>
      </p:sp>
      <p:sp>
        <p:nvSpPr>
          <p:cNvPr id="52" name="Rectangle 51"/>
          <p:cNvSpPr/>
          <p:nvPr/>
        </p:nvSpPr>
        <p:spPr>
          <a:xfrm>
            <a:off x="6740000" y="3850000"/>
            <a:ext cx="980000" cy="300000"/>
          </a:xfrm>
          <a:prstGeom prst="rect">
            <a:avLst/>
          </a:prstGeom>
          <a:solidFill>
            <a:srgbClr val="FFFFF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fd</a:t>
            </a:r>
          </a:p>
        </p:txBody>
      </p:sp>
      <p:sp>
        <p:nvSpPr>
          <p:cNvPr id="53" name="Rectangle 52"/>
          <p:cNvSpPr/>
          <p:nvPr/>
        </p:nvSpPr>
        <p:spPr>
          <a:xfrm>
            <a:off x="7820000" y="3850000"/>
            <a:ext cx="980000" cy="300000"/>
          </a:xfrm>
          <a:prstGeom prst="rect">
            <a:avLst/>
          </a:prstGeom>
          <a:solidFill>
            <a:srgbClr val="FFFFF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bk</a:t>
            </a:r>
          </a:p>
        </p:txBody>
      </p:sp>
      <p:cxnSp>
        <p:nvCxnSpPr>
          <p:cNvPr id="54" name="Connector 53"/>
          <p:cNvCxnSpPr/>
          <p:nvPr/>
        </p:nvCxnSpPr>
        <p:spPr>
          <a:xfrm>
            <a:off x="4160000" y="4000000"/>
            <a:ext cx="2860000" cy="0"/>
          </a:xfrm>
          <a:prstGeom prst="bentConnector3">
            <a:avLst/>
          </a:prstGeom>
          <a:ln w="25400">
            <a:solidFill>
              <a:srgbClr val="94B6D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2600000" y="4140000"/>
            <a:ext cx="2860000" cy="0"/>
          </a:xfrm>
          <a:prstGeom prst="bentConnector3">
            <a:avLst/>
          </a:prstGeom>
          <a:ln w="25400">
            <a:solidFill>
              <a:srgbClr val="E4793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900000" y="4360000"/>
            <a:ext cx="6500000" cy="240000"/>
          </a:xfrm>
          <a:prstGeom prst="rect">
            <a:avLst/>
          </a:prstGeom>
          <a:noFill/>
        </p:spPr>
        <p:txBody>
          <a:bodyPr wrap="square" lIns="0" tIns="0" rIns="0" bIns="0" anchor="t">
            <a:spAutoFit/>
          </a:bodyPr>
          <a:lstStyle/>
          <a:p>
            <a:pPr algn="l"/>
            <a:r>
              <a:rPr sz="1000" b="0" i="1">
                <a:solidFill>
                  <a:srgbClr val="8A8A8A"/>
                </a:solidFill>
                <a:latin typeface="Arial"/>
              </a:rPr>
              <a:t>fd points to the next chunk, bk to the previous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Unlinking a Chunk on free()</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To remove Chunk 2, the allocator splices it out of the list</a:t>
            </a:r>
          </a:p>
          <a:p>
            <a:r>
              <a:rPr sz="2000" b="0" i="0">
                <a:solidFill>
                  <a:srgbClr val="202020"/>
                </a:solidFill>
                <a:latin typeface="Arial"/>
              </a:rPr>
              <a:t>Point the back chunk's fd at Chunk 2's fd, and the forward chunk's bk at Chunk 2's bk</a:t>
            </a:r>
          </a:p>
          <a:p>
            <a:r>
              <a:rPr sz="2000" b="0" i="0">
                <a:solidFill>
                  <a:srgbClr val="202020"/>
                </a:solidFill>
                <a:latin typeface="Arial"/>
              </a:rPr>
              <a:t>Result: Chunk 1 and Chunk 3 now link directly to each other</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11</a:t>
            </a:fld>
            <a:endParaRPr/>
          </a:p>
        </p:txBody>
      </p:sp>
      <p:sp>
        <p:nvSpPr>
          <p:cNvPr id="42" name="Rounded Rectangle 41"/>
          <p:cNvSpPr/>
          <p:nvPr/>
        </p:nvSpPr>
        <p:spPr>
          <a:xfrm>
            <a:off x="548640" y="3100000"/>
            <a:ext cx="6200000" cy="620000"/>
          </a:xfrm>
          <a:prstGeom prst="roundRect">
            <a:avLst>
              <a:gd name="adj" fmla="val 5000"/>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109728" tIns="68580" rIns="54864" bIns="68580" rtlCol="0" anchor="t"/>
          <a:lstStyle/>
          <a:p>
            <a:pPr>
              <a:lnSpc>
                <a:spcPct val="100000"/>
              </a:lnSpc>
              <a:spcBef>
                <a:spcPts val="0"/>
              </a:spcBef>
              <a:spcAft>
                <a:spcPts val="0"/>
              </a:spcAft>
            </a:pPr>
            <a:r>
              <a:rPr sz="1050" b="0" i="0" dirty="0">
                <a:solidFill>
                  <a:srgbClr val="D4D4D4"/>
                </a:solidFill>
                <a:latin typeface="Courier New"/>
              </a:rPr>
              <a:t>Chunk2-&gt;bk-&gt;</a:t>
            </a:r>
            <a:r>
              <a:rPr sz="1050" b="0" i="0" dirty="0" err="1">
                <a:solidFill>
                  <a:srgbClr val="D4D4D4"/>
                </a:solidFill>
                <a:latin typeface="Courier New"/>
              </a:rPr>
              <a:t>fd</a:t>
            </a:r>
            <a:r>
              <a:rPr sz="1050" b="0" i="0" dirty="0">
                <a:solidFill>
                  <a:srgbClr val="D4D4D4"/>
                </a:solidFill>
                <a:latin typeface="Courier New"/>
              </a:rPr>
              <a:t> = Chunk2-&gt;</a:t>
            </a:r>
            <a:r>
              <a:rPr sz="1050" b="0" i="0" dirty="0" err="1">
                <a:solidFill>
                  <a:srgbClr val="D4D4D4"/>
                </a:solidFill>
                <a:latin typeface="Courier New"/>
              </a:rPr>
              <a:t>fd</a:t>
            </a:r>
            <a:r>
              <a:rPr sz="1050" b="0" i="0" dirty="0">
                <a:solidFill>
                  <a:srgbClr val="D4D4D4"/>
                </a:solidFill>
                <a:latin typeface="Courier New"/>
              </a:rPr>
              <a:t>;   </a:t>
            </a:r>
            <a:r>
              <a:rPr sz="1050" b="0" i="0" dirty="0">
                <a:solidFill>
                  <a:srgbClr val="6A9955"/>
                </a:solidFill>
                <a:latin typeface="Courier New"/>
              </a:rPr>
              <a:t>// Chunk1.fd now skips Chunk2</a:t>
            </a:r>
          </a:p>
          <a:p>
            <a:pPr>
              <a:lnSpc>
                <a:spcPct val="100000"/>
              </a:lnSpc>
              <a:spcBef>
                <a:spcPts val="0"/>
              </a:spcBef>
              <a:spcAft>
                <a:spcPts val="0"/>
              </a:spcAft>
            </a:pPr>
            <a:r>
              <a:rPr sz="1050" b="0" i="0" dirty="0">
                <a:solidFill>
                  <a:srgbClr val="D4D4D4"/>
                </a:solidFill>
                <a:latin typeface="Courier New"/>
              </a:rPr>
              <a:t>Chunk2-&gt;</a:t>
            </a:r>
            <a:r>
              <a:rPr sz="1050" b="0" i="0" dirty="0" err="1">
                <a:solidFill>
                  <a:srgbClr val="D4D4D4"/>
                </a:solidFill>
                <a:latin typeface="Courier New"/>
              </a:rPr>
              <a:t>fd</a:t>
            </a:r>
            <a:r>
              <a:rPr sz="1050" b="0" i="0" dirty="0">
                <a:solidFill>
                  <a:srgbClr val="D4D4D4"/>
                </a:solidFill>
                <a:latin typeface="Courier New"/>
              </a:rPr>
              <a:t>-&gt;bk = Chunk2-&gt;bk;   </a:t>
            </a:r>
            <a:r>
              <a:rPr sz="1050" b="0" i="0" dirty="0">
                <a:solidFill>
                  <a:srgbClr val="6A9955"/>
                </a:solidFill>
                <a:latin typeface="Courier New"/>
              </a:rPr>
              <a:t>// Chunk3.bk now skips Chunk2</a:t>
            </a:r>
          </a:p>
        </p:txBody>
      </p:sp>
      <p:sp>
        <p:nvSpPr>
          <p:cNvPr id="43" name="TextBox 42"/>
          <p:cNvSpPr txBox="1"/>
          <p:nvPr/>
        </p:nvSpPr>
        <p:spPr>
          <a:xfrm>
            <a:off x="548640" y="3820000"/>
            <a:ext cx="8046720" cy="240000"/>
          </a:xfrm>
          <a:prstGeom prst="rect">
            <a:avLst/>
          </a:prstGeom>
          <a:noFill/>
        </p:spPr>
        <p:txBody>
          <a:bodyPr wrap="square" lIns="0" tIns="0" rIns="0" bIns="0" anchor="t">
            <a:spAutoFit/>
          </a:bodyPr>
          <a:lstStyle/>
          <a:p>
            <a:pPr algn="l"/>
            <a:r>
              <a:rPr sz="1100" b="0" i="1">
                <a:solidFill>
                  <a:srgbClr val="8A8A8A"/>
                </a:solidFill>
                <a:latin typeface="Arial"/>
              </a:rPr>
              <a:t>Chunk 2 is being freed, so Chunk 1 and Chunk 3 link directly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The Unlink Write-What-Where</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Overflow Chunk 1 to control the fd and bk fields the allocator reads from Chunk 2</a:t>
            </a:r>
          </a:p>
          <a:p>
            <a:r>
              <a:rPr sz="2000" b="0" i="0">
                <a:solidFill>
                  <a:srgbClr val="202020"/>
                </a:solidFill>
                <a:latin typeface="Arial"/>
              </a:rPr>
              <a:t>On free, the splice writes </a:t>
            </a:r>
            <a:r>
              <a:rPr sz="2000" b="0" i="0">
                <a:solidFill>
                  <a:srgbClr val="202020"/>
                </a:solidFill>
                <a:latin typeface="Courier New"/>
              </a:rPr>
              <a:t>fd</a:t>
            </a:r>
            <a:r>
              <a:rPr sz="2000" b="0" i="0">
                <a:solidFill>
                  <a:srgbClr val="202020"/>
                </a:solidFill>
                <a:latin typeface="Arial"/>
              </a:rPr>
              <a:t> to address (</a:t>
            </a:r>
            <a:r>
              <a:rPr sz="2000" b="0" i="0">
                <a:solidFill>
                  <a:srgbClr val="202020"/>
                </a:solidFill>
                <a:latin typeface="Courier New"/>
              </a:rPr>
              <a:t>bk</a:t>
            </a:r>
            <a:r>
              <a:rPr sz="2000" b="0" i="0">
                <a:solidFill>
                  <a:srgbClr val="202020"/>
                </a:solidFill>
                <a:latin typeface="Arial"/>
              </a:rPr>
              <a:t> + offset): set </a:t>
            </a:r>
            <a:r>
              <a:rPr sz="2000" b="0" i="0">
                <a:solidFill>
                  <a:srgbClr val="202020"/>
                </a:solidFill>
                <a:latin typeface="Courier New"/>
              </a:rPr>
              <a:t>bk = target, fd = value</a:t>
            </a:r>
          </a:p>
          <a:p>
            <a:r>
              <a:rPr sz="2000" b="0" i="0">
                <a:solidFill>
                  <a:srgbClr val="202020"/>
                </a:solidFill>
                <a:latin typeface="Arial"/>
              </a:rPr>
              <a:t>Result: a </a:t>
            </a:r>
            <a:r>
              <a:rPr sz="2000" b="1" i="0">
                <a:solidFill>
                  <a:srgbClr val="C0392B"/>
                </a:solidFill>
                <a:latin typeface="Arial"/>
              </a:rPr>
              <a:t>write-what-where</a:t>
            </a:r>
            <a:r>
              <a:rPr sz="2000" b="0" i="0">
                <a:solidFill>
                  <a:srgbClr val="202020"/>
                </a:solidFill>
                <a:latin typeface="Arial"/>
              </a:rPr>
              <a:t> (arbitrary write), shown at the level of principle</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12</a:t>
            </a:fld>
            <a:endParaRPr/>
          </a:p>
        </p:txBody>
      </p:sp>
      <p:sp>
        <p:nvSpPr>
          <p:cNvPr id="42" name="Rectangle 41"/>
          <p:cNvSpPr/>
          <p:nvPr/>
        </p:nvSpPr>
        <p:spPr>
          <a:xfrm>
            <a:off x="900000" y="3680000"/>
            <a:ext cx="1700000" cy="520000"/>
          </a:xfrm>
          <a:prstGeom prst="rect">
            <a:avLst/>
          </a:prstGeom>
          <a:solidFill>
            <a:srgbClr val="E4793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FFFFFF"/>
                </a:solidFill>
                <a:latin typeface="Arial"/>
              </a:rPr>
              <a:t>Chunk 1</a:t>
            </a:r>
          </a:p>
        </p:txBody>
      </p:sp>
      <p:sp>
        <p:nvSpPr>
          <p:cNvPr id="43" name="Rectangle 42"/>
          <p:cNvSpPr/>
          <p:nvPr/>
        </p:nvSpPr>
        <p:spPr>
          <a:xfrm>
            <a:off x="2700000" y="3680000"/>
            <a:ext cx="2100000" cy="520000"/>
          </a:xfrm>
          <a:prstGeom prst="rect">
            <a:avLst/>
          </a:prstGeom>
          <a:solidFill>
            <a:srgbClr val="C9B88A"/>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0" i="0">
                <a:solidFill>
                  <a:srgbClr val="202020"/>
                </a:solidFill>
                <a:latin typeface="Courier New"/>
              </a:rPr>
              <a:t>Chunk 2  fd=VALUE  bk=TARGET-off</a:t>
            </a:r>
          </a:p>
        </p:txBody>
      </p:sp>
      <p:cxnSp>
        <p:nvCxnSpPr>
          <p:cNvPr id="44" name="Connector 43"/>
          <p:cNvCxnSpPr/>
          <p:nvPr/>
        </p:nvCxnSpPr>
        <p:spPr>
          <a:xfrm>
            <a:off x="1750000" y="3640000"/>
            <a:ext cx="1150000" cy="160000"/>
          </a:xfrm>
          <a:prstGeom prst="bentConnector3">
            <a:avLst/>
          </a:prstGeom>
          <a:ln w="254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300000" y="3420000"/>
            <a:ext cx="2000000" cy="230000"/>
          </a:xfrm>
          <a:prstGeom prst="rect">
            <a:avLst/>
          </a:prstGeom>
          <a:noFill/>
        </p:spPr>
        <p:txBody>
          <a:bodyPr wrap="square" lIns="0" tIns="0" rIns="0" bIns="0" anchor="t">
            <a:spAutoFit/>
          </a:bodyPr>
          <a:lstStyle/>
          <a:p>
            <a:pPr algn="l"/>
            <a:r>
              <a:rPr sz="1000" b="0" i="1">
                <a:solidFill>
                  <a:srgbClr val="C0392B"/>
                </a:solidFill>
                <a:latin typeface="Arial"/>
              </a:rPr>
              <a:t>overflow</a:t>
            </a:r>
          </a:p>
        </p:txBody>
      </p:sp>
      <p:sp>
        <p:nvSpPr>
          <p:cNvPr id="46" name="Rectangle 45"/>
          <p:cNvSpPr/>
          <p:nvPr/>
        </p:nvSpPr>
        <p:spPr>
          <a:xfrm>
            <a:off x="5200000" y="3680000"/>
            <a:ext cx="1700000" cy="52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TARGET := VALUE</a:t>
            </a:r>
          </a:p>
        </p:txBody>
      </p:sp>
      <p:cxnSp>
        <p:nvCxnSpPr>
          <p:cNvPr id="47" name="Connector 46"/>
          <p:cNvCxnSpPr/>
          <p:nvPr/>
        </p:nvCxnSpPr>
        <p:spPr>
          <a:xfrm>
            <a:off x="4800000" y="3940000"/>
            <a:ext cx="400000" cy="0"/>
          </a:xfrm>
          <a:prstGeom prst="bentConnector3">
            <a:avLst/>
          </a:prstGeom>
          <a:ln w="22225">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800000" y="4220000"/>
            <a:ext cx="2100000" cy="230000"/>
          </a:xfrm>
          <a:prstGeom prst="rect">
            <a:avLst/>
          </a:prstGeom>
          <a:noFill/>
        </p:spPr>
        <p:txBody>
          <a:bodyPr wrap="square" lIns="0" tIns="0" rIns="0" bIns="0" anchor="t">
            <a:spAutoFit/>
          </a:bodyPr>
          <a:lstStyle/>
          <a:p>
            <a:pPr algn="l"/>
            <a:r>
              <a:rPr sz="950" b="0" i="1">
                <a:solidFill>
                  <a:srgbClr val="8A8A8A"/>
                </a:solidFill>
                <a:latin typeface="Arial"/>
              </a:rPr>
              <a:t>free(Chunk 2) performs the write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par>
                                <p:cTn id="16" presetID="10" presetClass="entr" presetSubtype="0" fill="hold"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Defense: Check the Unlink Invariant</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Ask what must be true of a healthy chunk before it is freed</a:t>
            </a:r>
          </a:p>
          <a:p>
            <a:r>
              <a:rPr sz="2000" b="0" i="0">
                <a:solidFill>
                  <a:srgbClr val="202020"/>
                </a:solidFill>
                <a:latin typeface="Arial"/>
              </a:rPr>
              <a:t>For an intact list: Chunk2-&gt;bk-&gt;fd == Chunk2 and Chunk2-&gt;fd-&gt;bk == Chunk2</a:t>
            </a:r>
          </a:p>
          <a:p>
            <a:r>
              <a:rPr sz="2000" b="0" i="0">
                <a:solidFill>
                  <a:srgbClr val="202020"/>
                </a:solidFill>
                <a:latin typeface="Arial"/>
              </a:rPr>
              <a:t>Modern allocators assert both in free() before splicing: safe unlinking</a:t>
            </a:r>
          </a:p>
          <a:p>
            <a:r>
              <a:rPr sz="2000" b="0" i="0">
                <a:solidFill>
                  <a:srgbClr val="202020"/>
                </a:solidFill>
                <a:latin typeface="Arial"/>
              </a:rPr>
              <a:t>A mismatch means tampering, so free() aborts: a cheap integrity check</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13</a:t>
            </a:fld>
            <a:endParaRPr/>
          </a:p>
        </p:txBody>
      </p:sp>
      <p:sp>
        <p:nvSpPr>
          <p:cNvPr id="42" name="Rectangle 41"/>
          <p:cNvSpPr/>
          <p:nvPr/>
        </p:nvSpPr>
        <p:spPr>
          <a:xfrm>
            <a:off x="900000" y="3750000"/>
            <a:ext cx="3600000" cy="30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Courier New"/>
              </a:rPr>
              <a:t>Chunk2-&gt;bk-&gt;fd == Chunk2</a:t>
            </a:r>
          </a:p>
        </p:txBody>
      </p:sp>
      <p:sp>
        <p:nvSpPr>
          <p:cNvPr id="43" name="Rounded Rectangle 42"/>
          <p:cNvSpPr/>
          <p:nvPr/>
        </p:nvSpPr>
        <p:spPr>
          <a:xfrm>
            <a:off x="4600000" y="3750000"/>
            <a:ext cx="300000" cy="30000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FFFFFF"/>
                </a:solidFill>
                <a:latin typeface="Arial"/>
              </a:rPr>
              <a:t>ok</a:t>
            </a:r>
          </a:p>
        </p:txBody>
      </p:sp>
      <p:sp>
        <p:nvSpPr>
          <p:cNvPr id="44" name="Rectangle 43"/>
          <p:cNvSpPr/>
          <p:nvPr/>
        </p:nvSpPr>
        <p:spPr>
          <a:xfrm>
            <a:off x="900000" y="4110000"/>
            <a:ext cx="3600000" cy="30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i="0">
                <a:solidFill>
                  <a:srgbClr val="202020"/>
                </a:solidFill>
                <a:latin typeface="Courier New"/>
              </a:rPr>
              <a:t>Chunk2-&gt;fd-&gt;bk == Chunk2</a:t>
            </a:r>
          </a:p>
        </p:txBody>
      </p:sp>
      <p:sp>
        <p:nvSpPr>
          <p:cNvPr id="45" name="Rounded Rectangle 44"/>
          <p:cNvSpPr/>
          <p:nvPr/>
        </p:nvSpPr>
        <p:spPr>
          <a:xfrm>
            <a:off x="4600000" y="4110000"/>
            <a:ext cx="300000" cy="30000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FFFFFF"/>
                </a:solidFill>
                <a:latin typeface="Arial"/>
              </a:rPr>
              <a:t>ok</a:t>
            </a:r>
          </a:p>
        </p:txBody>
      </p:sp>
      <p:sp>
        <p:nvSpPr>
          <p:cNvPr id="46" name="Rounded Rectangle 45"/>
          <p:cNvSpPr/>
          <p:nvPr/>
        </p:nvSpPr>
        <p:spPr>
          <a:xfrm>
            <a:off x="5200000" y="3750000"/>
            <a:ext cx="300000" cy="300000"/>
          </a:xfrm>
          <a:prstGeom prst="roundRect">
            <a:avLst>
              <a:gd name="adj" fmla="val 2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i="0">
                <a:solidFill>
                  <a:srgbClr val="FFFFFF"/>
                </a:solidFill>
                <a:latin typeface="Arial"/>
              </a:rPr>
              <a:t>x</a:t>
            </a:r>
          </a:p>
        </p:txBody>
      </p:sp>
      <p:sp>
        <p:nvSpPr>
          <p:cNvPr id="47" name="TextBox 46"/>
          <p:cNvSpPr txBox="1"/>
          <p:nvPr/>
        </p:nvSpPr>
        <p:spPr>
          <a:xfrm>
            <a:off x="5550000" y="3750000"/>
            <a:ext cx="3000000" cy="300000"/>
          </a:xfrm>
          <a:prstGeom prst="rect">
            <a:avLst/>
          </a:prstGeom>
          <a:noFill/>
        </p:spPr>
        <p:txBody>
          <a:bodyPr wrap="square" lIns="0" tIns="0" rIns="0" bIns="0" anchor="ctr">
            <a:spAutoFit/>
          </a:bodyPr>
          <a:lstStyle/>
          <a:p>
            <a:pPr algn="l"/>
            <a:r>
              <a:rPr sz="1050" b="0" i="1">
                <a:solidFill>
                  <a:srgbClr val="C0392B"/>
                </a:solidFill>
                <a:latin typeface="Arial"/>
              </a:rPr>
              <a:t>mismatch -&gt; free() aborts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i="0">
                <a:solidFill>
                  <a:srgbClr val="202020"/>
                </a:solidFill>
                <a:latin typeface="Arial"/>
              </a:rPr>
              <a:t>Attack 2: Overflowing into a Neighbor</a:t>
            </a:r>
          </a:p>
        </p:txBody>
      </p:sp>
      <p:sp>
        <p:nvSpPr>
          <p:cNvPr id="3" name="Text Placeholder 2"/>
          <p:cNvSpPr>
            <a:spLocks noGrp="1"/>
          </p:cNvSpPr>
          <p:nvPr>
            <p:ph type="body" idx="1"/>
          </p:nvPr>
        </p:nvSpPr>
        <p:spPr/>
        <p:txBody>
          <a:bodyPr/>
          <a:lstStyle/>
          <a:p>
            <a:r>
              <a:rPr sz="1800" b="1" i="0">
                <a:solidFill>
                  <a:srgbClr val="E47932"/>
                </a:solidFill>
                <a:latin typeface="Arial"/>
              </a:rPr>
              <a:t>Skip the metadata: overflow straight into the next object's pointers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Overflow a Buffer into Adjacent Fields</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A single object can place a buffer right before pointers in memory</a:t>
            </a:r>
          </a:p>
          <a:p>
            <a:r>
              <a:rPr sz="2000" b="0" i="0">
                <a:solidFill>
                  <a:srgbClr val="202020"/>
                </a:solidFill>
                <a:latin typeface="Arial"/>
              </a:rPr>
              <a:t>Overflowing buf writes forward into obj, then into fn</a:t>
            </a:r>
          </a:p>
          <a:p>
            <a:r>
              <a:rPr sz="2000" b="0" i="0">
                <a:solidFill>
                  <a:srgbClr val="202020"/>
                </a:solidFill>
                <a:latin typeface="Arial"/>
              </a:rPr>
              <a:t>No allocator metadata involved: a plain spatial overflow within the object's layout</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15</a:t>
            </a:fld>
            <a:endParaRPr/>
          </a:p>
        </p:txBody>
      </p:sp>
      <p:sp>
        <p:nvSpPr>
          <p:cNvPr id="42" name="Rounded Rectangle 41"/>
          <p:cNvSpPr/>
          <p:nvPr/>
        </p:nvSpPr>
        <p:spPr>
          <a:xfrm>
            <a:off x="548640" y="3100000"/>
            <a:ext cx="3200000" cy="810000"/>
          </a:xfrm>
          <a:prstGeom prst="roundRect">
            <a:avLst>
              <a:gd name="adj" fmla="val 5000"/>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109728" tIns="68580" rIns="54864" bIns="68580" rtlCol="0" anchor="t"/>
          <a:lstStyle/>
          <a:p>
            <a:pPr>
              <a:lnSpc>
                <a:spcPct val="100000"/>
              </a:lnSpc>
              <a:spcBef>
                <a:spcPts val="0"/>
              </a:spcBef>
              <a:spcAft>
                <a:spcPts val="0"/>
              </a:spcAft>
            </a:pPr>
            <a:r>
              <a:rPr sz="1050" b="0" i="0" dirty="0">
                <a:solidFill>
                  <a:srgbClr val="4EC9B0"/>
                </a:solidFill>
                <a:latin typeface="Courier New"/>
              </a:rPr>
              <a:t>struct</a:t>
            </a:r>
            <a:r>
              <a:rPr sz="1050" b="0" i="0" dirty="0">
                <a:solidFill>
                  <a:srgbClr val="D4D4D4"/>
                </a:solidFill>
                <a:latin typeface="Courier New"/>
              </a:rPr>
              <a:t> x {</a:t>
            </a:r>
          </a:p>
          <a:p>
            <a:pPr>
              <a:lnSpc>
                <a:spcPct val="100000"/>
              </a:lnSpc>
              <a:spcBef>
                <a:spcPts val="0"/>
              </a:spcBef>
              <a:spcAft>
                <a:spcPts val="0"/>
              </a:spcAft>
            </a:pPr>
            <a:r>
              <a:rPr sz="1050" b="0" i="0" dirty="0">
                <a:solidFill>
                  <a:srgbClr val="D4D4D4"/>
                </a:solidFill>
                <a:latin typeface="Courier New"/>
              </a:rPr>
              <a:t>  </a:t>
            </a:r>
            <a:r>
              <a:rPr sz="1050" b="0" i="0" dirty="0">
                <a:solidFill>
                  <a:srgbClr val="4EC9B0"/>
                </a:solidFill>
                <a:latin typeface="Courier New"/>
              </a:rPr>
              <a:t>char</a:t>
            </a:r>
            <a:r>
              <a:rPr sz="1050" b="0" i="0" dirty="0">
                <a:solidFill>
                  <a:srgbClr val="D4D4D4"/>
                </a:solidFill>
                <a:latin typeface="Courier New"/>
              </a:rPr>
              <a:t> </a:t>
            </a:r>
            <a:r>
              <a:rPr sz="1050" b="0" i="0" dirty="0" err="1">
                <a:solidFill>
                  <a:srgbClr val="D4D4D4"/>
                </a:solidFill>
                <a:latin typeface="Courier New"/>
              </a:rPr>
              <a:t>buf</a:t>
            </a:r>
            <a:r>
              <a:rPr sz="1050" b="0" i="0" dirty="0">
                <a:solidFill>
                  <a:srgbClr val="D4D4D4"/>
                </a:solidFill>
                <a:latin typeface="Courier New"/>
              </a:rPr>
              <a:t>[size];</a:t>
            </a:r>
          </a:p>
          <a:p>
            <a:pPr>
              <a:lnSpc>
                <a:spcPct val="100000"/>
              </a:lnSpc>
              <a:spcBef>
                <a:spcPts val="0"/>
              </a:spcBef>
              <a:spcAft>
                <a:spcPts val="0"/>
              </a:spcAft>
            </a:pPr>
            <a:r>
              <a:rPr sz="1050" b="0" i="0" dirty="0">
                <a:solidFill>
                  <a:srgbClr val="D4D4D4"/>
                </a:solidFill>
                <a:latin typeface="Courier New"/>
              </a:rPr>
              <a:t>  data *obj; </a:t>
            </a:r>
            <a:r>
              <a:rPr sz="1050" b="0" i="0" dirty="0">
                <a:solidFill>
                  <a:srgbClr val="4EC9B0"/>
                </a:solidFill>
                <a:latin typeface="Courier New"/>
              </a:rPr>
              <a:t>void</a:t>
            </a:r>
            <a:r>
              <a:rPr sz="1050" b="0" i="0" dirty="0">
                <a:solidFill>
                  <a:srgbClr val="D4D4D4"/>
                </a:solidFill>
                <a:latin typeface="Courier New"/>
              </a:rPr>
              <a:t> (*</a:t>
            </a:r>
            <a:r>
              <a:rPr sz="1050" b="0" i="0" dirty="0" err="1">
                <a:solidFill>
                  <a:srgbClr val="D4D4D4"/>
                </a:solidFill>
                <a:latin typeface="Courier New"/>
              </a:rPr>
              <a:t>fn</a:t>
            </a:r>
            <a:r>
              <a:rPr sz="1050" b="0" i="0" dirty="0">
                <a:solidFill>
                  <a:srgbClr val="D4D4D4"/>
                </a:solidFill>
                <a:latin typeface="Courier New"/>
              </a:rPr>
              <a:t>)(); </a:t>
            </a:r>
            <a:endParaRPr lang="en-US" sz="1050" b="0" i="0" dirty="0">
              <a:solidFill>
                <a:srgbClr val="D4D4D4"/>
              </a:solidFill>
              <a:latin typeface="Courier New"/>
            </a:endParaRPr>
          </a:p>
          <a:p>
            <a:pPr>
              <a:lnSpc>
                <a:spcPct val="100000"/>
              </a:lnSpc>
              <a:spcBef>
                <a:spcPts val="0"/>
              </a:spcBef>
              <a:spcAft>
                <a:spcPts val="0"/>
              </a:spcAft>
            </a:pPr>
            <a:r>
              <a:rPr sz="1050" b="0" i="0" dirty="0">
                <a:solidFill>
                  <a:srgbClr val="D4D4D4"/>
                </a:solidFill>
                <a:latin typeface="Courier New"/>
              </a:rPr>
              <a:t>};</a:t>
            </a:r>
          </a:p>
        </p:txBody>
      </p:sp>
      <p:sp>
        <p:nvSpPr>
          <p:cNvPr id="43" name="Rectangle 42"/>
          <p:cNvSpPr/>
          <p:nvPr/>
        </p:nvSpPr>
        <p:spPr>
          <a:xfrm>
            <a:off x="5600000" y="3150000"/>
            <a:ext cx="2500000" cy="460000"/>
          </a:xfrm>
          <a:prstGeom prst="rect">
            <a:avLst/>
          </a:prstGeom>
          <a:solidFill>
            <a:srgbClr val="94B6D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buf (size bytes)</a:t>
            </a:r>
          </a:p>
        </p:txBody>
      </p:sp>
      <p:sp>
        <p:nvSpPr>
          <p:cNvPr id="44" name="Rectangle 43"/>
          <p:cNvSpPr/>
          <p:nvPr/>
        </p:nvSpPr>
        <p:spPr>
          <a:xfrm>
            <a:off x="5600000" y="3610000"/>
            <a:ext cx="2500000" cy="30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obj (data *)</a:t>
            </a:r>
          </a:p>
        </p:txBody>
      </p:sp>
      <p:sp>
        <p:nvSpPr>
          <p:cNvPr id="45" name="Rectangle 44"/>
          <p:cNvSpPr/>
          <p:nvPr/>
        </p:nvSpPr>
        <p:spPr>
          <a:xfrm>
            <a:off x="5600000" y="3910000"/>
            <a:ext cx="2500000" cy="30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fn (void (*)())</a:t>
            </a:r>
          </a:p>
        </p:txBody>
      </p:sp>
      <p:sp>
        <p:nvSpPr>
          <p:cNvPr id="46" name="TextBox 45"/>
          <p:cNvSpPr txBox="1"/>
          <p:nvPr/>
        </p:nvSpPr>
        <p:spPr>
          <a:xfrm>
            <a:off x="4300000" y="3140000"/>
            <a:ext cx="1200000" cy="220000"/>
          </a:xfrm>
          <a:prstGeom prst="rect">
            <a:avLst/>
          </a:prstGeom>
          <a:noFill/>
        </p:spPr>
        <p:txBody>
          <a:bodyPr wrap="square" lIns="0" tIns="0" rIns="0" bIns="0" anchor="t">
            <a:spAutoFit/>
          </a:bodyPr>
          <a:lstStyle/>
          <a:p>
            <a:pPr algn="r"/>
            <a:r>
              <a:rPr sz="800" b="0" i="0">
                <a:solidFill>
                  <a:srgbClr val="8A8A8A"/>
                </a:solidFill>
                <a:latin typeface="Arial"/>
              </a:rPr>
              <a:t>low address</a:t>
            </a:r>
          </a:p>
        </p:txBody>
      </p:sp>
      <p:sp>
        <p:nvSpPr>
          <p:cNvPr id="47" name="TextBox 46"/>
          <p:cNvSpPr txBox="1"/>
          <p:nvPr/>
        </p:nvSpPr>
        <p:spPr>
          <a:xfrm>
            <a:off x="4300000" y="4010000"/>
            <a:ext cx="1200000" cy="220000"/>
          </a:xfrm>
          <a:prstGeom prst="rect">
            <a:avLst/>
          </a:prstGeom>
          <a:noFill/>
        </p:spPr>
        <p:txBody>
          <a:bodyPr wrap="square" lIns="0" tIns="0" rIns="0" bIns="0" anchor="t">
            <a:spAutoFit/>
          </a:bodyPr>
          <a:lstStyle/>
          <a:p>
            <a:pPr algn="r"/>
            <a:r>
              <a:rPr sz="800" b="0" i="0">
                <a:solidFill>
                  <a:srgbClr val="8A8A8A"/>
                </a:solidFill>
                <a:latin typeface="Arial"/>
              </a:rPr>
              <a:t>high address</a:t>
            </a:r>
          </a:p>
        </p:txBody>
      </p:sp>
      <p:cxnSp>
        <p:nvCxnSpPr>
          <p:cNvPr id="48" name="Connector 47"/>
          <p:cNvCxnSpPr/>
          <p:nvPr/>
        </p:nvCxnSpPr>
        <p:spPr>
          <a:xfrm>
            <a:off x="6850000" y="3250000"/>
            <a:ext cx="0" cy="810000"/>
          </a:xfrm>
          <a:prstGeom prst="bentConnector3">
            <a:avLst/>
          </a:prstGeom>
          <a:ln w="2540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Overwrite a Data Pointer: Read/Write Primitive</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Let the overflow change obj to an attacker-chosen address</a:t>
            </a:r>
          </a:p>
          <a:p>
            <a:r>
              <a:rPr sz="2000" b="0" i="0">
                <a:solidFill>
                  <a:srgbClr val="202020"/>
                </a:solidFill>
                <a:latin typeface="Arial"/>
              </a:rPr>
              <a:t>The next use of obj then reads or writes memory the attacker named</a:t>
            </a:r>
          </a:p>
          <a:p>
            <a:r>
              <a:rPr sz="2000" b="0" i="0">
                <a:solidFill>
                  <a:srgbClr val="202020"/>
                </a:solidFill>
                <a:latin typeface="Arial"/>
              </a:rPr>
              <a:t>That yields a read/write primitive at arbitrary locations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16</a:t>
            </a:fld>
            <a:endParaRPr/>
          </a:p>
        </p:txBody>
      </p:sp>
      <p:sp>
        <p:nvSpPr>
          <p:cNvPr id="42" name="Rectangle 41"/>
          <p:cNvSpPr/>
          <p:nvPr/>
        </p:nvSpPr>
        <p:spPr>
          <a:xfrm>
            <a:off x="2844283" y="3100000"/>
            <a:ext cx="2500000" cy="460000"/>
          </a:xfrm>
          <a:prstGeom prst="rect">
            <a:avLst/>
          </a:prstGeom>
          <a:solidFill>
            <a:srgbClr val="94B6D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buf (size bytes)</a:t>
            </a:r>
          </a:p>
        </p:txBody>
      </p:sp>
      <p:sp>
        <p:nvSpPr>
          <p:cNvPr id="43" name="Rectangle 42"/>
          <p:cNvSpPr/>
          <p:nvPr/>
        </p:nvSpPr>
        <p:spPr>
          <a:xfrm>
            <a:off x="2844283" y="3560000"/>
            <a:ext cx="2500000" cy="300000"/>
          </a:xfrm>
          <a:prstGeom prst="rect">
            <a:avLst/>
          </a:prstGeom>
          <a:solidFill>
            <a:srgbClr val="E4793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FFFFFF"/>
                </a:solidFill>
                <a:latin typeface="Courier New"/>
              </a:rPr>
              <a:t>obj (data *)</a:t>
            </a:r>
          </a:p>
        </p:txBody>
      </p:sp>
      <p:sp>
        <p:nvSpPr>
          <p:cNvPr id="44" name="Rectangle 43"/>
          <p:cNvSpPr/>
          <p:nvPr/>
        </p:nvSpPr>
        <p:spPr>
          <a:xfrm>
            <a:off x="2844283" y="3860000"/>
            <a:ext cx="2500000" cy="30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fn (void (*)())</a:t>
            </a:r>
          </a:p>
        </p:txBody>
      </p:sp>
      <p:sp>
        <p:nvSpPr>
          <p:cNvPr id="45" name="TextBox 44"/>
          <p:cNvSpPr txBox="1"/>
          <p:nvPr/>
        </p:nvSpPr>
        <p:spPr>
          <a:xfrm>
            <a:off x="1544283" y="3090000"/>
            <a:ext cx="1200000" cy="220000"/>
          </a:xfrm>
          <a:prstGeom prst="rect">
            <a:avLst/>
          </a:prstGeom>
          <a:noFill/>
        </p:spPr>
        <p:txBody>
          <a:bodyPr wrap="square" lIns="0" tIns="0" rIns="0" bIns="0" anchor="t">
            <a:spAutoFit/>
          </a:bodyPr>
          <a:lstStyle/>
          <a:p>
            <a:pPr algn="r"/>
            <a:r>
              <a:rPr sz="800" b="0" i="0">
                <a:solidFill>
                  <a:srgbClr val="8A8A8A"/>
                </a:solidFill>
                <a:latin typeface="Arial"/>
              </a:rPr>
              <a:t>low address</a:t>
            </a:r>
          </a:p>
        </p:txBody>
      </p:sp>
      <p:sp>
        <p:nvSpPr>
          <p:cNvPr id="46" name="TextBox 45"/>
          <p:cNvSpPr txBox="1"/>
          <p:nvPr/>
        </p:nvSpPr>
        <p:spPr>
          <a:xfrm>
            <a:off x="1544283" y="3960000"/>
            <a:ext cx="1200000" cy="220000"/>
          </a:xfrm>
          <a:prstGeom prst="rect">
            <a:avLst/>
          </a:prstGeom>
          <a:noFill/>
        </p:spPr>
        <p:txBody>
          <a:bodyPr wrap="square" lIns="0" tIns="0" rIns="0" bIns="0" anchor="t">
            <a:spAutoFit/>
          </a:bodyPr>
          <a:lstStyle/>
          <a:p>
            <a:pPr algn="r"/>
            <a:r>
              <a:rPr sz="800" b="0" i="0">
                <a:solidFill>
                  <a:srgbClr val="8A8A8A"/>
                </a:solidFill>
                <a:latin typeface="Arial"/>
              </a:rPr>
              <a:t>high address</a:t>
            </a:r>
          </a:p>
        </p:txBody>
      </p:sp>
      <p:sp>
        <p:nvSpPr>
          <p:cNvPr id="47" name="Rectangle 46"/>
          <p:cNvSpPr/>
          <p:nvPr/>
        </p:nvSpPr>
        <p:spPr>
          <a:xfrm>
            <a:off x="6244283" y="3540000"/>
            <a:ext cx="2000000" cy="32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read / write here</a:t>
            </a:r>
          </a:p>
        </p:txBody>
      </p:sp>
      <p:cxnSp>
        <p:nvCxnSpPr>
          <p:cNvPr id="48" name="Connector 47"/>
          <p:cNvCxnSpPr/>
          <p:nvPr/>
        </p:nvCxnSpPr>
        <p:spPr>
          <a:xfrm>
            <a:off x="5344283" y="3710000"/>
            <a:ext cx="900000" cy="0"/>
          </a:xfrm>
          <a:prstGeom prst="bentConnector3">
            <a:avLst/>
          </a:prstGeom>
          <a:ln w="22225">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Overwrite a Function Pointer: Code Execution</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Let the overflow change fn instead</a:t>
            </a:r>
          </a:p>
          <a:p>
            <a:r>
              <a:rPr sz="2000" b="0" i="0">
                <a:solidFill>
                  <a:srgbClr val="202020"/>
                </a:solidFill>
                <a:latin typeface="Arial"/>
              </a:rPr>
              <a:t>When the program next calls through fn, control jumps to the attacker's address</a:t>
            </a:r>
          </a:p>
          <a:p>
            <a:r>
              <a:rPr sz="2000" b="0" i="0">
                <a:solidFill>
                  <a:srgbClr val="202020"/>
                </a:solidFill>
                <a:latin typeface="Arial"/>
              </a:rPr>
              <a:t>That redirects execution to attacker-chosen code</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17</a:t>
            </a:fld>
            <a:endParaRPr/>
          </a:p>
        </p:txBody>
      </p:sp>
      <p:sp>
        <p:nvSpPr>
          <p:cNvPr id="42" name="Rectangle 41"/>
          <p:cNvSpPr/>
          <p:nvPr/>
        </p:nvSpPr>
        <p:spPr>
          <a:xfrm>
            <a:off x="2993913" y="3100000"/>
            <a:ext cx="2500000" cy="460000"/>
          </a:xfrm>
          <a:prstGeom prst="rect">
            <a:avLst/>
          </a:prstGeom>
          <a:solidFill>
            <a:srgbClr val="94B6D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buf (size bytes)</a:t>
            </a:r>
          </a:p>
        </p:txBody>
      </p:sp>
      <p:sp>
        <p:nvSpPr>
          <p:cNvPr id="43" name="Rectangle 42"/>
          <p:cNvSpPr/>
          <p:nvPr/>
        </p:nvSpPr>
        <p:spPr>
          <a:xfrm>
            <a:off x="2993913" y="3560000"/>
            <a:ext cx="2500000" cy="30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Courier New"/>
              </a:rPr>
              <a:t>obj (data *)</a:t>
            </a:r>
          </a:p>
        </p:txBody>
      </p:sp>
      <p:sp>
        <p:nvSpPr>
          <p:cNvPr id="44" name="Rectangle 43"/>
          <p:cNvSpPr/>
          <p:nvPr/>
        </p:nvSpPr>
        <p:spPr>
          <a:xfrm>
            <a:off x="2993913" y="3860000"/>
            <a:ext cx="2500000" cy="300000"/>
          </a:xfrm>
          <a:prstGeom prst="rect">
            <a:avLst/>
          </a:prstGeom>
          <a:solidFill>
            <a:srgbClr val="E4793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FFFFFF"/>
                </a:solidFill>
                <a:latin typeface="Courier New"/>
              </a:rPr>
              <a:t>fn (void (*)())</a:t>
            </a:r>
          </a:p>
        </p:txBody>
      </p:sp>
      <p:sp>
        <p:nvSpPr>
          <p:cNvPr id="45" name="TextBox 44"/>
          <p:cNvSpPr txBox="1"/>
          <p:nvPr/>
        </p:nvSpPr>
        <p:spPr>
          <a:xfrm>
            <a:off x="1693913" y="3090000"/>
            <a:ext cx="1200000" cy="220000"/>
          </a:xfrm>
          <a:prstGeom prst="rect">
            <a:avLst/>
          </a:prstGeom>
          <a:noFill/>
        </p:spPr>
        <p:txBody>
          <a:bodyPr wrap="square" lIns="0" tIns="0" rIns="0" bIns="0" anchor="t">
            <a:spAutoFit/>
          </a:bodyPr>
          <a:lstStyle/>
          <a:p>
            <a:pPr algn="r"/>
            <a:r>
              <a:rPr sz="800" b="0" i="0">
                <a:solidFill>
                  <a:srgbClr val="8A8A8A"/>
                </a:solidFill>
                <a:latin typeface="Arial"/>
              </a:rPr>
              <a:t>low address</a:t>
            </a:r>
          </a:p>
        </p:txBody>
      </p:sp>
      <p:sp>
        <p:nvSpPr>
          <p:cNvPr id="46" name="TextBox 45"/>
          <p:cNvSpPr txBox="1"/>
          <p:nvPr/>
        </p:nvSpPr>
        <p:spPr>
          <a:xfrm>
            <a:off x="1693913" y="3960000"/>
            <a:ext cx="1200000" cy="220000"/>
          </a:xfrm>
          <a:prstGeom prst="rect">
            <a:avLst/>
          </a:prstGeom>
          <a:noFill/>
        </p:spPr>
        <p:txBody>
          <a:bodyPr wrap="square" lIns="0" tIns="0" rIns="0" bIns="0" anchor="t">
            <a:spAutoFit/>
          </a:bodyPr>
          <a:lstStyle/>
          <a:p>
            <a:pPr algn="r"/>
            <a:r>
              <a:rPr sz="800" b="0" i="0">
                <a:solidFill>
                  <a:srgbClr val="8A8A8A"/>
                </a:solidFill>
                <a:latin typeface="Arial"/>
              </a:rPr>
              <a:t>high address</a:t>
            </a:r>
          </a:p>
        </p:txBody>
      </p:sp>
      <p:sp>
        <p:nvSpPr>
          <p:cNvPr id="47" name="Rounded Rectangle 46"/>
          <p:cNvSpPr/>
          <p:nvPr/>
        </p:nvSpPr>
        <p:spPr>
          <a:xfrm>
            <a:off x="6393913" y="3820000"/>
            <a:ext cx="2000000" cy="360000"/>
          </a:xfrm>
          <a:prstGeom prst="roundRect">
            <a:avLst>
              <a:gd name="adj" fmla="val 5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FFFFFF"/>
                </a:solidFill>
                <a:latin typeface="Arial"/>
              </a:rPr>
              <a:t>attacker-chosen code</a:t>
            </a:r>
          </a:p>
        </p:txBody>
      </p:sp>
      <p:cxnSp>
        <p:nvCxnSpPr>
          <p:cNvPr id="48" name="Connector 47"/>
          <p:cNvCxnSpPr/>
          <p:nvPr/>
        </p:nvCxnSpPr>
        <p:spPr>
          <a:xfrm>
            <a:off x="5493913" y="4010000"/>
            <a:ext cx="900000" cy="0"/>
          </a:xfrm>
          <a:prstGeom prst="bentConnector3">
            <a:avLst/>
          </a:prstGeom>
          <a:ln w="22225">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Why the Usual Defenses Do Not Help Here</a:t>
            </a:r>
          </a:p>
        </p:txBody>
      </p:sp>
      <p:sp>
        <p:nvSpPr>
          <p:cNvPr id="3" name="Text Placeholder 2"/>
          <p:cNvSpPr>
            <a:spLocks noGrp="1"/>
          </p:cNvSpPr>
          <p:nvPr>
            <p:ph type="body" idx="1"/>
          </p:nvPr>
        </p:nvSpPr>
        <p:spPr/>
        <p:txBody>
          <a:bodyPr wrap="square" lIns="0" tIns="0" rIns="0" bIns="0"/>
          <a:lstStyle/>
          <a:p>
            <a:r>
              <a:rPr sz="2000" b="0" i="0" dirty="0">
                <a:solidFill>
                  <a:srgbClr val="202020"/>
                </a:solidFill>
                <a:latin typeface="Arial"/>
              </a:rPr>
              <a:t>Stack canaries guard return addresses, not every heap object: guarding all heap data is too expensive</a:t>
            </a:r>
          </a:p>
          <a:p>
            <a:r>
              <a:rPr sz="2000" b="0" i="0" dirty="0">
                <a:solidFill>
                  <a:srgbClr val="202020"/>
                </a:solidFill>
                <a:latin typeface="Arial"/>
              </a:rPr>
              <a:t>ASLR randomizes base addresses, but the overflow corrupts the adjacent field by position, needing no absolute address</a:t>
            </a:r>
          </a:p>
          <a:p>
            <a:r>
              <a:rPr sz="2000" b="0" i="0" dirty="0">
                <a:solidFill>
                  <a:srgbClr val="202020"/>
                </a:solidFill>
                <a:latin typeface="Arial"/>
              </a:rPr>
              <a:t>NX stops injected code, but not repointing </a:t>
            </a:r>
            <a:r>
              <a:rPr sz="2000" b="0" i="0" dirty="0" err="1">
                <a:solidFill>
                  <a:srgbClr val="202020"/>
                </a:solidFill>
                <a:latin typeface="Arial"/>
              </a:rPr>
              <a:t>fn</a:t>
            </a:r>
            <a:r>
              <a:rPr sz="2000" b="0" i="0" dirty="0">
                <a:solidFill>
                  <a:srgbClr val="202020"/>
                </a:solidFill>
                <a:latin typeface="Arial"/>
              </a:rPr>
              <a:t> to code that is already executable</a:t>
            </a:r>
          </a:p>
          <a:p>
            <a:r>
              <a:rPr lang="en-US" sz="2000" b="0" i="0" dirty="0">
                <a:solidFill>
                  <a:srgbClr val="8A8A8A"/>
                </a:solidFill>
                <a:latin typeface="Arial"/>
              </a:rPr>
              <a:t>We will cover </a:t>
            </a:r>
            <a:r>
              <a:rPr sz="2000" b="0" i="0" dirty="0">
                <a:solidFill>
                  <a:srgbClr val="8A8A8A"/>
                </a:solidFill>
                <a:latin typeface="Arial"/>
              </a:rPr>
              <a:t>these defenses </a:t>
            </a:r>
            <a:r>
              <a:rPr lang="en-US" sz="2000" b="0" i="0" dirty="0">
                <a:solidFill>
                  <a:srgbClr val="8A8A8A"/>
                </a:solidFill>
                <a:latin typeface="Arial"/>
              </a:rPr>
              <a:t>in detail later</a:t>
            </a:r>
            <a:endParaRPr sz="2000" b="0" i="0" dirty="0">
              <a:solidFill>
                <a:srgbClr val="8A8A8A"/>
              </a:solidFill>
              <a:latin typeface="Arial"/>
            </a:endParaRP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i="0">
                <a:solidFill>
                  <a:srgbClr val="202020"/>
                </a:solidFill>
                <a:latin typeface="Arial"/>
              </a:rPr>
              <a:t>Attack 3: Reusing Freed Memory</a:t>
            </a:r>
          </a:p>
        </p:txBody>
      </p:sp>
      <p:sp>
        <p:nvSpPr>
          <p:cNvPr id="3" name="Text Placeholder 2"/>
          <p:cNvSpPr>
            <a:spLocks noGrp="1"/>
          </p:cNvSpPr>
          <p:nvPr>
            <p:ph type="body" idx="1"/>
          </p:nvPr>
        </p:nvSpPr>
        <p:spPr/>
        <p:txBody>
          <a:bodyPr/>
          <a:lstStyle/>
          <a:p>
            <a:r>
              <a:rPr sz="1800" b="1" i="0">
                <a:solidFill>
                  <a:srgbClr val="E47932"/>
                </a:solidFill>
                <a:latin typeface="Arial"/>
              </a:rPr>
              <a:t>A temporal error on the heap: use-after-free, deepened from Lecture 4</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Use-After-Free on the Heap</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From Lecture 4: using a pointer after free is a temporal error, and the region may be reused</a:t>
            </a:r>
          </a:p>
          <a:p>
            <a:r>
              <a:rPr sz="2000" b="0" i="0">
                <a:solidFill>
                  <a:srgbClr val="202020"/>
                </a:solidFill>
                <a:latin typeface="Arial"/>
              </a:rPr>
              <a:t>Heap-specific: if you control what is written through stale pointer b, b becomes a write primitive</a:t>
            </a:r>
          </a:p>
          <a:p>
            <a:r>
              <a:rPr sz="2000" b="0" i="0">
                <a:solidFill>
                  <a:srgbClr val="202020"/>
                </a:solidFill>
                <a:latin typeface="Arial"/>
              </a:rPr>
              <a:t>The exploit steers the reallocation: a stale pointer is inert until the slot holds a target</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20</a:t>
            </a:fld>
            <a:endParaRPr/>
          </a:p>
        </p:txBody>
      </p:sp>
      <p:sp>
        <p:nvSpPr>
          <p:cNvPr id="42" name="Rectangle 41"/>
          <p:cNvSpPr/>
          <p:nvPr/>
        </p:nvSpPr>
        <p:spPr>
          <a:xfrm>
            <a:off x="1000000" y="3650000"/>
            <a:ext cx="1500000" cy="27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A</a:t>
            </a:r>
          </a:p>
        </p:txBody>
      </p:sp>
      <p:sp>
        <p:nvSpPr>
          <p:cNvPr id="43" name="Rectangle 42"/>
          <p:cNvSpPr/>
          <p:nvPr/>
        </p:nvSpPr>
        <p:spPr>
          <a:xfrm>
            <a:off x="1000000" y="3920000"/>
            <a:ext cx="1500000" cy="270000"/>
          </a:xfrm>
          <a:prstGeom prst="rect">
            <a:avLst/>
          </a:prstGeom>
          <a:solidFill>
            <a:srgbClr val="EFEFE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8A8A8A"/>
                </a:solidFill>
                <a:latin typeface="Arial"/>
              </a:rPr>
              <a:t>free</a:t>
            </a:r>
          </a:p>
        </p:txBody>
      </p:sp>
      <p:sp>
        <p:nvSpPr>
          <p:cNvPr id="44" name="Rectangle 43"/>
          <p:cNvSpPr/>
          <p:nvPr/>
        </p:nvSpPr>
        <p:spPr>
          <a:xfrm>
            <a:off x="1000000" y="4190000"/>
            <a:ext cx="1500000" cy="27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C</a:t>
            </a:r>
          </a:p>
        </p:txBody>
      </p:sp>
      <p:sp>
        <p:nvSpPr>
          <p:cNvPr id="45" name="TextBox 44"/>
          <p:cNvSpPr txBox="1"/>
          <p:nvPr/>
        </p:nvSpPr>
        <p:spPr>
          <a:xfrm>
            <a:off x="600000" y="3920000"/>
            <a:ext cx="340000" cy="270000"/>
          </a:xfrm>
          <a:prstGeom prst="rect">
            <a:avLst/>
          </a:prstGeom>
          <a:noFill/>
        </p:spPr>
        <p:txBody>
          <a:bodyPr wrap="square" lIns="0" tIns="0" rIns="0" bIns="0" anchor="ctr">
            <a:spAutoFit/>
          </a:bodyPr>
          <a:lstStyle/>
          <a:p>
            <a:pPr algn="r"/>
            <a:r>
              <a:rPr sz="1100" b="1" i="0">
                <a:solidFill>
                  <a:srgbClr val="C0392B"/>
                </a:solidFill>
                <a:latin typeface="Arial"/>
              </a:rPr>
              <a:t>b</a:t>
            </a:r>
          </a:p>
        </p:txBody>
      </p:sp>
      <p:cxnSp>
        <p:nvCxnSpPr>
          <p:cNvPr id="46" name="Connector 45"/>
          <p:cNvCxnSpPr/>
          <p:nvPr/>
        </p:nvCxnSpPr>
        <p:spPr>
          <a:xfrm>
            <a:off x="940000" y="4070000"/>
            <a:ext cx="120000" cy="0"/>
          </a:xfrm>
          <a:prstGeom prst="bentConnector3">
            <a:avLst/>
          </a:prstGeom>
          <a:ln w="1905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00000" y="4490000"/>
            <a:ext cx="1500000" cy="240000"/>
          </a:xfrm>
          <a:prstGeom prst="rect">
            <a:avLst/>
          </a:prstGeom>
          <a:noFill/>
        </p:spPr>
        <p:txBody>
          <a:bodyPr wrap="square" lIns="0" tIns="0" rIns="0" bIns="0" anchor="t">
            <a:spAutoFit/>
          </a:bodyPr>
          <a:lstStyle/>
          <a:p>
            <a:pPr algn="ctr"/>
            <a:r>
              <a:rPr sz="950" b="0" i="1">
                <a:solidFill>
                  <a:srgbClr val="8A8A8A"/>
                </a:solidFill>
                <a:latin typeface="Arial"/>
              </a:rPr>
              <a:t>stale b, nothing reused: harmless</a:t>
            </a:r>
          </a:p>
        </p:txBody>
      </p:sp>
      <p:sp>
        <p:nvSpPr>
          <p:cNvPr id="48" name="Rectangle 47"/>
          <p:cNvSpPr/>
          <p:nvPr/>
        </p:nvSpPr>
        <p:spPr>
          <a:xfrm>
            <a:off x="5200000" y="3650000"/>
            <a:ext cx="1500000" cy="27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A</a:t>
            </a:r>
          </a:p>
        </p:txBody>
      </p:sp>
      <p:sp>
        <p:nvSpPr>
          <p:cNvPr id="49" name="Rectangle 48"/>
          <p:cNvSpPr/>
          <p:nvPr/>
        </p:nvSpPr>
        <p:spPr>
          <a:xfrm>
            <a:off x="5200000" y="3920000"/>
            <a:ext cx="1500000" cy="270000"/>
          </a:xfrm>
          <a:prstGeom prst="rect">
            <a:avLst/>
          </a:prstGeom>
          <a:solidFill>
            <a:srgbClr val="E4793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FFFFFF"/>
                </a:solidFill>
                <a:latin typeface="Arial"/>
              </a:rPr>
              <a:t>target</a:t>
            </a:r>
          </a:p>
        </p:txBody>
      </p:sp>
      <p:sp>
        <p:nvSpPr>
          <p:cNvPr id="50" name="Rectangle 49"/>
          <p:cNvSpPr/>
          <p:nvPr/>
        </p:nvSpPr>
        <p:spPr>
          <a:xfrm>
            <a:off x="5200000" y="4190000"/>
            <a:ext cx="1500000" cy="27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C</a:t>
            </a:r>
          </a:p>
        </p:txBody>
      </p:sp>
      <p:sp>
        <p:nvSpPr>
          <p:cNvPr id="51" name="TextBox 50"/>
          <p:cNvSpPr txBox="1"/>
          <p:nvPr/>
        </p:nvSpPr>
        <p:spPr>
          <a:xfrm>
            <a:off x="4800000" y="3920000"/>
            <a:ext cx="340000" cy="270000"/>
          </a:xfrm>
          <a:prstGeom prst="rect">
            <a:avLst/>
          </a:prstGeom>
          <a:noFill/>
        </p:spPr>
        <p:txBody>
          <a:bodyPr wrap="square" lIns="0" tIns="0" rIns="0" bIns="0" anchor="ctr">
            <a:spAutoFit/>
          </a:bodyPr>
          <a:lstStyle/>
          <a:p>
            <a:pPr algn="r"/>
            <a:r>
              <a:rPr sz="1100" b="1" i="0">
                <a:solidFill>
                  <a:srgbClr val="C0392B"/>
                </a:solidFill>
                <a:latin typeface="Arial"/>
              </a:rPr>
              <a:t>b</a:t>
            </a:r>
          </a:p>
        </p:txBody>
      </p:sp>
      <p:cxnSp>
        <p:nvCxnSpPr>
          <p:cNvPr id="52" name="Connector 51"/>
          <p:cNvCxnSpPr/>
          <p:nvPr/>
        </p:nvCxnSpPr>
        <p:spPr>
          <a:xfrm>
            <a:off x="5140000" y="4070000"/>
            <a:ext cx="120000" cy="0"/>
          </a:xfrm>
          <a:prstGeom prst="bentConnector3">
            <a:avLst/>
          </a:prstGeom>
          <a:ln w="1905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200000" y="4490000"/>
            <a:ext cx="1500000" cy="240000"/>
          </a:xfrm>
          <a:prstGeom prst="rect">
            <a:avLst/>
          </a:prstGeom>
          <a:noFill/>
        </p:spPr>
        <p:txBody>
          <a:bodyPr wrap="square" lIns="0" tIns="0" rIns="0" bIns="0" anchor="t">
            <a:spAutoFit/>
          </a:bodyPr>
          <a:lstStyle/>
          <a:p>
            <a:pPr algn="ctr"/>
            <a:r>
              <a:rPr sz="950" b="0" i="1">
                <a:solidFill>
                  <a:srgbClr val="8A8A8A"/>
                </a:solidFill>
                <a:latin typeface="Arial"/>
              </a:rPr>
              <a:t>slot reused: b is a write primitive</a:t>
            </a:r>
          </a:p>
        </p:txBody>
      </p:sp>
      <p:sp>
        <p:nvSpPr>
          <p:cNvPr id="54" name="TextBox 53"/>
          <p:cNvSpPr txBox="1"/>
          <p:nvPr/>
        </p:nvSpPr>
        <p:spPr>
          <a:xfrm>
            <a:off x="5200000" y="3400000"/>
            <a:ext cx="1500000" cy="230000"/>
          </a:xfrm>
          <a:prstGeom prst="rect">
            <a:avLst/>
          </a:prstGeom>
          <a:noFill/>
        </p:spPr>
        <p:txBody>
          <a:bodyPr wrap="square" lIns="0" tIns="0" rIns="0" bIns="0" anchor="t">
            <a:spAutoFit/>
          </a:bodyPr>
          <a:lstStyle/>
          <a:p>
            <a:pPr algn="ctr"/>
            <a:r>
              <a:rPr sz="900" b="0" i="0">
                <a:solidFill>
                  <a:srgbClr val="C0392B"/>
                </a:solidFill>
                <a:latin typeface="Courier New"/>
              </a:rPr>
              <a:t>memcpy(b, adv_data)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par>
                                <p:cTn id="11" presetID="10"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childTnLst>
                                </p:cTn>
                              </p:par>
                              <p:par>
                                <p:cTn id="14" presetID="10" presetClass="entr" presetSubtype="0" fill="hold"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nodeType="with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500"/>
                                        <p:tgtEl>
                                          <p:spTgt spid="52"/>
                                        </p:tgtEl>
                                      </p:cBhvr>
                                    </p:animEffect>
                                  </p:childTnLst>
                                </p:cTn>
                              </p:par>
                              <p:par>
                                <p:cTn id="20" presetID="10" presetClass="entr" presetSubtype="0" fill="hold"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500"/>
                                        <p:tgtEl>
                                          <p:spTgt spid="53"/>
                                        </p:tgtEl>
                                      </p:cBhvr>
                                    </p:animEffect>
                                  </p:childTnLst>
                                </p:cTn>
                              </p:par>
                              <p:par>
                                <p:cTn id="23" presetID="10" presetClass="entr" presetSubtype="0"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fade">
                                      <p:cBhvr>
                                        <p:cTn id="25"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Grooming the Allocator</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The challenge: get the program to allocate your target object into the freed slot</a:t>
            </a:r>
          </a:p>
          <a:p>
            <a:r>
              <a:rPr sz="2000" b="0" i="0">
                <a:solidFill>
                  <a:srgbClr val="202020"/>
                </a:solidFill>
                <a:latin typeface="Arial"/>
              </a:rPr>
              <a:t>Where an allocation lands is decided by the allocator, not the attacker directly</a:t>
            </a:r>
          </a:p>
          <a:p>
            <a:r>
              <a:rPr sz="2000" b="0" i="0">
                <a:solidFill>
                  <a:srgbClr val="202020"/>
                </a:solidFill>
                <a:latin typeface="Arial"/>
              </a:rPr>
              <a:t>Heap spraying drives many allocations so one reuses the freed slot, where b still points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21</a:t>
            </a:fld>
            <a:endParaRPr/>
          </a:p>
        </p:txBody>
      </p:sp>
      <p:sp>
        <p:nvSpPr>
          <p:cNvPr id="42" name="Rectangle 41"/>
          <p:cNvSpPr/>
          <p:nvPr/>
        </p:nvSpPr>
        <p:spPr>
          <a:xfrm>
            <a:off x="1000000" y="3650000"/>
            <a:ext cx="1500000" cy="30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A</a:t>
            </a:r>
          </a:p>
        </p:txBody>
      </p:sp>
      <p:sp>
        <p:nvSpPr>
          <p:cNvPr id="43" name="Rectangle 42"/>
          <p:cNvSpPr/>
          <p:nvPr/>
        </p:nvSpPr>
        <p:spPr>
          <a:xfrm>
            <a:off x="1000000" y="3950000"/>
            <a:ext cx="1500000" cy="300000"/>
          </a:xfrm>
          <a:prstGeom prst="rect">
            <a:avLst/>
          </a:prstGeom>
          <a:solidFill>
            <a:srgbClr val="E47932"/>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FFFFFF"/>
                </a:solidFill>
                <a:latin typeface="Arial"/>
              </a:rPr>
              <a:t>target</a:t>
            </a:r>
          </a:p>
        </p:txBody>
      </p:sp>
      <p:sp>
        <p:nvSpPr>
          <p:cNvPr id="44" name="Rectangle 43"/>
          <p:cNvSpPr/>
          <p:nvPr/>
        </p:nvSpPr>
        <p:spPr>
          <a:xfrm>
            <a:off x="1000000" y="4250000"/>
            <a:ext cx="1500000" cy="300000"/>
          </a:xfrm>
          <a:prstGeom prst="rect">
            <a:avLst/>
          </a:prstGeom>
          <a:solidFill>
            <a:srgbClr val="D6E4F0"/>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0">
                <a:solidFill>
                  <a:srgbClr val="202020"/>
                </a:solidFill>
                <a:latin typeface="Arial"/>
              </a:rPr>
              <a:t>Obj C</a:t>
            </a:r>
          </a:p>
        </p:txBody>
      </p:sp>
      <p:sp>
        <p:nvSpPr>
          <p:cNvPr id="45" name="TextBox 44"/>
          <p:cNvSpPr txBox="1"/>
          <p:nvPr/>
        </p:nvSpPr>
        <p:spPr>
          <a:xfrm>
            <a:off x="600000" y="3950000"/>
            <a:ext cx="340000" cy="300000"/>
          </a:xfrm>
          <a:prstGeom prst="rect">
            <a:avLst/>
          </a:prstGeom>
          <a:noFill/>
        </p:spPr>
        <p:txBody>
          <a:bodyPr wrap="square" lIns="0" tIns="0" rIns="0" bIns="0" anchor="ctr">
            <a:spAutoFit/>
          </a:bodyPr>
          <a:lstStyle/>
          <a:p>
            <a:pPr algn="r"/>
            <a:r>
              <a:rPr sz="1100" b="1" i="0">
                <a:solidFill>
                  <a:srgbClr val="C0392B"/>
                </a:solidFill>
                <a:latin typeface="Arial"/>
              </a:rPr>
              <a:t>b</a:t>
            </a:r>
          </a:p>
        </p:txBody>
      </p:sp>
      <p:sp>
        <p:nvSpPr>
          <p:cNvPr id="46" name="Rounded Rectangle 45"/>
          <p:cNvSpPr/>
          <p:nvPr/>
        </p:nvSpPr>
        <p:spPr>
          <a:xfrm>
            <a:off x="4300000" y="3800000"/>
            <a:ext cx="470000" cy="260000"/>
          </a:xfrm>
          <a:prstGeom prst="roundRect">
            <a:avLst>
              <a:gd name="adj" fmla="val 5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i="0">
                <a:solidFill>
                  <a:srgbClr val="FFFFFF"/>
                </a:solidFill>
                <a:latin typeface="Arial"/>
              </a:rPr>
              <a:t>target</a:t>
            </a:r>
          </a:p>
        </p:txBody>
      </p:sp>
      <p:sp>
        <p:nvSpPr>
          <p:cNvPr id="47" name="Rounded Rectangle 46"/>
          <p:cNvSpPr/>
          <p:nvPr/>
        </p:nvSpPr>
        <p:spPr>
          <a:xfrm>
            <a:off x="4860000" y="3800000"/>
            <a:ext cx="470000" cy="260000"/>
          </a:xfrm>
          <a:prstGeom prst="roundRect">
            <a:avLst>
              <a:gd name="adj" fmla="val 5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i="0">
                <a:solidFill>
                  <a:srgbClr val="FFFFFF"/>
                </a:solidFill>
                <a:latin typeface="Arial"/>
              </a:rPr>
              <a:t>target</a:t>
            </a:r>
          </a:p>
        </p:txBody>
      </p:sp>
      <p:sp>
        <p:nvSpPr>
          <p:cNvPr id="48" name="Rounded Rectangle 47"/>
          <p:cNvSpPr/>
          <p:nvPr/>
        </p:nvSpPr>
        <p:spPr>
          <a:xfrm>
            <a:off x="5420000" y="3800000"/>
            <a:ext cx="470000" cy="260000"/>
          </a:xfrm>
          <a:prstGeom prst="roundRect">
            <a:avLst>
              <a:gd name="adj" fmla="val 5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i="0">
                <a:solidFill>
                  <a:srgbClr val="FFFFFF"/>
                </a:solidFill>
                <a:latin typeface="Arial"/>
              </a:rPr>
              <a:t>target</a:t>
            </a:r>
          </a:p>
        </p:txBody>
      </p:sp>
      <p:sp>
        <p:nvSpPr>
          <p:cNvPr id="49" name="Rounded Rectangle 48"/>
          <p:cNvSpPr/>
          <p:nvPr/>
        </p:nvSpPr>
        <p:spPr>
          <a:xfrm>
            <a:off x="4300000" y="4120000"/>
            <a:ext cx="470000" cy="260000"/>
          </a:xfrm>
          <a:prstGeom prst="roundRect">
            <a:avLst>
              <a:gd name="adj" fmla="val 5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i="0">
                <a:solidFill>
                  <a:srgbClr val="FFFFFF"/>
                </a:solidFill>
                <a:latin typeface="Arial"/>
              </a:rPr>
              <a:t>target</a:t>
            </a:r>
          </a:p>
        </p:txBody>
      </p:sp>
      <p:sp>
        <p:nvSpPr>
          <p:cNvPr id="50" name="Rounded Rectangle 49"/>
          <p:cNvSpPr/>
          <p:nvPr/>
        </p:nvSpPr>
        <p:spPr>
          <a:xfrm>
            <a:off x="4860000" y="4120000"/>
            <a:ext cx="470000" cy="260000"/>
          </a:xfrm>
          <a:prstGeom prst="roundRect">
            <a:avLst>
              <a:gd name="adj" fmla="val 5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i="0">
                <a:solidFill>
                  <a:srgbClr val="FFFFFF"/>
                </a:solidFill>
                <a:latin typeface="Arial"/>
              </a:rPr>
              <a:t>target</a:t>
            </a:r>
          </a:p>
        </p:txBody>
      </p:sp>
      <p:sp>
        <p:nvSpPr>
          <p:cNvPr id="51" name="Rounded Rectangle 50"/>
          <p:cNvSpPr/>
          <p:nvPr/>
        </p:nvSpPr>
        <p:spPr>
          <a:xfrm>
            <a:off x="5420000" y="4120000"/>
            <a:ext cx="470000" cy="260000"/>
          </a:xfrm>
          <a:prstGeom prst="roundRect">
            <a:avLst>
              <a:gd name="adj" fmla="val 5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i="0">
                <a:solidFill>
                  <a:srgbClr val="FFFFFF"/>
                </a:solidFill>
                <a:latin typeface="Arial"/>
              </a:rPr>
              <a:t>target</a:t>
            </a:r>
          </a:p>
        </p:txBody>
      </p:sp>
      <p:cxnSp>
        <p:nvCxnSpPr>
          <p:cNvPr id="52" name="Connector 51"/>
          <p:cNvCxnSpPr/>
          <p:nvPr/>
        </p:nvCxnSpPr>
        <p:spPr>
          <a:xfrm flipH="1">
            <a:off x="2560000" y="4080000"/>
            <a:ext cx="1690000" cy="20000"/>
          </a:xfrm>
          <a:prstGeom prst="bentConnector3">
            <a:avLst/>
          </a:prstGeom>
          <a:ln w="1905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000000" y="4470000"/>
            <a:ext cx="3200000" cy="260000"/>
          </a:xfrm>
          <a:prstGeom prst="rect">
            <a:avLst/>
          </a:prstGeom>
          <a:noFill/>
        </p:spPr>
        <p:txBody>
          <a:bodyPr wrap="square" lIns="0" tIns="0" rIns="0" bIns="0" anchor="t">
            <a:spAutoFit/>
          </a:bodyPr>
          <a:lstStyle/>
          <a:p>
            <a:pPr algn="l"/>
            <a:r>
              <a:rPr sz="950" b="0" i="1">
                <a:solidFill>
                  <a:srgbClr val="8A8A8A"/>
                </a:solidFill>
                <a:latin typeface="Arial"/>
              </a:rPr>
              <a:t>heap spray: one allocation lands in the slot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Other Attacks (Optional)</a:t>
            </a:r>
          </a:p>
        </p:txBody>
      </p:sp>
      <p:sp>
        <p:nvSpPr>
          <p:cNvPr id="3" name="Text Placeholder 2"/>
          <p:cNvSpPr>
            <a:spLocks noGrp="1"/>
          </p:cNvSpPr>
          <p:nvPr>
            <p:ph type="body" idx="1"/>
          </p:nvPr>
        </p:nvSpPr>
        <p:spPr/>
        <p:txBody>
          <a:bodyPr wrap="square" lIns="0" tIns="0" rIns="0" bIns="0"/>
          <a:lstStyle/>
          <a:p>
            <a:r>
              <a:rPr sz="2000" b="0" i="0">
                <a:solidFill>
                  <a:srgbClr val="202020"/>
                </a:solidFill>
                <a:latin typeface="Arial"/>
              </a:rPr>
              <a:t>Type confusion on use-after-free: a differently-typed object is reallocated at the freed slot</a:t>
            </a:r>
          </a:p>
          <a:p>
            <a:r>
              <a:rPr sz="2000" b="0" i="0">
                <a:solidFill>
                  <a:srgbClr val="202020"/>
                </a:solidFill>
                <a:latin typeface="Arial"/>
              </a:rPr>
              <a:t>The stale pointer accesses the new object with the wrong type (for example an int field as a pointer)</a:t>
            </a:r>
          </a:p>
          <a:p>
            <a:r>
              <a:rPr sz="2000" b="0" i="0">
                <a:solidFill>
                  <a:srgbClr val="202020"/>
                </a:solidFill>
                <a:latin typeface="Arial"/>
              </a:rPr>
              <a:t>More complex to land reliably, so out of scope for this class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Conclusions</a:t>
            </a:r>
          </a:p>
        </p:txBody>
      </p:sp>
      <p:sp>
        <p:nvSpPr>
          <p:cNvPr id="3" name="Text Placeholder 2"/>
          <p:cNvSpPr>
            <a:spLocks noGrp="1"/>
          </p:cNvSpPr>
          <p:nvPr>
            <p:ph type="body" idx="1"/>
          </p:nvPr>
        </p:nvSpPr>
        <p:spPr/>
        <p:txBody>
          <a:bodyPr wrap="square" lIns="0" tIns="0" rIns="0" bIns="0">
            <a:normAutofit lnSpcReduction="10000"/>
          </a:bodyPr>
          <a:lstStyle/>
          <a:p>
            <a:r>
              <a:rPr sz="2000" b="0" i="0" dirty="0">
                <a:solidFill>
                  <a:srgbClr val="202020"/>
                </a:solidFill>
                <a:latin typeface="Arial"/>
              </a:rPr>
              <a:t>Heap errors are now among the most commonly exploited vulnerabilities</a:t>
            </a:r>
          </a:p>
          <a:p>
            <a:r>
              <a:rPr sz="2000" b="0" i="0" dirty="0">
                <a:solidFill>
                  <a:srgbClr val="202020"/>
                </a:solidFill>
                <a:latin typeface="Arial"/>
              </a:rPr>
              <a:t>Heap attacks target metadata or data, spatially (overflows) or temporally (use-after-free)</a:t>
            </a:r>
          </a:p>
          <a:p>
            <a:r>
              <a:rPr sz="2000" b="0" i="0" dirty="0">
                <a:solidFill>
                  <a:srgbClr val="202020"/>
                </a:solidFill>
                <a:latin typeface="Arial"/>
              </a:rPr>
              <a:t>Similar in spirit to stack exploits, but more varied because allocation is more complex</a:t>
            </a:r>
          </a:p>
          <a:p>
            <a:r>
              <a:rPr sz="2000" b="0" i="0" dirty="0">
                <a:solidFill>
                  <a:srgbClr val="202020"/>
                </a:solidFill>
                <a:latin typeface="Arial"/>
              </a:rPr>
              <a:t>The open problem: heap defenses that are reliable yet not too expensive</a:t>
            </a:r>
          </a:p>
          <a:p>
            <a:r>
              <a:rPr sz="2000" b="0" i="0" dirty="0">
                <a:solidFill>
                  <a:srgbClr val="8A8A8A"/>
                </a:solidFill>
                <a:latin typeface="Arial"/>
              </a:rPr>
              <a:t>Next: ROP (</a:t>
            </a:r>
            <a:r>
              <a:rPr sz="2000" b="0" i="0" dirty="0" err="1">
                <a:solidFill>
                  <a:srgbClr val="8A8A8A"/>
                </a:solidFill>
                <a:latin typeface="Arial"/>
              </a:rPr>
              <a:t>Lec</a:t>
            </a:r>
            <a:r>
              <a:rPr sz="2000" b="0" i="0" dirty="0">
                <a:solidFill>
                  <a:srgbClr val="8A8A8A"/>
                </a:solidFill>
                <a:latin typeface="Arial"/>
              </a:rPr>
              <a:t> 8) reuses existing code to beat NX; full defenses in Current Defenses (</a:t>
            </a:r>
            <a:r>
              <a:rPr lang="en-US" sz="2000" b="0" i="0" dirty="0">
                <a:solidFill>
                  <a:srgbClr val="8A8A8A"/>
                </a:solidFill>
                <a:latin typeface="Arial"/>
              </a:rPr>
              <a:t>~</a:t>
            </a:r>
            <a:r>
              <a:rPr sz="2000" b="0" i="0">
                <a:solidFill>
                  <a:srgbClr val="8A8A8A"/>
                </a:solidFill>
                <a:latin typeface="Arial"/>
              </a:rPr>
              <a:t>Week 6)</a:t>
            </a:r>
            <a:endParaRPr sz="2000" b="0" i="0" dirty="0">
              <a:solidFill>
                <a:srgbClr val="8A8A8A"/>
              </a:solidFill>
              <a:latin typeface="Arial"/>
            </a:endParaRP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l"/>
            <a:r>
              <a:rPr sz="2800" b="1" i="0">
                <a:solidFill>
                  <a:srgbClr val="202020"/>
                </a:solidFill>
                <a:latin typeface="Arial"/>
              </a:rPr>
              <a:t>Questions</a:t>
            </a: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24</a:t>
            </a:fld>
            <a:endParaRPr/>
          </a:p>
        </p:txBody>
      </p:sp>
      <p:sp>
        <p:nvSpPr>
          <p:cNvPr id="42" name="Rounded Rectangle 41"/>
          <p:cNvSpPr/>
          <p:nvPr/>
        </p:nvSpPr>
        <p:spPr>
          <a:xfrm>
            <a:off x="4100000" y="2550000"/>
            <a:ext cx="950000" cy="950000"/>
          </a:xfrm>
          <a:prstGeom prst="roundRect">
            <a:avLst>
              <a:gd name="adj" fmla="val 50000"/>
            </a:avLst>
          </a:prstGeom>
          <a:solidFill>
            <a:srgbClr val="E479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5400" b="1" i="0">
                <a:solidFill>
                  <a:srgbClr val="FFFFFF"/>
                </a:solidFill>
                <a:latin typeface="Arial"/>
              </a:rPr>
              <a:t>?</a:t>
            </a:r>
          </a:p>
        </p:txBody>
      </p:sp>
    </p:spTree>
  </p:cSld>
  <p:clrMapOvr>
    <a:masterClrMapping/>
  </p:clrMapOvr>
</p:sld>
</file>

<file path=ppt/theme/theme1.xml><?xml version="1.0" encoding="utf-8"?>
<a:theme xmlns:a="http://schemas.openxmlformats.org/drawingml/2006/main" name="Office Theme [1790301506474]">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1875</Words>
  <Application>Microsoft Macintosh PowerPoint</Application>
  <PresentationFormat>On-screen Show (16:9)</PresentationFormat>
  <Paragraphs>258</Paragraphs>
  <Slides>24</Slides>
  <Notes>3</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Courier New</vt:lpstr>
      <vt:lpstr>Office Theme [1790301506474]</vt:lpstr>
      <vt:lpstr>CS 165: Computer Security</vt:lpstr>
      <vt:lpstr>Outline</vt:lpstr>
      <vt:lpstr>Stack vs Heap: Where Dynamic Memory Lives</vt:lpstr>
      <vt:lpstr>Where the Return Address Lives</vt:lpstr>
      <vt:lpstr>The Heap: malloc and free</vt:lpstr>
      <vt:lpstr>Recall the Principle: an Overflow Hits Adjacent Data</vt:lpstr>
      <vt:lpstr>The Same Bug on the Heap</vt:lpstr>
      <vt:lpstr>Heap Layout: Objects Plus Metadata</vt:lpstr>
      <vt:lpstr>Attack 1: Corrupting Allocator Metadata</vt:lpstr>
      <vt:lpstr>Chunks in a Doubly-Linked List</vt:lpstr>
      <vt:lpstr>Unlinking a Chunk on free()</vt:lpstr>
      <vt:lpstr>The Unlink Write-What-Where</vt:lpstr>
      <vt:lpstr>Defense: Check the Unlink Invariant</vt:lpstr>
      <vt:lpstr>Attack 2: Overflowing into a Neighbor</vt:lpstr>
      <vt:lpstr>Overflow a Buffer into Adjacent Fields</vt:lpstr>
      <vt:lpstr>Overwrite a Data Pointer: Read/Write Primitive</vt:lpstr>
      <vt:lpstr>Overwrite a Function Pointer: Code Execution</vt:lpstr>
      <vt:lpstr>Why the Usual Defenses Do Not Help Here</vt:lpstr>
      <vt:lpstr>Attack 3: Reusing Freed Memory</vt:lpstr>
      <vt:lpstr>Use-After-Free on the Heap</vt:lpstr>
      <vt:lpstr>Grooming the Allocator</vt:lpstr>
      <vt:lpstr>Other Attacks (Optional)</vt:lpstr>
      <vt:lpstr>Conclusions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Emiliano De Cristofaro</cp:lastModifiedBy>
  <cp:revision>6</cp:revision>
  <dcterms:modified xsi:type="dcterms:W3CDTF">2026-10-19T22:34:43Z</dcterms:modified>
</cp:coreProperties>
</file>