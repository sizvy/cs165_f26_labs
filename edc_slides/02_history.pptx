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4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6"/>
    <p:sldId id="291" r:id="rId5"/>
    <p:sldId id="292" r:id="rId4"/>
    <p:sldId id="293" r:id="rId3"/>
    <p:sldId id="294" r:id="rId2"/>
    <p:sldId id="295" r:id="rId46"/>
    <p:sldId id="296" r:id="rId47"/>
    <p:sldId id="297" r:id="rId4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9"/>
  </p:normalViewPr>
  <p:slideViewPr>
    <p:cSldViewPr snapToGrid="0">
      <p:cViewPr varScale="1">
        <p:scale>
          <a:sx n="153" d="100"/>
          <a:sy n="153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9.xml"/><Relationship Id="rId3" Type="http://schemas.openxmlformats.org/officeDocument/2006/relationships/slide" Target="slides/slide38.xml"/><Relationship Id="rId4" Type="http://schemas.openxmlformats.org/officeDocument/2006/relationships/slide" Target="slides/slide37.xml"/><Relationship Id="rId5" Type="http://schemas.openxmlformats.org/officeDocument/2006/relationships/slide" Target="slides/slide36.xml"/><Relationship Id="rId6" Type="http://schemas.openxmlformats.org/officeDocument/2006/relationships/slide" Target="slides/slide3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acsac.org/2002/papers/classic-multics-orig.pd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History of Software Attacks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 algn="l">
              <a:buNone/>
            </a:pPr>
            <a:r>
              <a:t>Emiliano De Cristofaro</a:t>
            </a:r>
          </a:p>
          <a:p>
            <a:pPr marL="0" indent="0" algn="l">
              <a:buNone/>
            </a:pPr>
            <a:r>
              <a:t>University of California, Riverside</a:t>
            </a:r>
          </a:p>
          <a:p>
            <a:pPr marL="0" indent="0" algn="l">
              <a:buNone/>
            </a:pPr>
            <a:r>
              <a:t>Fall 2026  |  Wednesday, September 30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Even in the early days of computing, people were worried about attacks on computer systems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Why were they concerned?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687" y="2818825"/>
            <a:ext cx="1381125" cy="1781175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Concerns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Significant early (1960s) computer systems were funded for government use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From single-user systems to timesharing</a:t>
            </a:r>
            <a:r>
              <a:t>, multi-user systems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Leakage of secrets </a:t>
            </a:r>
            <a:r>
              <a:t>was critical to the Allies success in World War II – and the top concern in the Cold War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So, when the US funded the development of a general purpose, multi-user operating system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Considered security issues as a first-class concept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Multics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Major operating systems research project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Information about the project is available online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https://</a:t>
            </a:r>
            <a:r>
              <a:t>multicians.org</a:t>
            </a:r>
            <a:r>
              <a:t>/</a:t>
            </a:r>
            <a:r>
              <a:t>history.html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2942575"/>
            <a:ext cx="2381250" cy="1581150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Multics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3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Participants: </a:t>
            </a:r>
            <a:r>
              <a:rPr b="1"/>
              <a:t>MIT, Bell Labs, General Electric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Bell Labs dropped out in 1969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Later did a system you may be familiar with…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General Electric sold out to Honeywell in 1970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Started in 1965 and funded by the US government (DARPA) for </a:t>
            </a:r>
            <a:r>
              <a:rPr b="1"/>
              <a:t>over $2M per year </a:t>
            </a:r>
            <a:r>
              <a:t>at the time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Delivered systems to US Air Force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Later sold to various governments and to auto makers, universities, and commercial data processing services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Last Multics system was shut down in 2000 (Canada)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Multics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Why are we discussing a system that is no longer in use?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And only sold </a:t>
            </a:r>
            <a:r>
              <a:rPr b="1"/>
              <a:t>80 installations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But, at about $7M each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748340"/>
            <a:ext cx="1851660" cy="1851660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Multics 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Due to the interest in government deployments, </a:t>
            </a:r>
            <a:r>
              <a:rPr b="1"/>
              <a:t>security was a key goal </a:t>
            </a:r>
            <a:r>
              <a:t>of the Multics project from the outset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They were concerned about two main problems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Secrecy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Prevent the unauthorized access to sensitive data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Integrity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Prevent the illicit modification of sensitive data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Multics researchers already had a good idea about the </a:t>
            </a:r>
            <a:r>
              <a:rPr b="1"/>
              <a:t>software security problems </a:t>
            </a:r>
            <a:r>
              <a:t>we would face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Compromise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6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Can an </a:t>
            </a:r>
            <a:r>
              <a:rPr b="1"/>
              <a:t>adversary</a:t>
            </a:r>
            <a:r>
              <a:t> provide an </a:t>
            </a:r>
            <a:r>
              <a:rPr b="1"/>
              <a:t>input payload </a:t>
            </a:r>
            <a:r>
              <a:t>that enables the adversary to </a:t>
            </a:r>
            <a:r>
              <a:rPr b="1"/>
              <a:t>hijack</a:t>
            </a:r>
            <a:r>
              <a:t> your program?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Multics researchers knew this was possible in theory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And demonstrated such attacks were possible in a vulnerability analysis of Multics in 1974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See retrospective in </a:t>
            </a:r>
            <a:r>
              <a:rPr>
                <a:hlinkClick r:id="rId2"/>
              </a:rPr>
              <a:t>https://www.acsac.org/2002/papers/classic-multics-orig.pdf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Among other attacks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Does this attack violate </a:t>
            </a:r>
            <a:r>
              <a:rPr b="1"/>
              <a:t>secrecy</a:t>
            </a:r>
            <a:r>
              <a:t> or </a:t>
            </a:r>
            <a:r>
              <a:rPr b="1"/>
              <a:t>integrity</a:t>
            </a:r>
            <a:r>
              <a:t>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 Theory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How can you ensure that your </a:t>
            </a:r>
            <a:r>
              <a:rPr b="1"/>
              <a:t>program’s integrity</a:t>
            </a:r>
            <a:r>
              <a:t>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I.e., prevent any process compromise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in Theory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How can you ensure that your program’s integrity?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No </a:t>
            </a:r>
            <a:r>
              <a:rPr b="1"/>
              <a:t>adversary</a:t>
            </a:r>
            <a:r>
              <a:t> can provide an </a:t>
            </a:r>
            <a:r>
              <a:rPr b="1"/>
              <a:t>input</a:t>
            </a:r>
            <a:r>
              <a:t> to your program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Codified as the </a:t>
            </a:r>
            <a:r>
              <a:rPr b="1"/>
              <a:t>Biba Integrity Model </a:t>
            </a:r>
            <a:r>
              <a:t>in 1977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Works but is often not practical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Why not?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Input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How does your program receive </a:t>
            </a:r>
            <a:r>
              <a:rPr b="1"/>
              <a:t>inputs</a:t>
            </a:r>
            <a:r>
              <a:t>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Calls Receive Input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How does your program receive </a:t>
            </a:r>
            <a:r>
              <a:rPr b="1"/>
              <a:t>inputs</a:t>
            </a:r>
            <a:r>
              <a:t>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System calls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Open and read a file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Open and receive packets on a socket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Open a pipe and receive input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Open a shared memory region with another process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Etc.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How can an </a:t>
            </a:r>
            <a:r>
              <a:rPr b="1"/>
              <a:t>adversary</a:t>
            </a:r>
            <a:r>
              <a:t> impact these </a:t>
            </a:r>
            <a:r>
              <a:rPr b="1"/>
              <a:t>inputs</a:t>
            </a:r>
            <a:r>
              <a:t>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At-Risk System Calls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Which system calls does your program make </a:t>
            </a:r>
            <a:r>
              <a:t>that are </a:t>
            </a:r>
            <a:r>
              <a:rPr b="1"/>
              <a:t>at risk </a:t>
            </a:r>
            <a:r>
              <a:t>of receiving adversary input?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Calls and 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Which system calls does your program make that are at risk of receiving adversary input?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Ones that may receive input that can be </a:t>
            </a:r>
            <a:r>
              <a:rPr b="1"/>
              <a:t>modified by an adversary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Let’s discuss an example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Calls and Resources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Which system calls does your program make that are at risk of receiving adversary input?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Ones that may receive input that can be </a:t>
            </a:r>
            <a:r>
              <a:rPr b="1"/>
              <a:t>modified by an adversary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Suppose there are </a:t>
            </a:r>
            <a:r>
              <a:rPr b="1"/>
              <a:t>three system calls </a:t>
            </a:r>
            <a:r>
              <a:t>and </a:t>
            </a:r>
            <a:r>
              <a:rPr b="1"/>
              <a:t>three resources</a:t>
            </a:r>
            <a:r>
              <a:t>: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Files A and B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Socket C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Suppose an adversary can modify File B and the send packets to Socket C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/>
              <a:t>Which system calls are at risk</a:t>
            </a:r>
            <a:r>
              <a:t>?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Calls at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Suppose there are </a:t>
            </a:r>
            <a:r>
              <a:rPr b="1"/>
              <a:t>three system calls </a:t>
            </a:r>
            <a:r>
              <a:t>and </a:t>
            </a:r>
            <a:r>
              <a:rPr b="1"/>
              <a:t>three resources</a:t>
            </a:r>
            <a:r>
              <a:t>: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Files A and B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Socket C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Suppose an adversary can modify File B and the send packets to Socket C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Which system calls are at risk</a:t>
            </a:r>
            <a:r>
              <a:t>?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Ones that access adversary modifiable resources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I.e., </a:t>
            </a:r>
            <a:r>
              <a:t>Syscalls</a:t>
            </a:r>
            <a:r>
              <a:t> that access File B and Socket C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WARNING</a:t>
            </a:r>
            <a:r>
              <a:t>: Could be any of the 3 </a:t>
            </a:r>
            <a:r>
              <a:t>syscalls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Attack Surface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Key term</a:t>
            </a:r>
            <a:r>
              <a:t>: Attack surface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 </a:t>
            </a:r>
            <a:r>
              <a:rPr b="1"/>
              <a:t>attack surface </a:t>
            </a:r>
            <a:r>
              <a:t>is the set of system calls your program makes that </a:t>
            </a:r>
            <a:r>
              <a:rPr b="1"/>
              <a:t>may access adversary-controlled resources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I.e., receive adversary input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You will need to protect your program’s attack surface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More to come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With the </a:t>
            </a:r>
            <a:r>
              <a:rPr b="1"/>
              <a:t>Personal Computer </a:t>
            </a:r>
            <a:r>
              <a:t>(IBM PC) and </a:t>
            </a:r>
            <a:r>
              <a:rPr b="1"/>
              <a:t>Workstation</a:t>
            </a:r>
            <a:r>
              <a:t> (Sun) revolutions of the 1980s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Two operating systems</a:t>
            </a:r>
            <a:r>
              <a:rPr b="1"/>
              <a:t> </a:t>
            </a:r>
            <a:r>
              <a:t>became dominant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Which were…?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494" y="2988370"/>
            <a:ext cx="1243012" cy="1611630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Systems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3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With the </a:t>
            </a:r>
            <a:r>
              <a:rPr b="1"/>
              <a:t>Personal Computer </a:t>
            </a:r>
            <a:r>
              <a:t>(IBM PC) and </a:t>
            </a:r>
            <a:r>
              <a:rPr b="1"/>
              <a:t>Workstation</a:t>
            </a:r>
            <a:r>
              <a:t> (Sun) revolutions of the 1980s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Two operating systems became dominant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UNIX</a:t>
            </a:r>
            <a:r>
              <a:t> and </a:t>
            </a:r>
            <a:r>
              <a:rPr b="1"/>
              <a:t>Windows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UNIX was a follow up to Multics by Bell Labs that emphasized simplicity and extensibility (note the name)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Windows also wanted to provide application access to computing resources easily to speed development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Unlike Multics, both UNIX and Windows had a limited focus on security, </a:t>
            </a:r>
            <a:r>
              <a:rPr b="1"/>
              <a:t>allowing freedom to code running on the system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Attack “In the Wild”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What was the first (large-scale) attack launched against public computer systems?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494" y="2686047"/>
            <a:ext cx="1243012" cy="1611630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Morris Worm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4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Robert Morris, a 23-year-old Cornell PhD student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Wrote a small (99 line) program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Launched on November 3, 1988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Simply disabled the Internet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Used a </a:t>
            </a:r>
            <a:r>
              <a:rPr b="1"/>
              <a:t>buffer overflow </a:t>
            </a:r>
            <a:r>
              <a:t>in a program called </a:t>
            </a:r>
            <a:r>
              <a:rPr b="1"/>
              <a:t>fingerd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To get adversary-controlled code running 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Then spread to other hosts </a:t>
            </a:r>
            <a:r>
              <a:t>–</a:t>
            </a:r>
            <a:r>
              <a:t> cracked passwords and leveraged open LAN configurations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Covered its tracks in a variety of ways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Morris Worm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Fingerd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 UNIX program you can use to determine who is logged into a computer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Send a network request to the daemon, which responds with who is logged in and some other metadata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 used this program to see if other students or my advisor were online in grad school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</a:t>
            </a:r>
            <a:r>
              <a:t>fingerd</a:t>
            </a:r>
            <a:r>
              <a:t> program was known to have </a:t>
            </a:r>
            <a:r>
              <a:rPr b="1"/>
              <a:t>a flaw that permitted an input payload to hijack execution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We’ll learn this cause and its prevention later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Morris Worm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6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Hijack </a:t>
            </a:r>
            <a:r>
              <a:t>Fingerd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Caused to act as a malicious program that came to be called a “</a:t>
            </a:r>
            <a:r>
              <a:rPr b="1"/>
              <a:t>computer worm</a:t>
            </a:r>
            <a:r>
              <a:t>”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The computer worm </a:t>
            </a:r>
            <a:r>
              <a:rPr b="1"/>
              <a:t>hijacks the </a:t>
            </a:r>
            <a:r>
              <a:rPr b="1"/>
              <a:t>fingerd</a:t>
            </a:r>
            <a:r>
              <a:rPr b="1"/>
              <a:t> process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Runs code chosen by the worm writer instead of </a:t>
            </a:r>
            <a:r>
              <a:t>fingerd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To download other malicious programs to propagate the attack to other computers in the same network (easy then)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And then to other networks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Computer worm</a:t>
            </a:r>
            <a:r>
              <a:t>: a malware program that replicates itself to spread to multiple computers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Morris Worm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9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Hijack </a:t>
            </a:r>
            <a:r>
              <a:t>Fingerd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Besides the worm behaviors, the Morris worm used multiple techniques to </a:t>
            </a:r>
            <a:r>
              <a:rPr b="1"/>
              <a:t>evade identification and ensure that its propagation was not thwarted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These techniques worked too well for the time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Change the name of the processes created by a hijacked </a:t>
            </a:r>
            <a:r>
              <a:t>fingerd</a:t>
            </a:r>
            <a:r>
              <a:t> to “</a:t>
            </a:r>
            <a:r>
              <a:t>sh</a:t>
            </a:r>
            <a:r>
              <a:t>”, avoid creating accurate “cores”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Tried to propagate to the same computer multiple times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Basically, created an </a:t>
            </a:r>
            <a:r>
              <a:rPr b="1"/>
              <a:t>Internet-scale denial-of-service attack</a:t>
            </a:r>
            <a:r>
              <a:rPr b="1"/>
              <a:t> </a:t>
            </a:r>
            <a:r>
              <a:t>because many computers were running many copies of the Morris worm simultaneously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Morris Worm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Other than stealing CPU cycles galore,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The Morris Worm </a:t>
            </a:r>
            <a:r>
              <a:rPr b="1"/>
              <a:t>did not perform any operations that stole data or modified existing data </a:t>
            </a:r>
            <a:r>
              <a:t>on a compromised host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I.e., did not attack the secrecy and integrity of host data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Although it certainly impacted the integrity of the </a:t>
            </a:r>
            <a:r>
              <a:t>fingerd</a:t>
            </a:r>
            <a:r>
              <a:t> process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Nonetheless, Morris faced punishments in the forms of fines and prohibitions on computer use for a time period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Morris Worm Reaction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It was Morris’s fault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Hands were wrung, Morris was punished, few tangible security changes happened in commercial systems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/>
              <a:t>Exception</a:t>
            </a:r>
            <a:r>
              <a:t>: Network security research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And computer systems took more risks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E.g., executable email attachments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438" y="2842638"/>
            <a:ext cx="1757362" cy="1757362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Internet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Then, the </a:t>
            </a:r>
            <a:r>
              <a:rPr b="1"/>
              <a:t>Internet</a:t>
            </a:r>
            <a:r>
              <a:t> “happened”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Actually, the World Wide Web took off in 1995 or so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Everyone is (well, many people are) connected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Not everyone is nice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It didn’t take too long for </a:t>
            </a:r>
            <a:r>
              <a:rPr b="1"/>
              <a:t>new attacks </a:t>
            </a:r>
            <a:r>
              <a:t>like the Morris worm to emerge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But, these truly had </a:t>
            </a:r>
            <a:r>
              <a:rPr b="1"/>
              <a:t>malicious intent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6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Worm</a:t>
            </a:r>
            <a:r>
              <a:t> from 2001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Attacked the </a:t>
            </a:r>
            <a:r>
              <a:rPr b="1"/>
              <a:t>Windows IIS web server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Exploited a publicly known vulnerability 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A patch had been available a month before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Same type of vulnerability as the Morris worm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Called a </a:t>
            </a:r>
            <a:r>
              <a:rPr b="1"/>
              <a:t>buffer overflow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Malicious activities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Defaced websites and launched a DDoS against several IPs, including the White House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Code Red II </a:t>
            </a:r>
            <a:r>
              <a:t>later</a:t>
            </a:r>
            <a:r>
              <a:rPr b="1"/>
              <a:t> </a:t>
            </a:r>
            <a:r>
              <a:t>used the same vulnerability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Slammer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7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Worm</a:t>
            </a:r>
            <a:r>
              <a:t> from 2003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Attacked the Windows SQL server (database server)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Compromised approximately 75,000 hosts worldwide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In about 10 minutes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Also, exploited a publicly known vulnerability 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A </a:t>
            </a:r>
            <a:r>
              <a:rPr b="1"/>
              <a:t>patch had been available for six months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Also used a </a:t>
            </a:r>
            <a:r>
              <a:rPr b="1"/>
              <a:t>buffer overflow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Malicious activities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None really – impact was mainly a denial of service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And concern that a bad actor could “own” all Internet hosts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Worm Reactions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Problem</a:t>
            </a:r>
            <a:r>
              <a:t>: known vulnerabilities are exploited on unpatched machines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Firewall</a:t>
            </a:r>
            <a:r>
              <a:t> and </a:t>
            </a:r>
            <a:r>
              <a:rPr b="1"/>
              <a:t>antivirus</a:t>
            </a:r>
            <a:r>
              <a:t> rules target such information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Problem</a:t>
            </a:r>
            <a:r>
              <a:t>: one vulnerability enables an adversary to control a host completely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Reduce the permissions of </a:t>
            </a:r>
            <a:r>
              <a:rPr b="1"/>
              <a:t>network-facing daemons</a:t>
            </a:r>
            <a:r>
              <a:t>, e.g., no longer run as “root” or “admin”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Problem</a:t>
            </a:r>
            <a:r>
              <a:t>: buffer overflow allows an adversary to “inject” their code into a compromised process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Prevent executing data on the stack and randomize memory locations of variables and code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Did the proposed defenses stop these problems?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754" y="2345970"/>
            <a:ext cx="1654492" cy="1654492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Did the proposed defenses stop other attacks from being successful?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754" y="2345970"/>
            <a:ext cx="1654492" cy="1654492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Did these defenses stop the problems?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Proposed defenses did address the issues of the time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E.g., do not see attacks on one known vulnerability enabling compromise of all (most) the Internet hosts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But, adversaries develop other attack approaches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So, </a:t>
            </a:r>
            <a:r>
              <a:rPr b="1"/>
              <a:t>plenty of attack options remain 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 aim in this course is to introduce you to </a:t>
            </a:r>
            <a:r>
              <a:rPr b="1"/>
              <a:t>exploitation techniques to help you understand how to prevent the creation of exploitable flaws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Zero-Day Vulnerabilities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b="1"/>
              <a:t>zero-day vulnerability </a:t>
            </a:r>
            <a:r>
              <a:t>is a vulnerability that was unknown prior to its use in an attack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Often vulnerabilities are caused by </a:t>
            </a:r>
            <a:r>
              <a:rPr b="1"/>
              <a:t>software flaws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Unfortunately, software development is complex and software flaws are often created unwittingly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 aim in this course is to introduce you to </a:t>
            </a:r>
            <a:r>
              <a:rPr b="1"/>
              <a:t>techniques to prevent the creation of and detect such flaws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Another important issue is whether an adversary can exploit a flaw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 Vulnerabilities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3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/>
              <a:t>Multiple vulnerabilities </a:t>
            </a:r>
            <a:r>
              <a:t>can still be used to exploit a host in many cases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Consider an attack on Penn State in 2015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Started with a user’s password compromise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Led to the adversary embedding in a Penn State network for approximately 18 months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Once an adversary has code running on your host, there are many ways that adversary can gain control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In this course, we will learn about how to </a:t>
            </a:r>
            <a:r>
              <a:rPr b="1"/>
              <a:t>prevent flaws that allow “local attacks”</a:t>
            </a:r>
            <a:r>
              <a:rPr b="1"/>
              <a:t> </a:t>
            </a:r>
            <a:r>
              <a:t>from other host processes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Attack Vectors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9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Adversaries have identified several other</a:t>
            </a:r>
            <a:r>
              <a:rPr b="1"/>
              <a:t> </a:t>
            </a:r>
            <a:r>
              <a:rPr b="1"/>
              <a:t>attack vectors</a:t>
            </a:r>
            <a:r>
              <a:rPr b="1"/>
              <a:t> </a:t>
            </a:r>
            <a:r>
              <a:t>that they can use to launch attacks 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Other attack vectors (there are several more)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Code-reuse attacks (e.g., return-oriented programming)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Heartbleed (i.e., buffer overread)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Shellshock (i.e., propagate attack to another process)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SQL Injection (i.e., attacks on input sanitization)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Heap spraying (i.e., attacks on memory allocation)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We will learn about how </a:t>
            </a:r>
            <a:r>
              <a:rPr b="1"/>
              <a:t>software flaws enable these attacks</a:t>
            </a:r>
            <a:r>
              <a:t> to motivate their reduction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Penn State Cyberattack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In 2015, two cyberattacks against Penn State’s College of Engineering (not CSE) were discovered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Advanced Persistent Threats </a:t>
            </a:r>
            <a:r>
              <a:t>(APTs)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At least one of the attacks started with a student account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OK, but that is not supposed to be secure anyway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But, from there, the adversaries were able to launch attacks against privileged host processes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To obtain “</a:t>
            </a:r>
            <a:r>
              <a:rPr b="1"/>
              <a:t>root</a:t>
            </a:r>
            <a:r>
              <a:t>” privilege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Penn State Cyberattack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While Penn State data appeared to be largely unchanged, further attacks were launched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b="1"/>
              <a:t>Stepping Stones 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And data leakage was possible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Inventions and user information 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adversaries hid on the system for a while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Hence the APT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main identifiable change was </a:t>
            </a:r>
            <a:r>
              <a:rPr b="1"/>
              <a:t>2FA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Penn State Cyberattack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8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Attack was possible because the adversaries could 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Exploit </a:t>
            </a:r>
            <a:r>
              <a:rPr b="1"/>
              <a:t>multiple vulnerabilities 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Stolen passwords and software vulnerabilities in privileged programs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Exploit </a:t>
            </a:r>
            <a:r>
              <a:rPr b="1"/>
              <a:t>“zero-day” vulnerabilities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Not sure which exact vulnerabilities were exploited, but no one was looking for these exploits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Exploit </a:t>
            </a:r>
            <a:r>
              <a:rPr b="1"/>
              <a:t>other types of attack vectors</a:t>
            </a:r>
          </a:p>
          <a:p>
            <a:pPr lvl="2" marL="10287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t>Lots of attack vector options are available once an adversary has code running on your machine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Critical for software flaws to be removed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0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X Pre-Morris worm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X Morris Worm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X Commercial Attacks – take over internet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File system attacks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SQL injection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Javascript?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Heartbleed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Shellshock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Penn State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Equifax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Android sensors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Android files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Solar Winds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 Away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7000" lnSpcReduction="10000"/>
          </a:bodyPr>
          <a:lstStyle/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</a:t>
            </a:r>
            <a:r>
              <a:rPr b="1"/>
              <a:t>history of software attacks </a:t>
            </a:r>
            <a:r>
              <a:t>is rather complex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Early systems designers were aware of the importance of preventing software attacks (Multics)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Knew about attacks that were possible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Knew eliminating </a:t>
            </a:r>
            <a:r>
              <a:rPr b="1"/>
              <a:t>attack surfaces </a:t>
            </a:r>
            <a:r>
              <a:t>would prevent attacks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first attacks “in-the-wild” were </a:t>
            </a:r>
            <a:r>
              <a:rPr b="1"/>
              <a:t>worm</a:t>
            </a:r>
            <a:r>
              <a:t> attacks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Exploit the network attack surface</a:t>
            </a:r>
          </a:p>
          <a:p>
            <a:pPr lvl="1" marL="68580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Defenses were proposed to protect the network attack surface – </a:t>
            </a:r>
            <a:r>
              <a:rPr b="1"/>
              <a:t>more later</a:t>
            </a:r>
          </a:p>
          <a:p>
            <a:pPr marL="34290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We have been in reactive mode ever since</a:t>
            </a:r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822" y="1943100"/>
            <a:ext cx="1964531" cy="1307306"/>
          </a:xfrm>
          <a:prstGeom prst="rect">
            <a:avLst/>
          </a:prstGeom>
        </p:spPr>
      </p:pic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2915</Words>
  <Application>Microsoft Macintosh PowerPoint</Application>
  <PresentationFormat>On-screen Show (16:9)</PresentationFormat>
  <Paragraphs>386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Arial</vt:lpstr>
      <vt:lpstr>Office Theme [1790301506474]</vt:lpstr>
      <vt:lpstr>CS 165: Computer Security</vt:lpstr>
      <vt:lpstr>Today</vt:lpstr>
      <vt:lpstr>Course information</vt:lpstr>
      <vt:lpstr>About me</vt:lpstr>
      <vt:lpstr>Infamous bugs</vt:lpstr>
      <vt:lpstr>Mitigations?</vt:lpstr>
      <vt:lpstr>Software is still buggy…</vt:lpstr>
      <vt:lpstr>Mixing code and data</vt:lpstr>
      <vt:lpstr>What you will learn to do</vt:lpstr>
      <vt:lpstr>This is a hands-on course</vt:lpstr>
      <vt:lpstr>Logistics</vt:lpstr>
      <vt:lpstr>Materials</vt:lpstr>
      <vt:lpstr>Grading</vt:lpstr>
      <vt:lpstr>The labs: 25 percent</vt:lpstr>
      <vt:lpstr>The labs: Schedule</vt:lpstr>
      <vt:lpstr>Ungraded Labs</vt:lpstr>
      <vt:lpstr>Graded Labs</vt:lpstr>
      <vt:lpstr>Quizzes: 20 percent</vt:lpstr>
      <vt:lpstr>Exams: 55 percent</vt:lpstr>
      <vt:lpstr>Academic integrity</vt:lpstr>
      <vt:lpstr>Ethics</vt:lpstr>
      <vt:lpstr>Caveat Emptor</vt:lpstr>
      <vt:lpstr>Background, and how to do well</vt:lpstr>
      <vt:lpstr>The security mindset</vt:lpstr>
      <vt:lpstr>PowerPoint Presentation</vt:lpstr>
      <vt:lpstr>How things can be made to fail</vt:lpstr>
      <vt:lpstr>Security versus systems</vt:lpstr>
      <vt:lpstr>Rules have bugs</vt:lpstr>
      <vt:lpstr>Thinking like an attacker</vt:lpstr>
      <vt:lpstr>Thinking like a defender</vt:lpstr>
      <vt:lpstr>Why security is hard</vt:lpstr>
      <vt:lpstr>What defenders actually do</vt:lpstr>
      <vt:lpstr>Confidentiality, integrity, availability</vt:lpstr>
      <vt:lpstr>STRIDE: six ways to break those properties</vt:lpstr>
      <vt:lpstr>A resourceful, strategic adversary</vt:lpstr>
      <vt:lpstr>The threat landscape</vt:lpstr>
      <vt:lpstr>Threat models</vt:lpstr>
      <vt:lpstr>So, is the system secure?</vt:lpstr>
      <vt:lpstr>Before Wednesday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3</cp:revision>
  <dcterms:modified xsi:type="dcterms:W3CDTF">2026-09-28T22:31:45Z</dcterms:modified>
</cp:coreProperties>
</file>