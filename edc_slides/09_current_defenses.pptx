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96F481-76FE-430A-8033-0D9017D95D37}">
  <a:tblStyle styleId="{9096F481-76FE-430A-8033-0D9017D95D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1F7BAC6-EEA7-4524-A375-4FD7C61763D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p:cViewPr varScale="1">
        <p:scale>
          <a:sx n="153" d="100"/>
          <a:sy n="153" d="100"/>
        </p:scale>
        <p:origin x="6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Set the stage: attacks need two things, a memory corruption and a way to steer control. The classic defenses each target one piece but are individually bypassable, and ROP showed the whole stack of them can be walked past. Today is about defenses that change the game rather than raise it slightly.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map for the lecture. Line 1 removes the vulnerability itself. Line 2 assumes a bug exists and makes turning it into control-flow hijack hard. Line 3 assumes compromise happens and limits what the attacker gains. We take them in the order 2, 1, 3 - from what Lectures 7-8 pointed to.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CFI restricts indirect control transfers to a precomputed set of valid targets. Forward-edge CFI covers indirect calls and jumps (through function pointers and vtables). A corrupted pointer that aims at a ROP gadget is no longer in the allowed set, so the check rejects it. Coarse vs fine-grained CFI trades precision for cost; hardware help exists (Intel CET's indirect-branch tracking).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Return addresses are the backward edge of control flow and the classic overflow target. A shadow stack stores a protected duplicate of each return address that ordinary writes cannot reach. On function return the CPU (or compiler) checks the real return address against the shadow copy; any overwrite diverges and the program is stopped. Intel CET implements this in hardware.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76250" y="685800"/>
            <a:ext cx="6096000" cy="3429000"/>
          </a:xfrm>
        </p:spPr>
      </p:sp>
      <p:sp>
        <p:nvSpPr>
          <p:cNvPr id="3" name="Notes Placeholder 2"/>
          <p:cNvSpPr>
            <a:spLocks noGrp="1"/>
          </p:cNvSpPr>
          <p:nvPr>
            <p:ph type="body" idx="1"/>
          </p:nvPr>
        </p:nvSpPr>
        <p:spPr/>
        <p:txBody>
          <a:bodyPr/>
          <a:lstStyle/>
          <a:p>
            <a:r>
              <a:t>ARM Pointer Authentication adds a cryptographic signature in a pointer's unused high bits, keyed per process. Instructions sign a pointer (e.g. the return address, PACIASP) and later authenticate it (AUTIASP) before use. An attacker who corrupts the pointer cannot produce the matching signature, so authentication fails and the program traps. Apple and recent ARM chips ship this.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majority of critical vulnerabilities in large C/C++ codebases are memory-safety issues. Memory-safe languages remove the entire class: Rust enforces ownership and borrowing at compile time and bounds-checks indexing at runtime, turning what would be silent corruption into a clean panic. National and industry guidance now recommends memory-safe languages for new code; the hard part is the enormous base of existing C/C++.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76250" y="685800"/>
            <a:ext cx="6096000" cy="3429000"/>
          </a:xfrm>
        </p:spPr>
      </p:sp>
      <p:sp>
        <p:nvSpPr>
          <p:cNvPr id="3" name="Notes Placeholder 2"/>
          <p:cNvSpPr>
            <a:spLocks noGrp="1"/>
          </p:cNvSpPr>
          <p:nvPr>
            <p:ph type="body" idx="1"/>
          </p:nvPr>
        </p:nvSpPr>
        <p:spPr/>
        <p:txBody>
          <a:bodyPr/>
          <a:lstStyle/>
          <a:p>
            <a:r>
              <a:t>Where C and C++ must stay, layer hardening on top. _FORTIFY_SOURCE adds bounds checks to common libc calls, -fstack-protector-strong extends canaries to far more functions, stack-clash protection stops stack/heap collision tricks, and -fcf-protection turns on CET's CFI and shadow stack. Hardened allocators add heap integrity checks. AddressSanitizer and UBSan find the bugs during testing so they never ship.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Least privilege and sandboxing assume the attacker wins somewhere and limit the blast radius. Privilege separation splits a program so the exposed part runs with almost no rights; seccomp filters the syscalls a process may make; containers and OS isolation confine it further. Browsers are the model: each renderer is a locked-down sandbox, so a renderer bug does not own the machine.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48640" y="1600200"/>
            <a:ext cx="8046720" cy="86868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txBox="1">
            <a:spLocks noGrp="1"/>
          </p:cNvSpPr>
          <p:nvPr>
            <p:ph type="subTitle" idx="1"/>
          </p:nvPr>
        </p:nvSpPr>
        <p:spPr>
          <a:xfrm>
            <a:off x="548640" y="2450592"/>
            <a:ext cx="8046720" cy="502920"/>
          </a:xfrm>
          <a:prstGeom prst="rect">
            <a:avLst/>
          </a:prstGeom>
          <a:noFill/>
          <a:ln>
            <a:noFill/>
          </a:ln>
        </p:spPr>
        <p:txBody>
          <a:bodyPr spcFirstLastPara="1" wrap="square" lIns="0" tIns="0" rIns="0" bIns="0" anchor="ctr" anchorCtr="0">
            <a:normAutofit/>
          </a:bodyPr>
          <a:lstStyle>
            <a:lvl1pPr lvl="0" algn="l">
              <a:spcBef>
                <a:spcPts val="0"/>
              </a:spcBef>
              <a:spcAft>
                <a:spcPts val="0"/>
              </a:spcAft>
              <a:buClr>
                <a:schemeClr val="dk1"/>
              </a:buClr>
              <a:buSzPts val="2900"/>
              <a:buNone/>
              <a:defRPr sz="2900"/>
            </a:lvl1pPr>
            <a:lvl2pPr lvl="1" algn="l">
              <a:spcBef>
                <a:spcPts val="0"/>
              </a:spcBef>
              <a:spcAft>
                <a:spcPts val="0"/>
              </a:spcAft>
              <a:buClr>
                <a:schemeClr val="dk1"/>
              </a:buClr>
              <a:buSzPts val="1800"/>
              <a:buChar char="–"/>
              <a:defRPr/>
            </a:lvl2pPr>
            <a:lvl3pPr lvl="2" algn="l">
              <a:spcBef>
                <a:spcPts val="500"/>
              </a:spcBef>
              <a:spcAft>
                <a:spcPts val="0"/>
              </a:spcAft>
              <a:buClr>
                <a:schemeClr val="dk1"/>
              </a:buClr>
              <a:buSzPts val="1800"/>
              <a:buChar char="•"/>
              <a:defRPr/>
            </a:lvl3pPr>
            <a:lvl4pPr lvl="3" algn="l">
              <a:spcBef>
                <a:spcPts val="400"/>
              </a:spcBef>
              <a:spcAft>
                <a:spcPts val="0"/>
              </a:spcAft>
              <a:buClr>
                <a:schemeClr val="dk1"/>
              </a:buClr>
              <a:buSzPts val="1800"/>
              <a:buChar char="–"/>
              <a:defRPr/>
            </a:lvl4pPr>
            <a:lvl5pPr lvl="4" algn="l">
              <a:spcBef>
                <a:spcPts val="400"/>
              </a:spcBef>
              <a:spcAft>
                <a:spcPts val="0"/>
              </a:spcAft>
              <a:buClr>
                <a:schemeClr val="dk1"/>
              </a:buClr>
              <a:buSzPts val="1800"/>
              <a:buChar char="•"/>
              <a:defRPr/>
            </a:lvl5pPr>
            <a:lvl6pPr lvl="5" algn="l">
              <a:spcBef>
                <a:spcPts val="400"/>
              </a:spcBef>
              <a:spcAft>
                <a:spcPts val="0"/>
              </a:spcAft>
              <a:buClr>
                <a:schemeClr val="dk1"/>
              </a:buClr>
              <a:buSzPts val="1800"/>
              <a:buChar char="•"/>
              <a:defRPr/>
            </a:lvl6pPr>
            <a:lvl7pPr lvl="6" algn="l">
              <a:spcBef>
                <a:spcPts val="400"/>
              </a:spcBef>
              <a:spcAft>
                <a:spcPts val="0"/>
              </a:spcAft>
              <a:buClr>
                <a:schemeClr val="dk1"/>
              </a:buClr>
              <a:buSzPts val="1800"/>
              <a:buChar char="•"/>
              <a:defRPr/>
            </a:lvl7pPr>
            <a:lvl8pPr lvl="7" algn="l">
              <a:spcBef>
                <a:spcPts val="400"/>
              </a:spcBef>
              <a:spcAft>
                <a:spcPts val="0"/>
              </a:spcAft>
              <a:buClr>
                <a:schemeClr val="dk1"/>
              </a:buClr>
              <a:buSzPts val="1800"/>
              <a:buChar char="•"/>
              <a:defRPr/>
            </a:lvl8pPr>
            <a:lvl9pPr lvl="8" algn="l">
              <a:spcBef>
                <a:spcPts val="400"/>
              </a:spcBef>
              <a:spcAft>
                <a:spcPts val="400"/>
              </a:spcAft>
              <a:buClr>
                <a:schemeClr val="dk1"/>
              </a:buClr>
              <a:buSzPts val="1800"/>
              <a:buChar char="•"/>
              <a:defRPr/>
            </a:lvl9pPr>
          </a:lstStyle>
          <a:p>
            <a:endParaRPr/>
          </a:p>
        </p:txBody>
      </p:sp>
      <p:sp>
        <p:nvSpPr>
          <p:cNvPr id="12" name="Google Shape;12;p2"/>
          <p:cNvSpPr txBox="1">
            <a:spLocks noGrp="1"/>
          </p:cNvSpPr>
          <p:nvPr>
            <p:ph type="body" idx="2"/>
          </p:nvPr>
        </p:nvSpPr>
        <p:spPr>
          <a:xfrm>
            <a:off x="548640" y="3246120"/>
            <a:ext cx="8046720" cy="914400"/>
          </a:xfrm>
          <a:prstGeom prst="rect">
            <a:avLst/>
          </a:prstGeom>
          <a:noFill/>
          <a:ln>
            <a:noFill/>
          </a:ln>
        </p:spPr>
        <p:txBody>
          <a:bodyPr spcFirstLastPara="1" wrap="square" lIns="0" tIns="0" rIns="0" bIns="0" anchor="t" anchorCtr="0">
            <a:normAutofit/>
          </a:bodyPr>
          <a:lstStyle>
            <a:lvl1pPr marL="457200" lvl="0" indent="-228600" algn="l">
              <a:lnSpc>
                <a:spcPct val="125000"/>
              </a:lnSpc>
              <a:spcBef>
                <a:spcPts val="0"/>
              </a:spcBef>
              <a:spcAft>
                <a:spcPts val="0"/>
              </a:spcAft>
              <a:buClr>
                <a:srgbClr val="8A8A8A"/>
              </a:buClr>
              <a:buSzPts val="1700"/>
              <a:buNone/>
              <a:defRPr sz="17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lvl="0" indent="-342900" algn="l">
              <a:spcBef>
                <a:spcPts val="600"/>
              </a:spcBef>
              <a:spcAft>
                <a:spcPts val="0"/>
              </a:spcAft>
              <a:buClr>
                <a:schemeClr val="dk1"/>
              </a:buClr>
              <a:buSzPts val="1800"/>
              <a:buChar char="•"/>
              <a:defRPr/>
            </a:lvl1pPr>
            <a:lvl2pPr marL="914400" lvl="1" indent="-342900" algn="l">
              <a:spcBef>
                <a:spcPts val="6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16" name="Google Shape;16;p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48640" y="1965960"/>
            <a:ext cx="8046720" cy="82296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548640" y="2761488"/>
            <a:ext cx="8046720" cy="4572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8A8A8A"/>
              </a:buClr>
              <a:buSzPts val="1900"/>
              <a:buNone/>
              <a:defRPr sz="19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20" name="Google Shape;20;p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marR="0" lvl="0" indent="-355600" algn="l" rtl="0">
              <a:spcBef>
                <a:spcPts val="6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36550" algn="l" rtl="0">
              <a:spcBef>
                <a:spcPts val="6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2pPr>
            <a:lvl3pPr marL="1371600" marR="0" lvl="2" indent="-336550" algn="l" rtl="0">
              <a:spcBef>
                <a:spcPts val="5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3pPr>
            <a:lvl4pPr marL="1828800" marR="0" lvl="3"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4pPr>
            <a:lvl5pPr marL="2286000" marR="0" lvl="4"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5pPr>
            <a:lvl6pPr marL="2743200" marR="0" lvl="5"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6pPr>
            <a:lvl7pPr marL="3200400" marR="0" lvl="6"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7pPr>
            <a:lvl8pPr marL="3657600" marR="0" lvl="7"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8pPr>
            <a:lvl9pPr marL="4114800" marR="0" lvl="8" indent="-336550" algn="l" rtl="0">
              <a:spcBef>
                <a:spcPts val="400"/>
              </a:spcBef>
              <a:spcAft>
                <a:spcPts val="400"/>
              </a:spcAft>
              <a:buClr>
                <a:schemeClr val="dk1"/>
              </a:buClr>
              <a:buSzPts val="1700"/>
              <a:buFont typeface="Arial"/>
              <a:buChar char="•"/>
              <a:defRPr sz="17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200" b="0" i="0" u="none" strike="noStrike" cap="none">
                <a:solidFill>
                  <a:srgbClr val="8A8A8A"/>
                </a:solidFill>
                <a:latin typeface="Arial"/>
                <a:ea typeface="Arial"/>
                <a:cs typeface="Arial"/>
                <a:sym typeface="Arial"/>
              </a:defRPr>
            </a:lvl1pPr>
            <a:lvl2pPr marL="0" marR="0" lvl="1" indent="0" algn="r" rtl="0">
              <a:spcBef>
                <a:spcPts val="0"/>
              </a:spcBef>
              <a:buNone/>
              <a:defRPr sz="1200" b="0" i="0" u="none" strike="noStrike" cap="none">
                <a:solidFill>
                  <a:srgbClr val="8A8A8A"/>
                </a:solidFill>
                <a:latin typeface="Arial"/>
                <a:ea typeface="Arial"/>
                <a:cs typeface="Arial"/>
                <a:sym typeface="Arial"/>
              </a:defRPr>
            </a:lvl2pPr>
            <a:lvl3pPr marL="0" marR="0" lvl="2" indent="0" algn="r" rtl="0">
              <a:spcBef>
                <a:spcPts val="0"/>
              </a:spcBef>
              <a:buNone/>
              <a:defRPr sz="1200" b="0" i="0" u="none" strike="noStrike" cap="none">
                <a:solidFill>
                  <a:srgbClr val="8A8A8A"/>
                </a:solidFill>
                <a:latin typeface="Arial"/>
                <a:ea typeface="Arial"/>
                <a:cs typeface="Arial"/>
                <a:sym typeface="Arial"/>
              </a:defRPr>
            </a:lvl3pPr>
            <a:lvl4pPr marL="0" marR="0" lvl="3" indent="0" algn="r" rtl="0">
              <a:spcBef>
                <a:spcPts val="0"/>
              </a:spcBef>
              <a:buNone/>
              <a:defRPr sz="1200" b="0" i="0" u="none" strike="noStrike" cap="none">
                <a:solidFill>
                  <a:srgbClr val="8A8A8A"/>
                </a:solidFill>
                <a:latin typeface="Arial"/>
                <a:ea typeface="Arial"/>
                <a:cs typeface="Arial"/>
                <a:sym typeface="Arial"/>
              </a:defRPr>
            </a:lvl4pPr>
            <a:lvl5pPr marL="0" marR="0" lvl="4" indent="0" algn="r" rtl="0">
              <a:spcBef>
                <a:spcPts val="0"/>
              </a:spcBef>
              <a:buNone/>
              <a:defRPr sz="1200" b="0" i="0" u="none" strike="noStrike" cap="none">
                <a:solidFill>
                  <a:srgbClr val="8A8A8A"/>
                </a:solidFill>
                <a:latin typeface="Arial"/>
                <a:ea typeface="Arial"/>
                <a:cs typeface="Arial"/>
                <a:sym typeface="Arial"/>
              </a:defRPr>
            </a:lvl5pPr>
            <a:lvl6pPr marL="0" marR="0" lvl="5" indent="0" algn="r" rtl="0">
              <a:spcBef>
                <a:spcPts val="0"/>
              </a:spcBef>
              <a:buNone/>
              <a:defRPr sz="1200" b="0" i="0" u="none" strike="noStrike" cap="none">
                <a:solidFill>
                  <a:srgbClr val="8A8A8A"/>
                </a:solidFill>
                <a:latin typeface="Arial"/>
                <a:ea typeface="Arial"/>
                <a:cs typeface="Arial"/>
                <a:sym typeface="Arial"/>
              </a:defRPr>
            </a:lvl6pPr>
            <a:lvl7pPr marL="0" marR="0" lvl="6" indent="0" algn="r" rtl="0">
              <a:spcBef>
                <a:spcPts val="0"/>
              </a:spcBef>
              <a:buNone/>
              <a:defRPr sz="1200" b="0" i="0" u="none" strike="noStrike" cap="none">
                <a:solidFill>
                  <a:srgbClr val="8A8A8A"/>
                </a:solidFill>
                <a:latin typeface="Arial"/>
                <a:ea typeface="Arial"/>
                <a:cs typeface="Arial"/>
                <a:sym typeface="Arial"/>
              </a:defRPr>
            </a:lvl7pPr>
            <a:lvl8pPr marL="0" marR="0" lvl="7" indent="0" algn="r" rtl="0">
              <a:spcBef>
                <a:spcPts val="0"/>
              </a:spcBef>
              <a:buNone/>
              <a:defRPr sz="1200" b="0" i="0" u="none" strike="noStrike" cap="none">
                <a:solidFill>
                  <a:srgbClr val="8A8A8A"/>
                </a:solidFill>
                <a:latin typeface="Arial"/>
                <a:ea typeface="Arial"/>
                <a:cs typeface="Arial"/>
                <a:sym typeface="Arial"/>
              </a:defRPr>
            </a:lvl8pPr>
            <a:lvl9pPr marL="0" marR="0" lvl="8" indent="0" algn="r" rtl="0">
              <a:spcBef>
                <a:spcPts val="0"/>
              </a:spcBef>
              <a:buNone/>
              <a:defRPr sz="1200" b="0" i="0" u="none" strike="noStrike" cap="none">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indent="0" algn="l">
              <a:buNone/>
            </a:pPr>
            <a:r>
              <a:t>CS 165: Computer Security</a:t>
            </a:r>
          </a:p>
        </p:txBody>
      </p:sp>
      <p:sp>
        <p:nvSpPr>
          <p:cNvPr id="3" name="Subtitle 2"/>
          <p:cNvSpPr>
            <a:spLocks noGrp="1"/>
          </p:cNvSpPr>
          <p:nvPr>
            <p:ph type="subTitle" idx="1"/>
          </p:nvPr>
        </p:nvSpPr>
        <p:spPr/>
        <p:txBody>
          <a:bodyPr/>
          <a:lstStyle/>
          <a:p>
            <a:pPr marL="0" indent="0" algn="l">
              <a:buNone/>
            </a:pPr>
            <a:r>
              <a:t>Current Defenses</a:t>
            </a:r>
          </a:p>
        </p:txBody>
      </p:sp>
      <p:sp>
        <p:nvSpPr>
          <p:cNvPr id="4" name="Text Placeholder 3"/>
          <p:cNvSpPr>
            <a:spLocks noGrp="1"/>
          </p:cNvSpPr>
          <p:nvPr>
            <p:ph type="body" idx="2"/>
          </p:nvPr>
        </p:nvSpPr>
        <p:spPr/>
        <p:txBody>
          <a:bodyPr>
            <a:normAutofit lnSpcReduction="10000"/>
          </a:bodyPr>
          <a:lstStyle/>
          <a:p>
            <a:pPr marL="0" indent="0" algn="l">
              <a:buNone/>
            </a:pPr>
            <a:r>
              <a:rPr dirty="0"/>
              <a:t>Emiliano De Cristofaro</a:t>
            </a:r>
          </a:p>
          <a:p>
            <a:pPr marL="0" indent="0" algn="l">
              <a:buNone/>
            </a:pPr>
            <a:r>
              <a:rPr dirty="0"/>
              <a:t>University of California, Riverside</a:t>
            </a:r>
          </a:p>
          <a:p>
            <a:pPr marL="0" indent="0" algn="l">
              <a:buNone/>
            </a:pPr>
            <a:r>
              <a:rPr dirty="0"/>
              <a:t>Fall 2026  |  </a:t>
            </a:r>
            <a:r>
              <a:rPr lang="en-US" dirty="0"/>
              <a:t>Wednesday, Oct 21 / </a:t>
            </a:r>
            <a:r>
              <a:rPr dirty="0"/>
              <a:t>Monday, Oct 26</a:t>
            </a:r>
          </a:p>
        </p:txBody>
      </p:sp>
      <p:pic>
        <p:nvPicPr>
          <p:cNvPr id="5" name="Picture 4" descr="image.png"/>
          <p:cNvPicPr>
            <a:picLocks noChangeAspect="1"/>
          </p:cNvPicPr>
          <p:nvPr/>
        </p:nvPicPr>
        <p:blipFill>
          <a:blip r:embed="rId2"/>
          <a:stretch>
            <a:fillRect/>
          </a:stretch>
        </p:blipFill>
        <p:spPr>
          <a:xfrm>
            <a:off x="3137568" y="0"/>
            <a:ext cx="2868864" cy="9796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Outline</a:t>
            </a:r>
          </a:p>
        </p:txBody>
      </p:sp>
      <p:sp>
        <p:nvSpPr>
          <p:cNvPr id="3" name="Text Placeholder 2"/>
          <p:cNvSpPr>
            <a:spLocks noGrp="1"/>
          </p:cNvSpPr>
          <p:nvPr>
            <p:ph type="body" idx="1"/>
          </p:nvPr>
        </p:nvSpPr>
        <p:spPr>
          <a:xfrm>
            <a:off x="548639" y="1298448"/>
            <a:ext cx="8146473" cy="3383280"/>
          </a:xfrm>
        </p:spPr>
        <p:txBody>
          <a:bodyPr wrap="square" lIns="0" tIns="0" rIns="0" bIns="0"/>
          <a:lstStyle/>
          <a:p>
            <a:r>
              <a:rPr sz="2000" b="0" i="0" dirty="0">
                <a:solidFill>
                  <a:srgbClr val="202020"/>
                </a:solidFill>
                <a:latin typeface="Arial"/>
              </a:rPr>
              <a:t>Recap: the classic defenses raise the bar, but ROP walks past them</a:t>
            </a:r>
          </a:p>
          <a:p>
            <a:r>
              <a:rPr sz="2000" b="0" i="0" dirty="0">
                <a:solidFill>
                  <a:srgbClr val="202020"/>
                </a:solidFill>
                <a:latin typeface="Arial"/>
              </a:rPr>
              <a:t>A plan: remove the bug, make hijacking hard, or contain the damage</a:t>
            </a:r>
          </a:p>
          <a:p>
            <a:r>
              <a:rPr sz="2000" b="0" i="0" dirty="0">
                <a:solidFill>
                  <a:srgbClr val="202020"/>
                </a:solidFill>
                <a:latin typeface="Arial"/>
              </a:rPr>
              <a:t>Control-flow integrity, shadow stacks, and pointer authentication</a:t>
            </a:r>
          </a:p>
          <a:p>
            <a:r>
              <a:rPr sz="2000" b="0" i="0" dirty="0">
                <a:solidFill>
                  <a:srgbClr val="202020"/>
                </a:solidFill>
                <a:latin typeface="Arial"/>
              </a:rPr>
              <a:t>Memory-safe languages, and hardening the C you must keep</a:t>
            </a:r>
          </a:p>
          <a:p>
            <a:r>
              <a:rPr sz="2000" b="0" i="0" dirty="0">
                <a:solidFill>
                  <a:srgbClr val="202020"/>
                </a:solidFill>
                <a:latin typeface="Arial"/>
              </a:rPr>
              <a:t>Sandboxing and least privilege: shrinking the blast radius</a:t>
            </a:r>
          </a:p>
          <a:p>
            <a:r>
              <a:rPr sz="2000" b="0" i="0" dirty="0">
                <a:solidFill>
                  <a:srgbClr val="202020"/>
                </a:solidFill>
                <a:latin typeface="Arial"/>
              </a:rPr>
              <a:t>Costs, deployment, and what remains open</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a:t>
            </a:fld>
            <a:endParaRPr/>
          </a:p>
        </p:txBody>
      </p:sp>
      <p:sp>
        <p:nvSpPr>
          <p:cNvPr id="42" name="Rounded Rectangle 41"/>
          <p:cNvSpPr/>
          <p:nvPr/>
        </p:nvSpPr>
        <p:spPr>
          <a:xfrm>
            <a:off x="548640" y="4319258"/>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dirty="0">
                <a:solidFill>
                  <a:srgbClr val="202020"/>
                </a:solidFill>
                <a:latin typeface="Arial"/>
              </a:rPr>
              <a:t>Make hijacking hard</a:t>
            </a:r>
          </a:p>
        </p:txBody>
      </p:sp>
      <p:sp>
        <p:nvSpPr>
          <p:cNvPr id="43" name="Rounded Rectangle 42"/>
          <p:cNvSpPr/>
          <p:nvPr/>
        </p:nvSpPr>
        <p:spPr>
          <a:xfrm>
            <a:off x="3307080" y="4319258"/>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a:solidFill>
                  <a:srgbClr val="202020"/>
                </a:solidFill>
                <a:latin typeface="Arial"/>
              </a:rPr>
              <a:t>Remove the bug class</a:t>
            </a:r>
          </a:p>
        </p:txBody>
      </p:sp>
      <p:sp>
        <p:nvSpPr>
          <p:cNvPr id="44" name="Rounded Rectangle 43"/>
          <p:cNvSpPr/>
          <p:nvPr/>
        </p:nvSpPr>
        <p:spPr>
          <a:xfrm>
            <a:off x="6065520" y="4319258"/>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a:solidFill>
                  <a:srgbClr val="202020"/>
                </a:solidFill>
                <a:latin typeface="Arial"/>
              </a:rPr>
              <a:t>Contain the damage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Recap: Why We Need Stronger Defenses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An exploit must corrupt memory, then hijack control</a:t>
            </a:r>
          </a:p>
          <a:p>
            <a:r>
              <a:rPr sz="2000" b="0" i="0">
                <a:solidFill>
                  <a:srgbClr val="202020"/>
                </a:solidFill>
                <a:latin typeface="Arial"/>
              </a:rPr>
              <a:t>Lecture 8's trio raises the bar: canaries, ASLR, DEP / NX</a:t>
            </a:r>
          </a:p>
          <a:p>
            <a:r>
              <a:rPr sz="2000" b="0" i="0">
                <a:solidFill>
                  <a:srgbClr val="202020"/>
                </a:solidFill>
                <a:latin typeface="Arial"/>
              </a:rPr>
              <a:t>But each is bypassable; ROP beats NX by reusing code</a:t>
            </a:r>
          </a:p>
          <a:p>
            <a:r>
              <a:rPr sz="2000" b="0" i="0">
                <a:solidFill>
                  <a:srgbClr val="202020"/>
                </a:solidFill>
                <a:latin typeface="Arial"/>
              </a:rPr>
              <a:t>We want defenses that are systematic, not just speed bumps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a:t>
            </a:fld>
            <a:endParaRPr/>
          </a:p>
        </p:txBody>
      </p:sp>
      <p:sp>
        <p:nvSpPr>
          <p:cNvPr id="42" name="Rectangle 41"/>
          <p:cNvSpPr/>
          <p:nvPr/>
        </p:nvSpPr>
        <p:spPr>
          <a:xfrm>
            <a:off x="900000" y="3650000"/>
            <a:ext cx="2050000" cy="4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202020"/>
                </a:solidFill>
                <a:latin typeface="Arial"/>
              </a:rPr>
              <a:t>Stack canary</a:t>
            </a:r>
          </a:p>
        </p:txBody>
      </p:sp>
      <p:sp>
        <p:nvSpPr>
          <p:cNvPr id="43" name="TextBox 42"/>
          <p:cNvSpPr txBox="1"/>
          <p:nvPr/>
        </p:nvSpPr>
        <p:spPr>
          <a:xfrm>
            <a:off x="900000" y="4120000"/>
            <a:ext cx="2050000" cy="240000"/>
          </a:xfrm>
          <a:prstGeom prst="rect">
            <a:avLst/>
          </a:prstGeom>
          <a:noFill/>
        </p:spPr>
        <p:txBody>
          <a:bodyPr wrap="square" lIns="0" tIns="0" rIns="0" bIns="0" anchor="t">
            <a:spAutoFit/>
          </a:bodyPr>
          <a:lstStyle/>
          <a:p>
            <a:pPr algn="ctr"/>
            <a:r>
              <a:rPr sz="1000" b="0" i="1">
                <a:solidFill>
                  <a:srgbClr val="C0392B"/>
                </a:solidFill>
                <a:latin typeface="Arial"/>
              </a:rPr>
              <a:t>guessed or leaked</a:t>
            </a:r>
          </a:p>
        </p:txBody>
      </p:sp>
      <p:sp>
        <p:nvSpPr>
          <p:cNvPr id="44" name="Rectangle 43"/>
          <p:cNvSpPr/>
          <p:nvPr/>
        </p:nvSpPr>
        <p:spPr>
          <a:xfrm>
            <a:off x="3200000" y="3650000"/>
            <a:ext cx="2050000" cy="4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202020"/>
                </a:solidFill>
                <a:latin typeface="Arial"/>
              </a:rPr>
              <a:t>ASLR</a:t>
            </a:r>
          </a:p>
        </p:txBody>
      </p:sp>
      <p:sp>
        <p:nvSpPr>
          <p:cNvPr id="45" name="TextBox 44"/>
          <p:cNvSpPr txBox="1"/>
          <p:nvPr/>
        </p:nvSpPr>
        <p:spPr>
          <a:xfrm>
            <a:off x="3200000" y="4120000"/>
            <a:ext cx="2050000" cy="240000"/>
          </a:xfrm>
          <a:prstGeom prst="rect">
            <a:avLst/>
          </a:prstGeom>
          <a:noFill/>
        </p:spPr>
        <p:txBody>
          <a:bodyPr wrap="square" lIns="0" tIns="0" rIns="0" bIns="0" anchor="t">
            <a:spAutoFit/>
          </a:bodyPr>
          <a:lstStyle/>
          <a:p>
            <a:pPr algn="ctr"/>
            <a:r>
              <a:rPr sz="1000" b="0" i="1">
                <a:solidFill>
                  <a:srgbClr val="C0392B"/>
                </a:solidFill>
                <a:latin typeface="Arial"/>
              </a:rPr>
              <a:t>defeated by a leak</a:t>
            </a:r>
          </a:p>
        </p:txBody>
      </p:sp>
      <p:sp>
        <p:nvSpPr>
          <p:cNvPr id="46" name="Rectangle 45"/>
          <p:cNvSpPr/>
          <p:nvPr/>
        </p:nvSpPr>
        <p:spPr>
          <a:xfrm>
            <a:off x="5500000" y="3650000"/>
            <a:ext cx="2050000" cy="4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202020"/>
                </a:solidFill>
                <a:latin typeface="Arial"/>
              </a:rPr>
              <a:t>DEP / NX</a:t>
            </a:r>
          </a:p>
        </p:txBody>
      </p:sp>
      <p:sp>
        <p:nvSpPr>
          <p:cNvPr id="47" name="TextBox 46"/>
          <p:cNvSpPr txBox="1"/>
          <p:nvPr/>
        </p:nvSpPr>
        <p:spPr>
          <a:xfrm>
            <a:off x="5500000" y="4120000"/>
            <a:ext cx="2050000" cy="240000"/>
          </a:xfrm>
          <a:prstGeom prst="rect">
            <a:avLst/>
          </a:prstGeom>
          <a:noFill/>
        </p:spPr>
        <p:txBody>
          <a:bodyPr wrap="square" lIns="0" tIns="0" rIns="0" bIns="0" anchor="t">
            <a:spAutoFit/>
          </a:bodyPr>
          <a:lstStyle/>
          <a:p>
            <a:pPr algn="ctr"/>
            <a:r>
              <a:rPr sz="1000" b="0" i="1">
                <a:solidFill>
                  <a:srgbClr val="C0392B"/>
                </a:solidFill>
                <a:latin typeface="Arial"/>
              </a:rPr>
              <a:t>bypassed by ROP</a:t>
            </a:r>
          </a:p>
        </p:txBody>
      </p:sp>
      <p:sp>
        <p:nvSpPr>
          <p:cNvPr id="48" name="TextBox 47"/>
          <p:cNvSpPr txBox="1"/>
          <p:nvPr/>
        </p:nvSpPr>
        <p:spPr>
          <a:xfrm>
            <a:off x="900000" y="4410000"/>
            <a:ext cx="6600000" cy="260000"/>
          </a:xfrm>
          <a:prstGeom prst="rect">
            <a:avLst/>
          </a:prstGeom>
          <a:noFill/>
        </p:spPr>
        <p:txBody>
          <a:bodyPr wrap="square" lIns="0" tIns="0" rIns="0" bIns="0" anchor="t">
            <a:spAutoFit/>
          </a:bodyPr>
          <a:lstStyle/>
          <a:p>
            <a:pPr algn="l"/>
            <a:r>
              <a:rPr sz="1100" b="0" i="1">
                <a:solidFill>
                  <a:srgbClr val="8A8A8A"/>
                </a:solidFill>
                <a:latin typeface="Arial"/>
              </a:rPr>
              <a:t>Each is a speed bump; together they still fall - so we need stronger, systematic defenses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Three Lines of Defense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No single mechanism is enough; modern systems layer several</a:t>
            </a:r>
          </a:p>
          <a:p>
            <a:r>
              <a:rPr sz="2000" b="0" i="0">
                <a:solidFill>
                  <a:srgbClr val="202020"/>
                </a:solidFill>
                <a:latin typeface="Arial"/>
              </a:rPr>
              <a:t>Each line attacks a different stage of the exploit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4</a:t>
            </a:fld>
            <a:endParaRPr/>
          </a:p>
        </p:txBody>
      </p:sp>
      <p:sp>
        <p:nvSpPr>
          <p:cNvPr id="42" name="Rounded Rectangle 41"/>
          <p:cNvSpPr/>
          <p:nvPr/>
        </p:nvSpPr>
        <p:spPr>
          <a:xfrm>
            <a:off x="620000" y="2620000"/>
            <a:ext cx="2550000" cy="2050000"/>
          </a:xfrm>
          <a:prstGeom prst="roundRect">
            <a:avLst>
              <a:gd name="adj" fmla="val 6000"/>
            </a:avLst>
          </a:prstGeom>
          <a:solidFill>
            <a:srgbClr val="DDEEDD"/>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0000" y="2710000"/>
            <a:ext cx="2250000" cy="340000"/>
          </a:xfrm>
          <a:prstGeom prst="rect">
            <a:avLst/>
          </a:prstGeom>
          <a:noFill/>
        </p:spPr>
        <p:txBody>
          <a:bodyPr wrap="square" lIns="0" tIns="0" rIns="0" bIns="0" anchor="t">
            <a:spAutoFit/>
          </a:bodyPr>
          <a:lstStyle/>
          <a:p>
            <a:pPr algn="l"/>
            <a:r>
              <a:rPr sz="1500" b="1" i="0">
                <a:solidFill>
                  <a:srgbClr val="2E7D32"/>
                </a:solidFill>
                <a:latin typeface="Arial"/>
              </a:rPr>
              <a:t>Remove the bug</a:t>
            </a:r>
          </a:p>
        </p:txBody>
      </p:sp>
      <p:sp>
        <p:nvSpPr>
          <p:cNvPr id="44" name="TextBox 43"/>
          <p:cNvSpPr txBox="1"/>
          <p:nvPr/>
        </p:nvSpPr>
        <p:spPr>
          <a:xfrm>
            <a:off x="790000" y="3120000"/>
            <a:ext cx="2240000" cy="1480000"/>
          </a:xfrm>
          <a:prstGeom prst="rect">
            <a:avLst/>
          </a:prstGeom>
          <a:noFill/>
        </p:spPr>
        <p:txBody>
          <a:bodyPr wrap="square" lIns="0" tIns="0" rIns="0" bIns="0" anchor="t">
            <a:spAutoFit/>
          </a:bodyPr>
          <a:lstStyle/>
          <a:p>
            <a:pPr algn="l"/>
            <a:r>
              <a:rPr sz="1100" b="0" i="0">
                <a:solidFill>
                  <a:srgbClr val="202020"/>
                </a:solidFill>
                <a:latin typeface="Arial"/>
              </a:rPr>
              <a:t>- Memory-safe languages</a:t>
            </a:r>
          </a:p>
          <a:p>
            <a:pPr algn="l"/>
            <a:r>
              <a:rPr sz="1100" b="0" i="0">
                <a:solidFill>
                  <a:srgbClr val="202020"/>
                </a:solidFill>
                <a:latin typeface="Arial"/>
              </a:rPr>
              <a:t>- Hardened, checked C</a:t>
            </a:r>
          </a:p>
          <a:p>
            <a:pPr algn="l"/>
            <a:r>
              <a:rPr sz="1100" b="0" i="0">
                <a:solidFill>
                  <a:srgbClr val="202020"/>
                </a:solidFill>
                <a:latin typeface="Arial"/>
              </a:rPr>
              <a:t>- Kill the bug class</a:t>
            </a:r>
          </a:p>
        </p:txBody>
      </p:sp>
      <p:sp>
        <p:nvSpPr>
          <p:cNvPr id="45" name="Rounded Rectangle 44"/>
          <p:cNvSpPr/>
          <p:nvPr/>
        </p:nvSpPr>
        <p:spPr>
          <a:xfrm>
            <a:off x="3300000" y="2620000"/>
            <a:ext cx="2550000" cy="2050000"/>
          </a:xfrm>
          <a:prstGeom prst="roundRect">
            <a:avLst>
              <a:gd name="adj" fmla="val 6000"/>
            </a:avLst>
          </a:prstGeom>
          <a:solidFill>
            <a:srgbClr val="D6E4F0"/>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60000" y="2710000"/>
            <a:ext cx="2250000" cy="340000"/>
          </a:xfrm>
          <a:prstGeom prst="rect">
            <a:avLst/>
          </a:prstGeom>
          <a:noFill/>
        </p:spPr>
        <p:txBody>
          <a:bodyPr wrap="square" lIns="0" tIns="0" rIns="0" bIns="0" anchor="t">
            <a:spAutoFit/>
          </a:bodyPr>
          <a:lstStyle/>
          <a:p>
            <a:pPr algn="l"/>
            <a:r>
              <a:rPr sz="1500" b="1" i="0">
                <a:solidFill>
                  <a:srgbClr val="94B6D2"/>
                </a:solidFill>
                <a:latin typeface="Arial"/>
              </a:rPr>
              <a:t>Make hijacking hard</a:t>
            </a:r>
          </a:p>
        </p:txBody>
      </p:sp>
      <p:sp>
        <p:nvSpPr>
          <p:cNvPr id="47" name="TextBox 46"/>
          <p:cNvSpPr txBox="1"/>
          <p:nvPr/>
        </p:nvSpPr>
        <p:spPr>
          <a:xfrm>
            <a:off x="3470000" y="3120000"/>
            <a:ext cx="2240000" cy="1480000"/>
          </a:xfrm>
          <a:prstGeom prst="rect">
            <a:avLst/>
          </a:prstGeom>
          <a:noFill/>
        </p:spPr>
        <p:txBody>
          <a:bodyPr wrap="square" lIns="0" tIns="0" rIns="0" bIns="0" anchor="t">
            <a:spAutoFit/>
          </a:bodyPr>
          <a:lstStyle/>
          <a:p>
            <a:pPr algn="l"/>
            <a:r>
              <a:rPr sz="1100" b="0" i="0">
                <a:solidFill>
                  <a:srgbClr val="202020"/>
                </a:solidFill>
                <a:latin typeface="Arial"/>
              </a:rPr>
              <a:t>- Control-flow integrity</a:t>
            </a:r>
          </a:p>
          <a:p>
            <a:pPr algn="l"/>
            <a:r>
              <a:rPr sz="1100" b="0" i="0">
                <a:solidFill>
                  <a:srgbClr val="202020"/>
                </a:solidFill>
                <a:latin typeface="Arial"/>
              </a:rPr>
              <a:t>- Shadow stacks</a:t>
            </a:r>
          </a:p>
          <a:p>
            <a:pPr algn="l"/>
            <a:r>
              <a:rPr sz="1100" b="0" i="0">
                <a:solidFill>
                  <a:srgbClr val="202020"/>
                </a:solidFill>
                <a:latin typeface="Arial"/>
              </a:rPr>
              <a:t>- Pointer authentication</a:t>
            </a:r>
          </a:p>
        </p:txBody>
      </p:sp>
      <p:sp>
        <p:nvSpPr>
          <p:cNvPr id="48" name="Rounded Rectangle 47"/>
          <p:cNvSpPr/>
          <p:nvPr/>
        </p:nvSpPr>
        <p:spPr>
          <a:xfrm>
            <a:off x="5980000" y="2620000"/>
            <a:ext cx="2550000" cy="2050000"/>
          </a:xfrm>
          <a:prstGeom prst="roundRect">
            <a:avLst>
              <a:gd name="adj" fmla="val 6000"/>
            </a:avLst>
          </a:prstGeom>
          <a:solidFill>
            <a:srgbClr val="F6D8C4"/>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40000" y="2710000"/>
            <a:ext cx="2250000" cy="340000"/>
          </a:xfrm>
          <a:prstGeom prst="rect">
            <a:avLst/>
          </a:prstGeom>
          <a:noFill/>
        </p:spPr>
        <p:txBody>
          <a:bodyPr wrap="square" lIns="0" tIns="0" rIns="0" bIns="0" anchor="t">
            <a:spAutoFit/>
          </a:bodyPr>
          <a:lstStyle/>
          <a:p>
            <a:pPr algn="l"/>
            <a:r>
              <a:rPr sz="1500" b="1" i="0">
                <a:solidFill>
                  <a:srgbClr val="E47932"/>
                </a:solidFill>
                <a:latin typeface="Arial"/>
              </a:rPr>
              <a:t>Contain the damage</a:t>
            </a:r>
          </a:p>
        </p:txBody>
      </p:sp>
      <p:sp>
        <p:nvSpPr>
          <p:cNvPr id="50" name="TextBox 49"/>
          <p:cNvSpPr txBox="1"/>
          <p:nvPr/>
        </p:nvSpPr>
        <p:spPr>
          <a:xfrm>
            <a:off x="6150000" y="3120000"/>
            <a:ext cx="2240000" cy="1480000"/>
          </a:xfrm>
          <a:prstGeom prst="rect">
            <a:avLst/>
          </a:prstGeom>
          <a:noFill/>
        </p:spPr>
        <p:txBody>
          <a:bodyPr wrap="square" lIns="0" tIns="0" rIns="0" bIns="0" anchor="t">
            <a:spAutoFit/>
          </a:bodyPr>
          <a:lstStyle/>
          <a:p>
            <a:pPr algn="l"/>
            <a:r>
              <a:rPr sz="1100" b="0" i="0">
                <a:solidFill>
                  <a:srgbClr val="202020"/>
                </a:solidFill>
                <a:latin typeface="Arial"/>
              </a:rPr>
              <a:t>- Sandboxing</a:t>
            </a:r>
          </a:p>
          <a:p>
            <a:pPr algn="l"/>
            <a:r>
              <a:rPr sz="1100" b="0" i="0">
                <a:solidFill>
                  <a:srgbClr val="202020"/>
                </a:solidFill>
                <a:latin typeface="Arial"/>
              </a:rPr>
              <a:t>- Least privilege</a:t>
            </a:r>
          </a:p>
          <a:p>
            <a:pPr algn="l"/>
            <a:r>
              <a:rPr sz="1100" b="0" i="0">
                <a:solidFill>
                  <a:srgbClr val="202020"/>
                </a:solidFill>
                <a:latin typeface="Arial"/>
              </a:rPr>
              <a:t>- Shrink the blast radius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10" presetClass="entr" presetSubtype="0" fill="hold"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500"/>
                                        <p:tgtEl>
                                          <p:spTgt spid="4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500"/>
                                        <p:tgtEl>
                                          <p:spTgt spid="48"/>
                                        </p:tgtEl>
                                      </p:cBhvr>
                                    </p:animEffect>
                                  </p:childTnLst>
                                </p:cTn>
                              </p:par>
                              <p:par>
                                <p:cTn id="30" presetID="10" presetClass="entr" presetSubtype="0" fill="hold"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500"/>
                                        <p:tgtEl>
                                          <p:spTgt spid="49"/>
                                        </p:tgtEl>
                                      </p:cBhvr>
                                    </p:animEffect>
                                  </p:childTnLst>
                                </p:cTn>
                              </p:par>
                              <p:par>
                                <p:cTn id="33" presetID="10"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Line of Defense 1: Make Hijacking Hard</a:t>
            </a:r>
          </a:p>
        </p:txBody>
      </p:sp>
      <p:sp>
        <p:nvSpPr>
          <p:cNvPr id="3" name="Text Placeholder 2"/>
          <p:cNvSpPr>
            <a:spLocks noGrp="1"/>
          </p:cNvSpPr>
          <p:nvPr>
            <p:ph type="body" idx="1"/>
          </p:nvPr>
        </p:nvSpPr>
        <p:spPr/>
        <p:txBody>
          <a:bodyPr/>
          <a:lstStyle/>
          <a:p>
            <a:r>
              <a:rPr sz="1800" b="1" i="0">
                <a:solidFill>
                  <a:srgbClr val="E47932"/>
                </a:solidFill>
                <a:latin typeface="Arial"/>
              </a:rPr>
              <a:t>Protect the targets an attacker must corrupt to steer control</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Control-Flow Integrity (CFI)</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Every indirect call or jump must land on a target the program actually allows</a:t>
            </a:r>
          </a:p>
          <a:p>
            <a:r>
              <a:rPr sz="2000" b="0" i="0">
                <a:solidFill>
                  <a:srgbClr val="202020"/>
                </a:solidFill>
                <a:latin typeface="Arial"/>
              </a:rPr>
              <a:t>Compute the legal target set ahead of time; check it at runtime before the jump</a:t>
            </a:r>
          </a:p>
          <a:p>
            <a:r>
              <a:rPr sz="2000" b="0" i="0">
                <a:solidFill>
                  <a:srgbClr val="202020"/>
                </a:solidFill>
                <a:latin typeface="Arial"/>
              </a:rPr>
              <a:t>An overwritten function pointer now points outside the set, so the call is refused</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6</a:t>
            </a:fld>
            <a:endParaRPr/>
          </a:p>
        </p:txBody>
      </p:sp>
      <p:sp>
        <p:nvSpPr>
          <p:cNvPr id="42" name="Rectangle 41"/>
          <p:cNvSpPr/>
          <p:nvPr/>
        </p:nvSpPr>
        <p:spPr>
          <a:xfrm>
            <a:off x="900000" y="3500000"/>
            <a:ext cx="2100000" cy="52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Courier New"/>
              </a:rPr>
              <a:t>indirect call  (*fp)()</a:t>
            </a:r>
          </a:p>
        </p:txBody>
      </p:sp>
      <p:sp>
        <p:nvSpPr>
          <p:cNvPr id="43" name="Rectangle 42"/>
          <p:cNvSpPr/>
          <p:nvPr/>
        </p:nvSpPr>
        <p:spPr>
          <a:xfrm>
            <a:off x="4000000" y="3250000"/>
            <a:ext cx="1700000" cy="320000"/>
          </a:xfrm>
          <a:prstGeom prst="rect">
            <a:avLst/>
          </a:prstGeom>
          <a:solidFill>
            <a:srgbClr val="DDEEDD"/>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handler A</a:t>
            </a:r>
          </a:p>
        </p:txBody>
      </p:sp>
      <p:sp>
        <p:nvSpPr>
          <p:cNvPr id="44" name="Rectangle 43"/>
          <p:cNvSpPr/>
          <p:nvPr/>
        </p:nvSpPr>
        <p:spPr>
          <a:xfrm>
            <a:off x="4000000" y="3630000"/>
            <a:ext cx="1700000" cy="320000"/>
          </a:xfrm>
          <a:prstGeom prst="rect">
            <a:avLst/>
          </a:prstGeom>
          <a:solidFill>
            <a:srgbClr val="DDEEDD"/>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handler B</a:t>
            </a:r>
          </a:p>
        </p:txBody>
      </p:sp>
      <p:cxnSp>
        <p:nvCxnSpPr>
          <p:cNvPr id="45" name="Connector 44"/>
          <p:cNvCxnSpPr/>
          <p:nvPr/>
        </p:nvCxnSpPr>
        <p:spPr>
          <a:xfrm flipV="1">
            <a:off x="3000000" y="3410000"/>
            <a:ext cx="1000000" cy="270000"/>
          </a:xfrm>
          <a:prstGeom prst="bentConnector3">
            <a:avLst/>
          </a:prstGeom>
          <a:ln w="22225">
            <a:solidFill>
              <a:srgbClr val="2E7D3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000000" y="3790000"/>
            <a:ext cx="1000000" cy="10000"/>
          </a:xfrm>
          <a:prstGeom prst="bentConnector3">
            <a:avLst/>
          </a:prstGeom>
          <a:ln w="22225">
            <a:solidFill>
              <a:srgbClr val="2E7D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000000" y="3010000"/>
            <a:ext cx="2600000" cy="230000"/>
          </a:xfrm>
          <a:prstGeom prst="rect">
            <a:avLst/>
          </a:prstGeom>
          <a:noFill/>
        </p:spPr>
        <p:txBody>
          <a:bodyPr wrap="square" lIns="0" tIns="0" rIns="0" bIns="0" anchor="t">
            <a:spAutoFit/>
          </a:bodyPr>
          <a:lstStyle/>
          <a:p>
            <a:pPr algn="l"/>
            <a:r>
              <a:rPr sz="1000" b="0" i="1">
                <a:solidFill>
                  <a:srgbClr val="2E7D32"/>
                </a:solidFill>
                <a:latin typeface="Arial"/>
              </a:rPr>
              <a:t>allowed target set</a:t>
            </a:r>
          </a:p>
        </p:txBody>
      </p:sp>
      <p:sp>
        <p:nvSpPr>
          <p:cNvPr id="48" name="Rectangle 47"/>
          <p:cNvSpPr/>
          <p:nvPr/>
        </p:nvSpPr>
        <p:spPr>
          <a:xfrm>
            <a:off x="4000000" y="4150000"/>
            <a:ext cx="1850000" cy="34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attacker's gadget</a:t>
            </a:r>
          </a:p>
        </p:txBody>
      </p:sp>
      <p:cxnSp>
        <p:nvCxnSpPr>
          <p:cNvPr id="49" name="Connector 48"/>
          <p:cNvCxnSpPr/>
          <p:nvPr/>
        </p:nvCxnSpPr>
        <p:spPr>
          <a:xfrm>
            <a:off x="3000000" y="3920000"/>
            <a:ext cx="1000000" cy="380000"/>
          </a:xfrm>
          <a:prstGeom prst="bentConnector3">
            <a:avLst/>
          </a:prstGeom>
          <a:ln w="254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0000" y="4180000"/>
            <a:ext cx="1000000" cy="280000"/>
          </a:xfrm>
          <a:prstGeom prst="rect">
            <a:avLst/>
          </a:prstGeom>
          <a:noFill/>
        </p:spPr>
        <p:txBody>
          <a:bodyPr wrap="square" lIns="0" tIns="0" rIns="0" bIns="0" anchor="ctr">
            <a:spAutoFit/>
          </a:bodyPr>
          <a:lstStyle/>
          <a:p>
            <a:pPr algn="l"/>
            <a:r>
              <a:rPr sz="1100" b="1" i="0">
                <a:solidFill>
                  <a:srgbClr val="C0392B"/>
                </a:solidFill>
                <a:latin typeface="Arial"/>
              </a:rPr>
              <a:t>X blocked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Shadow Stacks: Protect the Return Address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return address is CFI's hard case (too many callers)</a:t>
            </a:r>
          </a:p>
          <a:p>
            <a:r>
              <a:rPr sz="2000" b="0" i="0">
                <a:solidFill>
                  <a:srgbClr val="202020"/>
                </a:solidFill>
                <a:latin typeface="Arial"/>
              </a:rPr>
              <a:t>Keep a protected copy on a separate shadow stack</a:t>
            </a:r>
          </a:p>
          <a:p>
            <a:r>
              <a:rPr sz="2000" b="0" i="0">
                <a:solidFill>
                  <a:srgbClr val="202020"/>
                </a:solidFill>
                <a:latin typeface="Arial"/>
              </a:rPr>
              <a:t>On return, compare; a mismatch means tampering, so abort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7</a:t>
            </a:fld>
            <a:endParaRPr/>
          </a:p>
        </p:txBody>
      </p:sp>
      <p:sp>
        <p:nvSpPr>
          <p:cNvPr id="42" name="TextBox 41"/>
          <p:cNvSpPr txBox="1"/>
          <p:nvPr/>
        </p:nvSpPr>
        <p:spPr>
          <a:xfrm>
            <a:off x="1100000" y="3200000"/>
            <a:ext cx="2300000" cy="230000"/>
          </a:xfrm>
          <a:prstGeom prst="rect">
            <a:avLst/>
          </a:prstGeom>
          <a:noFill/>
        </p:spPr>
        <p:txBody>
          <a:bodyPr wrap="square" lIns="0" tIns="0" rIns="0" bIns="0" anchor="t">
            <a:spAutoFit/>
          </a:bodyPr>
          <a:lstStyle/>
          <a:p>
            <a:pPr algn="ctr"/>
            <a:r>
              <a:rPr sz="1100" b="1" i="0">
                <a:solidFill>
                  <a:srgbClr val="8A8A8A"/>
                </a:solidFill>
                <a:latin typeface="Arial"/>
              </a:rPr>
              <a:t>normal stack</a:t>
            </a:r>
          </a:p>
        </p:txBody>
      </p:sp>
      <p:sp>
        <p:nvSpPr>
          <p:cNvPr id="43" name="Rectangle 42"/>
          <p:cNvSpPr/>
          <p:nvPr/>
        </p:nvSpPr>
        <p:spPr>
          <a:xfrm>
            <a:off x="1100000" y="3450000"/>
            <a:ext cx="2300000" cy="34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locals / buf</a:t>
            </a:r>
          </a:p>
        </p:txBody>
      </p:sp>
      <p:sp>
        <p:nvSpPr>
          <p:cNvPr id="44" name="Rectangle 43"/>
          <p:cNvSpPr/>
          <p:nvPr/>
        </p:nvSpPr>
        <p:spPr>
          <a:xfrm>
            <a:off x="1100000" y="3790000"/>
            <a:ext cx="2300000" cy="34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C0392B"/>
                </a:solidFill>
                <a:latin typeface="Arial"/>
              </a:rPr>
              <a:t>return = GADGET</a:t>
            </a:r>
          </a:p>
        </p:txBody>
      </p:sp>
      <p:sp>
        <p:nvSpPr>
          <p:cNvPr id="45" name="TextBox 44"/>
          <p:cNvSpPr txBox="1"/>
          <p:nvPr/>
        </p:nvSpPr>
        <p:spPr>
          <a:xfrm>
            <a:off x="4500000" y="3200000"/>
            <a:ext cx="2300000" cy="230000"/>
          </a:xfrm>
          <a:prstGeom prst="rect">
            <a:avLst/>
          </a:prstGeom>
          <a:noFill/>
        </p:spPr>
        <p:txBody>
          <a:bodyPr wrap="square" lIns="0" tIns="0" rIns="0" bIns="0" anchor="t">
            <a:spAutoFit/>
          </a:bodyPr>
          <a:lstStyle/>
          <a:p>
            <a:pPr algn="ctr"/>
            <a:r>
              <a:rPr sz="1100" b="1" i="0">
                <a:solidFill>
                  <a:srgbClr val="8A8A8A"/>
                </a:solidFill>
                <a:latin typeface="Arial"/>
              </a:rPr>
              <a:t>shadow stack</a:t>
            </a:r>
          </a:p>
        </p:txBody>
      </p:sp>
      <p:sp>
        <p:nvSpPr>
          <p:cNvPr id="46" name="Rectangle 45"/>
          <p:cNvSpPr/>
          <p:nvPr/>
        </p:nvSpPr>
        <p:spPr>
          <a:xfrm>
            <a:off x="4500000" y="3790000"/>
            <a:ext cx="2300000" cy="340000"/>
          </a:xfrm>
          <a:prstGeom prst="rect">
            <a:avLst/>
          </a:prstGeom>
          <a:solidFill>
            <a:srgbClr val="DDEEDD"/>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return = real</a:t>
            </a:r>
          </a:p>
        </p:txBody>
      </p:sp>
      <p:cxnSp>
        <p:nvCxnSpPr>
          <p:cNvPr id="47" name="Connector 46"/>
          <p:cNvCxnSpPr/>
          <p:nvPr/>
        </p:nvCxnSpPr>
        <p:spPr>
          <a:xfrm>
            <a:off x="3400000" y="3960000"/>
            <a:ext cx="1100000" cy="0"/>
          </a:xfrm>
          <a:prstGeom prst="bentConnector3">
            <a:avLst/>
          </a:prstGeom>
          <a:ln w="254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100000" y="4270000"/>
            <a:ext cx="6000000" cy="300000"/>
          </a:xfrm>
          <a:prstGeom prst="rect">
            <a:avLst/>
          </a:prstGeom>
          <a:noFill/>
        </p:spPr>
        <p:txBody>
          <a:bodyPr wrap="square" lIns="0" tIns="0" rIns="0" bIns="0" anchor="t">
            <a:spAutoFit/>
          </a:bodyPr>
          <a:lstStyle/>
          <a:p>
            <a:pPr algn="ctr"/>
            <a:r>
              <a:rPr sz="1200" b="1" i="1">
                <a:solidFill>
                  <a:srgbClr val="C0392B"/>
                </a:solidFill>
                <a:latin typeface="Arial"/>
              </a:rPr>
              <a:t>mismatch -&gt; abort before returning</a:t>
            </a:r>
          </a:p>
        </p:txBody>
      </p:sp>
      <p:sp>
        <p:nvSpPr>
          <p:cNvPr id="49" name="TextBox 48"/>
          <p:cNvSpPr txBox="1"/>
          <p:nvPr/>
        </p:nvSpPr>
        <p:spPr>
          <a:xfrm>
            <a:off x="1100000" y="4590000"/>
            <a:ext cx="6000000" cy="240000"/>
          </a:xfrm>
          <a:prstGeom prst="rect">
            <a:avLst/>
          </a:prstGeom>
          <a:noFill/>
        </p:spPr>
        <p:txBody>
          <a:bodyPr wrap="square" lIns="0" tIns="0" rIns="0" bIns="0" anchor="t">
            <a:spAutoFit/>
          </a:bodyPr>
          <a:lstStyle/>
          <a:p>
            <a:pPr algn="ctr"/>
            <a:r>
              <a:rPr sz="1000" b="0" i="1">
                <a:solidFill>
                  <a:srgbClr val="8A8A8A"/>
                </a:solidFill>
                <a:latin typeface="Arial"/>
              </a:rPr>
              <a:t>hardware support: Intel CET shadow stack, enforced by the CPU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Pointer Authentication (ARM PAC)</a:t>
            </a:r>
          </a:p>
        </p:txBody>
      </p:sp>
      <p:sp>
        <p:nvSpPr>
          <p:cNvPr id="3" name="Text Placeholder 2"/>
          <p:cNvSpPr>
            <a:spLocks noGrp="1"/>
          </p:cNvSpPr>
          <p:nvPr>
            <p:ph type="body" idx="1"/>
          </p:nvPr>
        </p:nvSpPr>
        <p:spPr>
          <a:xfrm>
            <a:off x="423949" y="1298448"/>
            <a:ext cx="8171411" cy="3383280"/>
          </a:xfrm>
        </p:spPr>
        <p:txBody>
          <a:bodyPr wrap="square" lIns="0" tIns="0" rIns="0" bIns="0"/>
          <a:lstStyle/>
          <a:p>
            <a:r>
              <a:rPr sz="2000" b="0" i="0" dirty="0">
                <a:solidFill>
                  <a:srgbClr val="202020"/>
                </a:solidFill>
                <a:latin typeface="Arial"/>
              </a:rPr>
              <a:t>Spare high bits of a 64-bit pointer hold a short signature (a keyed MAC)</a:t>
            </a:r>
          </a:p>
          <a:p>
            <a:r>
              <a:rPr sz="2000" b="0" i="0" dirty="0">
                <a:solidFill>
                  <a:srgbClr val="202020"/>
                </a:solidFill>
                <a:latin typeface="Arial"/>
              </a:rPr>
              <a:t>Sign a pointer when you store it; verify the signature before you use it</a:t>
            </a:r>
          </a:p>
          <a:p>
            <a:r>
              <a:rPr sz="2000" b="0" i="0" dirty="0">
                <a:solidFill>
                  <a:srgbClr val="202020"/>
                </a:solidFill>
                <a:latin typeface="Arial"/>
              </a:rPr>
              <a:t>An attacker who overwrites the pointer cannot forge the signature, so use faults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8</a:t>
            </a:fld>
            <a:endParaRPr/>
          </a:p>
        </p:txBody>
      </p:sp>
      <p:sp>
        <p:nvSpPr>
          <p:cNvPr id="42" name="Rectangle 41"/>
          <p:cNvSpPr/>
          <p:nvPr/>
        </p:nvSpPr>
        <p:spPr>
          <a:xfrm>
            <a:off x="1000000" y="3550000"/>
            <a:ext cx="2500000" cy="520000"/>
          </a:xfrm>
          <a:prstGeom prst="rect">
            <a:avLst/>
          </a:prstGeom>
          <a:solidFill>
            <a:srgbClr val="DDEEDD"/>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Courier New"/>
              </a:rPr>
              <a:t>ptr + PAC signature</a:t>
            </a:r>
          </a:p>
        </p:txBody>
      </p:sp>
      <p:sp>
        <p:nvSpPr>
          <p:cNvPr id="43" name="TextBox 42"/>
          <p:cNvSpPr txBox="1"/>
          <p:nvPr/>
        </p:nvSpPr>
        <p:spPr>
          <a:xfrm>
            <a:off x="1000000" y="4090000"/>
            <a:ext cx="2500000" cy="230000"/>
          </a:xfrm>
          <a:prstGeom prst="rect">
            <a:avLst/>
          </a:prstGeom>
          <a:noFill/>
        </p:spPr>
        <p:txBody>
          <a:bodyPr wrap="square" lIns="0" tIns="0" rIns="0" bIns="0" anchor="t">
            <a:spAutoFit/>
          </a:bodyPr>
          <a:lstStyle/>
          <a:p>
            <a:pPr algn="ctr"/>
            <a:r>
              <a:rPr sz="1000" b="0" i="1">
                <a:solidFill>
                  <a:srgbClr val="2E7D32"/>
                </a:solidFill>
                <a:latin typeface="Arial"/>
              </a:rPr>
              <a:t>signed on store</a:t>
            </a:r>
          </a:p>
        </p:txBody>
      </p:sp>
      <p:cxnSp>
        <p:nvCxnSpPr>
          <p:cNvPr id="44" name="Connector 43"/>
          <p:cNvCxnSpPr/>
          <p:nvPr/>
        </p:nvCxnSpPr>
        <p:spPr>
          <a:xfrm>
            <a:off x="3500000" y="3810000"/>
            <a:ext cx="700000" cy="0"/>
          </a:xfrm>
          <a:prstGeom prst="bentConnector3">
            <a:avLst/>
          </a:prstGeom>
          <a:ln w="22225">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200000" y="3550000"/>
            <a:ext cx="2500000" cy="52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C0392B"/>
                </a:solidFill>
                <a:latin typeface="Courier New"/>
              </a:rPr>
              <a:t>overwritten ptr</a:t>
            </a:r>
          </a:p>
        </p:txBody>
      </p:sp>
      <p:sp>
        <p:nvSpPr>
          <p:cNvPr id="46" name="TextBox 45"/>
          <p:cNvSpPr txBox="1"/>
          <p:nvPr/>
        </p:nvSpPr>
        <p:spPr>
          <a:xfrm>
            <a:off x="4200000" y="4090000"/>
            <a:ext cx="2800000" cy="260000"/>
          </a:xfrm>
          <a:prstGeom prst="rect">
            <a:avLst/>
          </a:prstGeom>
          <a:noFill/>
        </p:spPr>
        <p:txBody>
          <a:bodyPr wrap="square" lIns="0" tIns="0" rIns="0" bIns="0" anchor="t">
            <a:spAutoFit/>
          </a:bodyPr>
          <a:lstStyle/>
          <a:p>
            <a:pPr algn="l"/>
            <a:r>
              <a:rPr sz="1000" b="0" i="1">
                <a:solidFill>
                  <a:srgbClr val="C0392B"/>
                </a:solidFill>
                <a:latin typeface="Arial"/>
              </a:rPr>
              <a:t>verify fails -&gt; fault (no valid signature)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Line of Defense 2: Remove the Bug Class</a:t>
            </a:r>
          </a:p>
        </p:txBody>
      </p:sp>
      <p:sp>
        <p:nvSpPr>
          <p:cNvPr id="3" name="Text Placeholder 2"/>
          <p:cNvSpPr>
            <a:spLocks noGrp="1"/>
          </p:cNvSpPr>
          <p:nvPr>
            <p:ph type="body" idx="1"/>
          </p:nvPr>
        </p:nvSpPr>
        <p:spPr/>
        <p:txBody>
          <a:bodyPr/>
          <a:lstStyle/>
          <a:p>
            <a:r>
              <a:rPr sz="1800" b="1" i="0">
                <a:solidFill>
                  <a:srgbClr val="E47932"/>
                </a:solidFill>
                <a:latin typeface="Arial"/>
              </a:rPr>
              <a:t>If the vulnerability cannot exist, there is nothing to exploit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Memory-Safe Languages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Most exploited bugs are memory-safety errors</a:t>
            </a:r>
          </a:p>
          <a:p>
            <a:r>
              <a:rPr sz="2000" b="0" i="0">
                <a:solidFill>
                  <a:srgbClr val="202020"/>
                </a:solidFill>
                <a:latin typeface="Arial"/>
              </a:rPr>
              <a:t>Rust, Go, Java make these impossible by construction</a:t>
            </a:r>
          </a:p>
          <a:p>
            <a:r>
              <a:rPr sz="2000" b="0" i="0">
                <a:solidFill>
                  <a:srgbClr val="202020"/>
                </a:solidFill>
                <a:latin typeface="Arial"/>
              </a:rPr>
              <a:t>Rust: compile-time ownership, bounds-checked indexing</a:t>
            </a:r>
          </a:p>
          <a:p>
            <a:r>
              <a:rPr sz="2000" b="0" i="0">
                <a:solidFill>
                  <a:srgbClr val="202020"/>
                </a:solidFill>
                <a:latin typeface="Arial"/>
              </a:rPr>
              <a:t>Guidance now pushes new code to memory-safe languages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10</a:t>
            </a:fld>
            <a:endParaRPr/>
          </a:p>
        </p:txBody>
      </p:sp>
      <p:sp>
        <p:nvSpPr>
          <p:cNvPr id="42" name="TextBox 41"/>
          <p:cNvSpPr txBox="1"/>
          <p:nvPr/>
        </p:nvSpPr>
        <p:spPr>
          <a:xfrm>
            <a:off x="900000" y="3590000"/>
            <a:ext cx="3300000" cy="230000"/>
          </a:xfrm>
          <a:prstGeom prst="rect">
            <a:avLst/>
          </a:prstGeom>
          <a:noFill/>
        </p:spPr>
        <p:txBody>
          <a:bodyPr wrap="square" lIns="0" tIns="0" rIns="0" bIns="0" anchor="t">
            <a:spAutoFit/>
          </a:bodyPr>
          <a:lstStyle/>
          <a:p>
            <a:pPr algn="l"/>
            <a:r>
              <a:rPr sz="1000" b="1" i="0">
                <a:solidFill>
                  <a:srgbClr val="C0392B"/>
                </a:solidFill>
                <a:latin typeface="Arial"/>
              </a:rPr>
              <a:t>C: silent corruption</a:t>
            </a:r>
          </a:p>
        </p:txBody>
      </p:sp>
      <p:sp>
        <p:nvSpPr>
          <p:cNvPr id="43" name="TextBox 42"/>
          <p:cNvSpPr txBox="1"/>
          <p:nvPr/>
        </p:nvSpPr>
        <p:spPr>
          <a:xfrm>
            <a:off x="4500000" y="3590000"/>
            <a:ext cx="3400000" cy="230000"/>
          </a:xfrm>
          <a:prstGeom prst="rect">
            <a:avLst/>
          </a:prstGeom>
          <a:noFill/>
        </p:spPr>
        <p:txBody>
          <a:bodyPr wrap="square" lIns="0" tIns="0" rIns="0" bIns="0" anchor="t">
            <a:spAutoFit/>
          </a:bodyPr>
          <a:lstStyle/>
          <a:p>
            <a:pPr algn="l"/>
            <a:r>
              <a:rPr sz="1000" b="1" i="0">
                <a:solidFill>
                  <a:srgbClr val="2E7D32"/>
                </a:solidFill>
                <a:latin typeface="Arial"/>
              </a:rPr>
              <a:t>Rust: safe by construction</a:t>
            </a:r>
          </a:p>
        </p:txBody>
      </p:sp>
      <p:sp>
        <p:nvSpPr>
          <p:cNvPr id="44" name="Rounded Rectangle 43"/>
          <p:cNvSpPr/>
          <p:nvPr/>
        </p:nvSpPr>
        <p:spPr>
          <a:xfrm>
            <a:off x="900000" y="3850000"/>
            <a:ext cx="3300000" cy="82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gn="ctr">
              <a:lnSpc>
                <a:spcPct val="100000"/>
              </a:lnSpc>
              <a:spcBef>
                <a:spcPts val="0"/>
              </a:spcBef>
              <a:spcAft>
                <a:spcPts val="0"/>
              </a:spcAft>
            </a:pPr>
            <a:r>
              <a:rPr sz="1050" b="0" i="0">
                <a:solidFill>
                  <a:srgbClr val="4EC9B0"/>
                </a:solidFill>
                <a:latin typeface="Courier New"/>
              </a:rPr>
              <a:t>char</a:t>
            </a:r>
            <a:r>
              <a:rPr sz="1050" b="0" i="0">
                <a:solidFill>
                  <a:srgbClr val="D4D4D4"/>
                </a:solidFill>
                <a:latin typeface="Courier New"/>
              </a:rPr>
              <a:t> buf[</a:t>
            </a:r>
            <a:r>
              <a:rPr sz="1050" b="0" i="0">
                <a:solidFill>
                  <a:srgbClr val="B5CEA8"/>
                </a:solidFill>
                <a:latin typeface="Courier New"/>
              </a:rPr>
              <a:t>8</a:t>
            </a:r>
            <a:r>
              <a:rPr sz="1050" b="0" i="0">
                <a:solidFill>
                  <a:srgbClr val="D4D4D4"/>
                </a:solidFill>
                <a:latin typeface="Courier New"/>
              </a:rPr>
              <a:t>];</a:t>
            </a:r>
          </a:p>
          <a:p>
            <a:pPr>
              <a:lnSpc>
                <a:spcPct val="100000"/>
              </a:lnSpc>
              <a:spcBef>
                <a:spcPts val="0"/>
              </a:spcBef>
              <a:spcAft>
                <a:spcPts val="0"/>
              </a:spcAft>
            </a:pPr>
            <a:r>
              <a:rPr sz="1050" b="0" i="0">
                <a:solidFill>
                  <a:srgbClr val="D4D4D4"/>
                </a:solidFill>
                <a:latin typeface="Courier New"/>
              </a:rPr>
              <a:t>strcpy(buf, input);   </a:t>
            </a:r>
            <a:r>
              <a:rPr sz="1050" b="0" i="0">
                <a:solidFill>
                  <a:srgbClr val="6A9955"/>
                </a:solidFill>
                <a:latin typeface="Courier New"/>
              </a:rPr>
              <a:t>// no check, UB</a:t>
            </a:r>
          </a:p>
        </p:txBody>
      </p:sp>
      <p:sp>
        <p:nvSpPr>
          <p:cNvPr id="45" name="Rounded Rectangle 44"/>
          <p:cNvSpPr/>
          <p:nvPr/>
        </p:nvSpPr>
        <p:spPr>
          <a:xfrm>
            <a:off x="4500000" y="3850000"/>
            <a:ext cx="3400000" cy="82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gn="ctr">
              <a:lnSpc>
                <a:spcPct val="100000"/>
              </a:lnSpc>
              <a:spcBef>
                <a:spcPts val="0"/>
              </a:spcBef>
              <a:spcAft>
                <a:spcPts val="0"/>
              </a:spcAft>
            </a:pPr>
            <a:r>
              <a:rPr sz="1050" b="0" i="0">
                <a:solidFill>
                  <a:srgbClr val="D4D4D4"/>
                </a:solidFill>
                <a:latin typeface="Courier New"/>
              </a:rPr>
              <a:t>let b = &amp;arr[i];</a:t>
            </a:r>
          </a:p>
          <a:p>
            <a:pPr>
              <a:lnSpc>
                <a:spcPct val="100000"/>
              </a:lnSpc>
              <a:spcBef>
                <a:spcPts val="0"/>
              </a:spcBef>
              <a:spcAft>
                <a:spcPts val="0"/>
              </a:spcAft>
            </a:pPr>
            <a:r>
              <a:rPr sz="1050" b="0" i="0">
                <a:solidFill>
                  <a:srgbClr val="6A9955"/>
                </a:solidFill>
                <a:latin typeface="Courier New"/>
              </a:rPr>
              <a:t>// panics, never corrupts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Hardening the C You Must Keep</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Rewrites are slow, so make existing C far harder to exploit</a:t>
            </a:r>
          </a:p>
          <a:p>
            <a:r>
              <a:rPr sz="2000" b="0" i="0">
                <a:solidFill>
                  <a:srgbClr val="202020"/>
                </a:solidFill>
                <a:latin typeface="Arial"/>
              </a:rPr>
              <a:t>Compiler and library hardening add checks the classic defenses did not</a:t>
            </a:r>
          </a:p>
          <a:p>
            <a:r>
              <a:rPr sz="2000" b="0" i="0">
                <a:solidFill>
                  <a:srgbClr val="202020"/>
                </a:solidFill>
                <a:latin typeface="Arial"/>
              </a:rPr>
              <a:t>Sanitizers (ASan, UBSan) catch memory errors during testing, before shipping</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11</a:t>
            </a:fld>
            <a:endParaRPr/>
          </a:p>
        </p:txBody>
      </p:sp>
      <p:sp>
        <p:nvSpPr>
          <p:cNvPr id="42" name="Rounded Rectangle 41"/>
          <p:cNvSpPr/>
          <p:nvPr/>
        </p:nvSpPr>
        <p:spPr>
          <a:xfrm>
            <a:off x="548640" y="3350000"/>
            <a:ext cx="6600000" cy="120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nSpc>
                <a:spcPct val="100000"/>
              </a:lnSpc>
              <a:spcBef>
                <a:spcPts val="0"/>
              </a:spcBef>
              <a:spcAft>
                <a:spcPts val="0"/>
              </a:spcAft>
            </a:pPr>
            <a:r>
              <a:rPr sz="1050" b="0" i="0" dirty="0" err="1">
                <a:solidFill>
                  <a:srgbClr val="D4D4D4"/>
                </a:solidFill>
                <a:latin typeface="Courier New"/>
              </a:rPr>
              <a:t>gcc</a:t>
            </a:r>
            <a:r>
              <a:rPr sz="1050" b="0" i="0" dirty="0">
                <a:solidFill>
                  <a:srgbClr val="D4D4D4"/>
                </a:solidFill>
                <a:latin typeface="Courier New"/>
              </a:rPr>
              <a:t> -O2 -D_FORTIFY_SOURCE=</a:t>
            </a:r>
            <a:r>
              <a:rPr sz="1050" b="0" i="0" dirty="0">
                <a:solidFill>
                  <a:srgbClr val="B5CEA8"/>
                </a:solidFill>
                <a:latin typeface="Courier New"/>
              </a:rPr>
              <a:t>2</a:t>
            </a:r>
            <a:r>
              <a:rPr sz="1050" b="0" i="0" dirty="0">
                <a:solidFill>
                  <a:srgbClr val="D4D4D4"/>
                </a:solidFill>
                <a:latin typeface="Courier New"/>
              </a:rPr>
              <a:t> \</a:t>
            </a:r>
          </a:p>
          <a:p>
            <a:pPr>
              <a:lnSpc>
                <a:spcPct val="100000"/>
              </a:lnSpc>
              <a:spcBef>
                <a:spcPts val="0"/>
              </a:spcBef>
              <a:spcAft>
                <a:spcPts val="0"/>
              </a:spcAft>
            </a:pPr>
            <a:r>
              <a:rPr sz="1050" b="0" i="0" dirty="0">
                <a:solidFill>
                  <a:srgbClr val="D4D4D4"/>
                </a:solidFill>
                <a:latin typeface="Courier New"/>
              </a:rPr>
              <a:t>    -</a:t>
            </a:r>
            <a:r>
              <a:rPr sz="1050" b="0" i="0" dirty="0" err="1">
                <a:solidFill>
                  <a:srgbClr val="D4D4D4"/>
                </a:solidFill>
                <a:latin typeface="Courier New"/>
              </a:rPr>
              <a:t>fstack</a:t>
            </a:r>
            <a:r>
              <a:rPr sz="1050" b="0" i="0" dirty="0">
                <a:solidFill>
                  <a:srgbClr val="D4D4D4"/>
                </a:solidFill>
                <a:latin typeface="Courier New"/>
              </a:rPr>
              <a:t>-protector-strong \   </a:t>
            </a:r>
            <a:r>
              <a:rPr sz="1050" b="0" i="0" dirty="0">
                <a:solidFill>
                  <a:srgbClr val="6A9955"/>
                </a:solidFill>
                <a:latin typeface="Courier New"/>
              </a:rPr>
              <a:t>// canaries on more functions</a:t>
            </a:r>
          </a:p>
          <a:p>
            <a:pPr>
              <a:lnSpc>
                <a:spcPct val="100000"/>
              </a:lnSpc>
              <a:spcBef>
                <a:spcPts val="0"/>
              </a:spcBef>
              <a:spcAft>
                <a:spcPts val="0"/>
              </a:spcAft>
            </a:pPr>
            <a:r>
              <a:rPr sz="1050" b="0" i="0" dirty="0">
                <a:solidFill>
                  <a:srgbClr val="D4D4D4"/>
                </a:solidFill>
                <a:latin typeface="Courier New"/>
              </a:rPr>
              <a:t>    -</a:t>
            </a:r>
            <a:r>
              <a:rPr sz="1050" b="0" i="0" dirty="0" err="1">
                <a:solidFill>
                  <a:srgbClr val="D4D4D4"/>
                </a:solidFill>
                <a:latin typeface="Courier New"/>
              </a:rPr>
              <a:t>fstack</a:t>
            </a:r>
            <a:r>
              <a:rPr sz="1050" b="0" i="0" dirty="0">
                <a:solidFill>
                  <a:srgbClr val="D4D4D4"/>
                </a:solidFill>
                <a:latin typeface="Courier New"/>
              </a:rPr>
              <a:t>-clash-protection \   </a:t>
            </a:r>
            <a:r>
              <a:rPr sz="1050" b="0" i="0" dirty="0">
                <a:solidFill>
                  <a:srgbClr val="6A9955"/>
                </a:solidFill>
                <a:latin typeface="Courier New"/>
              </a:rPr>
              <a:t>// guard large stack growth</a:t>
            </a:r>
          </a:p>
          <a:p>
            <a:pPr>
              <a:lnSpc>
                <a:spcPct val="100000"/>
              </a:lnSpc>
              <a:spcBef>
                <a:spcPts val="0"/>
              </a:spcBef>
              <a:spcAft>
                <a:spcPts val="0"/>
              </a:spcAft>
            </a:pPr>
            <a:r>
              <a:rPr sz="1050" b="0" i="0" dirty="0">
                <a:solidFill>
                  <a:srgbClr val="D4D4D4"/>
                </a:solidFill>
                <a:latin typeface="Courier New"/>
              </a:rPr>
              <a:t>    -</a:t>
            </a:r>
            <a:r>
              <a:rPr sz="1050" b="0" i="0" dirty="0" err="1">
                <a:solidFill>
                  <a:srgbClr val="D4D4D4"/>
                </a:solidFill>
                <a:latin typeface="Courier New"/>
              </a:rPr>
              <a:t>fcf</a:t>
            </a:r>
            <a:r>
              <a:rPr sz="1050" b="0" i="0" dirty="0">
                <a:solidFill>
                  <a:srgbClr val="D4D4D4"/>
                </a:solidFill>
                <a:latin typeface="Courier New"/>
              </a:rPr>
              <a:t>-protection=full          </a:t>
            </a:r>
            <a:r>
              <a:rPr sz="1050" b="0" i="0" dirty="0">
                <a:solidFill>
                  <a:srgbClr val="6A9955"/>
                </a:solidFill>
                <a:latin typeface="Courier New"/>
              </a:rPr>
              <a:t>// Intel CET: CFI + shadow stack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Line of Defense 3: Contain the Damage</a:t>
            </a:r>
          </a:p>
        </p:txBody>
      </p:sp>
      <p:sp>
        <p:nvSpPr>
          <p:cNvPr id="3" name="Text Placeholder 2"/>
          <p:cNvSpPr>
            <a:spLocks noGrp="1"/>
          </p:cNvSpPr>
          <p:nvPr>
            <p:ph type="body" idx="1"/>
          </p:nvPr>
        </p:nvSpPr>
        <p:spPr/>
        <p:txBody>
          <a:bodyPr/>
          <a:lstStyle/>
          <a:p>
            <a:r>
              <a:rPr sz="1800" b="1" i="0">
                <a:solidFill>
                  <a:srgbClr val="E47932"/>
                </a:solidFill>
                <a:latin typeface="Arial"/>
              </a:rPr>
              <a:t>Assume a compromise happens, and limit what it can reach</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Sandboxing and Least Privilege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Give each component only the privileges and resources it truly needs</a:t>
            </a:r>
          </a:p>
          <a:p>
            <a:r>
              <a:rPr sz="2000" b="0" i="0">
                <a:solidFill>
                  <a:srgbClr val="202020"/>
                </a:solidFill>
                <a:latin typeface="Arial"/>
              </a:rPr>
              <a:t>Sandboxes (seccomp, containers, OS isolation) wall off the risky parts</a:t>
            </a:r>
          </a:p>
          <a:p>
            <a:r>
              <a:rPr sz="2000" b="0" i="0">
                <a:solidFill>
                  <a:srgbClr val="202020"/>
                </a:solidFill>
                <a:latin typeface="Arial"/>
              </a:rPr>
              <a:t>A bug in a sandboxed parser then compromises the sandbox, not the whole system</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13</a:t>
            </a:fld>
            <a:endParaRPr/>
          </a:p>
        </p:txBody>
      </p:sp>
      <p:sp>
        <p:nvSpPr>
          <p:cNvPr id="42" name="Rounded Rectangle 41"/>
          <p:cNvSpPr/>
          <p:nvPr/>
        </p:nvSpPr>
        <p:spPr>
          <a:xfrm>
            <a:off x="1100000" y="3500000"/>
            <a:ext cx="3300000" cy="1050000"/>
          </a:xfrm>
          <a:prstGeom prst="roundRect">
            <a:avLst>
              <a:gd name="adj" fmla="val 5000"/>
            </a:avLst>
          </a:prstGeom>
          <a:solidFill>
            <a:srgbClr val="F6D8C4"/>
          </a:solidFill>
          <a:ln w="12700">
            <a:solidFill>
              <a:srgbClr val="C08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20000" y="3590000"/>
            <a:ext cx="3060000" cy="240000"/>
          </a:xfrm>
          <a:prstGeom prst="rect">
            <a:avLst/>
          </a:prstGeom>
          <a:noFill/>
        </p:spPr>
        <p:txBody>
          <a:bodyPr wrap="square" lIns="0" tIns="0" rIns="0" bIns="0" anchor="t">
            <a:spAutoFit/>
          </a:bodyPr>
          <a:lstStyle/>
          <a:p>
            <a:pPr algn="l"/>
            <a:r>
              <a:rPr sz="1100" b="1" i="0">
                <a:solidFill>
                  <a:srgbClr val="C0392B"/>
                </a:solidFill>
                <a:latin typeface="Arial"/>
              </a:rPr>
              <a:t>sandbox (restricted)</a:t>
            </a:r>
          </a:p>
        </p:txBody>
      </p:sp>
      <p:sp>
        <p:nvSpPr>
          <p:cNvPr id="44" name="Rectangle 43"/>
          <p:cNvSpPr/>
          <p:nvPr/>
        </p:nvSpPr>
        <p:spPr>
          <a:xfrm>
            <a:off x="1400000" y="3920000"/>
            <a:ext cx="2700000" cy="4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Arial"/>
              </a:rPr>
              <a:t>compromised parser</a:t>
            </a:r>
          </a:p>
        </p:txBody>
      </p:sp>
      <p:cxnSp>
        <p:nvCxnSpPr>
          <p:cNvPr id="45" name="Connector 44"/>
          <p:cNvCxnSpPr/>
          <p:nvPr/>
        </p:nvCxnSpPr>
        <p:spPr>
          <a:xfrm>
            <a:off x="4400000" y="4020000"/>
            <a:ext cx="800000" cy="0"/>
          </a:xfrm>
          <a:prstGeom prst="bentConnector3">
            <a:avLst/>
          </a:prstGeom>
          <a:ln w="254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250000" y="3750000"/>
            <a:ext cx="2600000" cy="560000"/>
          </a:xfrm>
          <a:prstGeom prst="roundRect">
            <a:avLst>
              <a:gd name="adj" fmla="val 5000"/>
            </a:avLst>
          </a:prstGeom>
          <a:solidFill>
            <a:srgbClr val="DDEEDD"/>
          </a:solidFill>
          <a:ln w="12700">
            <a:solidFill>
              <a:srgbClr val="5588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E7D32"/>
                </a:solidFill>
                <a:latin typeface="Arial"/>
              </a:rPr>
              <a:t>rest of the system</a:t>
            </a:r>
          </a:p>
          <a:p>
            <a:pPr algn="ctr"/>
            <a:r>
              <a:rPr sz="1000" b="0" i="1">
                <a:solidFill>
                  <a:srgbClr val="2E7D32"/>
                </a:solidFill>
                <a:latin typeface="Arial"/>
              </a:rPr>
              <a:t>out of reach</a:t>
            </a:r>
          </a:p>
        </p:txBody>
      </p:sp>
      <p:sp>
        <p:nvSpPr>
          <p:cNvPr id="47" name="TextBox 46"/>
          <p:cNvSpPr txBox="1"/>
          <p:nvPr/>
        </p:nvSpPr>
        <p:spPr>
          <a:xfrm>
            <a:off x="4250000" y="4140000"/>
            <a:ext cx="1100000" cy="230000"/>
          </a:xfrm>
          <a:prstGeom prst="rect">
            <a:avLst/>
          </a:prstGeom>
          <a:noFill/>
        </p:spPr>
        <p:txBody>
          <a:bodyPr wrap="square" lIns="0" tIns="0" rIns="0" bIns="0" anchor="t">
            <a:spAutoFit/>
          </a:bodyPr>
          <a:lstStyle/>
          <a:p>
            <a:pPr algn="ctr"/>
            <a:r>
              <a:rPr sz="950" b="0" i="1">
                <a:solidFill>
                  <a:srgbClr val="C0392B"/>
                </a:solidFill>
                <a:latin typeface="Arial"/>
              </a:rPr>
              <a:t>contained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Defense in Depth: the Layers Compose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No layer is perfect, but an attacker must defeat all of them at once</a:t>
            </a:r>
          </a:p>
          <a:p>
            <a:r>
              <a:rPr sz="2000" b="0" i="0">
                <a:solidFill>
                  <a:srgbClr val="202020"/>
                </a:solidFill>
                <a:latin typeface="Arial"/>
              </a:rPr>
              <a:t>Remove bugs where you can; make the rest hard to exploit; contain the rest</a:t>
            </a:r>
          </a:p>
          <a:p>
            <a:r>
              <a:rPr sz="2000" b="0" i="0">
                <a:solidFill>
                  <a:srgbClr val="202020"/>
                </a:solidFill>
                <a:latin typeface="Arial"/>
              </a:rPr>
              <a:t>This is why modern exploits are long chains, not a single overflow</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14</a:t>
            </a:fld>
            <a:endParaRPr/>
          </a:p>
        </p:txBody>
      </p:sp>
      <p:sp>
        <p:nvSpPr>
          <p:cNvPr id="42" name="Rectangle 41"/>
          <p:cNvSpPr/>
          <p:nvPr/>
        </p:nvSpPr>
        <p:spPr>
          <a:xfrm>
            <a:off x="1500000" y="3450000"/>
            <a:ext cx="6000000" cy="330000"/>
          </a:xfrm>
          <a:prstGeom prst="rect">
            <a:avLst/>
          </a:prstGeom>
          <a:solidFill>
            <a:srgbClr val="DDEEDD"/>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02020"/>
                </a:solidFill>
                <a:latin typeface="Arial"/>
              </a:rPr>
              <a:t>Remove the bug class  (memory-safe languages, hardened C)</a:t>
            </a:r>
          </a:p>
        </p:txBody>
      </p:sp>
      <p:sp>
        <p:nvSpPr>
          <p:cNvPr id="43" name="Rectangle 42"/>
          <p:cNvSpPr/>
          <p:nvPr/>
        </p:nvSpPr>
        <p:spPr>
          <a:xfrm>
            <a:off x="1500000" y="3840000"/>
            <a:ext cx="6000000" cy="3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02020"/>
                </a:solidFill>
                <a:latin typeface="Arial"/>
              </a:rPr>
              <a:t>Make hijacking hard  (CFI, shadow stacks, PAC)</a:t>
            </a:r>
          </a:p>
        </p:txBody>
      </p:sp>
      <p:sp>
        <p:nvSpPr>
          <p:cNvPr id="44" name="Rectangle 43"/>
          <p:cNvSpPr/>
          <p:nvPr/>
        </p:nvSpPr>
        <p:spPr>
          <a:xfrm>
            <a:off x="1500000" y="4230000"/>
            <a:ext cx="6000000" cy="33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02020"/>
                </a:solidFill>
                <a:latin typeface="Arial"/>
              </a:rPr>
              <a:t>Contain the damage  (sandboxing, least privilege)</a:t>
            </a:r>
          </a:p>
        </p:txBody>
      </p:sp>
      <p:sp>
        <p:nvSpPr>
          <p:cNvPr id="45" name="TextBox 44"/>
          <p:cNvSpPr txBox="1"/>
          <p:nvPr/>
        </p:nvSpPr>
        <p:spPr>
          <a:xfrm>
            <a:off x="1500000" y="4640000"/>
            <a:ext cx="6000000" cy="260000"/>
          </a:xfrm>
          <a:prstGeom prst="rect">
            <a:avLst/>
          </a:prstGeom>
          <a:noFill/>
        </p:spPr>
        <p:txBody>
          <a:bodyPr wrap="square" lIns="0" tIns="0" rIns="0" bIns="0" anchor="t">
            <a:spAutoFit/>
          </a:bodyPr>
          <a:lstStyle/>
          <a:p>
            <a:pPr algn="ctr"/>
            <a:r>
              <a:rPr sz="1100" b="0" i="1">
                <a:solidFill>
                  <a:srgbClr val="8A8A8A"/>
                </a:solidFill>
                <a:latin typeface="Arial"/>
              </a:rPr>
              <a:t>an exploit must pass through every layer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The Costs, and What Remains Open</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Performance: checks cost cycles, so some defenses ship off by default</a:t>
            </a:r>
          </a:p>
          <a:p>
            <a:r>
              <a:rPr sz="2000" b="0" i="0">
                <a:solidFill>
                  <a:srgbClr val="202020"/>
                </a:solidFill>
                <a:latin typeface="Arial"/>
              </a:rPr>
              <a:t>Compatibility: CFI and shadow stacks need recompilation and break some code</a:t>
            </a:r>
          </a:p>
          <a:p>
            <a:r>
              <a:rPr sz="2000" b="0" i="0">
                <a:solidFill>
                  <a:srgbClr val="202020"/>
                </a:solidFill>
                <a:latin typeface="Arial"/>
              </a:rPr>
              <a:t>Deployment lag: hardware features take years to become universal</a:t>
            </a:r>
          </a:p>
          <a:p>
            <a:r>
              <a:rPr sz="2000" b="0" i="0">
                <a:solidFill>
                  <a:srgbClr val="202020"/>
                </a:solidFill>
                <a:latin typeface="Arial"/>
              </a:rPr>
              <a:t>The base of existing C and C++ is enormous, so attacks will persist for a long time</a:t>
            </a:r>
          </a:p>
          <a:p>
            <a:r>
              <a:rPr sz="2000" b="0" i="0">
                <a:solidFill>
                  <a:srgbClr val="8A8A8A"/>
                </a:solidFill>
                <a:latin typeface="Arial"/>
              </a:rPr>
              <a:t>Open problem: strong, cheap, and deployable - rarely all three at once</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Conclusions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classic defenses only raise the bar; modern defenses change the game</a:t>
            </a:r>
          </a:p>
          <a:p>
            <a:r>
              <a:rPr sz="2000" b="0" i="0">
                <a:solidFill>
                  <a:srgbClr val="202020"/>
                </a:solidFill>
                <a:latin typeface="Arial"/>
              </a:rPr>
              <a:t>Three lines: remove the bug, make hijacking hard, contain the damage</a:t>
            </a:r>
          </a:p>
          <a:p>
            <a:r>
              <a:rPr sz="2000" b="0" i="0">
                <a:solidFill>
                  <a:srgbClr val="202020"/>
                </a:solidFill>
                <a:latin typeface="Arial"/>
              </a:rPr>
              <a:t>CFI, shadow stacks, and PAC protect the targets attackers must corrupt</a:t>
            </a:r>
          </a:p>
          <a:p>
            <a:r>
              <a:rPr sz="2000" b="0" i="0">
                <a:solidFill>
                  <a:srgbClr val="202020"/>
                </a:solidFill>
                <a:latin typeface="Arial"/>
              </a:rPr>
              <a:t>Memory-safe languages remove the bug class; hardening buys time for the rest</a:t>
            </a:r>
          </a:p>
          <a:p>
            <a:r>
              <a:rPr sz="2000" b="0" i="0">
                <a:solidFill>
                  <a:srgbClr val="8A8A8A"/>
                </a:solidFill>
                <a:latin typeface="Arial"/>
              </a:rPr>
              <a:t>Next: Software Testing &amp; Fuzzing - finding the bugs before attackers do</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Questions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17</a:t>
            </a:fld>
            <a:endParaRPr/>
          </a:p>
        </p:txBody>
      </p:sp>
      <p:sp>
        <p:nvSpPr>
          <p:cNvPr id="42" name="Rounded Rectangle 41"/>
          <p:cNvSpPr/>
          <p:nvPr/>
        </p:nvSpPr>
        <p:spPr>
          <a:xfrm>
            <a:off x="4100000" y="2550000"/>
            <a:ext cx="950000" cy="950000"/>
          </a:xfrm>
          <a:prstGeom prst="roundRect">
            <a:avLst>
              <a:gd name="adj" fmla="val 50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5400" b="1" i="0">
                <a:solidFill>
                  <a:srgbClr val="FFFFFF"/>
                </a:solidFill>
                <a:latin typeface="Arial"/>
              </a:rPr>
              <a:t>?</a:t>
            </a:r>
          </a:p>
        </p:txBody>
      </p:sp>
    </p:spTree>
  </p:cSld>
  <p:clrMapOvr>
    <a:masterClrMapping/>
  </p:clrMapOvr>
</p:sld>
</file>

<file path=ppt/theme/theme1.xml><?xml version="1.0" encoding="utf-8"?>
<a:theme xmlns:a="http://schemas.openxmlformats.org/drawingml/2006/main" name="Office Theme [1790301506474]">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1519</Words>
  <Application>Microsoft Macintosh PowerPoint</Application>
  <PresentationFormat>On-screen Show (16:9)</PresentationFormat>
  <Paragraphs>151</Paragraphs>
  <Slides>17</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Office Theme [1790301506474]</vt:lpstr>
      <vt:lpstr>CS 165: Computer Security</vt:lpstr>
      <vt:lpstr>Outline</vt:lpstr>
      <vt:lpstr>Recap: Why We Need Stronger Defenses</vt:lpstr>
      <vt:lpstr>Three Lines of Defense</vt:lpstr>
      <vt:lpstr>Line of Defense 1: Make Hijacking Hard</vt:lpstr>
      <vt:lpstr>Control-Flow Integrity (CFI)</vt:lpstr>
      <vt:lpstr>Shadow Stacks: Protect the Return Address</vt:lpstr>
      <vt:lpstr>Pointer Authentication (ARM PAC)</vt:lpstr>
      <vt:lpstr>Line of Defense 2: Remove the Bug Class</vt:lpstr>
      <vt:lpstr>Memory-Safe Languages</vt:lpstr>
      <vt:lpstr>Hardening the C You Must Keep</vt:lpstr>
      <vt:lpstr>Line of Defense 3: Contain the Damage</vt:lpstr>
      <vt:lpstr>Sandboxing and Least Privilege</vt:lpstr>
      <vt:lpstr>Defense in Depth: the Layers Compose</vt:lpstr>
      <vt:lpstr>The Costs, and What Remains Open</vt:lpstr>
      <vt:lpstr>Conclusions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Emiliano De Cristofaro</cp:lastModifiedBy>
  <cp:revision>5</cp:revision>
  <dcterms:modified xsi:type="dcterms:W3CDTF">2026-10-20T01:56:01Z</dcterms:modified>
</cp:coreProperties>
</file>