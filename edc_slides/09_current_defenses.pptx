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saveSubsetFonts="1" autoCompressPictures="0">
  <p:sldMasterIdLst>
    <p:sldMasterId id="2147483653" r:id="rId1"/>
  </p:sldMasterIdLst>
  <p:notesMasterIdLst>
    <p:notesMasterId r:id="rId19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sldSz cx="9144000" cy="5143500" type="screen16x9"/>
  <p:notesSz cx="51435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9096F481-76FE-430A-8033-0D9017D95D37}">
  <a:tblStyle styleId="{9096F481-76FE-430A-8033-0D9017D95D37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V>
        </a:tcBdr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  <a:tblStyle styleId="{31F7BAC6-EEA7-4524-A375-4FD7C61763D5}" styleName="Table_1">
    <a:wholeTbl>
      <a:tcTxStyle>
        <a:font>
          <a:latin typeface="Arial"/>
          <a:ea typeface="Arial"/>
          <a:cs typeface="Arial"/>
        </a:font>
        <a:srgbClr val="000000"/>
      </a:tcTxStyle>
      <a:tcStyle>
        <a:tcBdr/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11"/>
    <p:restoredTop sz="94699"/>
  </p:normalViewPr>
  <p:slideViewPr>
    <p:cSldViewPr snapToGrid="0">
      <p:cViewPr varScale="1">
        <p:scale>
          <a:sx n="153" d="100"/>
          <a:sy n="153" d="100"/>
        </p:scale>
        <p:origin x="632" y="16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notesMaster" Target="notesMasters/notesMaster1.xml"/><Relationship Id="rId20" Type="http://schemas.openxmlformats.org/officeDocument/2006/relationships/presProps" Target="presProps.xml"/><Relationship Id="rId21" Type="http://schemas.openxmlformats.org/officeDocument/2006/relationships/viewProps" Target="viewProps.xml"/><Relationship Id="rId22" Type="http://schemas.openxmlformats.org/officeDocument/2006/relationships/theme" Target="theme/theme1.xml"/><Relationship Id="rId23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857400" y="685800"/>
            <a:ext cx="342915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514350" y="4343400"/>
            <a:ext cx="41148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>
            <a:spLocks noGrp="1"/>
          </p:cNvSpPr>
          <p:nvPr>
            <p:ph type="ctrTitle"/>
          </p:nvPr>
        </p:nvSpPr>
        <p:spPr>
          <a:xfrm>
            <a:off x="548640" y="1600200"/>
            <a:ext cx="8046720" cy="8686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Arial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1" name="Google Shape;11;p2"/>
          <p:cNvSpPr txBox="1">
            <a:spLocks noGrp="1"/>
          </p:cNvSpPr>
          <p:nvPr>
            <p:ph type="subTitle" idx="1"/>
          </p:nvPr>
        </p:nvSpPr>
        <p:spPr>
          <a:xfrm>
            <a:off x="548640" y="2450592"/>
            <a:ext cx="8046720" cy="5029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900"/>
              <a:buNone/>
              <a:defRPr sz="2900"/>
            </a:lvl1pPr>
            <a:lvl2pPr lvl="1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lvl="2" algn="l"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lvl="3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lvl="4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lvl="5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lvl="6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lvl="7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lvl="8" algn="l">
              <a:spcBef>
                <a:spcPts val="400"/>
              </a:spcBef>
              <a:spcAft>
                <a:spcPts val="40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2" name="Google Shape;12;p2"/>
          <p:cNvSpPr txBox="1">
            <a:spLocks noGrp="1"/>
          </p:cNvSpPr>
          <p:nvPr>
            <p:ph type="body" idx="2"/>
          </p:nvPr>
        </p:nvSpPr>
        <p:spPr>
          <a:xfrm>
            <a:off x="548640" y="3246120"/>
            <a:ext cx="8046720" cy="91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rmAutofit/>
          </a:bodyPr>
          <a:lstStyle>
            <a:lvl1pPr marL="457200" lvl="0" indent="-22860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8A8A8A"/>
              </a:buClr>
              <a:buSzPts val="1700"/>
              <a:buNone/>
              <a:defRPr sz="1700">
                <a:solidFill>
                  <a:srgbClr val="8A8A8A"/>
                </a:solidFill>
              </a:defRPr>
            </a:lvl1pPr>
            <a:lvl2pPr marL="914400" lvl="1" indent="-34290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marL="1371600" lvl="2" indent="-342900" algn="l"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marL="2286000" lvl="4" indent="-3429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spcBef>
                <a:spcPts val="400"/>
              </a:spcBef>
              <a:spcAft>
                <a:spcPts val="40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Content" type="obj">
  <p:cSld name="OBJECT">
    <p:spTree>
      <p:nvGrpSpPr>
        <p:cNvPr id="1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>
            <a:spLocks noGrp="1"/>
          </p:cNvSpPr>
          <p:nvPr>
            <p:ph type="title"/>
          </p:nvPr>
        </p:nvSpPr>
        <p:spPr>
          <a:xfrm>
            <a:off x="548640" y="384048"/>
            <a:ext cx="8046720" cy="685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5" name="Google Shape;15;p3"/>
          <p:cNvSpPr txBox="1">
            <a:spLocks noGrp="1"/>
          </p:cNvSpPr>
          <p:nvPr>
            <p:ph type="body" idx="1"/>
          </p:nvPr>
        </p:nvSpPr>
        <p:spPr>
          <a:xfrm>
            <a:off x="548640" y="1298448"/>
            <a:ext cx="8046720" cy="33832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rmAutofit/>
          </a:bodyPr>
          <a:lstStyle>
            <a:lvl1pPr marL="457200" lvl="0" indent="-342900" algn="l"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marL="1371600" lvl="2" indent="-342900" algn="l"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marL="2286000" lvl="4" indent="-3429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spcBef>
                <a:spcPts val="400"/>
              </a:spcBef>
              <a:spcAft>
                <a:spcPts val="40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6" name="Google Shape;16;p3"/>
          <p:cNvSpPr txBox="1">
            <a:spLocks noGrp="1"/>
          </p:cNvSpPr>
          <p:nvPr>
            <p:ph type="sldNum" idx="12"/>
          </p:nvPr>
        </p:nvSpPr>
        <p:spPr>
          <a:xfrm>
            <a:off x="8229600" y="4690872"/>
            <a:ext cx="54864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marL="0" lvl="0" indent="0" algn="r">
              <a:spcBef>
                <a:spcPts val="0"/>
              </a:spcBef>
              <a:buClr>
                <a:srgbClr val="8A8A8A"/>
              </a:buClr>
              <a:buSzPts val="1200"/>
              <a:buFont typeface="Arial"/>
              <a:buNone/>
              <a:defRPr sz="1200">
                <a:solidFill>
                  <a:srgbClr val="8A8A8A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lvl="1" indent="0" algn="r">
              <a:spcBef>
                <a:spcPts val="0"/>
              </a:spcBef>
              <a:buClr>
                <a:srgbClr val="8A8A8A"/>
              </a:buClr>
              <a:buSzPts val="1200"/>
              <a:buFont typeface="Arial"/>
              <a:buNone/>
              <a:defRPr sz="1200">
                <a:solidFill>
                  <a:srgbClr val="8A8A8A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lvl="2" indent="0" algn="r">
              <a:spcBef>
                <a:spcPts val="0"/>
              </a:spcBef>
              <a:buClr>
                <a:srgbClr val="8A8A8A"/>
              </a:buClr>
              <a:buSzPts val="1200"/>
              <a:buFont typeface="Arial"/>
              <a:buNone/>
              <a:defRPr sz="1200">
                <a:solidFill>
                  <a:srgbClr val="8A8A8A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lvl="3" indent="0" algn="r">
              <a:spcBef>
                <a:spcPts val="0"/>
              </a:spcBef>
              <a:buClr>
                <a:srgbClr val="8A8A8A"/>
              </a:buClr>
              <a:buSzPts val="1200"/>
              <a:buFont typeface="Arial"/>
              <a:buNone/>
              <a:defRPr sz="1200">
                <a:solidFill>
                  <a:srgbClr val="8A8A8A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lvl="4" indent="0" algn="r">
              <a:spcBef>
                <a:spcPts val="0"/>
              </a:spcBef>
              <a:buClr>
                <a:srgbClr val="8A8A8A"/>
              </a:buClr>
              <a:buSzPts val="1200"/>
              <a:buFont typeface="Arial"/>
              <a:buNone/>
              <a:defRPr sz="1200">
                <a:solidFill>
                  <a:srgbClr val="8A8A8A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lvl="5" indent="0" algn="r">
              <a:spcBef>
                <a:spcPts val="0"/>
              </a:spcBef>
              <a:buClr>
                <a:srgbClr val="8A8A8A"/>
              </a:buClr>
              <a:buSzPts val="1200"/>
              <a:buFont typeface="Arial"/>
              <a:buNone/>
              <a:defRPr sz="1200">
                <a:solidFill>
                  <a:srgbClr val="8A8A8A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lvl="6" indent="0" algn="r">
              <a:spcBef>
                <a:spcPts val="0"/>
              </a:spcBef>
              <a:buClr>
                <a:srgbClr val="8A8A8A"/>
              </a:buClr>
              <a:buSzPts val="1200"/>
              <a:buFont typeface="Arial"/>
              <a:buNone/>
              <a:defRPr sz="1200">
                <a:solidFill>
                  <a:srgbClr val="8A8A8A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lvl="7" indent="0" algn="r">
              <a:spcBef>
                <a:spcPts val="0"/>
              </a:spcBef>
              <a:buClr>
                <a:srgbClr val="8A8A8A"/>
              </a:buClr>
              <a:buSzPts val="1200"/>
              <a:buFont typeface="Arial"/>
              <a:buNone/>
              <a:defRPr sz="1200">
                <a:solidFill>
                  <a:srgbClr val="8A8A8A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lvl="8" indent="0" algn="r">
              <a:spcBef>
                <a:spcPts val="0"/>
              </a:spcBef>
              <a:buClr>
                <a:srgbClr val="8A8A8A"/>
              </a:buClr>
              <a:buSzPts val="1200"/>
              <a:buFont typeface="Arial"/>
              <a:buNone/>
              <a:defRPr sz="1200">
                <a:solidFill>
                  <a:srgbClr val="8A8A8A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>
            <a:spLocks noGrp="1"/>
          </p:cNvSpPr>
          <p:nvPr>
            <p:ph type="title"/>
          </p:nvPr>
        </p:nvSpPr>
        <p:spPr>
          <a:xfrm>
            <a:off x="548640" y="1965960"/>
            <a:ext cx="8046720" cy="8229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Arial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9" name="Google Shape;19;p4"/>
          <p:cNvSpPr txBox="1">
            <a:spLocks noGrp="1"/>
          </p:cNvSpPr>
          <p:nvPr>
            <p:ph type="body" idx="1"/>
          </p:nvPr>
        </p:nvSpPr>
        <p:spPr>
          <a:xfrm>
            <a:off x="548640" y="2761488"/>
            <a:ext cx="804672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rmAutofit/>
          </a:bodyPr>
          <a:lstStyle>
            <a:lvl1pPr marL="457200" lvl="0" indent="-228600" algn="l">
              <a:spcBef>
                <a:spcPts val="0"/>
              </a:spcBef>
              <a:spcAft>
                <a:spcPts val="0"/>
              </a:spcAft>
              <a:buClr>
                <a:srgbClr val="8A8A8A"/>
              </a:buClr>
              <a:buSzPts val="1900"/>
              <a:buNone/>
              <a:defRPr sz="1900">
                <a:solidFill>
                  <a:srgbClr val="8A8A8A"/>
                </a:solidFill>
              </a:defRPr>
            </a:lvl1pPr>
            <a:lvl2pPr marL="914400" lvl="1" indent="-34290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marL="1371600" lvl="2" indent="-342900" algn="l"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marL="2286000" lvl="4" indent="-3429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spcBef>
                <a:spcPts val="400"/>
              </a:spcBef>
              <a:spcAft>
                <a:spcPts val="40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20" name="Google Shape;20;p4"/>
          <p:cNvSpPr txBox="1">
            <a:spLocks noGrp="1"/>
          </p:cNvSpPr>
          <p:nvPr>
            <p:ph type="sldNum" idx="12"/>
          </p:nvPr>
        </p:nvSpPr>
        <p:spPr>
          <a:xfrm>
            <a:off x="8229600" y="4690872"/>
            <a:ext cx="54864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marL="0" lvl="0" indent="0" algn="r">
              <a:spcBef>
                <a:spcPts val="0"/>
              </a:spcBef>
              <a:buClr>
                <a:srgbClr val="8A8A8A"/>
              </a:buClr>
              <a:buSzPts val="1200"/>
              <a:buFont typeface="Arial"/>
              <a:buNone/>
              <a:defRPr sz="1200">
                <a:solidFill>
                  <a:srgbClr val="8A8A8A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lvl="1" indent="0" algn="r">
              <a:spcBef>
                <a:spcPts val="0"/>
              </a:spcBef>
              <a:buClr>
                <a:srgbClr val="8A8A8A"/>
              </a:buClr>
              <a:buSzPts val="1200"/>
              <a:buFont typeface="Arial"/>
              <a:buNone/>
              <a:defRPr sz="1200">
                <a:solidFill>
                  <a:srgbClr val="8A8A8A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lvl="2" indent="0" algn="r">
              <a:spcBef>
                <a:spcPts val="0"/>
              </a:spcBef>
              <a:buClr>
                <a:srgbClr val="8A8A8A"/>
              </a:buClr>
              <a:buSzPts val="1200"/>
              <a:buFont typeface="Arial"/>
              <a:buNone/>
              <a:defRPr sz="1200">
                <a:solidFill>
                  <a:srgbClr val="8A8A8A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lvl="3" indent="0" algn="r">
              <a:spcBef>
                <a:spcPts val="0"/>
              </a:spcBef>
              <a:buClr>
                <a:srgbClr val="8A8A8A"/>
              </a:buClr>
              <a:buSzPts val="1200"/>
              <a:buFont typeface="Arial"/>
              <a:buNone/>
              <a:defRPr sz="1200">
                <a:solidFill>
                  <a:srgbClr val="8A8A8A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lvl="4" indent="0" algn="r">
              <a:spcBef>
                <a:spcPts val="0"/>
              </a:spcBef>
              <a:buClr>
                <a:srgbClr val="8A8A8A"/>
              </a:buClr>
              <a:buSzPts val="1200"/>
              <a:buFont typeface="Arial"/>
              <a:buNone/>
              <a:defRPr sz="1200">
                <a:solidFill>
                  <a:srgbClr val="8A8A8A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lvl="5" indent="0" algn="r">
              <a:spcBef>
                <a:spcPts val="0"/>
              </a:spcBef>
              <a:buClr>
                <a:srgbClr val="8A8A8A"/>
              </a:buClr>
              <a:buSzPts val="1200"/>
              <a:buFont typeface="Arial"/>
              <a:buNone/>
              <a:defRPr sz="1200">
                <a:solidFill>
                  <a:srgbClr val="8A8A8A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lvl="6" indent="0" algn="r">
              <a:spcBef>
                <a:spcPts val="0"/>
              </a:spcBef>
              <a:buClr>
                <a:srgbClr val="8A8A8A"/>
              </a:buClr>
              <a:buSzPts val="1200"/>
              <a:buFont typeface="Arial"/>
              <a:buNone/>
              <a:defRPr sz="1200">
                <a:solidFill>
                  <a:srgbClr val="8A8A8A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lvl="7" indent="0" algn="r">
              <a:spcBef>
                <a:spcPts val="0"/>
              </a:spcBef>
              <a:buClr>
                <a:srgbClr val="8A8A8A"/>
              </a:buClr>
              <a:buSzPts val="1200"/>
              <a:buFont typeface="Arial"/>
              <a:buNone/>
              <a:defRPr sz="1200">
                <a:solidFill>
                  <a:srgbClr val="8A8A8A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lvl="8" indent="0" algn="r">
              <a:spcBef>
                <a:spcPts val="0"/>
              </a:spcBef>
              <a:buClr>
                <a:srgbClr val="8A8A8A"/>
              </a:buClr>
              <a:buSzPts val="1200"/>
              <a:buFont typeface="Arial"/>
              <a:buNone/>
              <a:defRPr sz="1200">
                <a:solidFill>
                  <a:srgbClr val="8A8A8A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5"/>
          <p:cNvSpPr txBox="1">
            <a:spLocks noGrp="1"/>
          </p:cNvSpPr>
          <p:nvPr>
            <p:ph type="title"/>
          </p:nvPr>
        </p:nvSpPr>
        <p:spPr>
          <a:xfrm>
            <a:off x="548640" y="384048"/>
            <a:ext cx="8046720" cy="685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3" name="Google Shape;23;p5"/>
          <p:cNvSpPr txBox="1">
            <a:spLocks noGrp="1"/>
          </p:cNvSpPr>
          <p:nvPr>
            <p:ph type="sldNum" idx="12"/>
          </p:nvPr>
        </p:nvSpPr>
        <p:spPr>
          <a:xfrm>
            <a:off x="8229600" y="4690872"/>
            <a:ext cx="54864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marL="0" lvl="0" indent="0" algn="r">
              <a:spcBef>
                <a:spcPts val="0"/>
              </a:spcBef>
              <a:buClr>
                <a:srgbClr val="8A8A8A"/>
              </a:buClr>
              <a:buSzPts val="1200"/>
              <a:buFont typeface="Arial"/>
              <a:buNone/>
              <a:defRPr sz="1200">
                <a:solidFill>
                  <a:srgbClr val="8A8A8A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lvl="1" indent="0" algn="r">
              <a:spcBef>
                <a:spcPts val="0"/>
              </a:spcBef>
              <a:buClr>
                <a:srgbClr val="8A8A8A"/>
              </a:buClr>
              <a:buSzPts val="1200"/>
              <a:buFont typeface="Arial"/>
              <a:buNone/>
              <a:defRPr sz="1200">
                <a:solidFill>
                  <a:srgbClr val="8A8A8A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lvl="2" indent="0" algn="r">
              <a:spcBef>
                <a:spcPts val="0"/>
              </a:spcBef>
              <a:buClr>
                <a:srgbClr val="8A8A8A"/>
              </a:buClr>
              <a:buSzPts val="1200"/>
              <a:buFont typeface="Arial"/>
              <a:buNone/>
              <a:defRPr sz="1200">
                <a:solidFill>
                  <a:srgbClr val="8A8A8A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lvl="3" indent="0" algn="r">
              <a:spcBef>
                <a:spcPts val="0"/>
              </a:spcBef>
              <a:buClr>
                <a:srgbClr val="8A8A8A"/>
              </a:buClr>
              <a:buSzPts val="1200"/>
              <a:buFont typeface="Arial"/>
              <a:buNone/>
              <a:defRPr sz="1200">
                <a:solidFill>
                  <a:srgbClr val="8A8A8A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lvl="4" indent="0" algn="r">
              <a:spcBef>
                <a:spcPts val="0"/>
              </a:spcBef>
              <a:buClr>
                <a:srgbClr val="8A8A8A"/>
              </a:buClr>
              <a:buSzPts val="1200"/>
              <a:buFont typeface="Arial"/>
              <a:buNone/>
              <a:defRPr sz="1200">
                <a:solidFill>
                  <a:srgbClr val="8A8A8A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lvl="5" indent="0" algn="r">
              <a:spcBef>
                <a:spcPts val="0"/>
              </a:spcBef>
              <a:buClr>
                <a:srgbClr val="8A8A8A"/>
              </a:buClr>
              <a:buSzPts val="1200"/>
              <a:buFont typeface="Arial"/>
              <a:buNone/>
              <a:defRPr sz="1200">
                <a:solidFill>
                  <a:srgbClr val="8A8A8A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lvl="6" indent="0" algn="r">
              <a:spcBef>
                <a:spcPts val="0"/>
              </a:spcBef>
              <a:buClr>
                <a:srgbClr val="8A8A8A"/>
              </a:buClr>
              <a:buSzPts val="1200"/>
              <a:buFont typeface="Arial"/>
              <a:buNone/>
              <a:defRPr sz="1200">
                <a:solidFill>
                  <a:srgbClr val="8A8A8A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lvl="7" indent="0" algn="r">
              <a:spcBef>
                <a:spcPts val="0"/>
              </a:spcBef>
              <a:buClr>
                <a:srgbClr val="8A8A8A"/>
              </a:buClr>
              <a:buSzPts val="1200"/>
              <a:buFont typeface="Arial"/>
              <a:buNone/>
              <a:defRPr sz="1200">
                <a:solidFill>
                  <a:srgbClr val="8A8A8A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lvl="8" indent="0" algn="r">
              <a:spcBef>
                <a:spcPts val="0"/>
              </a:spcBef>
              <a:buClr>
                <a:srgbClr val="8A8A8A"/>
              </a:buClr>
              <a:buSzPts val="1200"/>
              <a:buFont typeface="Arial"/>
              <a:buNone/>
              <a:defRPr sz="1200">
                <a:solidFill>
                  <a:srgbClr val="8A8A8A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6"/>
          <p:cNvSpPr txBox="1">
            <a:spLocks noGrp="1"/>
          </p:cNvSpPr>
          <p:nvPr>
            <p:ph type="sldNum" idx="12"/>
          </p:nvPr>
        </p:nvSpPr>
        <p:spPr>
          <a:xfrm>
            <a:off x="8229600" y="4690872"/>
            <a:ext cx="54864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marL="0" lvl="0" indent="0" algn="r">
              <a:spcBef>
                <a:spcPts val="0"/>
              </a:spcBef>
              <a:buClr>
                <a:srgbClr val="8A8A8A"/>
              </a:buClr>
              <a:buSzPts val="1200"/>
              <a:buFont typeface="Arial"/>
              <a:buNone/>
              <a:defRPr sz="1200">
                <a:solidFill>
                  <a:srgbClr val="8A8A8A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lvl="1" indent="0" algn="r">
              <a:spcBef>
                <a:spcPts val="0"/>
              </a:spcBef>
              <a:buClr>
                <a:srgbClr val="8A8A8A"/>
              </a:buClr>
              <a:buSzPts val="1200"/>
              <a:buFont typeface="Arial"/>
              <a:buNone/>
              <a:defRPr sz="1200">
                <a:solidFill>
                  <a:srgbClr val="8A8A8A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lvl="2" indent="0" algn="r">
              <a:spcBef>
                <a:spcPts val="0"/>
              </a:spcBef>
              <a:buClr>
                <a:srgbClr val="8A8A8A"/>
              </a:buClr>
              <a:buSzPts val="1200"/>
              <a:buFont typeface="Arial"/>
              <a:buNone/>
              <a:defRPr sz="1200">
                <a:solidFill>
                  <a:srgbClr val="8A8A8A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lvl="3" indent="0" algn="r">
              <a:spcBef>
                <a:spcPts val="0"/>
              </a:spcBef>
              <a:buClr>
                <a:srgbClr val="8A8A8A"/>
              </a:buClr>
              <a:buSzPts val="1200"/>
              <a:buFont typeface="Arial"/>
              <a:buNone/>
              <a:defRPr sz="1200">
                <a:solidFill>
                  <a:srgbClr val="8A8A8A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lvl="4" indent="0" algn="r">
              <a:spcBef>
                <a:spcPts val="0"/>
              </a:spcBef>
              <a:buClr>
                <a:srgbClr val="8A8A8A"/>
              </a:buClr>
              <a:buSzPts val="1200"/>
              <a:buFont typeface="Arial"/>
              <a:buNone/>
              <a:defRPr sz="1200">
                <a:solidFill>
                  <a:srgbClr val="8A8A8A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lvl="5" indent="0" algn="r">
              <a:spcBef>
                <a:spcPts val="0"/>
              </a:spcBef>
              <a:buClr>
                <a:srgbClr val="8A8A8A"/>
              </a:buClr>
              <a:buSzPts val="1200"/>
              <a:buFont typeface="Arial"/>
              <a:buNone/>
              <a:defRPr sz="1200">
                <a:solidFill>
                  <a:srgbClr val="8A8A8A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lvl="6" indent="0" algn="r">
              <a:spcBef>
                <a:spcPts val="0"/>
              </a:spcBef>
              <a:buClr>
                <a:srgbClr val="8A8A8A"/>
              </a:buClr>
              <a:buSzPts val="1200"/>
              <a:buFont typeface="Arial"/>
              <a:buNone/>
              <a:defRPr sz="1200">
                <a:solidFill>
                  <a:srgbClr val="8A8A8A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lvl="7" indent="0" algn="r">
              <a:spcBef>
                <a:spcPts val="0"/>
              </a:spcBef>
              <a:buClr>
                <a:srgbClr val="8A8A8A"/>
              </a:buClr>
              <a:buSzPts val="1200"/>
              <a:buFont typeface="Arial"/>
              <a:buNone/>
              <a:defRPr sz="1200">
                <a:solidFill>
                  <a:srgbClr val="8A8A8A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lvl="8" indent="0" algn="r">
              <a:spcBef>
                <a:spcPts val="0"/>
              </a:spcBef>
              <a:buClr>
                <a:srgbClr val="8A8A8A"/>
              </a:buClr>
              <a:buSzPts val="1200"/>
              <a:buFont typeface="Arial"/>
              <a:buNone/>
              <a:defRPr sz="1200">
                <a:solidFill>
                  <a:srgbClr val="8A8A8A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548640" y="384048"/>
            <a:ext cx="8046720" cy="685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rm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ial"/>
              <a:buNone/>
              <a:defRPr sz="3000" b="1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548640" y="1298448"/>
            <a:ext cx="8046720" cy="33832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rmAutofit/>
          </a:bodyPr>
          <a:lstStyle>
            <a:lvl1pPr marL="457200" marR="0" lvl="0" indent="-355600" algn="l" rtl="0"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336550" algn="l" rtl="0"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700"/>
              <a:buFont typeface="Arial"/>
              <a:buChar char="–"/>
              <a:defRPr sz="17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336550" algn="l" rtl="0"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700"/>
              <a:buFont typeface="Arial"/>
              <a:buChar char="•"/>
              <a:defRPr sz="17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33655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700"/>
              <a:buFont typeface="Arial"/>
              <a:buChar char="–"/>
              <a:defRPr sz="17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33655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700"/>
              <a:buFont typeface="Arial"/>
              <a:buChar char="•"/>
              <a:defRPr sz="17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33655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700"/>
              <a:buFont typeface="Arial"/>
              <a:buChar char="•"/>
              <a:defRPr sz="17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33655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700"/>
              <a:buFont typeface="Arial"/>
              <a:buChar char="•"/>
              <a:defRPr sz="17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33655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700"/>
              <a:buFont typeface="Arial"/>
              <a:buChar char="•"/>
              <a:defRPr sz="17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336550" algn="l" rtl="0">
              <a:spcBef>
                <a:spcPts val="400"/>
              </a:spcBef>
              <a:spcAft>
                <a:spcPts val="400"/>
              </a:spcAft>
              <a:buClr>
                <a:schemeClr val="dk1"/>
              </a:buClr>
              <a:buSzPts val="1700"/>
              <a:buFont typeface="Arial"/>
              <a:buChar char="•"/>
              <a:defRPr sz="17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8229600" y="4690872"/>
            <a:ext cx="54864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A8A8A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A8A8A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A8A8A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A8A8A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A8A8A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A8A8A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A8A8A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A8A8A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A8A8A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pPr marL="0" indent="0" algn="l">
              <a:buNone/>
            </a:pPr>
            <a:r>
              <a:t>CS 165: Computer Security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pPr marL="0" indent="0" algn="l">
              <a:buNone/>
            </a:pPr>
            <a:r>
              <a:t>Current Defenses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2"/>
          </p:nvPr>
        </p:nvSpPr>
        <p:spPr/>
        <p:txBody>
          <a:bodyPr/>
          <a:lstStyle/>
          <a:p>
            <a:pPr marL="0" indent="0" algn="l">
              <a:buNone/>
            </a:pPr>
            <a:r>
              <a:t>Emiliano De Cristofaro</a:t>
            </a:r>
          </a:p>
          <a:p>
            <a:pPr marL="0" indent="0" algn="l">
              <a:buNone/>
            </a:pPr>
            <a:r>
              <a:t>University of California, Riverside</a:t>
            </a:r>
          </a:p>
          <a:p>
            <a:pPr marL="0" indent="0" algn="l">
              <a:buNone/>
            </a:pPr>
            <a:r>
              <a:t>Fall 2026  |  Monday, October 26</a:t>
            </a:r>
          </a:p>
        </p:txBody>
      </p:sp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37568" y="0"/>
            <a:ext cx="2868864" cy="979612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34300" y="224048"/>
            <a:ext cx="8046720" cy="685800"/>
          </a:xfrm>
        </p:spPr>
        <p:txBody>
          <a:bodyPr wrap="square"/>
          <a:lstStyle/>
          <a:p>
            <a:pPr algn="l"/>
            <a:r>
              <a:rPr sz="2800" b="1" i="0">
                <a:solidFill>
                  <a:srgbClr val="202020"/>
                </a:solidFill>
                <a:latin typeface="Arial"/>
              </a:rPr>
              <a:t>Outline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20000" y="1298448"/>
            <a:ext cx="8046720" cy="3383280"/>
          </a:xfrm>
        </p:spPr>
        <p:txBody>
          <a:bodyPr wrap="square" lIns="0" tIns="0" rIns="0" bIns="0"/>
          <a:lstStyle/>
          <a:p>
            <a:r>
              <a:rPr sz="2000" b="0" i="0">
                <a:solidFill>
                  <a:srgbClr val="202020"/>
                </a:solidFill>
                <a:latin typeface="Arial"/>
              </a:rPr>
              <a:t>Recap: the classic defenses, and why ROP walks past them</a:t>
            </a:r>
          </a:p>
          <a:p>
            <a:r>
              <a:rPr sz="2000" b="0" i="0">
                <a:solidFill>
                  <a:srgbClr val="202020"/>
                </a:solidFill>
                <a:latin typeface="Arial"/>
              </a:rPr>
              <a:t>Control hijacking: the two targets an attacker needs</a:t>
            </a:r>
          </a:p>
          <a:p>
            <a:r>
              <a:rPr sz="2000" b="0" i="0">
                <a:solidFill>
                  <a:srgbClr val="202020"/>
                </a:solidFill>
                <a:latin typeface="Arial"/>
              </a:rPr>
              <a:t>Shadow stacks and Intel CET: protect the return address</a:t>
            </a:r>
          </a:p>
          <a:p>
            <a:r>
              <a:rPr sz="2000" b="0" i="0">
                <a:solidFill>
                  <a:srgbClr val="202020"/>
                </a:solidFill>
                <a:latin typeface="Arial"/>
              </a:rPr>
              <a:t>Control-flow integrity: restrict indirect calls and returns</a:t>
            </a:r>
          </a:p>
          <a:p>
            <a:r>
              <a:rPr sz="2000" b="0" i="0">
                <a:solidFill>
                  <a:srgbClr val="202020"/>
                </a:solidFill>
                <a:latin typeface="Arial"/>
              </a:rPr>
              <a:t>Coarse vs fine CFI, and why CFI is not perfect</a:t>
            </a:r>
          </a:p>
          <a:p>
            <a:r>
              <a:rPr sz="2000" b="0" i="0">
                <a:solidFill>
                  <a:srgbClr val="202020"/>
                </a:solidFill>
                <a:latin typeface="Arial"/>
              </a:rPr>
              <a:t>Safe languages, and how C itself is getting safer</a:t>
            </a:r>
          </a:p>
        </p:txBody>
      </p:sp>
      <p:sp>
        <p:nvSpPr>
          <p:cNvPr id="41" name="Google Shape;41;p8"/>
          <p:cNvSpPr txBox="1">
            <a:spLocks noGrp="1"/>
          </p:cNvSpPr>
          <p:nvPr>
            <p:ph type="sldNum" idx="12"/>
          </p:nvPr>
        </p:nvSpPr>
        <p:spPr>
          <a:xfrm>
            <a:off x="8229600" y="4690872"/>
            <a:ext cx="54864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8A8A8A"/>
              </a:buClr>
              <a:buSzPts val="1200"/>
              <a:buFont typeface="Arial"/>
              <a:buNone/>
            </a:pPr>
            <a:fld id="{00000000-1234-1234-1234-123412341234}" type="slidenum">
              <a:rPr lang="en-US"/>
              <a:t>2</a:t>
            </a:fld>
            <a:endParaRPr/>
          </a:p>
        </p:txBody>
      </p:sp>
      <p:sp>
        <p:nvSpPr>
          <p:cNvPr id="42" name="Rounded Rectangle 41"/>
          <p:cNvSpPr/>
          <p:nvPr/>
        </p:nvSpPr>
        <p:spPr>
          <a:xfrm>
            <a:off x="248640" y="4020000"/>
            <a:ext cx="2529840" cy="500000"/>
          </a:xfrm>
          <a:prstGeom prst="roundRect">
            <a:avLst>
              <a:gd name="adj" fmla="val 12000"/>
            </a:avLst>
          </a:prstGeom>
          <a:solidFill>
            <a:srgbClr val="94B6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27432" rIns="45720" bIns="27432" rtlCol="0" anchor="ctr"/>
          <a:lstStyle/>
          <a:p>
            <a:pPr algn="ctr"/>
            <a:r>
              <a:rPr sz="1300" b="1" i="0">
                <a:solidFill>
                  <a:srgbClr val="202020"/>
                </a:solidFill>
                <a:latin typeface="Arial"/>
              </a:rPr>
              <a:t>Protect the return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3007080" y="4020000"/>
            <a:ext cx="2529840" cy="500000"/>
          </a:xfrm>
          <a:prstGeom prst="roundRect">
            <a:avLst>
              <a:gd name="adj" fmla="val 12000"/>
            </a:avLst>
          </a:prstGeom>
          <a:solidFill>
            <a:srgbClr val="94B6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27432" rIns="45720" bIns="27432" rtlCol="0" anchor="ctr"/>
          <a:lstStyle/>
          <a:p>
            <a:pPr algn="ctr"/>
            <a:r>
              <a:rPr sz="1300" b="1" i="0">
                <a:solidFill>
                  <a:srgbClr val="202020"/>
                </a:solidFill>
                <a:latin typeface="Arial"/>
              </a:rPr>
              <a:t>Restrict indirect calls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5765520" y="4020000"/>
            <a:ext cx="2529840" cy="500000"/>
          </a:xfrm>
          <a:prstGeom prst="roundRect">
            <a:avLst>
              <a:gd name="adj" fmla="val 12000"/>
            </a:avLst>
          </a:prstGeom>
          <a:solidFill>
            <a:srgbClr val="94B6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27432" rIns="45720" bIns="27432" rtlCol="0" anchor="ctr"/>
          <a:lstStyle/>
          <a:p>
            <a:pPr algn="ctr"/>
            <a:r>
              <a:rPr sz="1300" b="1" i="0">
                <a:solidFill>
                  <a:srgbClr val="202020"/>
                </a:solidFill>
                <a:latin typeface="Arial"/>
              </a:rPr>
              <a:t>Remove the bug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34300" y="224048"/>
            <a:ext cx="8046720" cy="685800"/>
          </a:xfrm>
        </p:spPr>
        <p:txBody>
          <a:bodyPr wrap="square"/>
          <a:lstStyle/>
          <a:p>
            <a:pPr algn="l"/>
            <a:r>
              <a:rPr sz="2800" b="1" i="0">
                <a:solidFill>
                  <a:srgbClr val="202020"/>
                </a:solidFill>
                <a:latin typeface="Arial"/>
              </a:rPr>
              <a:t>Recall: the Classic Defenses Do Not Stop ROP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20000" y="1298448"/>
            <a:ext cx="8046720" cy="3383280"/>
          </a:xfrm>
        </p:spPr>
        <p:txBody>
          <a:bodyPr wrap="square" lIns="0" tIns="0" rIns="0" bIns="0"/>
          <a:lstStyle/>
          <a:p>
            <a:r>
              <a:rPr sz="2000" b="0" i="0">
                <a:solidFill>
                  <a:srgbClr val="202020"/>
                </a:solidFill>
                <a:latin typeface="Arial"/>
              </a:rPr>
              <a:t>Lecture 8's trio raises the bar: canaries, ASLR, DEP / NX</a:t>
            </a:r>
          </a:p>
          <a:p>
            <a:r>
              <a:rPr sz="2000" b="0" i="0">
                <a:solidFill>
                  <a:srgbClr val="202020"/>
                </a:solidFill>
                <a:latin typeface="Arial"/>
              </a:rPr>
              <a:t>Canaries and ASLR fall to a leak: disclose the canary, or an address</a:t>
            </a:r>
          </a:p>
          <a:p>
            <a:r>
              <a:rPr sz="2000" b="0" i="0">
                <a:solidFill>
                  <a:srgbClr val="202020"/>
                </a:solidFill>
                <a:latin typeface="Arial"/>
              </a:rPr>
              <a:t>ROP reuses existing executable code, so DEP / NX never fires</a:t>
            </a:r>
          </a:p>
        </p:txBody>
      </p:sp>
      <p:sp>
        <p:nvSpPr>
          <p:cNvPr id="41" name="Google Shape;41;p8"/>
          <p:cNvSpPr txBox="1">
            <a:spLocks noGrp="1"/>
          </p:cNvSpPr>
          <p:nvPr>
            <p:ph type="sldNum" idx="12"/>
          </p:nvPr>
        </p:nvSpPr>
        <p:spPr>
          <a:xfrm>
            <a:off x="8229600" y="4690872"/>
            <a:ext cx="54864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8A8A8A"/>
              </a:buClr>
              <a:buSzPts val="1200"/>
              <a:buFont typeface="Arial"/>
              <a:buNone/>
            </a:pPr>
            <a:fld id="{00000000-1234-1234-1234-123412341234}" type="slidenum">
              <a:rPr lang="en-US"/>
              <a:t>3</a:t>
            </a:fld>
            <a:endParaRPr/>
          </a:p>
        </p:txBody>
      </p:sp>
      <p:sp>
        <p:nvSpPr>
          <p:cNvPr id="42" name="Rectangle 41"/>
          <p:cNvSpPr/>
          <p:nvPr/>
        </p:nvSpPr>
        <p:spPr>
          <a:xfrm>
            <a:off x="600000" y="3650000"/>
            <a:ext cx="2050000" cy="430000"/>
          </a:xfrm>
          <a:prstGeom prst="rect">
            <a:avLst/>
          </a:prstGeom>
          <a:solidFill>
            <a:srgbClr val="D6E4F0"/>
          </a:solidFill>
          <a:ln w="12700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27432" rIns="45720" bIns="27432" rtlCol="0" anchor="ctr"/>
          <a:lstStyle/>
          <a:p>
            <a:pPr algn="ctr"/>
            <a:r>
              <a:rPr sz="1200" b="1" i="0">
                <a:solidFill>
                  <a:srgbClr val="202020"/>
                </a:solidFill>
                <a:latin typeface="Arial"/>
              </a:rPr>
              <a:t>Stack canary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00000" y="4120000"/>
            <a:ext cx="2050000" cy="24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000" b="0" i="1">
                <a:solidFill>
                  <a:srgbClr val="C0392B"/>
                </a:solidFill>
                <a:latin typeface="Arial"/>
              </a:rPr>
              <a:t>bypassed: leak or guess it</a:t>
            </a:r>
          </a:p>
        </p:txBody>
      </p:sp>
      <p:sp>
        <p:nvSpPr>
          <p:cNvPr id="44" name="Rectangle 43"/>
          <p:cNvSpPr/>
          <p:nvPr/>
        </p:nvSpPr>
        <p:spPr>
          <a:xfrm>
            <a:off x="2900000" y="3650000"/>
            <a:ext cx="2050000" cy="430000"/>
          </a:xfrm>
          <a:prstGeom prst="rect">
            <a:avLst/>
          </a:prstGeom>
          <a:solidFill>
            <a:srgbClr val="D6E4F0"/>
          </a:solidFill>
          <a:ln w="12700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27432" rIns="45720" bIns="27432" rtlCol="0" anchor="ctr"/>
          <a:lstStyle/>
          <a:p>
            <a:pPr algn="ctr"/>
            <a:r>
              <a:rPr sz="1200" b="1" i="0">
                <a:solidFill>
                  <a:srgbClr val="202020"/>
                </a:solidFill>
                <a:latin typeface="Arial"/>
              </a:rPr>
              <a:t>ASLR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2900000" y="4120000"/>
            <a:ext cx="2050000" cy="24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000" b="0" i="1">
                <a:solidFill>
                  <a:srgbClr val="C0392B"/>
                </a:solidFill>
                <a:latin typeface="Arial"/>
              </a:rPr>
              <a:t>bypassed: leak an address</a:t>
            </a:r>
          </a:p>
        </p:txBody>
      </p:sp>
      <p:sp>
        <p:nvSpPr>
          <p:cNvPr id="46" name="Rectangle 45"/>
          <p:cNvSpPr/>
          <p:nvPr/>
        </p:nvSpPr>
        <p:spPr>
          <a:xfrm>
            <a:off x="5200000" y="3650000"/>
            <a:ext cx="2050000" cy="430000"/>
          </a:xfrm>
          <a:prstGeom prst="rect">
            <a:avLst/>
          </a:prstGeom>
          <a:solidFill>
            <a:srgbClr val="D6E4F0"/>
          </a:solidFill>
          <a:ln w="12700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27432" rIns="45720" bIns="27432" rtlCol="0" anchor="ctr"/>
          <a:lstStyle/>
          <a:p>
            <a:pPr algn="ctr"/>
            <a:r>
              <a:rPr sz="1200" b="1" i="0">
                <a:solidFill>
                  <a:srgbClr val="202020"/>
                </a:solidFill>
                <a:latin typeface="Arial"/>
              </a:rPr>
              <a:t>DEP / NX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5200000" y="4120000"/>
            <a:ext cx="2050000" cy="24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000" b="0" i="1">
                <a:solidFill>
                  <a:srgbClr val="C0392B"/>
                </a:solidFill>
                <a:latin typeface="Arial"/>
              </a:rPr>
              <a:t>bypassed: reuse real code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00000" y="4410000"/>
            <a:ext cx="6600000" cy="26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 i="1">
                <a:solidFill>
                  <a:srgbClr val="8A8A8A"/>
                </a:solidFill>
                <a:latin typeface="Arial"/>
              </a:rPr>
              <a:t>So we need defenses that stop control hijacking itself, not just raise the cost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34300" y="224048"/>
            <a:ext cx="8046720" cy="685800"/>
          </a:xfrm>
        </p:spPr>
        <p:txBody>
          <a:bodyPr wrap="square"/>
          <a:lstStyle/>
          <a:p>
            <a:pPr algn="l"/>
            <a:r>
              <a:rPr sz="2800" b="1" i="0">
                <a:solidFill>
                  <a:srgbClr val="202020"/>
                </a:solidFill>
                <a:latin typeface="Arial"/>
              </a:rPr>
              <a:t>Control Hijacking: the Two Targets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20000" y="1298448"/>
            <a:ext cx="8046720" cy="3383280"/>
          </a:xfrm>
        </p:spPr>
        <p:txBody>
          <a:bodyPr wrap="square" lIns="0" tIns="0" rIns="0" bIns="0"/>
          <a:lstStyle/>
          <a:p>
            <a:r>
              <a:rPr sz="2000" b="0" i="0">
                <a:solidFill>
                  <a:srgbClr val="202020"/>
                </a:solidFill>
                <a:latin typeface="Arial"/>
              </a:rPr>
              <a:t>C/C++ computes some code targets at runtime, and an attacker aims at those</a:t>
            </a:r>
          </a:p>
          <a:p>
            <a:r>
              <a:rPr sz="2000" b="0" i="0">
                <a:solidFill>
                  <a:srgbClr val="202020"/>
                </a:solidFill>
                <a:latin typeface="Arial"/>
              </a:rPr>
              <a:t>Return address (on the stack): chooses where ret goes</a:t>
            </a:r>
          </a:p>
          <a:p>
            <a:r>
              <a:rPr sz="2000" b="0" i="0">
                <a:solidFill>
                  <a:srgbClr val="202020"/>
                </a:solidFill>
                <a:latin typeface="Arial"/>
              </a:rPr>
              <a:t>Function pointer (stack or heap): chooses where an indirect call goes</a:t>
            </a:r>
          </a:p>
        </p:txBody>
      </p:sp>
      <p:sp>
        <p:nvSpPr>
          <p:cNvPr id="41" name="Google Shape;41;p8"/>
          <p:cNvSpPr txBox="1">
            <a:spLocks noGrp="1"/>
          </p:cNvSpPr>
          <p:nvPr>
            <p:ph type="sldNum" idx="12"/>
          </p:nvPr>
        </p:nvSpPr>
        <p:spPr>
          <a:xfrm>
            <a:off x="8229600" y="4690872"/>
            <a:ext cx="54864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8A8A8A"/>
              </a:buClr>
              <a:buSzPts val="1200"/>
              <a:buFont typeface="Arial"/>
              <a:buNone/>
            </a:pPr>
            <a:fld id="{00000000-1234-1234-1234-123412341234}" type="slidenum">
              <a:rPr lang="en-US"/>
              <a:t>4</a:t>
            </a:fld>
            <a:endParaRPr/>
          </a:p>
        </p:txBody>
      </p:sp>
      <p:sp>
        <p:nvSpPr>
          <p:cNvPr id="42" name="Rectangle 41"/>
          <p:cNvSpPr/>
          <p:nvPr/>
        </p:nvSpPr>
        <p:spPr>
          <a:xfrm>
            <a:off x="600000" y="3250000"/>
            <a:ext cx="2900000" cy="560000"/>
          </a:xfrm>
          <a:prstGeom prst="rect">
            <a:avLst/>
          </a:prstGeom>
          <a:solidFill>
            <a:srgbClr val="D6E4F0"/>
          </a:solidFill>
          <a:ln w="12700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27432" rIns="45720" bIns="27432" rtlCol="0" anchor="ctr"/>
          <a:lstStyle/>
          <a:p>
            <a:pPr algn="ctr"/>
            <a:r>
              <a:rPr sz="1300" b="1" i="0">
                <a:solidFill>
                  <a:srgbClr val="202020"/>
                </a:solidFill>
                <a:latin typeface="Arial"/>
              </a:rPr>
              <a:t>return address</a:t>
            </a:r>
          </a:p>
          <a:p>
            <a:pPr algn="ctr"/>
            <a:r>
              <a:rPr sz="1000" b="0" i="1">
                <a:solidFill>
                  <a:srgbClr val="8A8A8A"/>
                </a:solidFill>
                <a:latin typeface="Arial"/>
              </a:rPr>
              <a:t>chooses where ret goes</a:t>
            </a:r>
          </a:p>
        </p:txBody>
      </p:sp>
      <p:sp>
        <p:nvSpPr>
          <p:cNvPr id="43" name="Rectangle 42"/>
          <p:cNvSpPr/>
          <p:nvPr/>
        </p:nvSpPr>
        <p:spPr>
          <a:xfrm>
            <a:off x="600000" y="3960000"/>
            <a:ext cx="2900000" cy="560000"/>
          </a:xfrm>
          <a:prstGeom prst="rect">
            <a:avLst/>
          </a:prstGeom>
          <a:solidFill>
            <a:srgbClr val="D6E4F0"/>
          </a:solidFill>
          <a:ln w="12700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27432" rIns="45720" bIns="27432" rtlCol="0" anchor="ctr"/>
          <a:lstStyle/>
          <a:p>
            <a:pPr algn="ctr"/>
            <a:r>
              <a:rPr sz="1300" b="1" i="0">
                <a:solidFill>
                  <a:srgbClr val="202020"/>
                </a:solidFill>
                <a:latin typeface="Arial"/>
              </a:rPr>
              <a:t>function pointer</a:t>
            </a:r>
          </a:p>
          <a:p>
            <a:pPr algn="ctr"/>
            <a:r>
              <a:rPr sz="1000" b="0" i="1">
                <a:solidFill>
                  <a:srgbClr val="8A8A8A"/>
                </a:solidFill>
                <a:latin typeface="Arial"/>
              </a:rPr>
              <a:t>where an indirect call goes</a:t>
            </a:r>
          </a:p>
        </p:txBody>
      </p:sp>
      <p:sp>
        <p:nvSpPr>
          <p:cNvPr id="44" name="Rectangle 43"/>
          <p:cNvSpPr/>
          <p:nvPr/>
        </p:nvSpPr>
        <p:spPr>
          <a:xfrm>
            <a:off x="4900000" y="3560000"/>
            <a:ext cx="2850000" cy="640000"/>
          </a:xfrm>
          <a:prstGeom prst="rect">
            <a:avLst/>
          </a:prstGeom>
          <a:solidFill>
            <a:srgbClr val="F6D8C4"/>
          </a:solidFill>
          <a:ln w="12700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27432" rIns="45720" bIns="27432" rtlCol="0" anchor="ctr"/>
          <a:lstStyle/>
          <a:p>
            <a:pPr algn="ctr"/>
            <a:r>
              <a:rPr sz="1200" b="1" i="0">
                <a:solidFill>
                  <a:srgbClr val="C0392B"/>
                </a:solidFill>
                <a:latin typeface="Arial"/>
              </a:rPr>
              <a:t>attacker picks the code that runs</a:t>
            </a:r>
          </a:p>
        </p:txBody>
      </p:sp>
      <p:cxnSp>
        <p:nvCxnSpPr>
          <p:cNvPr id="45" name="Connector 44"/>
          <p:cNvCxnSpPr/>
          <p:nvPr/>
        </p:nvCxnSpPr>
        <p:spPr>
          <a:xfrm>
            <a:off x="3500000" y="3530000"/>
            <a:ext cx="1400000" cy="260000"/>
          </a:xfrm>
          <a:prstGeom prst="bentConnector3">
            <a:avLst/>
          </a:prstGeom>
          <a:ln w="25400">
            <a:solidFill>
              <a:srgbClr val="C0392B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 45"/>
          <p:cNvCxnSpPr/>
          <p:nvPr/>
        </p:nvCxnSpPr>
        <p:spPr>
          <a:xfrm flipV="1">
            <a:off x="3500000" y="3970000"/>
            <a:ext cx="1400000" cy="270000"/>
          </a:xfrm>
          <a:prstGeom prst="bentConnector3">
            <a:avLst/>
          </a:prstGeom>
          <a:ln w="25400">
            <a:solidFill>
              <a:srgbClr val="C0392B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34300" y="1965960"/>
            <a:ext cx="8046720" cy="822960"/>
          </a:xfrm>
        </p:spPr>
        <p:txBody>
          <a:bodyPr/>
          <a:lstStyle/>
          <a:p>
            <a:r>
              <a:rPr sz="2600" b="1" i="0">
                <a:solidFill>
                  <a:srgbClr val="202020"/>
                </a:solidFill>
                <a:latin typeface="Arial"/>
              </a:rPr>
              <a:t>Protect the Return Address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34300" y="2761488"/>
            <a:ext cx="8046720" cy="457200"/>
          </a:xfrm>
        </p:spPr>
        <p:txBody>
          <a:bodyPr/>
          <a:lstStyle/>
          <a:p>
            <a:r>
              <a:rPr sz="1800" b="1" i="0">
                <a:solidFill>
                  <a:srgbClr val="E47932"/>
                </a:solidFill>
                <a:latin typeface="Arial"/>
              </a:rPr>
              <a:t>The backward edge: shadow stacks and Intel CET</a:t>
            </a:r>
          </a:p>
        </p:txBody>
      </p:sp>
      <p:sp>
        <p:nvSpPr>
          <p:cNvPr id="41" name="Google Shape;41;p8"/>
          <p:cNvSpPr txBox="1">
            <a:spLocks noGrp="1"/>
          </p:cNvSpPr>
          <p:nvPr>
            <p:ph type="sldNum" idx="12"/>
          </p:nvPr>
        </p:nvSpPr>
        <p:spPr>
          <a:xfrm>
            <a:off x="8229600" y="4690872"/>
            <a:ext cx="54864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8A8A8A"/>
              </a:buClr>
              <a:buSzPts val="1200"/>
              <a:buFont typeface="Arial"/>
              <a:buNone/>
            </a:pPr>
            <a:fld id="{00000000-1234-1234-1234-123412341234}" type="slidenum">
              <a:rPr lang="en-US"/>
              <a:t>5</a:t>
            </a:fld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34300" y="224048"/>
            <a:ext cx="8046720" cy="685800"/>
          </a:xfrm>
        </p:spPr>
        <p:txBody>
          <a:bodyPr wrap="square"/>
          <a:lstStyle/>
          <a:p>
            <a:pPr algn="l"/>
            <a:r>
              <a:rPr sz="2800" b="1" i="0">
                <a:solidFill>
                  <a:srgbClr val="202020"/>
                </a:solidFill>
                <a:latin typeface="Arial"/>
              </a:rPr>
              <a:t>Shadow Stacks: Protect the Return Address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20000" y="1298448"/>
            <a:ext cx="8046720" cy="3383280"/>
          </a:xfrm>
        </p:spPr>
        <p:txBody>
          <a:bodyPr wrap="square" lIns="0" tIns="0" rIns="0" bIns="0"/>
          <a:lstStyle/>
          <a:p>
            <a:r>
              <a:rPr sz="2000" b="0" i="0">
                <a:solidFill>
                  <a:srgbClr val="202020"/>
                </a:solidFill>
                <a:latin typeface="Arial"/>
              </a:rPr>
              <a:t>Check the return address directly, instead of a separate canary value</a:t>
            </a:r>
          </a:p>
          <a:p>
            <a:r>
              <a:rPr sz="2000" b="0" i="0">
                <a:solidFill>
                  <a:srgbClr val="202020"/>
                </a:solidFill>
                <a:latin typeface="Arial"/>
              </a:rPr>
              <a:t>On call: record the return address in a protected shadow location</a:t>
            </a:r>
          </a:p>
          <a:p>
            <a:r>
              <a:rPr sz="2000" b="0" i="0">
                <a:solidFill>
                  <a:srgbClr val="202020"/>
                </a:solidFill>
                <a:latin typeface="Arial"/>
              </a:rPr>
              <a:t>On return: compare the two; reject unless they match</a:t>
            </a:r>
          </a:p>
        </p:txBody>
      </p:sp>
      <p:sp>
        <p:nvSpPr>
          <p:cNvPr id="41" name="Google Shape;41;p8"/>
          <p:cNvSpPr txBox="1">
            <a:spLocks noGrp="1"/>
          </p:cNvSpPr>
          <p:nvPr>
            <p:ph type="sldNum" idx="12"/>
          </p:nvPr>
        </p:nvSpPr>
        <p:spPr>
          <a:xfrm>
            <a:off x="8229600" y="4690872"/>
            <a:ext cx="54864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8A8A8A"/>
              </a:buClr>
              <a:buSzPts val="1200"/>
              <a:buFont typeface="Arial"/>
              <a:buNone/>
            </a:pPr>
            <a:fld id="{00000000-1234-1234-1234-123412341234}" type="slidenum">
              <a:rPr lang="en-US"/>
              <a:t>6</a:t>
            </a:fld>
            <a:endParaRPr/>
          </a:p>
        </p:txBody>
      </p:sp>
      <p:sp>
        <p:nvSpPr>
          <p:cNvPr id="42" name="TextBox 41"/>
          <p:cNvSpPr txBox="1"/>
          <p:nvPr/>
        </p:nvSpPr>
        <p:spPr>
          <a:xfrm>
            <a:off x="800000" y="3200000"/>
            <a:ext cx="2300000" cy="23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100" b="1" i="0">
                <a:solidFill>
                  <a:srgbClr val="8A8A8A"/>
                </a:solidFill>
                <a:latin typeface="Arial"/>
              </a:rPr>
              <a:t>normal stack</a:t>
            </a:r>
          </a:p>
        </p:txBody>
      </p:sp>
      <p:sp>
        <p:nvSpPr>
          <p:cNvPr id="43" name="Rectangle 42"/>
          <p:cNvSpPr/>
          <p:nvPr/>
        </p:nvSpPr>
        <p:spPr>
          <a:xfrm>
            <a:off x="800000" y="3450000"/>
            <a:ext cx="2300000" cy="340000"/>
          </a:xfrm>
          <a:prstGeom prst="rect">
            <a:avLst/>
          </a:prstGeom>
          <a:solidFill>
            <a:srgbClr val="D6E4F0"/>
          </a:solidFill>
          <a:ln w="12700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27432" rIns="45720" bIns="27432" rtlCol="0" anchor="ctr"/>
          <a:lstStyle/>
          <a:p>
            <a:pPr algn="ctr"/>
            <a:r>
              <a:rPr sz="1000" b="0" i="0">
                <a:solidFill>
                  <a:srgbClr val="202020"/>
                </a:solidFill>
                <a:latin typeface="Arial"/>
              </a:rPr>
              <a:t>locals / buf</a:t>
            </a:r>
          </a:p>
        </p:txBody>
      </p:sp>
      <p:sp>
        <p:nvSpPr>
          <p:cNvPr id="44" name="Rectangle 43"/>
          <p:cNvSpPr/>
          <p:nvPr/>
        </p:nvSpPr>
        <p:spPr>
          <a:xfrm>
            <a:off x="800000" y="3790000"/>
            <a:ext cx="2300000" cy="340000"/>
          </a:xfrm>
          <a:prstGeom prst="rect">
            <a:avLst/>
          </a:prstGeom>
          <a:solidFill>
            <a:srgbClr val="F6D8C4"/>
          </a:solidFill>
          <a:ln w="12700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27432" rIns="45720" bIns="27432" rtlCol="0" anchor="ctr"/>
          <a:lstStyle/>
          <a:p>
            <a:pPr algn="ctr"/>
            <a:r>
              <a:rPr sz="1000" b="1" i="0">
                <a:solidFill>
                  <a:srgbClr val="C0392B"/>
                </a:solidFill>
                <a:latin typeface="Arial"/>
              </a:rPr>
              <a:t>return = GADGET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00000" y="3200000"/>
            <a:ext cx="2300000" cy="23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100" b="1" i="0">
                <a:solidFill>
                  <a:srgbClr val="8A8A8A"/>
                </a:solidFill>
                <a:latin typeface="Arial"/>
              </a:rPr>
              <a:t>shadow stack</a:t>
            </a:r>
          </a:p>
        </p:txBody>
      </p:sp>
      <p:sp>
        <p:nvSpPr>
          <p:cNvPr id="46" name="Rectangle 45"/>
          <p:cNvSpPr/>
          <p:nvPr/>
        </p:nvSpPr>
        <p:spPr>
          <a:xfrm>
            <a:off x="4200000" y="3790000"/>
            <a:ext cx="2300000" cy="340000"/>
          </a:xfrm>
          <a:prstGeom prst="rect">
            <a:avLst/>
          </a:prstGeom>
          <a:solidFill>
            <a:srgbClr val="DDEEDD"/>
          </a:solidFill>
          <a:ln w="12700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27432" rIns="45720" bIns="27432" rtlCol="0" anchor="ctr"/>
          <a:lstStyle/>
          <a:p>
            <a:pPr algn="ctr"/>
            <a:r>
              <a:rPr sz="1000" b="0" i="0">
                <a:solidFill>
                  <a:srgbClr val="202020"/>
                </a:solidFill>
                <a:latin typeface="Arial"/>
              </a:rPr>
              <a:t>return = real</a:t>
            </a:r>
          </a:p>
        </p:txBody>
      </p:sp>
      <p:cxnSp>
        <p:nvCxnSpPr>
          <p:cNvPr id="47" name="Connector 46"/>
          <p:cNvCxnSpPr/>
          <p:nvPr/>
        </p:nvCxnSpPr>
        <p:spPr>
          <a:xfrm>
            <a:off x="3100000" y="3960000"/>
            <a:ext cx="1100000" cy="0"/>
          </a:xfrm>
          <a:prstGeom prst="bentConnector3">
            <a:avLst/>
          </a:prstGeom>
          <a:ln w="25400">
            <a:solidFill>
              <a:srgbClr val="C0392B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8" name="TextBox 47"/>
          <p:cNvSpPr txBox="1"/>
          <p:nvPr/>
        </p:nvSpPr>
        <p:spPr>
          <a:xfrm>
            <a:off x="800000" y="4270000"/>
            <a:ext cx="6000000" cy="3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200" b="1" i="1">
                <a:solidFill>
                  <a:srgbClr val="C0392B"/>
                </a:solidFill>
                <a:latin typeface="Arial"/>
              </a:rPr>
              <a:t>mismatch -&gt; reject before returning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00000" y="4590000"/>
            <a:ext cx="6000000" cy="24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000" b="0" i="1">
                <a:solidFill>
                  <a:srgbClr val="8A8A8A"/>
                </a:solidFill>
                <a:latin typeface="Arial"/>
              </a:rPr>
              <a:t>more reliable than a stack canary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34300" y="224048"/>
            <a:ext cx="8046720" cy="685800"/>
          </a:xfrm>
        </p:spPr>
        <p:txBody>
          <a:bodyPr wrap="square"/>
          <a:lstStyle/>
          <a:p>
            <a:pPr algn="l"/>
            <a:r>
              <a:rPr sz="2800" b="1" i="0">
                <a:solidFill>
                  <a:srgbClr val="202020"/>
                </a:solidFill>
                <a:latin typeface="Arial"/>
              </a:rPr>
              <a:t>Doing It in Hardware: Intel CET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20000" y="1298448"/>
            <a:ext cx="8046720" cy="3383280"/>
          </a:xfrm>
        </p:spPr>
        <p:txBody>
          <a:bodyPr wrap="square" lIns="0" tIns="0" rIns="0" bIns="0">
            <a:normAutofit/>
          </a:bodyPr>
          <a:lstStyle/>
          <a:p>
            <a:r>
              <a:rPr sz="1800" b="0" i="0" dirty="0">
                <a:solidFill>
                  <a:srgbClr val="202020"/>
                </a:solidFill>
                <a:latin typeface="Arial"/>
              </a:rPr>
              <a:t>A software shadow stack is reliable but expensive: two writes, plus protecting the copy</a:t>
            </a:r>
          </a:p>
          <a:p>
            <a:r>
              <a:rPr sz="1800" b="0" i="0" dirty="0">
                <a:solidFill>
                  <a:srgbClr val="202020"/>
                </a:solidFill>
                <a:latin typeface="Arial"/>
              </a:rPr>
              <a:t>Intel CET implements the shadow stack in hardware, enforced by the CPU</a:t>
            </a:r>
          </a:p>
          <a:p>
            <a:r>
              <a:rPr sz="1800" b="0" i="0" dirty="0">
                <a:solidFill>
                  <a:srgbClr val="202020"/>
                </a:solidFill>
                <a:latin typeface="Arial"/>
              </a:rPr>
              <a:t>It also adds coarse CFI on indirect calls (covered next)</a:t>
            </a:r>
          </a:p>
          <a:p>
            <a:r>
              <a:rPr sz="1800" b="0" i="0" dirty="0">
                <a:solidFill>
                  <a:srgbClr val="202020"/>
                </a:solidFill>
                <a:latin typeface="Arial"/>
              </a:rPr>
              <a:t>Enabled with </a:t>
            </a:r>
            <a:r>
              <a:rPr sz="1800" b="0" i="0" dirty="0" err="1">
                <a:solidFill>
                  <a:srgbClr val="202020"/>
                </a:solidFill>
                <a:latin typeface="Arial"/>
              </a:rPr>
              <a:t>gcc</a:t>
            </a:r>
            <a:r>
              <a:rPr sz="1800" b="0" i="0" dirty="0">
                <a:solidFill>
                  <a:srgbClr val="202020"/>
                </a:solidFill>
                <a:latin typeface="Arial"/>
              </a:rPr>
              <a:t> / clang -</a:t>
            </a:r>
            <a:r>
              <a:rPr sz="1800" b="0" i="0" dirty="0" err="1">
                <a:solidFill>
                  <a:srgbClr val="202020"/>
                </a:solidFill>
                <a:latin typeface="Arial"/>
              </a:rPr>
              <a:t>fcf</a:t>
            </a:r>
            <a:r>
              <a:rPr sz="1800" b="0" i="0" dirty="0">
                <a:solidFill>
                  <a:srgbClr val="202020"/>
                </a:solidFill>
                <a:latin typeface="Arial"/>
              </a:rPr>
              <a:t>-protection; supported by Windows and Linux</a:t>
            </a:r>
          </a:p>
        </p:txBody>
      </p:sp>
      <p:sp>
        <p:nvSpPr>
          <p:cNvPr id="41" name="Google Shape;41;p8"/>
          <p:cNvSpPr txBox="1">
            <a:spLocks noGrp="1"/>
          </p:cNvSpPr>
          <p:nvPr>
            <p:ph type="sldNum" idx="12"/>
          </p:nvPr>
        </p:nvSpPr>
        <p:spPr>
          <a:xfrm>
            <a:off x="8229600" y="4690872"/>
            <a:ext cx="54864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8A8A8A"/>
              </a:buClr>
              <a:buSzPts val="1200"/>
              <a:buFont typeface="Arial"/>
              <a:buNone/>
            </a:pPr>
            <a:fld id="{00000000-1234-1234-1234-123412341234}" type="slidenum">
              <a:rPr lang="en-US"/>
              <a:t>7</a:t>
            </a:fld>
            <a:endParaRPr/>
          </a:p>
        </p:txBody>
      </p:sp>
      <p:sp>
        <p:nvSpPr>
          <p:cNvPr id="42" name="Rectangle 41"/>
          <p:cNvSpPr/>
          <p:nvPr/>
        </p:nvSpPr>
        <p:spPr>
          <a:xfrm>
            <a:off x="1300000" y="3650000"/>
            <a:ext cx="2300000" cy="520000"/>
          </a:xfrm>
          <a:prstGeom prst="rect">
            <a:avLst/>
          </a:prstGeom>
          <a:solidFill>
            <a:srgbClr val="D6E4F0"/>
          </a:solidFill>
          <a:ln w="12700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27432" rIns="45720" bIns="27432" rtlCol="0" anchor="ctr"/>
          <a:lstStyle/>
          <a:p>
            <a:pPr algn="ctr"/>
            <a:r>
              <a:rPr sz="1100" b="0" i="0">
                <a:solidFill>
                  <a:srgbClr val="202020"/>
                </a:solidFill>
                <a:latin typeface="Arial"/>
              </a:rPr>
              <a:t>software shadow stack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300000" y="4190000"/>
            <a:ext cx="2300000" cy="23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000" b="0" i="1">
                <a:solidFill>
                  <a:srgbClr val="C0392B"/>
                </a:solidFill>
                <a:latin typeface="Arial"/>
              </a:rPr>
              <a:t>reliable, but slow</a:t>
            </a:r>
          </a:p>
        </p:txBody>
      </p:sp>
      <p:cxnSp>
        <p:nvCxnSpPr>
          <p:cNvPr id="44" name="Connector 43"/>
          <p:cNvCxnSpPr/>
          <p:nvPr/>
        </p:nvCxnSpPr>
        <p:spPr>
          <a:xfrm>
            <a:off x="3600000" y="3910000"/>
            <a:ext cx="650000" cy="0"/>
          </a:xfrm>
          <a:prstGeom prst="bentConnector3">
            <a:avLst/>
          </a:prstGeom>
          <a:ln w="25400">
            <a:solidFill>
              <a:srgbClr val="8A8A8A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" name="Rectangle 44"/>
          <p:cNvSpPr/>
          <p:nvPr/>
        </p:nvSpPr>
        <p:spPr>
          <a:xfrm>
            <a:off x="4300000" y="3650000"/>
            <a:ext cx="2400000" cy="520000"/>
          </a:xfrm>
          <a:prstGeom prst="rect">
            <a:avLst/>
          </a:prstGeom>
          <a:solidFill>
            <a:srgbClr val="DDEEDD"/>
          </a:solidFill>
          <a:ln w="12700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27432" rIns="45720" bIns="27432" rtlCol="0" anchor="ctr"/>
          <a:lstStyle/>
          <a:p>
            <a:pPr algn="ctr"/>
            <a:r>
              <a:rPr sz="1100" b="1" i="0">
                <a:solidFill>
                  <a:srgbClr val="202020"/>
                </a:solidFill>
                <a:latin typeface="Arial"/>
              </a:rPr>
              <a:t>Intel CET (hardware)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300000" y="4190000"/>
            <a:ext cx="2400000" cy="23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000" b="0" i="1">
                <a:solidFill>
                  <a:srgbClr val="2E7D32"/>
                </a:solidFill>
                <a:latin typeface="Arial"/>
              </a:rPr>
              <a:t>same check, enforced by the CPU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34300" y="1965960"/>
            <a:ext cx="8046720" cy="822960"/>
          </a:xfrm>
        </p:spPr>
        <p:txBody>
          <a:bodyPr/>
          <a:lstStyle/>
          <a:p>
            <a:r>
              <a:rPr sz="2600" b="1" i="0">
                <a:solidFill>
                  <a:srgbClr val="202020"/>
                </a:solidFill>
                <a:latin typeface="Arial"/>
              </a:rPr>
              <a:t>Restrict Indirect Calls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34300" y="2761488"/>
            <a:ext cx="8046720" cy="457200"/>
          </a:xfrm>
        </p:spPr>
        <p:txBody>
          <a:bodyPr/>
          <a:lstStyle/>
          <a:p>
            <a:r>
              <a:rPr sz="1800" b="1" i="0">
                <a:solidFill>
                  <a:srgbClr val="E47932"/>
                </a:solidFill>
                <a:latin typeface="Arial"/>
              </a:rPr>
              <a:t>The forward edge: control-flow integrity</a:t>
            </a:r>
          </a:p>
        </p:txBody>
      </p:sp>
      <p:sp>
        <p:nvSpPr>
          <p:cNvPr id="41" name="Google Shape;41;p8"/>
          <p:cNvSpPr txBox="1">
            <a:spLocks noGrp="1"/>
          </p:cNvSpPr>
          <p:nvPr>
            <p:ph type="sldNum" idx="12"/>
          </p:nvPr>
        </p:nvSpPr>
        <p:spPr>
          <a:xfrm>
            <a:off x="8229600" y="4690872"/>
            <a:ext cx="54864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8A8A8A"/>
              </a:buClr>
              <a:buSzPts val="1200"/>
              <a:buFont typeface="Arial"/>
              <a:buNone/>
            </a:pPr>
            <a:fld id="{00000000-1234-1234-1234-123412341234}" type="slidenum">
              <a:rPr lang="en-US"/>
              <a:t>8</a:t>
            </a:fld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34300" y="224048"/>
            <a:ext cx="8046720" cy="685800"/>
          </a:xfrm>
        </p:spPr>
        <p:txBody>
          <a:bodyPr wrap="square"/>
          <a:lstStyle/>
          <a:p>
            <a:pPr algn="l"/>
            <a:r>
              <a:rPr sz="2800" b="1" i="0">
                <a:solidFill>
                  <a:srgbClr val="202020"/>
                </a:solidFill>
                <a:latin typeface="Arial"/>
              </a:rPr>
              <a:t>Hijacking via Function Pointers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20000" y="1298448"/>
            <a:ext cx="8046720" cy="3383280"/>
          </a:xfrm>
        </p:spPr>
        <p:txBody>
          <a:bodyPr wrap="square" lIns="0" tIns="0" rIns="0" bIns="0"/>
          <a:lstStyle/>
          <a:p>
            <a:r>
              <a:rPr sz="2000" b="0" i="0">
                <a:solidFill>
                  <a:srgbClr val="202020"/>
                </a:solidFill>
                <a:latin typeface="Arial"/>
              </a:rPr>
              <a:t>An indirect call jumps wherever a function pointer says</a:t>
            </a:r>
          </a:p>
          <a:p>
            <a:r>
              <a:rPr sz="2000" b="0" i="0">
                <a:solidFill>
                  <a:srgbClr val="202020"/>
                </a:solidFill>
                <a:latin typeface="Arial"/>
              </a:rPr>
              <a:t>Overwrite the pointer and the attacker chooses the code - a gadget, say</a:t>
            </a:r>
          </a:p>
          <a:p>
            <a:r>
              <a:rPr sz="2000" b="0" i="0">
                <a:solidFill>
                  <a:srgbClr val="202020"/>
                </a:solidFill>
                <a:latin typeface="Arial"/>
              </a:rPr>
              <a:t>Shadow stacks do not help here: this is a forward edge, not a return</a:t>
            </a:r>
          </a:p>
        </p:txBody>
      </p:sp>
      <p:sp>
        <p:nvSpPr>
          <p:cNvPr id="41" name="Google Shape;41;p8"/>
          <p:cNvSpPr txBox="1">
            <a:spLocks noGrp="1"/>
          </p:cNvSpPr>
          <p:nvPr>
            <p:ph type="sldNum" idx="12"/>
          </p:nvPr>
        </p:nvSpPr>
        <p:spPr>
          <a:xfrm>
            <a:off x="8229600" y="4690872"/>
            <a:ext cx="54864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8A8A8A"/>
              </a:buClr>
              <a:buSzPts val="1200"/>
              <a:buFont typeface="Arial"/>
              <a:buNone/>
            </a:pPr>
            <a:fld id="{00000000-1234-1234-1234-123412341234}" type="slidenum">
              <a:rPr lang="en-US"/>
              <a:t>9</a:t>
            </a:fld>
            <a:endParaRPr/>
          </a:p>
        </p:txBody>
      </p:sp>
      <p:sp>
        <p:nvSpPr>
          <p:cNvPr id="42" name="Rounded Rectangle 41"/>
          <p:cNvSpPr/>
          <p:nvPr/>
        </p:nvSpPr>
        <p:spPr>
          <a:xfrm>
            <a:off x="248640" y="3550000"/>
            <a:ext cx="5400000" cy="1050000"/>
          </a:xfrm>
          <a:prstGeom prst="roundRect">
            <a:avLst>
              <a:gd name="adj" fmla="val 5000"/>
            </a:avLst>
          </a:prstGeom>
          <a:solidFill>
            <a:srgbClr val="1E24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109728" tIns="68580" rIns="54864" bIns="68580" rtlCol="0" anchor="t"/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 dirty="0">
                <a:solidFill>
                  <a:srgbClr val="4EC9B0"/>
                </a:solidFill>
                <a:latin typeface="Courier New"/>
              </a:rPr>
              <a:t>int</a:t>
            </a:r>
            <a:r>
              <a:rPr sz="1050" b="0" i="0" dirty="0">
                <a:solidFill>
                  <a:srgbClr val="D4D4D4"/>
                </a:solidFill>
                <a:latin typeface="Courier New"/>
              </a:rPr>
              <a:t> (*f)() = &amp;function;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 dirty="0">
                <a:solidFill>
                  <a:srgbClr val="4EC9B0"/>
                </a:solidFill>
                <a:latin typeface="Courier New"/>
              </a:rPr>
              <a:t>int</a:t>
            </a:r>
            <a:r>
              <a:rPr sz="1050" b="0" i="0" dirty="0">
                <a:solidFill>
                  <a:srgbClr val="D4D4D4"/>
                </a:solidFill>
                <a:latin typeface="Courier New"/>
              </a:rPr>
              <a:t> </a:t>
            </a:r>
            <a:r>
              <a:rPr sz="1050" b="0" i="0" dirty="0" err="1">
                <a:solidFill>
                  <a:srgbClr val="D4D4D4"/>
                </a:solidFill>
                <a:latin typeface="Courier New"/>
              </a:rPr>
              <a:t>val</a:t>
            </a:r>
            <a:r>
              <a:rPr sz="1050" b="0" i="0" dirty="0">
                <a:solidFill>
                  <a:srgbClr val="D4D4D4"/>
                </a:solidFill>
                <a:latin typeface="Courier New"/>
              </a:rPr>
              <a:t> = f();           </a:t>
            </a:r>
            <a:r>
              <a:rPr sz="1050" b="0" i="0" dirty="0">
                <a:solidFill>
                  <a:srgbClr val="6A9955"/>
                </a:solidFill>
                <a:latin typeface="Courier New"/>
              </a:rPr>
              <a:t>// indirect call through f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 dirty="0">
                <a:solidFill>
                  <a:srgbClr val="6A9955"/>
                </a:solidFill>
                <a:latin typeface="Courier New"/>
              </a:rPr>
              <a:t>// if the attacker can modify f,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 dirty="0">
                <a:solidFill>
                  <a:srgbClr val="6A9955"/>
                </a:solidFill>
                <a:latin typeface="Courier New"/>
              </a:rPr>
              <a:t>// they choose which code runs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34300" y="224048"/>
            <a:ext cx="8046720" cy="685800"/>
          </a:xfrm>
        </p:spPr>
        <p:txBody>
          <a:bodyPr wrap="square"/>
          <a:lstStyle/>
          <a:p>
            <a:pPr algn="l"/>
            <a:r>
              <a:rPr sz="2800" b="1" i="0">
                <a:solidFill>
                  <a:srgbClr val="202020"/>
                </a:solidFill>
                <a:latin typeface="Arial"/>
              </a:rPr>
              <a:t>Control-Flow Integrity (CFI)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20000" y="1298448"/>
            <a:ext cx="8046720" cy="3383280"/>
          </a:xfrm>
        </p:spPr>
        <p:txBody>
          <a:bodyPr wrap="square" lIns="0" tIns="0" rIns="0" bIns="0"/>
          <a:lstStyle/>
          <a:p>
            <a:r>
              <a:rPr sz="2000" b="0" i="0">
                <a:solidFill>
                  <a:srgbClr val="202020"/>
                </a:solidFill>
                <a:latin typeface="Arial"/>
              </a:rPr>
              <a:t>Indirect calls, jumps, and returns have targets computed at runtime</a:t>
            </a:r>
          </a:p>
          <a:p>
            <a:r>
              <a:rPr sz="2000" b="0" i="0">
                <a:solidFill>
                  <a:srgbClr val="202020"/>
                </a:solidFill>
                <a:latin typeface="Arial"/>
              </a:rPr>
              <a:t>CFI restricts each to only the targets the program code legally allows</a:t>
            </a:r>
          </a:p>
          <a:p>
            <a:r>
              <a:rPr sz="2000" b="0" i="0">
                <a:solidFill>
                  <a:srgbClr val="202020"/>
                </a:solidFill>
                <a:latin typeface="Arial"/>
              </a:rPr>
              <a:t>An overwritten pointer now aims outside the allowed set, so the call is refused</a:t>
            </a:r>
          </a:p>
        </p:txBody>
      </p:sp>
      <p:sp>
        <p:nvSpPr>
          <p:cNvPr id="41" name="Google Shape;41;p8"/>
          <p:cNvSpPr txBox="1">
            <a:spLocks noGrp="1"/>
          </p:cNvSpPr>
          <p:nvPr>
            <p:ph type="sldNum" idx="12"/>
          </p:nvPr>
        </p:nvSpPr>
        <p:spPr>
          <a:xfrm>
            <a:off x="8229600" y="4690872"/>
            <a:ext cx="54864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8A8A8A"/>
              </a:buClr>
              <a:buSzPts val="1200"/>
              <a:buFont typeface="Arial"/>
              <a:buNone/>
            </a:pPr>
            <a:fld id="{00000000-1234-1234-1234-123412341234}" type="slidenum">
              <a:rPr lang="en-US"/>
              <a:t>10</a:t>
            </a:fld>
            <a:endParaRPr/>
          </a:p>
        </p:txBody>
      </p:sp>
      <p:sp>
        <p:nvSpPr>
          <p:cNvPr id="42" name="Rectangle 41"/>
          <p:cNvSpPr/>
          <p:nvPr/>
        </p:nvSpPr>
        <p:spPr>
          <a:xfrm>
            <a:off x="600000" y="3500000"/>
            <a:ext cx="2100000" cy="520000"/>
          </a:xfrm>
          <a:prstGeom prst="rect">
            <a:avLst/>
          </a:prstGeom>
          <a:solidFill>
            <a:srgbClr val="D6E4F0"/>
          </a:solidFill>
          <a:ln w="12700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27432" rIns="45720" bIns="27432" rtlCol="0" anchor="ctr"/>
          <a:lstStyle/>
          <a:p>
            <a:pPr algn="ctr"/>
            <a:r>
              <a:rPr sz="1100" b="0" i="0">
                <a:solidFill>
                  <a:srgbClr val="202020"/>
                </a:solidFill>
                <a:latin typeface="Courier New"/>
              </a:rPr>
              <a:t>indirect call  (*fp)()</a:t>
            </a:r>
          </a:p>
        </p:txBody>
      </p:sp>
      <p:sp>
        <p:nvSpPr>
          <p:cNvPr id="43" name="Rectangle 42"/>
          <p:cNvSpPr/>
          <p:nvPr/>
        </p:nvSpPr>
        <p:spPr>
          <a:xfrm>
            <a:off x="3700000" y="3250000"/>
            <a:ext cx="1700000" cy="320000"/>
          </a:xfrm>
          <a:prstGeom prst="rect">
            <a:avLst/>
          </a:prstGeom>
          <a:solidFill>
            <a:srgbClr val="DDEEDD"/>
          </a:solidFill>
          <a:ln w="12700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27432" rIns="45720" bIns="27432" rtlCol="0" anchor="ctr"/>
          <a:lstStyle/>
          <a:p>
            <a:pPr algn="ctr"/>
            <a:r>
              <a:rPr sz="1000" b="0" i="0">
                <a:solidFill>
                  <a:srgbClr val="202020"/>
                </a:solidFill>
                <a:latin typeface="Arial"/>
              </a:rPr>
              <a:t>handler A</a:t>
            </a:r>
          </a:p>
        </p:txBody>
      </p:sp>
      <p:sp>
        <p:nvSpPr>
          <p:cNvPr id="44" name="Rectangle 43"/>
          <p:cNvSpPr/>
          <p:nvPr/>
        </p:nvSpPr>
        <p:spPr>
          <a:xfrm>
            <a:off x="3700000" y="3630000"/>
            <a:ext cx="1700000" cy="320000"/>
          </a:xfrm>
          <a:prstGeom prst="rect">
            <a:avLst/>
          </a:prstGeom>
          <a:solidFill>
            <a:srgbClr val="DDEEDD"/>
          </a:solidFill>
          <a:ln w="12700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27432" rIns="45720" bIns="27432" rtlCol="0" anchor="ctr"/>
          <a:lstStyle/>
          <a:p>
            <a:pPr algn="ctr"/>
            <a:r>
              <a:rPr sz="1000" b="0" i="0">
                <a:solidFill>
                  <a:srgbClr val="202020"/>
                </a:solidFill>
                <a:latin typeface="Arial"/>
              </a:rPr>
              <a:t>handler B</a:t>
            </a:r>
          </a:p>
        </p:txBody>
      </p:sp>
      <p:cxnSp>
        <p:nvCxnSpPr>
          <p:cNvPr id="45" name="Connector 44"/>
          <p:cNvCxnSpPr/>
          <p:nvPr/>
        </p:nvCxnSpPr>
        <p:spPr>
          <a:xfrm flipV="1">
            <a:off x="2700000" y="3410000"/>
            <a:ext cx="1000000" cy="270000"/>
          </a:xfrm>
          <a:prstGeom prst="bentConnector3">
            <a:avLst/>
          </a:prstGeom>
          <a:ln w="22225">
            <a:solidFill>
              <a:srgbClr val="2E7D3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 45"/>
          <p:cNvCxnSpPr/>
          <p:nvPr/>
        </p:nvCxnSpPr>
        <p:spPr>
          <a:xfrm flipV="1">
            <a:off x="2700000" y="3790000"/>
            <a:ext cx="1000000" cy="10000"/>
          </a:xfrm>
          <a:prstGeom prst="bentConnector3">
            <a:avLst/>
          </a:prstGeom>
          <a:ln w="22225">
            <a:solidFill>
              <a:srgbClr val="2E7D3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" name="TextBox 46"/>
          <p:cNvSpPr txBox="1"/>
          <p:nvPr/>
        </p:nvSpPr>
        <p:spPr>
          <a:xfrm>
            <a:off x="3700000" y="3010000"/>
            <a:ext cx="2600000" cy="23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 i="1">
                <a:solidFill>
                  <a:srgbClr val="2E7D32"/>
                </a:solidFill>
                <a:latin typeface="Arial"/>
              </a:rPr>
              <a:t>allowed target set</a:t>
            </a:r>
          </a:p>
        </p:txBody>
      </p:sp>
      <p:sp>
        <p:nvSpPr>
          <p:cNvPr id="48" name="Rectangle 47"/>
          <p:cNvSpPr/>
          <p:nvPr/>
        </p:nvSpPr>
        <p:spPr>
          <a:xfrm>
            <a:off x="3700000" y="4150000"/>
            <a:ext cx="1850000" cy="340000"/>
          </a:xfrm>
          <a:prstGeom prst="rect">
            <a:avLst/>
          </a:prstGeom>
          <a:solidFill>
            <a:srgbClr val="F6D8C4"/>
          </a:solidFill>
          <a:ln w="12700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27432" rIns="45720" bIns="27432" rtlCol="0" anchor="ctr"/>
          <a:lstStyle/>
          <a:p>
            <a:pPr algn="ctr"/>
            <a:r>
              <a:rPr sz="1000" b="0" i="0">
                <a:solidFill>
                  <a:srgbClr val="202020"/>
                </a:solidFill>
                <a:latin typeface="Arial"/>
              </a:rPr>
              <a:t>attacker's gadget</a:t>
            </a:r>
          </a:p>
        </p:txBody>
      </p:sp>
      <p:cxnSp>
        <p:nvCxnSpPr>
          <p:cNvPr id="49" name="Connector 48"/>
          <p:cNvCxnSpPr/>
          <p:nvPr/>
        </p:nvCxnSpPr>
        <p:spPr>
          <a:xfrm>
            <a:off x="2700000" y="3920000"/>
            <a:ext cx="1000000" cy="380000"/>
          </a:xfrm>
          <a:prstGeom prst="bentConnector3">
            <a:avLst/>
          </a:prstGeom>
          <a:ln w="25400">
            <a:solidFill>
              <a:srgbClr val="C0392B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0" name="TextBox 49"/>
          <p:cNvSpPr txBox="1"/>
          <p:nvPr/>
        </p:nvSpPr>
        <p:spPr>
          <a:xfrm>
            <a:off x="5650000" y="4180000"/>
            <a:ext cx="1000000" cy="280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00" b="1" i="0">
                <a:solidFill>
                  <a:srgbClr val="C0392B"/>
                </a:solidFill>
                <a:latin typeface="Arial"/>
              </a:rPr>
              <a:t>X blocked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34300" y="224048"/>
            <a:ext cx="8046720" cy="685800"/>
          </a:xfrm>
        </p:spPr>
        <p:txBody>
          <a:bodyPr wrap="square"/>
          <a:lstStyle/>
          <a:p>
            <a:pPr algn="l"/>
            <a:r>
              <a:rPr sz="2800" b="1" i="0">
                <a:solidFill>
                  <a:srgbClr val="202020"/>
                </a:solidFill>
                <a:latin typeface="Arial"/>
              </a:rPr>
              <a:t>Coarse vs Fine CFI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20000" y="1298448"/>
            <a:ext cx="8046720" cy="3383280"/>
          </a:xfrm>
        </p:spPr>
        <p:txBody>
          <a:bodyPr wrap="square" lIns="0" tIns="0" rIns="0" bIns="0"/>
          <a:lstStyle/>
          <a:p>
            <a:r>
              <a:rPr sz="2000" b="0" i="0">
                <a:solidFill>
                  <a:srgbClr val="202020"/>
                </a:solidFill>
                <a:latin typeface="Arial"/>
              </a:rPr>
              <a:t>The allowed target set can be loose or tight - a real trade-off</a:t>
            </a:r>
          </a:p>
        </p:txBody>
      </p:sp>
      <p:sp>
        <p:nvSpPr>
          <p:cNvPr id="41" name="Google Shape;41;p8"/>
          <p:cNvSpPr txBox="1">
            <a:spLocks noGrp="1"/>
          </p:cNvSpPr>
          <p:nvPr>
            <p:ph type="sldNum" idx="12"/>
          </p:nvPr>
        </p:nvSpPr>
        <p:spPr>
          <a:xfrm>
            <a:off x="8229600" y="4690872"/>
            <a:ext cx="54864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8A8A8A"/>
              </a:buClr>
              <a:buSzPts val="1200"/>
              <a:buFont typeface="Arial"/>
              <a:buNone/>
            </a:pPr>
            <a:fld id="{00000000-1234-1234-1234-123412341234}" type="slidenum">
              <a:rPr lang="en-US"/>
              <a:t>11</a:t>
            </a:fld>
            <a:endParaRPr/>
          </a:p>
        </p:txBody>
      </p:sp>
      <p:sp>
        <p:nvSpPr>
          <p:cNvPr id="42" name="Rounded Rectangle 41"/>
          <p:cNvSpPr/>
          <p:nvPr/>
        </p:nvSpPr>
        <p:spPr>
          <a:xfrm>
            <a:off x="350000" y="2850000"/>
            <a:ext cx="3550000" cy="1850000"/>
          </a:xfrm>
          <a:prstGeom prst="roundRect">
            <a:avLst>
              <a:gd name="adj" fmla="val 6000"/>
            </a:avLst>
          </a:prstGeom>
          <a:solidFill>
            <a:srgbClr val="F6D8C4"/>
          </a:solidFill>
          <a:ln w="12700">
            <a:solidFill>
              <a:srgbClr val="BBBBB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TextBox 42"/>
          <p:cNvSpPr txBox="1"/>
          <p:nvPr/>
        </p:nvSpPr>
        <p:spPr>
          <a:xfrm>
            <a:off x="520000" y="2940000"/>
            <a:ext cx="3200000" cy="34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1" i="0">
                <a:solidFill>
                  <a:srgbClr val="E47932"/>
                </a:solidFill>
                <a:latin typeface="Arial"/>
              </a:rPr>
              <a:t>Coarse CFI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30000" y="3340000"/>
            <a:ext cx="3200000" cy="13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 i="0">
                <a:solidFill>
                  <a:srgbClr val="202020"/>
                </a:solidFill>
                <a:latin typeface="Arial"/>
              </a:rPr>
              <a:t>- Any function start for calls</a:t>
            </a:r>
          </a:p>
          <a:p>
            <a:pPr algn="l"/>
            <a:r>
              <a:rPr sz="1100" b="0" i="0">
                <a:solidFill>
                  <a:srgbClr val="202020"/>
                </a:solidFill>
                <a:latin typeface="Arial"/>
              </a:rPr>
              <a:t>- Any call site for returns</a:t>
            </a:r>
          </a:p>
          <a:p>
            <a:pPr algn="l"/>
            <a:r>
              <a:rPr sz="1100" b="0" i="0">
                <a:solidFill>
                  <a:srgbClr val="202020"/>
                </a:solidFill>
                <a:latin typeface="Arial"/>
              </a:rPr>
              <a:t>- Cheap, and what CET enforces</a:t>
            </a:r>
          </a:p>
          <a:p>
            <a:pPr algn="l"/>
            <a:r>
              <a:rPr sz="1100" b="0" i="0">
                <a:solidFill>
                  <a:srgbClr val="202020"/>
                </a:solidFill>
                <a:latin typeface="Arial"/>
              </a:rPr>
              <a:t>- But still exploitable in practice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4200000" y="2850000"/>
            <a:ext cx="3550000" cy="1850000"/>
          </a:xfrm>
          <a:prstGeom prst="roundRect">
            <a:avLst>
              <a:gd name="adj" fmla="val 6000"/>
            </a:avLst>
          </a:prstGeom>
          <a:solidFill>
            <a:srgbClr val="DDEEDD"/>
          </a:solidFill>
          <a:ln w="12700">
            <a:solidFill>
              <a:srgbClr val="BBBBB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TextBox 45"/>
          <p:cNvSpPr txBox="1"/>
          <p:nvPr/>
        </p:nvSpPr>
        <p:spPr>
          <a:xfrm>
            <a:off x="4370000" y="2940000"/>
            <a:ext cx="3200000" cy="34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1" i="0">
                <a:solidFill>
                  <a:srgbClr val="2E7D32"/>
                </a:solidFill>
                <a:latin typeface="Arial"/>
              </a:rPr>
              <a:t>Fine CFI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380000" y="3340000"/>
            <a:ext cx="3200000" cy="13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 i="0">
                <a:solidFill>
                  <a:srgbClr val="202020"/>
                </a:solidFill>
                <a:latin typeface="Arial"/>
              </a:rPr>
              <a:t>- Calls: match the function signature</a:t>
            </a:r>
          </a:p>
          <a:p>
            <a:pPr algn="l"/>
            <a:r>
              <a:rPr sz="1100" b="0" i="0">
                <a:solidFill>
                  <a:srgbClr val="202020"/>
                </a:solidFill>
                <a:latin typeface="Arial"/>
              </a:rPr>
              <a:t>  (return type, #args, arg types)</a:t>
            </a:r>
          </a:p>
          <a:p>
            <a:pPr algn="l"/>
            <a:r>
              <a:rPr sz="1100" b="0" i="0">
                <a:solidFill>
                  <a:srgbClr val="202020"/>
                </a:solidFill>
                <a:latin typeface="Arial"/>
              </a:rPr>
              <a:t>- Returns: use a shadow stack</a:t>
            </a:r>
          </a:p>
          <a:p>
            <a:pPr algn="l"/>
            <a:r>
              <a:rPr sz="1100" b="0" i="0">
                <a:solidFill>
                  <a:srgbClr val="202020"/>
                </a:solidFill>
                <a:latin typeface="Arial"/>
              </a:rPr>
              <a:t>- Precise, but costs more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34300" y="224048"/>
            <a:ext cx="8046720" cy="685800"/>
          </a:xfrm>
        </p:spPr>
        <p:txBody>
          <a:bodyPr wrap="square"/>
          <a:lstStyle/>
          <a:p>
            <a:pPr algn="l"/>
            <a:r>
              <a:rPr sz="2800" b="1" i="0">
                <a:solidFill>
                  <a:srgbClr val="202020"/>
                </a:solidFill>
                <a:latin typeface="Arial"/>
              </a:rPr>
              <a:t>CFI Is Not a Complete Fix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20000" y="1298448"/>
            <a:ext cx="8046720" cy="3383280"/>
          </a:xfrm>
        </p:spPr>
        <p:txBody>
          <a:bodyPr wrap="square" lIns="0" tIns="0" rIns="0" bIns="0"/>
          <a:lstStyle/>
          <a:p>
            <a:r>
              <a:rPr sz="2000" b="0" i="0">
                <a:solidFill>
                  <a:srgbClr val="202020"/>
                </a:solidFill>
                <a:latin typeface="Arial"/>
              </a:rPr>
              <a:t>CFI cannot stop attacks that only use legal control flows</a:t>
            </a:r>
          </a:p>
          <a:p>
            <a:r>
              <a:rPr sz="2000" b="0" i="0">
                <a:solidFill>
                  <a:srgbClr val="202020"/>
                </a:solidFill>
                <a:latin typeface="Arial"/>
              </a:rPr>
              <a:t>Example: corrupt a data pointer, not a code pointer - control flow stays valid</a:t>
            </a:r>
          </a:p>
          <a:p>
            <a:r>
              <a:rPr sz="2000" b="0" i="0">
                <a:solidFill>
                  <a:srgbClr val="202020"/>
                </a:solidFill>
                <a:latin typeface="Arial"/>
              </a:rPr>
              <a:t>Enforcement has overhead, so deployed CFI is often coarse and looser</a:t>
            </a:r>
          </a:p>
          <a:p>
            <a:r>
              <a:rPr sz="2000" b="0" i="0">
                <a:solidFill>
                  <a:srgbClr val="202020"/>
                </a:solidFill>
                <a:latin typeface="Arial"/>
              </a:rPr>
              <a:t>So CFI raises the bar a lot, but is best paired with removing the bug itself</a:t>
            </a:r>
          </a:p>
        </p:txBody>
      </p:sp>
      <p:sp>
        <p:nvSpPr>
          <p:cNvPr id="41" name="Google Shape;41;p8"/>
          <p:cNvSpPr txBox="1">
            <a:spLocks noGrp="1"/>
          </p:cNvSpPr>
          <p:nvPr>
            <p:ph type="sldNum" idx="12"/>
          </p:nvPr>
        </p:nvSpPr>
        <p:spPr>
          <a:xfrm>
            <a:off x="8229600" y="4690872"/>
            <a:ext cx="54864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8A8A8A"/>
              </a:buClr>
              <a:buSzPts val="1200"/>
              <a:buFont typeface="Arial"/>
              <a:buNone/>
            </a:pPr>
            <a:fld id="{00000000-1234-1234-1234-123412341234}" type="slidenum">
              <a:rPr lang="en-US"/>
              <a:t>12</a:t>
            </a:fld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34300" y="1965960"/>
            <a:ext cx="8046720" cy="822960"/>
          </a:xfrm>
        </p:spPr>
        <p:txBody>
          <a:bodyPr/>
          <a:lstStyle/>
          <a:p>
            <a:r>
              <a:rPr sz="2600" b="1" i="0">
                <a:solidFill>
                  <a:srgbClr val="202020"/>
                </a:solidFill>
                <a:latin typeface="Arial"/>
              </a:rPr>
              <a:t>Remove the Bug Class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34300" y="2761488"/>
            <a:ext cx="8046720" cy="457200"/>
          </a:xfrm>
        </p:spPr>
        <p:txBody>
          <a:bodyPr/>
          <a:lstStyle/>
          <a:p>
            <a:r>
              <a:rPr sz="1800" b="1" i="0">
                <a:solidFill>
                  <a:srgbClr val="E47932"/>
                </a:solidFill>
                <a:latin typeface="Arial"/>
              </a:rPr>
              <a:t>Safe languages, and how C itself is getting safer</a:t>
            </a:r>
          </a:p>
        </p:txBody>
      </p:sp>
      <p:sp>
        <p:nvSpPr>
          <p:cNvPr id="41" name="Google Shape;41;p8"/>
          <p:cNvSpPr txBox="1">
            <a:spLocks noGrp="1"/>
          </p:cNvSpPr>
          <p:nvPr>
            <p:ph type="sldNum" idx="12"/>
          </p:nvPr>
        </p:nvSpPr>
        <p:spPr>
          <a:xfrm>
            <a:off x="8229600" y="4690872"/>
            <a:ext cx="54864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8A8A8A"/>
              </a:buClr>
              <a:buSzPts val="1200"/>
              <a:buFont typeface="Arial"/>
              <a:buNone/>
            </a:pPr>
            <a:fld id="{00000000-1234-1234-1234-123412341234}" type="slidenum">
              <a:rPr lang="en-US"/>
              <a:t>13</a:t>
            </a:fld>
            <a:endParaRPr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34300" y="224048"/>
            <a:ext cx="8046720" cy="685800"/>
          </a:xfrm>
        </p:spPr>
        <p:txBody>
          <a:bodyPr wrap="square"/>
          <a:lstStyle/>
          <a:p>
            <a:pPr algn="l"/>
            <a:r>
              <a:rPr sz="2800" b="1" i="0">
                <a:solidFill>
                  <a:srgbClr val="202020"/>
                </a:solidFill>
                <a:latin typeface="Arial"/>
              </a:rPr>
              <a:t>Why Not Use Safe Languages?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20000" y="1298448"/>
            <a:ext cx="8046720" cy="3383280"/>
          </a:xfrm>
        </p:spPr>
        <p:txBody>
          <a:bodyPr wrap="square" lIns="0" tIns="0" rIns="0" bIns="0"/>
          <a:lstStyle/>
          <a:p>
            <a:r>
              <a:rPr sz="2000" b="0" i="0">
                <a:solidFill>
                  <a:srgbClr val="202020"/>
                </a:solidFill>
                <a:latin typeface="Arial"/>
              </a:rPr>
              <a:t>A type-safe language cannot have memory errors: Java, and more recently Rust</a:t>
            </a:r>
          </a:p>
          <a:p>
            <a:r>
              <a:rPr sz="2000" b="0" i="0">
                <a:solidFill>
                  <a:srgbClr val="202020"/>
                </a:solidFill>
                <a:latin typeface="Arial"/>
              </a:rPr>
              <a:t>Safe with respect to three properties: spatial, temporal, and type</a:t>
            </a:r>
          </a:p>
          <a:p>
            <a:r>
              <a:rPr sz="2000" b="0" i="0">
                <a:solidFill>
                  <a:srgbClr val="202020"/>
                </a:solidFill>
                <a:latin typeface="Arial"/>
              </a:rPr>
              <a:t>Rust: ownership gives temporal safety; the type system is enforced; bounds checked</a:t>
            </a:r>
          </a:p>
          <a:p>
            <a:r>
              <a:rPr sz="2000" b="0" i="0">
                <a:solidFill>
                  <a:srgbClr val="202020"/>
                </a:solidFill>
                <a:latin typeface="Arial"/>
              </a:rPr>
              <a:t>Trade-offs are usability and performance - which is why C/C++ persisted</a:t>
            </a:r>
          </a:p>
        </p:txBody>
      </p:sp>
      <p:sp>
        <p:nvSpPr>
          <p:cNvPr id="41" name="Google Shape;41;p8"/>
          <p:cNvSpPr txBox="1">
            <a:spLocks noGrp="1"/>
          </p:cNvSpPr>
          <p:nvPr>
            <p:ph type="sldNum" idx="12"/>
          </p:nvPr>
        </p:nvSpPr>
        <p:spPr>
          <a:xfrm>
            <a:off x="8229600" y="4690872"/>
            <a:ext cx="54864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8A8A8A"/>
              </a:buClr>
              <a:buSzPts val="1200"/>
              <a:buFont typeface="Arial"/>
              <a:buNone/>
            </a:pPr>
            <a:fld id="{00000000-1234-1234-1234-123412341234}" type="slidenum">
              <a:rPr lang="en-US"/>
              <a:t>14</a:t>
            </a:fld>
            <a:endParaRPr/>
          </a:p>
        </p:txBody>
      </p:sp>
      <p:sp>
        <p:nvSpPr>
          <p:cNvPr id="42" name="Rectangle 41"/>
          <p:cNvSpPr/>
          <p:nvPr/>
        </p:nvSpPr>
        <p:spPr>
          <a:xfrm>
            <a:off x="1200000" y="3800000"/>
            <a:ext cx="1900000" cy="460000"/>
          </a:xfrm>
          <a:prstGeom prst="rect">
            <a:avLst/>
          </a:prstGeom>
          <a:solidFill>
            <a:srgbClr val="DDEEDD"/>
          </a:solidFill>
          <a:ln w="12700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27432" rIns="45720" bIns="27432" rtlCol="0" anchor="ctr"/>
          <a:lstStyle/>
          <a:p>
            <a:pPr algn="ctr"/>
            <a:r>
              <a:rPr sz="1200" b="1" i="0">
                <a:solidFill>
                  <a:srgbClr val="202020"/>
                </a:solidFill>
                <a:latin typeface="Arial"/>
              </a:rPr>
              <a:t>spatial safety</a:t>
            </a:r>
          </a:p>
        </p:txBody>
      </p:sp>
      <p:sp>
        <p:nvSpPr>
          <p:cNvPr id="43" name="Rectangle 42"/>
          <p:cNvSpPr/>
          <p:nvPr/>
        </p:nvSpPr>
        <p:spPr>
          <a:xfrm>
            <a:off x="3400000" y="3800000"/>
            <a:ext cx="1900000" cy="460000"/>
          </a:xfrm>
          <a:prstGeom prst="rect">
            <a:avLst/>
          </a:prstGeom>
          <a:solidFill>
            <a:srgbClr val="DDEEDD"/>
          </a:solidFill>
          <a:ln w="12700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27432" rIns="45720" bIns="27432" rtlCol="0" anchor="ctr"/>
          <a:lstStyle/>
          <a:p>
            <a:pPr algn="ctr"/>
            <a:r>
              <a:rPr sz="1200" b="1" i="0">
                <a:solidFill>
                  <a:srgbClr val="202020"/>
                </a:solidFill>
                <a:latin typeface="Arial"/>
              </a:rPr>
              <a:t>temporal safety</a:t>
            </a:r>
          </a:p>
        </p:txBody>
      </p:sp>
      <p:sp>
        <p:nvSpPr>
          <p:cNvPr id="44" name="Rectangle 43"/>
          <p:cNvSpPr/>
          <p:nvPr/>
        </p:nvSpPr>
        <p:spPr>
          <a:xfrm>
            <a:off x="5600000" y="3800000"/>
            <a:ext cx="1900000" cy="460000"/>
          </a:xfrm>
          <a:prstGeom prst="rect">
            <a:avLst/>
          </a:prstGeom>
          <a:solidFill>
            <a:srgbClr val="DDEEDD"/>
          </a:solidFill>
          <a:ln w="12700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27432" rIns="45720" bIns="27432" rtlCol="0" anchor="ctr"/>
          <a:lstStyle/>
          <a:p>
            <a:pPr algn="ctr"/>
            <a:r>
              <a:rPr sz="1200" b="1" i="0">
                <a:solidFill>
                  <a:srgbClr val="202020"/>
                </a:solidFill>
                <a:latin typeface="Arial"/>
              </a:rPr>
              <a:t>type safety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34300" y="224048"/>
            <a:ext cx="8046720" cy="685800"/>
          </a:xfrm>
        </p:spPr>
        <p:txBody>
          <a:bodyPr wrap="square"/>
          <a:lstStyle/>
          <a:p>
            <a:pPr algn="l"/>
            <a:r>
              <a:rPr sz="2800" b="1" i="0">
                <a:solidFill>
                  <a:srgbClr val="202020"/>
                </a:solidFill>
                <a:latin typeface="Arial"/>
              </a:rPr>
              <a:t>C Is Getting Safer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20000" y="1298448"/>
            <a:ext cx="8046720" cy="3383280"/>
          </a:xfrm>
        </p:spPr>
        <p:txBody>
          <a:bodyPr wrap="square" lIns="0" tIns="0" rIns="0" bIns="0"/>
          <a:lstStyle/>
          <a:p>
            <a:r>
              <a:rPr sz="2000" b="0" i="0">
                <a:solidFill>
                  <a:srgbClr val="202020"/>
                </a:solidFill>
                <a:latin typeface="Arial"/>
              </a:rPr>
              <a:t>Rewriting everything in Rust is not realistic, so make existing C safer too</a:t>
            </a:r>
          </a:p>
          <a:p>
            <a:r>
              <a:rPr sz="2000" b="0" i="0">
                <a:solidFill>
                  <a:srgbClr val="202020"/>
                </a:solidFill>
                <a:latin typeface="Arial"/>
              </a:rPr>
              <a:t>Fuzzing and analysis keep driving up the share of memory-safe C objects</a:t>
            </a:r>
          </a:p>
          <a:p>
            <a:r>
              <a:rPr sz="2000" b="0" i="0">
                <a:solidFill>
                  <a:srgbClr val="202020"/>
                </a:solidFill>
                <a:latin typeface="Arial"/>
              </a:rPr>
              <a:t>Isolate the objects you have proven safe, and protect that region</a:t>
            </a:r>
          </a:p>
        </p:txBody>
      </p:sp>
      <p:sp>
        <p:nvSpPr>
          <p:cNvPr id="41" name="Google Shape;41;p8"/>
          <p:cNvSpPr txBox="1">
            <a:spLocks noGrp="1"/>
          </p:cNvSpPr>
          <p:nvPr>
            <p:ph type="sldNum" idx="12"/>
          </p:nvPr>
        </p:nvSpPr>
        <p:spPr>
          <a:xfrm>
            <a:off x="8229600" y="4690872"/>
            <a:ext cx="54864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8A8A8A"/>
              </a:buClr>
              <a:buSzPts val="1200"/>
              <a:buFont typeface="Arial"/>
              <a:buNone/>
            </a:pPr>
            <a:fld id="{00000000-1234-1234-1234-123412341234}" type="slidenum">
              <a:rPr lang="en-US"/>
              <a:t>15</a:t>
            </a:fld>
            <a:endParaRPr/>
          </a:p>
        </p:txBody>
      </p:sp>
      <p:sp>
        <p:nvSpPr>
          <p:cNvPr id="42" name="TextBox 41"/>
          <p:cNvSpPr txBox="1"/>
          <p:nvPr/>
        </p:nvSpPr>
        <p:spPr>
          <a:xfrm>
            <a:off x="600000" y="3350000"/>
            <a:ext cx="3200000" cy="900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6000" b="1" i="0">
                <a:solidFill>
                  <a:srgbClr val="2E7D32"/>
                </a:solidFill>
                <a:latin typeface="Arial"/>
              </a:rPr>
              <a:t>90%+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00000" y="4230000"/>
            <a:ext cx="3200000" cy="26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100" b="0" i="1">
                <a:solidFill>
                  <a:srgbClr val="8A8A8A"/>
                </a:solidFill>
                <a:latin typeface="Arial"/>
              </a:rPr>
              <a:t>of stack objects now provably memory-safe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4300000" y="3450000"/>
            <a:ext cx="3400000" cy="900000"/>
          </a:xfrm>
          <a:prstGeom prst="roundRect">
            <a:avLst>
              <a:gd name="adj" fmla="val 5000"/>
            </a:avLst>
          </a:prstGeom>
          <a:solidFill>
            <a:srgbClr val="D6E4F0"/>
          </a:solidFill>
          <a:ln w="12700">
            <a:solidFill>
              <a:srgbClr val="5588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TextBox 44"/>
          <p:cNvSpPr txBox="1"/>
          <p:nvPr/>
        </p:nvSpPr>
        <p:spPr>
          <a:xfrm>
            <a:off x="4450000" y="3540000"/>
            <a:ext cx="3100000" cy="24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 i="0">
                <a:solidFill>
                  <a:srgbClr val="2E7D32"/>
                </a:solidFill>
                <a:latin typeface="Arial"/>
              </a:rPr>
              <a:t>isolated safe region</a:t>
            </a:r>
          </a:p>
        </p:txBody>
      </p:sp>
      <p:sp>
        <p:nvSpPr>
          <p:cNvPr id="46" name="Rectangle 45"/>
          <p:cNvSpPr/>
          <p:nvPr/>
        </p:nvSpPr>
        <p:spPr>
          <a:xfrm>
            <a:off x="4550000" y="3850000"/>
            <a:ext cx="2900000" cy="380000"/>
          </a:xfrm>
          <a:prstGeom prst="rect">
            <a:avLst/>
          </a:prstGeom>
          <a:solidFill>
            <a:srgbClr val="DDEEDD"/>
          </a:solidFill>
          <a:ln w="12700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27432" rIns="45720" bIns="27432" rtlCol="0" anchor="ctr"/>
          <a:lstStyle/>
          <a:p>
            <a:pPr algn="ctr"/>
            <a:r>
              <a:rPr sz="1100" b="0" i="0">
                <a:solidFill>
                  <a:srgbClr val="202020"/>
                </a:solidFill>
                <a:latin typeface="Arial"/>
              </a:rPr>
              <a:t>proven-safe objects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34300" y="224048"/>
            <a:ext cx="8046720" cy="685800"/>
          </a:xfrm>
        </p:spPr>
        <p:txBody>
          <a:bodyPr wrap="square"/>
          <a:lstStyle/>
          <a:p>
            <a:pPr algn="l"/>
            <a:r>
              <a:rPr sz="2800" b="1" i="0">
                <a:solidFill>
                  <a:srgbClr val="202020"/>
                </a:solidFill>
                <a:latin typeface="Arial"/>
              </a:rPr>
              <a:t>Conclusions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20000" y="1298448"/>
            <a:ext cx="8046720" cy="3383280"/>
          </a:xfrm>
        </p:spPr>
        <p:txBody>
          <a:bodyPr wrap="square" lIns="0" tIns="0" rIns="0" bIns="0"/>
          <a:lstStyle/>
          <a:p>
            <a:r>
              <a:rPr sz="2000" b="0" i="0">
                <a:solidFill>
                  <a:srgbClr val="202020"/>
                </a:solidFill>
                <a:latin typeface="Arial"/>
              </a:rPr>
              <a:t>Classic defenses raise the bar; modern ones attack the hijack directly</a:t>
            </a:r>
          </a:p>
          <a:p>
            <a:r>
              <a:rPr sz="2000" b="0" i="0">
                <a:solidFill>
                  <a:srgbClr val="202020"/>
                </a:solidFill>
                <a:latin typeface="Arial"/>
              </a:rPr>
              <a:t>Shadow stacks (now in Intel CET hardware) protect the return address</a:t>
            </a:r>
          </a:p>
          <a:p>
            <a:r>
              <a:rPr sz="2000" b="0" i="0">
                <a:solidFill>
                  <a:srgbClr val="202020"/>
                </a:solidFill>
                <a:latin typeface="Arial"/>
              </a:rPr>
              <a:t>CFI restricts indirect calls and returns, coarse or fine, but is not complete</a:t>
            </a:r>
          </a:p>
          <a:p>
            <a:r>
              <a:rPr sz="2000" b="0" i="0">
                <a:solidFill>
                  <a:srgbClr val="202020"/>
                </a:solidFill>
                <a:latin typeface="Arial"/>
              </a:rPr>
              <a:t>Safe languages remove the bug class, and C keeps getting safer</a:t>
            </a:r>
          </a:p>
          <a:p>
            <a:r>
              <a:rPr sz="2000" b="0" i="0">
                <a:solidFill>
                  <a:srgbClr val="8A8A8A"/>
                </a:solidFill>
                <a:latin typeface="Arial"/>
              </a:rPr>
              <a:t>Next: Software Testing &amp; Fuzzing - finding the bugs before attackers do</a:t>
            </a:r>
          </a:p>
        </p:txBody>
      </p:sp>
      <p:sp>
        <p:nvSpPr>
          <p:cNvPr id="41" name="Google Shape;41;p8"/>
          <p:cNvSpPr txBox="1">
            <a:spLocks noGrp="1"/>
          </p:cNvSpPr>
          <p:nvPr>
            <p:ph type="sldNum" idx="12"/>
          </p:nvPr>
        </p:nvSpPr>
        <p:spPr>
          <a:xfrm>
            <a:off x="8229600" y="4690872"/>
            <a:ext cx="54864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8A8A8A"/>
              </a:buClr>
              <a:buSzPts val="1200"/>
              <a:buFont typeface="Arial"/>
              <a:buNone/>
            </a:pPr>
            <a:fld id="{00000000-1234-1234-1234-123412341234}" type="slidenum">
              <a:rPr lang="en-US"/>
              <a:t>16</a:t>
            </a:fld>
            <a:endParaRPr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34300" y="224048"/>
            <a:ext cx="8046720" cy="685800"/>
          </a:xfrm>
        </p:spPr>
        <p:txBody>
          <a:bodyPr wrap="square"/>
          <a:lstStyle/>
          <a:p>
            <a:pPr algn="l"/>
            <a:r>
              <a:rPr sz="2800" b="1" i="0">
                <a:solidFill>
                  <a:srgbClr val="202020"/>
                </a:solidFill>
                <a:latin typeface="Arial"/>
              </a:rPr>
              <a:t>Questions</a:t>
            </a:r>
          </a:p>
        </p:txBody>
      </p:sp>
      <p:sp>
        <p:nvSpPr>
          <p:cNvPr id="41" name="Google Shape;41;p8"/>
          <p:cNvSpPr txBox="1">
            <a:spLocks noGrp="1"/>
          </p:cNvSpPr>
          <p:nvPr>
            <p:ph type="sldNum" idx="12"/>
          </p:nvPr>
        </p:nvSpPr>
        <p:spPr>
          <a:xfrm>
            <a:off x="8229600" y="4690872"/>
            <a:ext cx="54864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8A8A8A"/>
              </a:buClr>
              <a:buSzPts val="1200"/>
              <a:buFont typeface="Arial"/>
              <a:buNone/>
            </a:pPr>
            <a:fld id="{00000000-1234-1234-1234-123412341234}" type="slidenum">
              <a:rPr lang="en-US"/>
              <a:t>17</a:t>
            </a:fld>
            <a:endParaRPr/>
          </a:p>
        </p:txBody>
      </p:sp>
      <p:sp>
        <p:nvSpPr>
          <p:cNvPr id="42" name="Rounded Rectangle 41"/>
          <p:cNvSpPr/>
          <p:nvPr/>
        </p:nvSpPr>
        <p:spPr>
          <a:xfrm>
            <a:off x="3800000" y="2550000"/>
            <a:ext cx="950000" cy="950000"/>
          </a:xfrm>
          <a:prstGeom prst="roundRect">
            <a:avLst>
              <a:gd name="adj" fmla="val 50000"/>
            </a:avLst>
          </a:prstGeom>
          <a:solidFill>
            <a:srgbClr val="E479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27432" rIns="45720" bIns="27432" rtlCol="0" anchor="ctr"/>
          <a:lstStyle/>
          <a:p>
            <a:pPr algn="ctr"/>
            <a:r>
              <a:rPr sz="5400" b="1" i="0">
                <a:solidFill>
                  <a:srgbClr val="FFFFFF"/>
                </a:solidFill>
                <a:latin typeface="Arial"/>
              </a:rPr>
              <a:t>?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 [1790301506474]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1709</Words>
  <Application>Microsoft Macintosh PowerPoint</Application>
  <PresentationFormat>On-screen Show (16:9)</PresentationFormat>
  <Paragraphs>146</Paragraphs>
  <Slides>17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0" baseType="lpstr">
      <vt:lpstr>Arial</vt:lpstr>
      <vt:lpstr>Courier New</vt:lpstr>
      <vt:lpstr>Office Theme [1790301506474]</vt:lpstr>
      <vt:lpstr>CS 165: Computer Security</vt:lpstr>
      <vt:lpstr>Outline</vt:lpstr>
      <vt:lpstr>Recall: the Classic Defenses Do Not Stop ROP</vt:lpstr>
      <vt:lpstr>Control Hijacking: the Two Targets</vt:lpstr>
      <vt:lpstr>Protect the Return Address</vt:lpstr>
      <vt:lpstr>Shadow Stacks: Protect the Return Address</vt:lpstr>
      <vt:lpstr>Doing It in Hardware: Intel CET</vt:lpstr>
      <vt:lpstr>Restrict Indirect Calls</vt:lpstr>
      <vt:lpstr>Hijacking via Function Pointers</vt:lpstr>
      <vt:lpstr>Control-Flow Integrity (CFI)</vt:lpstr>
      <vt:lpstr>Coarse vs Fine CFI</vt:lpstr>
      <vt:lpstr>CFI Is Not a Complete Fix</vt:lpstr>
      <vt:lpstr>Remove the Bug Class</vt:lpstr>
      <vt:lpstr>Why Not Use Safe Languages?</vt:lpstr>
      <vt:lpstr>C Is Getting Safer</vt:lpstr>
      <vt:lpstr>Conclusions</vt:lpstr>
      <vt:lpstr>Questions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Emiliano De Cristofaro</cp:lastModifiedBy>
  <cp:revision>5</cp:revision>
  <dcterms:modified xsi:type="dcterms:W3CDTF">2026-10-26T02:24:00Z</dcterms:modified>
</cp:coreProperties>
</file>