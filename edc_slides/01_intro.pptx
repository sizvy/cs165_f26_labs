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96F481-76FE-430A-8033-0D9017D95D37}">
  <a:tblStyle styleId="{9096F481-76FE-430A-8033-0D9017D95D3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1F7BAC6-EEA7-4524-A375-4FD7C61763D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9"/>
  </p:normalViewPr>
  <p:slideViewPr>
    <p:cSldViewPr snapToGrid="0">
      <p:cViewPr varScale="1">
        <p:scale>
          <a:sx n="153" d="100"/>
          <a:sy n="153" d="100"/>
        </p:scale>
        <p:origin x="6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548640" y="1600200"/>
            <a:ext cx="8046720" cy="86868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 name="Google Shape;11;p2"/>
          <p:cNvSpPr txBox="1">
            <a:spLocks noGrp="1"/>
          </p:cNvSpPr>
          <p:nvPr>
            <p:ph type="subTitle" idx="1"/>
          </p:nvPr>
        </p:nvSpPr>
        <p:spPr>
          <a:xfrm>
            <a:off x="548640" y="2450592"/>
            <a:ext cx="8046720" cy="502920"/>
          </a:xfrm>
          <a:prstGeom prst="rect">
            <a:avLst/>
          </a:prstGeom>
          <a:noFill/>
          <a:ln>
            <a:noFill/>
          </a:ln>
        </p:spPr>
        <p:txBody>
          <a:bodyPr spcFirstLastPara="1" wrap="square" lIns="0" tIns="0" rIns="0" bIns="0" anchor="ctr" anchorCtr="0">
            <a:normAutofit/>
          </a:bodyPr>
          <a:lstStyle>
            <a:lvl1pPr lvl="0" algn="l">
              <a:spcBef>
                <a:spcPts val="0"/>
              </a:spcBef>
              <a:spcAft>
                <a:spcPts val="0"/>
              </a:spcAft>
              <a:buClr>
                <a:schemeClr val="dk1"/>
              </a:buClr>
              <a:buSzPts val="2900"/>
              <a:buNone/>
              <a:defRPr sz="2900"/>
            </a:lvl1pPr>
            <a:lvl2pPr lvl="1" algn="l">
              <a:spcBef>
                <a:spcPts val="0"/>
              </a:spcBef>
              <a:spcAft>
                <a:spcPts val="0"/>
              </a:spcAft>
              <a:buClr>
                <a:schemeClr val="dk1"/>
              </a:buClr>
              <a:buSzPts val="1800"/>
              <a:buChar char="–"/>
              <a:defRPr/>
            </a:lvl2pPr>
            <a:lvl3pPr lvl="2" algn="l">
              <a:spcBef>
                <a:spcPts val="500"/>
              </a:spcBef>
              <a:spcAft>
                <a:spcPts val="0"/>
              </a:spcAft>
              <a:buClr>
                <a:schemeClr val="dk1"/>
              </a:buClr>
              <a:buSzPts val="1800"/>
              <a:buChar char="•"/>
              <a:defRPr/>
            </a:lvl3pPr>
            <a:lvl4pPr lvl="3" algn="l">
              <a:spcBef>
                <a:spcPts val="400"/>
              </a:spcBef>
              <a:spcAft>
                <a:spcPts val="0"/>
              </a:spcAft>
              <a:buClr>
                <a:schemeClr val="dk1"/>
              </a:buClr>
              <a:buSzPts val="1800"/>
              <a:buChar char="–"/>
              <a:defRPr/>
            </a:lvl4pPr>
            <a:lvl5pPr lvl="4" algn="l">
              <a:spcBef>
                <a:spcPts val="400"/>
              </a:spcBef>
              <a:spcAft>
                <a:spcPts val="0"/>
              </a:spcAft>
              <a:buClr>
                <a:schemeClr val="dk1"/>
              </a:buClr>
              <a:buSzPts val="1800"/>
              <a:buChar char="•"/>
              <a:defRPr/>
            </a:lvl5pPr>
            <a:lvl6pPr lvl="5" algn="l">
              <a:spcBef>
                <a:spcPts val="400"/>
              </a:spcBef>
              <a:spcAft>
                <a:spcPts val="0"/>
              </a:spcAft>
              <a:buClr>
                <a:schemeClr val="dk1"/>
              </a:buClr>
              <a:buSzPts val="1800"/>
              <a:buChar char="•"/>
              <a:defRPr/>
            </a:lvl6pPr>
            <a:lvl7pPr lvl="6" algn="l">
              <a:spcBef>
                <a:spcPts val="400"/>
              </a:spcBef>
              <a:spcAft>
                <a:spcPts val="0"/>
              </a:spcAft>
              <a:buClr>
                <a:schemeClr val="dk1"/>
              </a:buClr>
              <a:buSzPts val="1800"/>
              <a:buChar char="•"/>
              <a:defRPr/>
            </a:lvl7pPr>
            <a:lvl8pPr lvl="7" algn="l">
              <a:spcBef>
                <a:spcPts val="400"/>
              </a:spcBef>
              <a:spcAft>
                <a:spcPts val="0"/>
              </a:spcAft>
              <a:buClr>
                <a:schemeClr val="dk1"/>
              </a:buClr>
              <a:buSzPts val="1800"/>
              <a:buChar char="•"/>
              <a:defRPr/>
            </a:lvl8pPr>
            <a:lvl9pPr lvl="8" algn="l">
              <a:spcBef>
                <a:spcPts val="400"/>
              </a:spcBef>
              <a:spcAft>
                <a:spcPts val="400"/>
              </a:spcAft>
              <a:buClr>
                <a:schemeClr val="dk1"/>
              </a:buClr>
              <a:buSzPts val="1800"/>
              <a:buChar char="•"/>
              <a:defRPr/>
            </a:lvl9pPr>
          </a:lstStyle>
          <a:p>
            <a:endParaRPr/>
          </a:p>
        </p:txBody>
      </p:sp>
      <p:sp>
        <p:nvSpPr>
          <p:cNvPr id="12" name="Google Shape;12;p2"/>
          <p:cNvSpPr txBox="1">
            <a:spLocks noGrp="1"/>
          </p:cNvSpPr>
          <p:nvPr>
            <p:ph type="body" idx="2"/>
          </p:nvPr>
        </p:nvSpPr>
        <p:spPr>
          <a:xfrm>
            <a:off x="548640" y="3246120"/>
            <a:ext cx="8046720" cy="914400"/>
          </a:xfrm>
          <a:prstGeom prst="rect">
            <a:avLst/>
          </a:prstGeom>
          <a:noFill/>
          <a:ln>
            <a:noFill/>
          </a:ln>
        </p:spPr>
        <p:txBody>
          <a:bodyPr spcFirstLastPara="1" wrap="square" lIns="0" tIns="0" rIns="0" bIns="0" anchor="t" anchorCtr="0">
            <a:normAutofit/>
          </a:bodyPr>
          <a:lstStyle>
            <a:lvl1pPr marL="457200" lvl="0" indent="-228600" algn="l">
              <a:lnSpc>
                <a:spcPct val="125000"/>
              </a:lnSpc>
              <a:spcBef>
                <a:spcPts val="0"/>
              </a:spcBef>
              <a:spcAft>
                <a:spcPts val="0"/>
              </a:spcAft>
              <a:buClr>
                <a:srgbClr val="8A8A8A"/>
              </a:buClr>
              <a:buSzPts val="1700"/>
              <a:buNone/>
              <a:defRPr sz="1700">
                <a:solidFill>
                  <a:srgbClr val="8A8A8A"/>
                </a:solidFill>
              </a:defRPr>
            </a:lvl1pPr>
            <a:lvl2pPr marL="914400" lvl="1" indent="-342900" algn="l">
              <a:spcBef>
                <a:spcPts val="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40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3"/>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lvl1pPr marL="457200" lvl="0" indent="-342900" algn="l">
              <a:spcBef>
                <a:spcPts val="600"/>
              </a:spcBef>
              <a:spcAft>
                <a:spcPts val="0"/>
              </a:spcAft>
              <a:buClr>
                <a:schemeClr val="dk1"/>
              </a:buClr>
              <a:buSzPts val="1800"/>
              <a:buChar char="•"/>
              <a:defRPr/>
            </a:lvl1pPr>
            <a:lvl2pPr marL="914400" lvl="1" indent="-342900" algn="l">
              <a:spcBef>
                <a:spcPts val="60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400"/>
              </a:spcAft>
              <a:buClr>
                <a:schemeClr val="dk1"/>
              </a:buClr>
              <a:buSzPts val="1800"/>
              <a:buChar char="•"/>
              <a:defRPr/>
            </a:lvl9pPr>
          </a:lstStyle>
          <a:p>
            <a:endParaRPr/>
          </a:p>
        </p:txBody>
      </p:sp>
      <p:sp>
        <p:nvSpPr>
          <p:cNvPr id="16" name="Google Shape;16;p3"/>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548640" y="1965960"/>
            <a:ext cx="8046720" cy="82296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548640" y="2761488"/>
            <a:ext cx="8046720" cy="4572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8A8A8A"/>
              </a:buClr>
              <a:buSzPts val="1900"/>
              <a:buNone/>
              <a:defRPr sz="1900">
                <a:solidFill>
                  <a:srgbClr val="8A8A8A"/>
                </a:solidFill>
              </a:defRPr>
            </a:lvl1pPr>
            <a:lvl2pPr marL="914400" lvl="1" indent="-342900" algn="l">
              <a:spcBef>
                <a:spcPts val="0"/>
              </a:spcBef>
              <a:spcAft>
                <a:spcPts val="0"/>
              </a:spcAft>
              <a:buClr>
                <a:schemeClr val="dk1"/>
              </a:buClr>
              <a:buSzPts val="1800"/>
              <a:buChar char="–"/>
              <a:defRPr/>
            </a:lvl2pPr>
            <a:lvl3pPr marL="1371600" lvl="2" indent="-342900" algn="l">
              <a:spcBef>
                <a:spcPts val="5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400"/>
              </a:spcAft>
              <a:buClr>
                <a:schemeClr val="dk1"/>
              </a:buClr>
              <a:buSzPts val="1800"/>
              <a:buChar char="•"/>
              <a:defRPr/>
            </a:lvl9pPr>
          </a:lstStyle>
          <a:p>
            <a:endParaRPr/>
          </a:p>
        </p:txBody>
      </p:sp>
      <p:sp>
        <p:nvSpPr>
          <p:cNvPr id="20" name="Google Shape;20;p4"/>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6"/>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lvl="0" indent="0" algn="r">
              <a:spcBef>
                <a:spcPts val="0"/>
              </a:spcBef>
              <a:buClr>
                <a:srgbClr val="8A8A8A"/>
              </a:buClr>
              <a:buSzPts val="1200"/>
              <a:buFont typeface="Arial"/>
              <a:buNone/>
              <a:defRPr sz="1200">
                <a:solidFill>
                  <a:srgbClr val="8A8A8A"/>
                </a:solidFill>
                <a:latin typeface="Arial"/>
                <a:ea typeface="Arial"/>
                <a:cs typeface="Arial"/>
                <a:sym typeface="Arial"/>
              </a:defRPr>
            </a:lvl1pPr>
            <a:lvl2pPr marL="0" lvl="1" indent="0" algn="r">
              <a:spcBef>
                <a:spcPts val="0"/>
              </a:spcBef>
              <a:buClr>
                <a:srgbClr val="8A8A8A"/>
              </a:buClr>
              <a:buSzPts val="1200"/>
              <a:buFont typeface="Arial"/>
              <a:buNone/>
              <a:defRPr sz="1200">
                <a:solidFill>
                  <a:srgbClr val="8A8A8A"/>
                </a:solidFill>
                <a:latin typeface="Arial"/>
                <a:ea typeface="Arial"/>
                <a:cs typeface="Arial"/>
                <a:sym typeface="Arial"/>
              </a:defRPr>
            </a:lvl2pPr>
            <a:lvl3pPr marL="0" lvl="2" indent="0" algn="r">
              <a:spcBef>
                <a:spcPts val="0"/>
              </a:spcBef>
              <a:buClr>
                <a:srgbClr val="8A8A8A"/>
              </a:buClr>
              <a:buSzPts val="1200"/>
              <a:buFont typeface="Arial"/>
              <a:buNone/>
              <a:defRPr sz="1200">
                <a:solidFill>
                  <a:srgbClr val="8A8A8A"/>
                </a:solidFill>
                <a:latin typeface="Arial"/>
                <a:ea typeface="Arial"/>
                <a:cs typeface="Arial"/>
                <a:sym typeface="Arial"/>
              </a:defRPr>
            </a:lvl3pPr>
            <a:lvl4pPr marL="0" lvl="3" indent="0" algn="r">
              <a:spcBef>
                <a:spcPts val="0"/>
              </a:spcBef>
              <a:buClr>
                <a:srgbClr val="8A8A8A"/>
              </a:buClr>
              <a:buSzPts val="1200"/>
              <a:buFont typeface="Arial"/>
              <a:buNone/>
              <a:defRPr sz="1200">
                <a:solidFill>
                  <a:srgbClr val="8A8A8A"/>
                </a:solidFill>
                <a:latin typeface="Arial"/>
                <a:ea typeface="Arial"/>
                <a:cs typeface="Arial"/>
                <a:sym typeface="Arial"/>
              </a:defRPr>
            </a:lvl4pPr>
            <a:lvl5pPr marL="0" lvl="4" indent="0" algn="r">
              <a:spcBef>
                <a:spcPts val="0"/>
              </a:spcBef>
              <a:buClr>
                <a:srgbClr val="8A8A8A"/>
              </a:buClr>
              <a:buSzPts val="1200"/>
              <a:buFont typeface="Arial"/>
              <a:buNone/>
              <a:defRPr sz="1200">
                <a:solidFill>
                  <a:srgbClr val="8A8A8A"/>
                </a:solidFill>
                <a:latin typeface="Arial"/>
                <a:ea typeface="Arial"/>
                <a:cs typeface="Arial"/>
                <a:sym typeface="Arial"/>
              </a:defRPr>
            </a:lvl5pPr>
            <a:lvl6pPr marL="0" lvl="5" indent="0" algn="r">
              <a:spcBef>
                <a:spcPts val="0"/>
              </a:spcBef>
              <a:buClr>
                <a:srgbClr val="8A8A8A"/>
              </a:buClr>
              <a:buSzPts val="1200"/>
              <a:buFont typeface="Arial"/>
              <a:buNone/>
              <a:defRPr sz="1200">
                <a:solidFill>
                  <a:srgbClr val="8A8A8A"/>
                </a:solidFill>
                <a:latin typeface="Arial"/>
                <a:ea typeface="Arial"/>
                <a:cs typeface="Arial"/>
                <a:sym typeface="Arial"/>
              </a:defRPr>
            </a:lvl6pPr>
            <a:lvl7pPr marL="0" lvl="6" indent="0" algn="r">
              <a:spcBef>
                <a:spcPts val="0"/>
              </a:spcBef>
              <a:buClr>
                <a:srgbClr val="8A8A8A"/>
              </a:buClr>
              <a:buSzPts val="1200"/>
              <a:buFont typeface="Arial"/>
              <a:buNone/>
              <a:defRPr sz="1200">
                <a:solidFill>
                  <a:srgbClr val="8A8A8A"/>
                </a:solidFill>
                <a:latin typeface="Arial"/>
                <a:ea typeface="Arial"/>
                <a:cs typeface="Arial"/>
                <a:sym typeface="Arial"/>
              </a:defRPr>
            </a:lvl7pPr>
            <a:lvl8pPr marL="0" lvl="7" indent="0" algn="r">
              <a:spcBef>
                <a:spcPts val="0"/>
              </a:spcBef>
              <a:buClr>
                <a:srgbClr val="8A8A8A"/>
              </a:buClr>
              <a:buSzPts val="1200"/>
              <a:buFont typeface="Arial"/>
              <a:buNone/>
              <a:defRPr sz="1200">
                <a:solidFill>
                  <a:srgbClr val="8A8A8A"/>
                </a:solidFill>
                <a:latin typeface="Arial"/>
                <a:ea typeface="Arial"/>
                <a:cs typeface="Arial"/>
                <a:sym typeface="Arial"/>
              </a:defRPr>
            </a:lvl8pPr>
            <a:lvl9pPr marL="0" lvl="8" indent="0" algn="r">
              <a:spcBef>
                <a:spcPts val="0"/>
              </a:spcBef>
              <a:buClr>
                <a:srgbClr val="8A8A8A"/>
              </a:buClr>
              <a:buSzPts val="1200"/>
              <a:buFont typeface="Arial"/>
              <a:buNone/>
              <a:defRPr sz="1200">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lvl1pPr marL="457200" marR="0" lvl="0" indent="-355600" algn="l" rtl="0">
              <a:spcBef>
                <a:spcPts val="6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36550" algn="l" rtl="0">
              <a:spcBef>
                <a:spcPts val="6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2pPr>
            <a:lvl3pPr marL="1371600" marR="0" lvl="2" indent="-336550" algn="l" rtl="0">
              <a:spcBef>
                <a:spcPts val="5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3pPr>
            <a:lvl4pPr marL="1828800" marR="0" lvl="3"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4pPr>
            <a:lvl5pPr marL="2286000" marR="0" lvl="4"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5pPr>
            <a:lvl6pPr marL="2743200" marR="0" lvl="5"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6pPr>
            <a:lvl7pPr marL="3200400" marR="0" lvl="6"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7pPr>
            <a:lvl8pPr marL="3657600" marR="0" lvl="7" indent="-336550" algn="l" rtl="0">
              <a:spcBef>
                <a:spcPts val="400"/>
              </a:spcBef>
              <a:spcAft>
                <a:spcPts val="0"/>
              </a:spcAft>
              <a:buClr>
                <a:schemeClr val="dk1"/>
              </a:buClr>
              <a:buSzPts val="1700"/>
              <a:buFont typeface="Arial"/>
              <a:buChar char="•"/>
              <a:defRPr sz="1700" b="0" i="0" u="none" strike="noStrike" cap="none">
                <a:solidFill>
                  <a:schemeClr val="dk1"/>
                </a:solidFill>
                <a:latin typeface="Arial"/>
                <a:ea typeface="Arial"/>
                <a:cs typeface="Arial"/>
                <a:sym typeface="Arial"/>
              </a:defRPr>
            </a:lvl8pPr>
            <a:lvl9pPr marL="4114800" marR="0" lvl="8" indent="-336550" algn="l" rtl="0">
              <a:spcBef>
                <a:spcPts val="400"/>
              </a:spcBef>
              <a:spcAft>
                <a:spcPts val="400"/>
              </a:spcAft>
              <a:buClr>
                <a:schemeClr val="dk1"/>
              </a:buClr>
              <a:buSzPts val="1700"/>
              <a:buFont typeface="Arial"/>
              <a:buChar char="•"/>
              <a:defRPr sz="17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200" b="0" i="0" u="none" strike="noStrike" cap="none">
                <a:solidFill>
                  <a:srgbClr val="8A8A8A"/>
                </a:solidFill>
                <a:latin typeface="Arial"/>
                <a:ea typeface="Arial"/>
                <a:cs typeface="Arial"/>
                <a:sym typeface="Arial"/>
              </a:defRPr>
            </a:lvl1pPr>
            <a:lvl2pPr marL="0" marR="0" lvl="1" indent="0" algn="r" rtl="0">
              <a:spcBef>
                <a:spcPts val="0"/>
              </a:spcBef>
              <a:buNone/>
              <a:defRPr sz="1200" b="0" i="0" u="none" strike="noStrike" cap="none">
                <a:solidFill>
                  <a:srgbClr val="8A8A8A"/>
                </a:solidFill>
                <a:latin typeface="Arial"/>
                <a:ea typeface="Arial"/>
                <a:cs typeface="Arial"/>
                <a:sym typeface="Arial"/>
              </a:defRPr>
            </a:lvl2pPr>
            <a:lvl3pPr marL="0" marR="0" lvl="2" indent="0" algn="r" rtl="0">
              <a:spcBef>
                <a:spcPts val="0"/>
              </a:spcBef>
              <a:buNone/>
              <a:defRPr sz="1200" b="0" i="0" u="none" strike="noStrike" cap="none">
                <a:solidFill>
                  <a:srgbClr val="8A8A8A"/>
                </a:solidFill>
                <a:latin typeface="Arial"/>
                <a:ea typeface="Arial"/>
                <a:cs typeface="Arial"/>
                <a:sym typeface="Arial"/>
              </a:defRPr>
            </a:lvl3pPr>
            <a:lvl4pPr marL="0" marR="0" lvl="3" indent="0" algn="r" rtl="0">
              <a:spcBef>
                <a:spcPts val="0"/>
              </a:spcBef>
              <a:buNone/>
              <a:defRPr sz="1200" b="0" i="0" u="none" strike="noStrike" cap="none">
                <a:solidFill>
                  <a:srgbClr val="8A8A8A"/>
                </a:solidFill>
                <a:latin typeface="Arial"/>
                <a:ea typeface="Arial"/>
                <a:cs typeface="Arial"/>
                <a:sym typeface="Arial"/>
              </a:defRPr>
            </a:lvl4pPr>
            <a:lvl5pPr marL="0" marR="0" lvl="4" indent="0" algn="r" rtl="0">
              <a:spcBef>
                <a:spcPts val="0"/>
              </a:spcBef>
              <a:buNone/>
              <a:defRPr sz="1200" b="0" i="0" u="none" strike="noStrike" cap="none">
                <a:solidFill>
                  <a:srgbClr val="8A8A8A"/>
                </a:solidFill>
                <a:latin typeface="Arial"/>
                <a:ea typeface="Arial"/>
                <a:cs typeface="Arial"/>
                <a:sym typeface="Arial"/>
              </a:defRPr>
            </a:lvl5pPr>
            <a:lvl6pPr marL="0" marR="0" lvl="5" indent="0" algn="r" rtl="0">
              <a:spcBef>
                <a:spcPts val="0"/>
              </a:spcBef>
              <a:buNone/>
              <a:defRPr sz="1200" b="0" i="0" u="none" strike="noStrike" cap="none">
                <a:solidFill>
                  <a:srgbClr val="8A8A8A"/>
                </a:solidFill>
                <a:latin typeface="Arial"/>
                <a:ea typeface="Arial"/>
                <a:cs typeface="Arial"/>
                <a:sym typeface="Arial"/>
              </a:defRPr>
            </a:lvl6pPr>
            <a:lvl7pPr marL="0" marR="0" lvl="6" indent="0" algn="r" rtl="0">
              <a:spcBef>
                <a:spcPts val="0"/>
              </a:spcBef>
              <a:buNone/>
              <a:defRPr sz="1200" b="0" i="0" u="none" strike="noStrike" cap="none">
                <a:solidFill>
                  <a:srgbClr val="8A8A8A"/>
                </a:solidFill>
                <a:latin typeface="Arial"/>
                <a:ea typeface="Arial"/>
                <a:cs typeface="Arial"/>
                <a:sym typeface="Arial"/>
              </a:defRPr>
            </a:lvl7pPr>
            <a:lvl8pPr marL="0" marR="0" lvl="7" indent="0" algn="r" rtl="0">
              <a:spcBef>
                <a:spcPts val="0"/>
              </a:spcBef>
              <a:buNone/>
              <a:defRPr sz="1200" b="0" i="0" u="none" strike="noStrike" cap="none">
                <a:solidFill>
                  <a:srgbClr val="8A8A8A"/>
                </a:solidFill>
                <a:latin typeface="Arial"/>
                <a:ea typeface="Arial"/>
                <a:cs typeface="Arial"/>
                <a:sym typeface="Arial"/>
              </a:defRPr>
            </a:lvl8pPr>
            <a:lvl9pPr marL="0" marR="0" lvl="8" indent="0" algn="r" rtl="0">
              <a:spcBef>
                <a:spcPts val="0"/>
              </a:spcBef>
              <a:buNone/>
              <a:defRPr sz="1200" b="0" i="0" u="none" strike="noStrike" cap="none">
                <a:solidFill>
                  <a:srgbClr val="8A8A8A"/>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spalab.cs.ucr.edu/teaching/cs165"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
        <p:cNvGrpSpPr/>
        <p:nvPr/>
      </p:nvGrpSpPr>
      <p:grpSpPr>
        <a:xfrm>
          <a:off x="0" y="0"/>
          <a:ext cx="0" cy="0"/>
          <a:chOff x="0" y="0"/>
          <a:chExt cx="0" cy="0"/>
        </a:xfrm>
      </p:grpSpPr>
      <p:sp>
        <p:nvSpPr>
          <p:cNvPr id="31" name="Google Shape;31;p7"/>
          <p:cNvSpPr txBox="1">
            <a:spLocks noGrp="1"/>
          </p:cNvSpPr>
          <p:nvPr>
            <p:ph type="ctrTitle"/>
          </p:nvPr>
        </p:nvSpPr>
        <p:spPr>
          <a:xfrm>
            <a:off x="548640" y="1600200"/>
            <a:ext cx="8046720" cy="86868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4000"/>
              <a:buFont typeface="Arial"/>
              <a:buNone/>
            </a:pPr>
            <a:r>
              <a:rPr lang="en-US"/>
              <a:t>CS 165: Computer Security</a:t>
            </a:r>
            <a:endParaRPr/>
          </a:p>
        </p:txBody>
      </p:sp>
      <p:sp>
        <p:nvSpPr>
          <p:cNvPr id="32" name="Google Shape;32;p7"/>
          <p:cNvSpPr txBox="1">
            <a:spLocks noGrp="1"/>
          </p:cNvSpPr>
          <p:nvPr>
            <p:ph type="subTitle" idx="1"/>
          </p:nvPr>
        </p:nvSpPr>
        <p:spPr>
          <a:xfrm>
            <a:off x="548640" y="2450592"/>
            <a:ext cx="8046720" cy="502920"/>
          </a:xfrm>
          <a:prstGeom prst="rect">
            <a:avLst/>
          </a:prstGeom>
          <a:noFill/>
          <a:ln>
            <a:noFill/>
          </a:ln>
        </p:spPr>
        <p:txBody>
          <a:bodyPr spcFirstLastPara="1" wrap="square" lIns="0" tIns="0" rIns="0" bIns="0" anchor="ctr" anchorCtr="0">
            <a:normAutofit/>
          </a:bodyPr>
          <a:lstStyle/>
          <a:p>
            <a:pPr marL="0" lvl="0" indent="0" algn="l" rtl="0">
              <a:spcBef>
                <a:spcPts val="0"/>
              </a:spcBef>
              <a:spcAft>
                <a:spcPts val="0"/>
              </a:spcAft>
              <a:buClr>
                <a:schemeClr val="dk1"/>
              </a:buClr>
              <a:buSzPts val="2900"/>
              <a:buNone/>
            </a:pPr>
            <a:r>
              <a:rPr lang="en-US"/>
              <a:t>Introduction</a:t>
            </a:r>
            <a:endParaRPr/>
          </a:p>
        </p:txBody>
      </p:sp>
      <p:sp>
        <p:nvSpPr>
          <p:cNvPr id="33" name="Google Shape;33;p7"/>
          <p:cNvSpPr txBox="1">
            <a:spLocks noGrp="1"/>
          </p:cNvSpPr>
          <p:nvPr>
            <p:ph type="body" idx="2"/>
          </p:nvPr>
        </p:nvSpPr>
        <p:spPr>
          <a:xfrm>
            <a:off x="548640" y="3246120"/>
            <a:ext cx="8046720" cy="914400"/>
          </a:xfrm>
          <a:prstGeom prst="rect">
            <a:avLst/>
          </a:prstGeom>
          <a:noFill/>
          <a:ln>
            <a:noFill/>
          </a:ln>
        </p:spPr>
        <p:txBody>
          <a:bodyPr spcFirstLastPara="1" wrap="square" lIns="0" tIns="0" rIns="0" bIns="0" anchor="t" anchorCtr="0">
            <a:normAutofit lnSpcReduction="10000"/>
          </a:bodyPr>
          <a:lstStyle/>
          <a:p>
            <a:pPr marL="0" lvl="0" indent="0" algn="l" rtl="0">
              <a:lnSpc>
                <a:spcPct val="125000"/>
              </a:lnSpc>
              <a:spcBef>
                <a:spcPts val="0"/>
              </a:spcBef>
              <a:spcAft>
                <a:spcPts val="0"/>
              </a:spcAft>
              <a:buClr>
                <a:srgbClr val="8A8A8A"/>
              </a:buClr>
              <a:buSzPts val="1700"/>
              <a:buNone/>
            </a:pPr>
            <a:r>
              <a:rPr lang="en-US"/>
              <a:t>Emiliano De Cristofaro</a:t>
            </a:r>
            <a:endParaRPr>
              <a:solidFill>
                <a:srgbClr val="000000"/>
              </a:solidFill>
            </a:endParaRPr>
          </a:p>
          <a:p>
            <a:pPr marL="0" lvl="0" indent="0" algn="l" rtl="0">
              <a:lnSpc>
                <a:spcPct val="125000"/>
              </a:lnSpc>
              <a:spcBef>
                <a:spcPts val="0"/>
              </a:spcBef>
              <a:spcAft>
                <a:spcPts val="0"/>
              </a:spcAft>
              <a:buClr>
                <a:srgbClr val="8A8A8A"/>
              </a:buClr>
              <a:buSzPts val="1700"/>
              <a:buNone/>
            </a:pPr>
            <a:r>
              <a:rPr lang="en-US"/>
              <a:t>University of California, Riverside</a:t>
            </a:r>
            <a:endParaRPr>
              <a:solidFill>
                <a:srgbClr val="000000"/>
              </a:solidFill>
            </a:endParaRPr>
          </a:p>
          <a:p>
            <a:pPr marL="0" lvl="0" indent="0" algn="l" rtl="0">
              <a:lnSpc>
                <a:spcPct val="125000"/>
              </a:lnSpc>
              <a:spcBef>
                <a:spcPts val="0"/>
              </a:spcBef>
              <a:spcAft>
                <a:spcPts val="0"/>
              </a:spcAft>
              <a:buClr>
                <a:srgbClr val="8A8A8A"/>
              </a:buClr>
              <a:buSzPts val="1700"/>
              <a:buNone/>
            </a:pPr>
            <a:r>
              <a:rPr lang="en-US"/>
              <a:t>Fall 2026  |  Monday, September 28</a:t>
            </a:r>
            <a:endParaRPr>
              <a:solidFill>
                <a:srgbClr val="000000"/>
              </a:solidFill>
            </a:endParaRPr>
          </a:p>
        </p:txBody>
      </p:sp>
      <p:pic>
        <p:nvPicPr>
          <p:cNvPr id="2" name="Picture 1">
            <a:extLst>
              <a:ext uri="{FF2B5EF4-FFF2-40B4-BE49-F238E27FC236}">
                <a16:creationId xmlns:a16="http://schemas.microsoft.com/office/drawing/2014/main" id="{5334F0FE-7C15-A600-F3F6-030812A39E4C}"/>
              </a:ext>
            </a:extLst>
          </p:cNvPr>
          <p:cNvPicPr>
            <a:picLocks noChangeAspect="1"/>
          </p:cNvPicPr>
          <p:nvPr/>
        </p:nvPicPr>
        <p:blipFill>
          <a:blip r:embed="rId3"/>
          <a:stretch>
            <a:fillRect/>
          </a:stretch>
        </p:blipFill>
        <p:spPr>
          <a:xfrm>
            <a:off x="3137568" y="0"/>
            <a:ext cx="2868864" cy="9796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Today</a:t>
            </a:r>
            <a:endParaRPr/>
          </a:p>
        </p:txBody>
      </p:sp>
      <p:sp>
        <p:nvSpPr>
          <p:cNvPr id="40" name="Google Shape;40;p8"/>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Welcome and introduction</a:t>
            </a:r>
            <a:endParaRPr/>
          </a:p>
          <a:p>
            <a:pPr marL="342900" lvl="0" indent="-342900" algn="l" rtl="0">
              <a:spcBef>
                <a:spcPts val="1200"/>
              </a:spcBef>
              <a:spcAft>
                <a:spcPts val="0"/>
              </a:spcAft>
              <a:buClr>
                <a:schemeClr val="dk1"/>
              </a:buClr>
              <a:buSzPts val="2000"/>
              <a:buChar char="•"/>
            </a:pPr>
            <a:r>
              <a:rPr lang="en-US"/>
              <a:t>Security TL;DR</a:t>
            </a:r>
            <a:endParaRPr/>
          </a:p>
          <a:p>
            <a:pPr marL="342900" lvl="0" indent="-342900" algn="l" rtl="0">
              <a:spcBef>
                <a:spcPts val="1200"/>
              </a:spcBef>
              <a:spcAft>
                <a:spcPts val="0"/>
              </a:spcAft>
              <a:buClr>
                <a:schemeClr val="dk1"/>
              </a:buClr>
              <a:buSzPts val="2000"/>
              <a:buChar char="•"/>
            </a:pPr>
            <a:r>
              <a:rPr lang="en-US"/>
              <a:t>What you will learn to do</a:t>
            </a:r>
            <a:endParaRPr/>
          </a:p>
          <a:p>
            <a:pPr marL="342900" lvl="0" indent="-342900" algn="l" rtl="0">
              <a:spcBef>
                <a:spcPts val="1200"/>
              </a:spcBef>
              <a:spcAft>
                <a:spcPts val="0"/>
              </a:spcAft>
              <a:buClr>
                <a:schemeClr val="dk1"/>
              </a:buClr>
              <a:buSzPts val="2000"/>
              <a:buChar char="•"/>
            </a:pPr>
            <a:r>
              <a:rPr lang="en-US"/>
              <a:t>Logistics and grading</a:t>
            </a:r>
            <a:br>
              <a:rPr lang="en-US"/>
            </a:br>
            <a:endParaRPr/>
          </a:p>
          <a:p>
            <a:pPr marL="342900" lvl="0" indent="-342900" algn="l" rtl="0">
              <a:spcBef>
                <a:spcPts val="1200"/>
              </a:spcBef>
              <a:spcAft>
                <a:spcPts val="0"/>
              </a:spcAft>
              <a:buClr>
                <a:schemeClr val="dk1"/>
              </a:buClr>
              <a:buSzPts val="2000"/>
              <a:buChar char="•"/>
            </a:pPr>
            <a:r>
              <a:rPr lang="en-US"/>
              <a:t>The security mindset</a:t>
            </a:r>
            <a:endParaRPr/>
          </a:p>
        </p:txBody>
      </p:sp>
      <p:sp>
        <p:nvSpPr>
          <p:cNvPr id="41" name="Google Shape;41;p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Course information</a:t>
            </a:r>
            <a:endParaRPr/>
          </a:p>
        </p:txBody>
      </p:sp>
      <p:sp>
        <p:nvSpPr>
          <p:cNvPr id="48" name="Google Shape;48;p9"/>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fontScale="92500"/>
          </a:bodyPr>
          <a:lstStyle/>
          <a:p>
            <a:pPr marL="342900" lvl="0" indent="-342900" algn="l" rtl="0">
              <a:spcBef>
                <a:spcPts val="0"/>
              </a:spcBef>
              <a:spcAft>
                <a:spcPts val="0"/>
              </a:spcAft>
              <a:buClr>
                <a:schemeClr val="dk1"/>
              </a:buClr>
              <a:buSzPts val="2000"/>
              <a:buChar char="•"/>
            </a:pPr>
            <a:r>
              <a:rPr lang="en-US"/>
              <a:t>Instructor: Emiliano De Cristofaro, emilianodc@cs.ucr.edu</a:t>
            </a:r>
            <a:endParaRPr/>
          </a:p>
          <a:p>
            <a:pPr marL="685800" lvl="1" indent="-342900" algn="l" rtl="0">
              <a:spcBef>
                <a:spcPts val="600"/>
              </a:spcBef>
              <a:spcAft>
                <a:spcPts val="0"/>
              </a:spcAft>
              <a:buClr>
                <a:schemeClr val="dk1"/>
              </a:buClr>
              <a:buSzPts val="1700"/>
              <a:buChar char="–"/>
            </a:pPr>
            <a:r>
              <a:rPr lang="en-US"/>
              <a:t>Office hours: TBD</a:t>
            </a:r>
            <a:endParaRPr sz="2000"/>
          </a:p>
          <a:p>
            <a:pPr marL="342900" lvl="0" indent="-342900" algn="l" rtl="0">
              <a:spcBef>
                <a:spcPts val="1100"/>
              </a:spcBef>
              <a:spcAft>
                <a:spcPts val="0"/>
              </a:spcAft>
              <a:buClr>
                <a:schemeClr val="dk1"/>
              </a:buClr>
              <a:buSzPts val="2000"/>
              <a:buChar char="•"/>
            </a:pPr>
            <a:r>
              <a:rPr lang="en-US"/>
              <a:t>TA: Md. Olid Hasan Bhuiyan, mbhui008@ucr.edu</a:t>
            </a:r>
            <a:endParaRPr/>
          </a:p>
          <a:p>
            <a:pPr marL="685800" lvl="1" indent="-342900" algn="l" rtl="0">
              <a:spcBef>
                <a:spcPts val="600"/>
              </a:spcBef>
              <a:spcAft>
                <a:spcPts val="0"/>
              </a:spcAft>
              <a:buClr>
                <a:schemeClr val="dk1"/>
              </a:buClr>
              <a:buSzPts val="1700"/>
              <a:buChar char="–"/>
            </a:pPr>
            <a:r>
              <a:rPr lang="en-US"/>
              <a:t>Office hours: Tuesday 10 - 11am (Reach via email if it does NOT work for you)</a:t>
            </a:r>
            <a:endParaRPr sz="2000"/>
          </a:p>
          <a:p>
            <a:pPr marL="342900" lvl="0" indent="-342900" algn="l" rtl="0">
              <a:spcBef>
                <a:spcPts val="1100"/>
              </a:spcBef>
              <a:spcAft>
                <a:spcPts val="0"/>
              </a:spcAft>
              <a:buClr>
                <a:schemeClr val="dk1"/>
              </a:buClr>
              <a:buSzPts val="2000"/>
              <a:buChar char="•"/>
            </a:pPr>
            <a:r>
              <a:rPr lang="en-US"/>
              <a:t>Lecture: Monday and Wednesday, 3:30 to 4:50pm, UTLF 315</a:t>
            </a:r>
            <a:endParaRPr/>
          </a:p>
          <a:p>
            <a:pPr marL="342900" lvl="0" indent="-342900" algn="l" rtl="0">
              <a:spcBef>
                <a:spcPts val="1200"/>
              </a:spcBef>
              <a:spcAft>
                <a:spcPts val="0"/>
              </a:spcAft>
              <a:buClr>
                <a:schemeClr val="dk1"/>
              </a:buClr>
              <a:buSzPts val="2000"/>
              <a:buChar char="•"/>
            </a:pPr>
            <a:r>
              <a:rPr lang="en-US"/>
              <a:t>Lab: Thursday, 3:00 to 5:50pm, UTLF 215</a:t>
            </a:r>
            <a:endParaRPr/>
          </a:p>
          <a:p>
            <a:pPr marL="342900" lvl="0" indent="-342900" algn="l" rtl="0">
              <a:spcBef>
                <a:spcPts val="1200"/>
              </a:spcBef>
              <a:spcAft>
                <a:spcPts val="0"/>
              </a:spcAft>
              <a:buClr>
                <a:schemeClr val="dk1"/>
              </a:buClr>
              <a:buSzPts val="2000"/>
              <a:buChar char="•"/>
            </a:pPr>
            <a:r>
              <a:rPr lang="en-US"/>
              <a:t>Website: </a:t>
            </a:r>
            <a:r>
              <a:rPr lang="en-US" u="sng">
                <a:solidFill>
                  <a:schemeClr val="hlink"/>
                </a:solidFill>
                <a:hlinkClick r:id="rId3"/>
              </a:rPr>
              <a:t>https://spalab.cs.ucr.edu/teaching/cs165</a:t>
            </a:r>
            <a:r>
              <a:rPr lang="en-US"/>
              <a:t> </a:t>
            </a:r>
            <a:endParaRPr/>
          </a:p>
          <a:p>
            <a:pPr marL="685800" lvl="1" indent="-342900" algn="l" rtl="0">
              <a:spcBef>
                <a:spcPts val="600"/>
              </a:spcBef>
              <a:spcAft>
                <a:spcPts val="0"/>
              </a:spcAft>
              <a:buClr>
                <a:schemeClr val="dk1"/>
              </a:buClr>
              <a:buSzPts val="1700"/>
              <a:buChar char="–"/>
            </a:pPr>
            <a:r>
              <a:rPr lang="en-US"/>
              <a:t>Schedule, readings and handouts are posted there</a:t>
            </a:r>
            <a:endParaRPr sz="2000"/>
          </a:p>
          <a:p>
            <a:pPr marL="342900" lvl="0" indent="-342900" algn="l" rtl="0">
              <a:spcBef>
                <a:spcPts val="1100"/>
              </a:spcBef>
              <a:spcAft>
                <a:spcPts val="0"/>
              </a:spcAft>
              <a:buClr>
                <a:schemeClr val="dk1"/>
              </a:buClr>
              <a:buSzPts val="2000"/>
              <a:buChar char="•"/>
            </a:pPr>
            <a:r>
              <a:rPr lang="en-US"/>
              <a:t>Canvas: announcements, submissions, discussion</a:t>
            </a:r>
            <a:endParaRPr/>
          </a:p>
        </p:txBody>
      </p:sp>
      <p:sp>
        <p:nvSpPr>
          <p:cNvPr id="49" name="Google Shape;49;p9"/>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About me</a:t>
            </a:r>
            <a:endParaRPr/>
          </a:p>
        </p:txBody>
      </p:sp>
      <p:sp>
        <p:nvSpPr>
          <p:cNvPr id="56" name="Google Shape;56;p10"/>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dirty="0"/>
              <a:t>Professor, Computer Science and Engineering, UC Riverside</a:t>
            </a:r>
            <a:endParaRPr dirty="0"/>
          </a:p>
          <a:p>
            <a:pPr marL="342900" lvl="0" indent="-342900" algn="l" rtl="0">
              <a:spcBef>
                <a:spcPts val="1200"/>
              </a:spcBef>
              <a:spcAft>
                <a:spcPts val="0"/>
              </a:spcAft>
              <a:buClr>
                <a:schemeClr val="dk1"/>
              </a:buClr>
              <a:buSzPts val="2000"/>
              <a:buChar char="•"/>
            </a:pPr>
            <a:r>
              <a:rPr lang="en-US" dirty="0"/>
              <a:t>Security and Privacy Advanced Research Lab (SPA Lab)</a:t>
            </a:r>
            <a:endParaRPr dirty="0"/>
          </a:p>
          <a:p>
            <a:pPr marL="342900" lvl="0" indent="-342900" algn="l" rtl="0">
              <a:spcBef>
                <a:spcPts val="1200"/>
              </a:spcBef>
              <a:spcAft>
                <a:spcPts val="0"/>
              </a:spcAft>
              <a:buClr>
                <a:schemeClr val="dk1"/>
              </a:buClr>
              <a:buSzPts val="2000"/>
              <a:buChar char="•"/>
            </a:pPr>
            <a:r>
              <a:rPr lang="en-US" dirty="0"/>
              <a:t>Research on the security and privacy of computing systems</a:t>
            </a:r>
            <a:endParaRPr dirty="0"/>
          </a:p>
          <a:p>
            <a:pPr marL="342900" lvl="0" indent="-342900" algn="l" rtl="0">
              <a:spcBef>
                <a:spcPts val="1200"/>
              </a:spcBef>
              <a:spcAft>
                <a:spcPts val="0"/>
              </a:spcAft>
              <a:buClr>
                <a:schemeClr val="dk1"/>
              </a:buClr>
              <a:buSzPts val="2000"/>
              <a:buChar char="•"/>
            </a:pPr>
            <a:r>
              <a:rPr lang="en-US" i="1" dirty="0"/>
              <a:t>Fun facts about me?</a:t>
            </a:r>
            <a:endParaRPr dirty="0"/>
          </a:p>
        </p:txBody>
      </p:sp>
      <p:sp>
        <p:nvSpPr>
          <p:cNvPr id="57" name="Google Shape;57;p10"/>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4</a:t>
            </a:fld>
            <a:endParaRPr>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1"/>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Infamous bugs</a:t>
            </a:r>
            <a:endParaRPr/>
          </a:p>
        </p:txBody>
      </p:sp>
      <p:sp>
        <p:nvSpPr>
          <p:cNvPr id="64" name="Google Shape;64;p11"/>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lnSpcReduction="10000"/>
          </a:bodyPr>
          <a:lstStyle/>
          <a:p>
            <a:pPr marL="342900" lvl="0" indent="-342900" algn="l" rtl="0">
              <a:spcBef>
                <a:spcPts val="0"/>
              </a:spcBef>
              <a:spcAft>
                <a:spcPts val="0"/>
              </a:spcAft>
              <a:buClr>
                <a:schemeClr val="dk1"/>
              </a:buClr>
              <a:buSzPts val="2000"/>
              <a:buChar char="•"/>
            </a:pPr>
            <a:r>
              <a:rPr lang="en-US"/>
              <a:t>1988, the Morris worm</a:t>
            </a:r>
            <a:endParaRPr/>
          </a:p>
          <a:p>
            <a:pPr marL="685800" lvl="1" indent="-342900" algn="l" rtl="0">
              <a:spcBef>
                <a:spcPts val="600"/>
              </a:spcBef>
              <a:spcAft>
                <a:spcPts val="0"/>
              </a:spcAft>
              <a:buClr>
                <a:schemeClr val="dk1"/>
              </a:buClr>
              <a:buSzPts val="1700"/>
              <a:buChar char="–"/>
            </a:pPr>
            <a:r>
              <a:rPr lang="en-US"/>
              <a:t>Spread partly through a buffer overflow in fingerd. Took down an estimated 10 percent of the machines then on the internet.</a:t>
            </a:r>
            <a:endParaRPr sz="2000"/>
          </a:p>
          <a:p>
            <a:pPr marL="342900" lvl="0" indent="-342900" algn="l" rtl="0">
              <a:spcBef>
                <a:spcPts val="1100"/>
              </a:spcBef>
              <a:spcAft>
                <a:spcPts val="0"/>
              </a:spcAft>
              <a:buClr>
                <a:schemeClr val="dk1"/>
              </a:buClr>
              <a:buSzPts val="2000"/>
              <a:buChar char="•"/>
            </a:pPr>
            <a:r>
              <a:rPr lang="en-US"/>
              <a:t>2003, SQL Slammer</a:t>
            </a:r>
            <a:endParaRPr/>
          </a:p>
          <a:p>
            <a:pPr marL="685800" lvl="1" indent="-342900" algn="l" rtl="0">
              <a:spcBef>
                <a:spcPts val="600"/>
              </a:spcBef>
              <a:spcAft>
                <a:spcPts val="0"/>
              </a:spcAft>
              <a:buClr>
                <a:schemeClr val="dk1"/>
              </a:buClr>
              <a:buSzPts val="1700"/>
              <a:buChar char="–"/>
            </a:pPr>
            <a:r>
              <a:rPr lang="en-US"/>
              <a:t>A single UDP packet exploiting a buffer overflow. Roughly 75,000 hosts in ten minutes.</a:t>
            </a:r>
            <a:endParaRPr sz="2000"/>
          </a:p>
          <a:p>
            <a:pPr marL="342900" lvl="0" indent="-342900" algn="l" rtl="0">
              <a:spcBef>
                <a:spcPts val="1100"/>
              </a:spcBef>
              <a:spcAft>
                <a:spcPts val="0"/>
              </a:spcAft>
              <a:buClr>
                <a:schemeClr val="dk1"/>
              </a:buClr>
              <a:buSzPts val="2000"/>
              <a:buChar char="•"/>
            </a:pPr>
            <a:r>
              <a:rPr lang="en-US"/>
              <a:t>2017, WannaCry</a:t>
            </a:r>
            <a:endParaRPr/>
          </a:p>
          <a:p>
            <a:pPr marL="685800" lvl="1" indent="-342900" algn="l" rtl="0">
              <a:spcBef>
                <a:spcPts val="600"/>
              </a:spcBef>
              <a:spcAft>
                <a:spcPts val="0"/>
              </a:spcAft>
              <a:buClr>
                <a:schemeClr val="dk1"/>
              </a:buClr>
              <a:buSzPts val="1700"/>
              <a:buChar char="–"/>
            </a:pPr>
            <a:r>
              <a:rPr lang="en-US"/>
              <a:t>Spread via a flaw in Windows SMB. Over 200,000 machines across 150 countries.</a:t>
            </a:r>
            <a:endParaRPr sz="2000"/>
          </a:p>
          <a:p>
            <a:pPr marL="342900" lvl="0" indent="-342900" algn="l" rtl="0">
              <a:spcBef>
                <a:spcPts val="1100"/>
              </a:spcBef>
              <a:spcAft>
                <a:spcPts val="0"/>
              </a:spcAft>
              <a:buClr>
                <a:schemeClr val="dk1"/>
              </a:buClr>
              <a:buSzPts val="2000"/>
              <a:buChar char="•"/>
            </a:pPr>
            <a:r>
              <a:rPr lang="en-US" b="1"/>
              <a:t>Twenty-nine years apart. The same class of bug.</a:t>
            </a:r>
            <a:endParaRPr/>
          </a:p>
        </p:txBody>
      </p:sp>
      <p:sp>
        <p:nvSpPr>
          <p:cNvPr id="65" name="Google Shape;65;p11"/>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5</a:t>
            </a:fld>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2"/>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Mitigations?</a:t>
            </a:r>
            <a:endParaRPr/>
          </a:p>
        </p:txBody>
      </p:sp>
      <p:sp>
        <p:nvSpPr>
          <p:cNvPr id="72" name="Google Shape;72;p12"/>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If a network-facing program is going to be compromised, limit what that buys the attacker</a:t>
            </a:r>
            <a:endParaRPr/>
          </a:p>
          <a:p>
            <a:pPr marL="685800" lvl="1" indent="-342900" algn="l" rtl="0">
              <a:spcBef>
                <a:spcPts val="600"/>
              </a:spcBef>
              <a:spcAft>
                <a:spcPts val="0"/>
              </a:spcAft>
              <a:buClr>
                <a:schemeClr val="dk1"/>
              </a:buClr>
              <a:buSzPts val="1700"/>
              <a:buChar char="–"/>
            </a:pPr>
            <a:r>
              <a:rPr lang="en-US"/>
              <a:t>chroot, privilege separation, seccomp, containers, SELinux and AppArmor</a:t>
            </a:r>
            <a:endParaRPr sz="2000"/>
          </a:p>
          <a:p>
            <a:pPr marL="342900" lvl="0" indent="-342900" algn="l" rtl="0">
              <a:spcBef>
                <a:spcPts val="1100"/>
              </a:spcBef>
              <a:spcAft>
                <a:spcPts val="0"/>
              </a:spcAft>
              <a:buClr>
                <a:schemeClr val="dk1"/>
              </a:buClr>
              <a:buSzPts val="2000"/>
              <a:buChar char="•"/>
            </a:pPr>
            <a:r>
              <a:rPr lang="en-US"/>
              <a:t>This genuinely helps. A compromised daemon no longer means a compromised host.</a:t>
            </a:r>
            <a:endParaRPr/>
          </a:p>
          <a:p>
            <a:pPr marL="342900" lvl="0" indent="-342900" algn="l" rtl="0">
              <a:spcBef>
                <a:spcPts val="1200"/>
              </a:spcBef>
              <a:spcAft>
                <a:spcPts val="0"/>
              </a:spcAft>
              <a:buClr>
                <a:schemeClr val="dk1"/>
              </a:buClr>
              <a:buSzPts val="2000"/>
              <a:buChar char="•"/>
            </a:pPr>
            <a:r>
              <a:rPr lang="en-US" b="1"/>
              <a:t>But note what it does not do</a:t>
            </a:r>
            <a:endParaRPr/>
          </a:p>
          <a:p>
            <a:pPr marL="685800" lvl="1" indent="-342900" algn="l" rtl="0">
              <a:spcBef>
                <a:spcPts val="600"/>
              </a:spcBef>
              <a:spcAft>
                <a:spcPts val="0"/>
              </a:spcAft>
              <a:buClr>
                <a:schemeClr val="dk1"/>
              </a:buClr>
              <a:buSzPts val="1700"/>
              <a:buChar char="–"/>
            </a:pPr>
            <a:r>
              <a:rPr lang="en-US"/>
              <a:t>The bug is still there. Containment changes the blast radius, not the vulnerability.</a:t>
            </a:r>
            <a:endParaRPr sz="2000"/>
          </a:p>
        </p:txBody>
      </p:sp>
      <p:sp>
        <p:nvSpPr>
          <p:cNvPr id="73" name="Google Shape;73;p12"/>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6</a:t>
            </a:fld>
            <a:endParaRPr>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Software is still buggy…</a:t>
            </a:r>
            <a:endParaRPr/>
          </a:p>
        </p:txBody>
      </p:sp>
      <p:sp>
        <p:nvSpPr>
          <p:cNvPr id="80" name="Google Shape;80;p13"/>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Memory-safety errors remain a large share of severe vulnerabilities in C/C++ code</a:t>
            </a:r>
            <a:endParaRPr/>
          </a:p>
          <a:p>
            <a:pPr marL="685800" lvl="1" indent="-342900" algn="l" rtl="0">
              <a:spcBef>
                <a:spcPts val="600"/>
              </a:spcBef>
              <a:spcAft>
                <a:spcPts val="0"/>
              </a:spcAft>
              <a:buClr>
                <a:schemeClr val="dk1"/>
              </a:buClr>
              <a:buSzPts val="1700"/>
              <a:buChar char="–"/>
            </a:pPr>
            <a:r>
              <a:rPr lang="en-US"/>
              <a:t>Microsoft and Google have each reported that roughly 70 percent of their severe vulnerabilities are memory-safety issues</a:t>
            </a:r>
            <a:endParaRPr sz="2000"/>
          </a:p>
          <a:p>
            <a:pPr marL="342900" lvl="0" indent="-342900" algn="l" rtl="0">
              <a:spcBef>
                <a:spcPts val="1100"/>
              </a:spcBef>
              <a:spcAft>
                <a:spcPts val="0"/>
              </a:spcAft>
              <a:buClr>
                <a:schemeClr val="dk1"/>
              </a:buClr>
              <a:buSzPts val="2000"/>
              <a:buChar char="•"/>
            </a:pPr>
            <a:r>
              <a:rPr lang="en-US"/>
              <a:t>The bug classes have barely changed</a:t>
            </a:r>
            <a:endParaRPr/>
          </a:p>
          <a:p>
            <a:pPr marL="685800" lvl="1" indent="-342900" algn="l" rtl="0">
              <a:spcBef>
                <a:spcPts val="600"/>
              </a:spcBef>
              <a:spcAft>
                <a:spcPts val="0"/>
              </a:spcAft>
              <a:buClr>
                <a:schemeClr val="dk1"/>
              </a:buClr>
              <a:buSzPts val="1700"/>
              <a:buChar char="–"/>
            </a:pPr>
            <a:r>
              <a:rPr lang="en-US"/>
              <a:t>Out-of-bounds reads and writes (spatial)</a:t>
            </a:r>
            <a:endParaRPr sz="2000"/>
          </a:p>
          <a:p>
            <a:pPr marL="685800" lvl="1" indent="-342900" algn="l" rtl="0">
              <a:spcBef>
                <a:spcPts val="500"/>
              </a:spcBef>
              <a:spcAft>
                <a:spcPts val="0"/>
              </a:spcAft>
              <a:buClr>
                <a:schemeClr val="dk1"/>
              </a:buClr>
              <a:buSzPts val="1700"/>
              <a:buChar char="–"/>
            </a:pPr>
            <a:r>
              <a:rPr lang="en-US"/>
              <a:t>Use-after-free and double-free (temporal)</a:t>
            </a:r>
            <a:endParaRPr sz="2000"/>
          </a:p>
          <a:p>
            <a:pPr marL="685800" lvl="1" indent="-342900" algn="l" rtl="0">
              <a:spcBef>
                <a:spcPts val="500"/>
              </a:spcBef>
              <a:spcAft>
                <a:spcPts val="0"/>
              </a:spcAft>
              <a:buClr>
                <a:schemeClr val="dk1"/>
              </a:buClr>
              <a:buSzPts val="1700"/>
              <a:buChar char="–"/>
            </a:pPr>
            <a:r>
              <a:rPr lang="en-US"/>
              <a:t>Type confusion</a:t>
            </a:r>
            <a:endParaRPr sz="2000"/>
          </a:p>
          <a:p>
            <a:pPr marL="342900" lvl="0" indent="-342900" algn="l" rtl="0">
              <a:spcBef>
                <a:spcPts val="1100"/>
              </a:spcBef>
              <a:spcAft>
                <a:spcPts val="0"/>
              </a:spcAft>
              <a:buClr>
                <a:schemeClr val="dk1"/>
              </a:buClr>
              <a:buSzPts val="2000"/>
              <a:buChar char="•"/>
            </a:pPr>
            <a:r>
              <a:rPr lang="en-US" b="1"/>
              <a:t>You will find, exploit, and then fix every one of these yourself this term.</a:t>
            </a:r>
            <a:endParaRPr/>
          </a:p>
        </p:txBody>
      </p:sp>
      <p:sp>
        <p:nvSpPr>
          <p:cNvPr id="81" name="Google Shape;81;p13"/>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7</a:t>
            </a:fld>
            <a:endParaRPr>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4"/>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Mixing code and data</a:t>
            </a:r>
            <a:endParaRPr/>
          </a:p>
        </p:txBody>
      </p:sp>
      <p:sp>
        <p:nvSpPr>
          <p:cNvPr id="88" name="Google Shape;88;p14"/>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Programs routinely treat attacker-supplied data as if it were control information</a:t>
            </a:r>
            <a:endParaRPr/>
          </a:p>
          <a:p>
            <a:pPr marL="685800" lvl="1" indent="-342900" algn="l" rtl="0">
              <a:spcBef>
                <a:spcPts val="600"/>
              </a:spcBef>
              <a:spcAft>
                <a:spcPts val="0"/>
              </a:spcAft>
              <a:buClr>
                <a:schemeClr val="dk1"/>
              </a:buClr>
              <a:buSzPts val="1700"/>
              <a:buChar char="–"/>
            </a:pPr>
            <a:r>
              <a:rPr lang="en-US"/>
              <a:t>A saved return address is just bytes on the stack, until the CPU jumps to it</a:t>
            </a:r>
            <a:endParaRPr sz="2000"/>
          </a:p>
          <a:p>
            <a:pPr marL="685800" lvl="1" indent="-342900" algn="l" rtl="0">
              <a:spcBef>
                <a:spcPts val="500"/>
              </a:spcBef>
              <a:spcAft>
                <a:spcPts val="0"/>
              </a:spcAft>
              <a:buClr>
                <a:schemeClr val="dk1"/>
              </a:buClr>
              <a:buSzPts val="1700"/>
              <a:buChar char="–"/>
            </a:pPr>
            <a:r>
              <a:rPr lang="en-US"/>
              <a:t>A function pointer is just a word in a struct, until it is called</a:t>
            </a:r>
            <a:endParaRPr sz="2000"/>
          </a:p>
          <a:p>
            <a:pPr marL="685800" lvl="1" indent="-342900" algn="l" rtl="0">
              <a:spcBef>
                <a:spcPts val="500"/>
              </a:spcBef>
              <a:spcAft>
                <a:spcPts val="0"/>
              </a:spcAft>
              <a:buClr>
                <a:schemeClr val="dk1"/>
              </a:buClr>
              <a:buSzPts val="1700"/>
              <a:buChar char="–"/>
            </a:pPr>
            <a:r>
              <a:rPr lang="en-US"/>
              <a:t>A SQL query is just a string, until the database parses it</a:t>
            </a:r>
            <a:endParaRPr sz="2000"/>
          </a:p>
          <a:p>
            <a:pPr marL="342900" lvl="0" indent="-342900" algn="l" rtl="0">
              <a:spcBef>
                <a:spcPts val="1100"/>
              </a:spcBef>
              <a:spcAft>
                <a:spcPts val="0"/>
              </a:spcAft>
              <a:buClr>
                <a:schemeClr val="dk1"/>
              </a:buClr>
              <a:buSzPts val="2000"/>
              <a:buChar char="•"/>
            </a:pPr>
            <a:r>
              <a:rPr lang="en-US" b="1"/>
              <a:t>Most of the first half of this course is variations on that single idea.</a:t>
            </a:r>
            <a:endParaRPr/>
          </a:p>
        </p:txBody>
      </p:sp>
      <p:sp>
        <p:nvSpPr>
          <p:cNvPr id="89" name="Google Shape;89;p14"/>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8</a:t>
            </a:fld>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What you will learn to do</a:t>
            </a:r>
            <a:endParaRPr/>
          </a:p>
        </p:txBody>
      </p:sp>
      <p:sp>
        <p:nvSpPr>
          <p:cNvPr id="96" name="Google Shape;96;p15"/>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Carry out attacks that exploit real programs</a:t>
            </a:r>
            <a:endParaRPr/>
          </a:p>
          <a:p>
            <a:pPr marL="342900" lvl="0" indent="-342900" algn="l" rtl="0">
              <a:spcBef>
                <a:spcPts val="1200"/>
              </a:spcBef>
              <a:spcAft>
                <a:spcPts val="0"/>
              </a:spcAft>
              <a:buClr>
                <a:schemeClr val="dk1"/>
              </a:buClr>
              <a:buSzPts val="2000"/>
              <a:buChar char="•"/>
            </a:pPr>
            <a:r>
              <a:rPr lang="en-US"/>
              <a:t>Find vulnerabilities before an attacker does, with sanitizers, static analysis and fuzzing</a:t>
            </a:r>
            <a:endParaRPr/>
          </a:p>
          <a:p>
            <a:pPr marL="342900" lvl="0" indent="-342900" algn="l" rtl="0">
              <a:spcBef>
                <a:spcPts val="1200"/>
              </a:spcBef>
              <a:spcAft>
                <a:spcPts val="0"/>
              </a:spcAft>
              <a:buClr>
                <a:schemeClr val="dk1"/>
              </a:buClr>
              <a:buSzPts val="2000"/>
              <a:buChar char="•"/>
            </a:pPr>
            <a:r>
              <a:rPr lang="en-US"/>
              <a:t>Apply defenses, and understand exactly what each one does and does not stop</a:t>
            </a:r>
            <a:endParaRPr/>
          </a:p>
          <a:p>
            <a:pPr marL="342900" lvl="0" indent="-342900" algn="l" rtl="0">
              <a:spcBef>
                <a:spcPts val="1200"/>
              </a:spcBef>
              <a:spcAft>
                <a:spcPts val="0"/>
              </a:spcAft>
              <a:buClr>
                <a:schemeClr val="dk1"/>
              </a:buClr>
              <a:buSzPts val="2000"/>
              <a:buChar char="•"/>
            </a:pPr>
            <a:r>
              <a:rPr lang="en-US"/>
              <a:t>Read a system critically, the way an adversary would</a:t>
            </a:r>
            <a:endParaRPr/>
          </a:p>
          <a:p>
            <a:pPr marL="342900" lvl="0" indent="-342900" algn="l" rtl="0">
              <a:spcBef>
                <a:spcPts val="1200"/>
              </a:spcBef>
              <a:spcAft>
                <a:spcPts val="0"/>
              </a:spcAft>
              <a:buClr>
                <a:schemeClr val="dk1"/>
              </a:buClr>
              <a:buSzPts val="2000"/>
              <a:buChar char="•"/>
            </a:pPr>
            <a:r>
              <a:rPr lang="en-US" b="1"/>
              <a:t>Security is a dimension of every design decision, not a feature you add at the end.</a:t>
            </a:r>
            <a:endParaRPr/>
          </a:p>
        </p:txBody>
      </p:sp>
      <p:sp>
        <p:nvSpPr>
          <p:cNvPr id="97" name="Google Shape;97;p15"/>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9</a:t>
            </a:fld>
            <a:endParaRPr>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This is a hands-on course</a:t>
            </a:r>
            <a:endParaRPr/>
          </a:p>
        </p:txBody>
      </p:sp>
      <p:sp>
        <p:nvSpPr>
          <p:cNvPr id="104" name="Google Shape;104;p16"/>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Eight Thursday afternoons attacking and defending a real stuff</a:t>
            </a:r>
            <a:endParaRPr/>
          </a:p>
          <a:p>
            <a:pPr marL="342900" lvl="0" indent="-342900" algn="l" rtl="0">
              <a:spcBef>
                <a:spcPts val="1200"/>
              </a:spcBef>
              <a:spcAft>
                <a:spcPts val="0"/>
              </a:spcAft>
              <a:buClr>
                <a:schemeClr val="dk1"/>
              </a:buClr>
              <a:buSzPts val="2000"/>
              <a:buChar char="•"/>
            </a:pPr>
            <a:r>
              <a:rPr lang="en-US"/>
              <a:t>Not a theory course. Not a cryptography course.</a:t>
            </a:r>
            <a:endParaRPr/>
          </a:p>
          <a:p>
            <a:pPr marL="342900" lvl="0" indent="-342900" algn="l" rtl="0">
              <a:spcBef>
                <a:spcPts val="1200"/>
              </a:spcBef>
              <a:spcAft>
                <a:spcPts val="0"/>
              </a:spcAft>
              <a:buClr>
                <a:schemeClr val="dk1"/>
              </a:buClr>
              <a:buSzPts val="2000"/>
              <a:buChar char="•"/>
            </a:pPr>
            <a:r>
              <a:rPr lang="en-US"/>
              <a:t>Assumes you are comfortable with C, the stack, and a debugger</a:t>
            </a:r>
            <a:endParaRPr/>
          </a:p>
          <a:p>
            <a:pPr marL="685800" lvl="1" indent="-342900" algn="l" rtl="0">
              <a:spcBef>
                <a:spcPts val="600"/>
              </a:spcBef>
              <a:spcAft>
                <a:spcPts val="0"/>
              </a:spcAft>
              <a:buClr>
                <a:schemeClr val="dk1"/>
              </a:buClr>
              <a:buSzPts val="1700"/>
              <a:buChar char="–"/>
            </a:pPr>
            <a:r>
              <a:rPr lang="en-US"/>
              <a:t>If you are rusty, Lab 1 exists to fix that. Come anyway.</a:t>
            </a:r>
            <a:endParaRPr sz="2000"/>
          </a:p>
          <a:p>
            <a:pPr marL="342900" lvl="0" indent="-342900" algn="l" rtl="0">
              <a:spcBef>
                <a:spcPts val="1100"/>
              </a:spcBef>
              <a:spcAft>
                <a:spcPts val="0"/>
              </a:spcAft>
              <a:buClr>
                <a:schemeClr val="dk1"/>
              </a:buClr>
              <a:buSzPts val="2000"/>
              <a:buChar char="•"/>
            </a:pPr>
            <a:r>
              <a:rPr lang="en-US"/>
              <a:t>It is demanding. Lots of independent, constant work</a:t>
            </a:r>
            <a:endParaRPr/>
          </a:p>
        </p:txBody>
      </p:sp>
      <p:sp>
        <p:nvSpPr>
          <p:cNvPr id="105" name="Google Shape;105;p16"/>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10</a:t>
            </a:fld>
            <a:endParaRPr>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title"/>
          </p:nvPr>
        </p:nvSpPr>
        <p:spPr>
          <a:xfrm>
            <a:off x="548640" y="1965960"/>
            <a:ext cx="8046720" cy="82296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4000"/>
              <a:buFont typeface="Arial"/>
              <a:buNone/>
            </a:pPr>
            <a:r>
              <a:rPr lang="en-US"/>
              <a:t>Logistics</a:t>
            </a:r>
            <a:endParaRPr/>
          </a:p>
        </p:txBody>
      </p:sp>
      <p:sp>
        <p:nvSpPr>
          <p:cNvPr id="112" name="Google Shape;112;p17"/>
          <p:cNvSpPr txBox="1">
            <a:spLocks noGrp="1"/>
          </p:cNvSpPr>
          <p:nvPr>
            <p:ph type="body" idx="1"/>
          </p:nvPr>
        </p:nvSpPr>
        <p:spPr>
          <a:xfrm>
            <a:off x="548640" y="2761488"/>
            <a:ext cx="8046720" cy="4572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rgbClr val="8A8A8A"/>
              </a:buClr>
              <a:buSzPts val="1900"/>
              <a:buNone/>
            </a:pPr>
            <a:endParaRPr/>
          </a:p>
        </p:txBody>
      </p:sp>
      <p:sp>
        <p:nvSpPr>
          <p:cNvPr id="113" name="Google Shape;113;p17"/>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11</a:t>
            </a:fld>
            <a:endParaRPr>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Materials</a:t>
            </a:r>
            <a:endParaRPr/>
          </a:p>
        </p:txBody>
      </p:sp>
      <p:sp>
        <p:nvSpPr>
          <p:cNvPr id="120" name="Google Shape;120;p18"/>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Primary text: Tools and Jewels, Paul van Oorschot</a:t>
            </a:r>
            <a:endParaRPr/>
          </a:p>
          <a:p>
            <a:pPr marL="685800" lvl="1" indent="-342900" algn="l" rtl="0">
              <a:spcBef>
                <a:spcPts val="600"/>
              </a:spcBef>
              <a:spcAft>
                <a:spcPts val="0"/>
              </a:spcAft>
              <a:buClr>
                <a:schemeClr val="dk1"/>
              </a:buClr>
              <a:buSzPts val="1700"/>
              <a:buChar char="–"/>
            </a:pPr>
            <a:r>
              <a:rPr lang="en-US"/>
              <a:t>Free online. Chapter readings are listed with the schedule.</a:t>
            </a:r>
            <a:endParaRPr sz="2000"/>
          </a:p>
          <a:p>
            <a:pPr marL="342900" lvl="0" indent="-342900" algn="l" rtl="0">
              <a:spcBef>
                <a:spcPts val="1100"/>
              </a:spcBef>
              <a:spcAft>
                <a:spcPts val="0"/>
              </a:spcAft>
              <a:buClr>
                <a:schemeClr val="dk1"/>
              </a:buClr>
              <a:buSzPts val="2000"/>
              <a:buChar char="•"/>
            </a:pPr>
            <a:r>
              <a:rPr lang="en-US"/>
              <a:t>Optional: Hacking: The Art of Exploitation (2nd edition), Jon Erickson</a:t>
            </a:r>
            <a:endParaRPr/>
          </a:p>
          <a:p>
            <a:pPr marL="685800" lvl="1" indent="-342900" algn="l" rtl="0">
              <a:spcBef>
                <a:spcPts val="600"/>
              </a:spcBef>
              <a:spcAft>
                <a:spcPts val="0"/>
              </a:spcAft>
              <a:buClr>
                <a:schemeClr val="dk1"/>
              </a:buClr>
              <a:buSzPts val="1700"/>
              <a:buChar char="–"/>
            </a:pPr>
            <a:r>
              <a:rPr lang="en-US"/>
              <a:t>Useful if you want more depth on the attack mechanics.</a:t>
            </a:r>
            <a:endParaRPr sz="2000"/>
          </a:p>
          <a:p>
            <a:pPr marL="342900" lvl="0" indent="-342900" algn="l" rtl="0">
              <a:spcBef>
                <a:spcPts val="1100"/>
              </a:spcBef>
              <a:spcAft>
                <a:spcPts val="0"/>
              </a:spcAft>
              <a:buClr>
                <a:schemeClr val="dk1"/>
              </a:buClr>
              <a:buSzPts val="2000"/>
              <a:buChar char="•"/>
            </a:pPr>
            <a:r>
              <a:rPr lang="en-US"/>
              <a:t>Readings are posted per lecture on the course website</a:t>
            </a:r>
            <a:endParaRPr/>
          </a:p>
        </p:txBody>
      </p:sp>
      <p:sp>
        <p:nvSpPr>
          <p:cNvPr id="121" name="Google Shape;121;p1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12</a:t>
            </a:fld>
            <a:endParaRPr>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9"/>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Grading</a:t>
            </a:r>
            <a:endParaRPr/>
          </a:p>
        </p:txBody>
      </p:sp>
      <p:sp>
        <p:nvSpPr>
          <p:cNvPr id="128" name="Google Shape;128;p19"/>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13</a:t>
            </a:fld>
            <a:endParaRPr>
              <a:solidFill>
                <a:srgbClr val="000000"/>
              </a:solidFill>
            </a:endParaRPr>
          </a:p>
        </p:txBody>
      </p:sp>
      <p:sp>
        <p:nvSpPr>
          <p:cNvPr id="129" name="Google Shape;129;p19"/>
          <p:cNvSpPr txBox="1"/>
          <p:nvPr/>
        </p:nvSpPr>
        <p:spPr>
          <a:xfrm>
            <a:off x="548640" y="1417320"/>
            <a:ext cx="51206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600"/>
              <a:buFont typeface="Arial"/>
              <a:buNone/>
            </a:pPr>
            <a:r>
              <a:rPr lang="en-US" sz="2600">
                <a:solidFill>
                  <a:srgbClr val="000000"/>
                </a:solidFill>
                <a:latin typeface="Arial"/>
                <a:ea typeface="Arial"/>
                <a:cs typeface="Arial"/>
                <a:sym typeface="Arial"/>
              </a:rPr>
              <a:t>Labs</a:t>
            </a:r>
            <a:endParaRPr sz="2600">
              <a:solidFill>
                <a:schemeClr val="dk1"/>
              </a:solidFill>
              <a:latin typeface="Arial"/>
              <a:ea typeface="Arial"/>
              <a:cs typeface="Arial"/>
              <a:sym typeface="Arial"/>
            </a:endParaRPr>
          </a:p>
        </p:txBody>
      </p:sp>
      <p:sp>
        <p:nvSpPr>
          <p:cNvPr id="130" name="Google Shape;130;p19"/>
          <p:cNvSpPr txBox="1"/>
          <p:nvPr/>
        </p:nvSpPr>
        <p:spPr>
          <a:xfrm>
            <a:off x="5669280" y="1417320"/>
            <a:ext cx="1463040" cy="5029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00000"/>
              </a:buClr>
              <a:buSzPts val="2600"/>
              <a:buFont typeface="Arial"/>
              <a:buNone/>
            </a:pPr>
            <a:r>
              <a:rPr lang="en-US" sz="2600" b="1">
                <a:solidFill>
                  <a:srgbClr val="000000"/>
                </a:solidFill>
                <a:latin typeface="Arial"/>
                <a:ea typeface="Arial"/>
                <a:cs typeface="Arial"/>
                <a:sym typeface="Arial"/>
              </a:rPr>
              <a:t>25%</a:t>
            </a:r>
            <a:endParaRPr sz="2600">
              <a:solidFill>
                <a:schemeClr val="dk1"/>
              </a:solidFill>
              <a:latin typeface="Arial"/>
              <a:ea typeface="Arial"/>
              <a:cs typeface="Arial"/>
              <a:sym typeface="Arial"/>
            </a:endParaRPr>
          </a:p>
        </p:txBody>
      </p:sp>
      <p:sp>
        <p:nvSpPr>
          <p:cNvPr id="131" name="Google Shape;131;p19"/>
          <p:cNvSpPr txBox="1"/>
          <p:nvPr/>
        </p:nvSpPr>
        <p:spPr>
          <a:xfrm>
            <a:off x="548640" y="1984248"/>
            <a:ext cx="51206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600"/>
              <a:buFont typeface="Arial"/>
              <a:buNone/>
            </a:pPr>
            <a:r>
              <a:rPr lang="en-US" sz="2600">
                <a:solidFill>
                  <a:srgbClr val="000000"/>
                </a:solidFill>
                <a:latin typeface="Arial"/>
                <a:ea typeface="Arial"/>
                <a:cs typeface="Arial"/>
                <a:sym typeface="Arial"/>
              </a:rPr>
              <a:t>Quizzes (5, drop lowest 2)</a:t>
            </a:r>
            <a:endParaRPr sz="2600">
              <a:solidFill>
                <a:schemeClr val="dk1"/>
              </a:solidFill>
              <a:latin typeface="Arial"/>
              <a:ea typeface="Arial"/>
              <a:cs typeface="Arial"/>
              <a:sym typeface="Arial"/>
            </a:endParaRPr>
          </a:p>
        </p:txBody>
      </p:sp>
      <p:sp>
        <p:nvSpPr>
          <p:cNvPr id="132" name="Google Shape;132;p19"/>
          <p:cNvSpPr txBox="1"/>
          <p:nvPr/>
        </p:nvSpPr>
        <p:spPr>
          <a:xfrm>
            <a:off x="5669280" y="1984248"/>
            <a:ext cx="1463040" cy="5029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00000"/>
              </a:buClr>
              <a:buSzPts val="2600"/>
              <a:buFont typeface="Arial"/>
              <a:buNone/>
            </a:pPr>
            <a:r>
              <a:rPr lang="en-US" sz="2600" b="1">
                <a:solidFill>
                  <a:srgbClr val="000000"/>
                </a:solidFill>
                <a:latin typeface="Arial"/>
                <a:ea typeface="Arial"/>
                <a:cs typeface="Arial"/>
                <a:sym typeface="Arial"/>
              </a:rPr>
              <a:t>20%</a:t>
            </a:r>
            <a:endParaRPr sz="2600">
              <a:solidFill>
                <a:schemeClr val="dk1"/>
              </a:solidFill>
              <a:latin typeface="Arial"/>
              <a:ea typeface="Arial"/>
              <a:cs typeface="Arial"/>
              <a:sym typeface="Arial"/>
            </a:endParaRPr>
          </a:p>
        </p:txBody>
      </p:sp>
      <p:sp>
        <p:nvSpPr>
          <p:cNvPr id="133" name="Google Shape;133;p19"/>
          <p:cNvSpPr txBox="1"/>
          <p:nvPr/>
        </p:nvSpPr>
        <p:spPr>
          <a:xfrm>
            <a:off x="548640" y="2551176"/>
            <a:ext cx="51206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600"/>
              <a:buFont typeface="Arial"/>
              <a:buNone/>
            </a:pPr>
            <a:r>
              <a:rPr lang="en-US" sz="2600">
                <a:solidFill>
                  <a:srgbClr val="000000"/>
                </a:solidFill>
                <a:latin typeface="Arial"/>
                <a:ea typeface="Arial"/>
                <a:cs typeface="Arial"/>
                <a:sym typeface="Arial"/>
              </a:rPr>
              <a:t>Midterm</a:t>
            </a:r>
            <a:endParaRPr sz="2600">
              <a:solidFill>
                <a:schemeClr val="dk1"/>
              </a:solidFill>
              <a:latin typeface="Arial"/>
              <a:ea typeface="Arial"/>
              <a:cs typeface="Arial"/>
              <a:sym typeface="Arial"/>
            </a:endParaRPr>
          </a:p>
        </p:txBody>
      </p:sp>
      <p:sp>
        <p:nvSpPr>
          <p:cNvPr id="134" name="Google Shape;134;p19"/>
          <p:cNvSpPr txBox="1"/>
          <p:nvPr/>
        </p:nvSpPr>
        <p:spPr>
          <a:xfrm>
            <a:off x="5669280" y="2551176"/>
            <a:ext cx="1463040" cy="5029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00000"/>
              </a:buClr>
              <a:buSzPts val="2600"/>
              <a:buFont typeface="Arial"/>
              <a:buNone/>
            </a:pPr>
            <a:r>
              <a:rPr lang="en-US" sz="2600" b="1">
                <a:solidFill>
                  <a:srgbClr val="000000"/>
                </a:solidFill>
                <a:latin typeface="Arial"/>
                <a:ea typeface="Arial"/>
                <a:cs typeface="Arial"/>
                <a:sym typeface="Arial"/>
              </a:rPr>
              <a:t>25%</a:t>
            </a:r>
            <a:endParaRPr sz="2600">
              <a:solidFill>
                <a:schemeClr val="dk1"/>
              </a:solidFill>
              <a:latin typeface="Arial"/>
              <a:ea typeface="Arial"/>
              <a:cs typeface="Arial"/>
              <a:sym typeface="Arial"/>
            </a:endParaRPr>
          </a:p>
        </p:txBody>
      </p:sp>
      <p:sp>
        <p:nvSpPr>
          <p:cNvPr id="135" name="Google Shape;135;p19"/>
          <p:cNvSpPr txBox="1"/>
          <p:nvPr/>
        </p:nvSpPr>
        <p:spPr>
          <a:xfrm>
            <a:off x="548640" y="3118104"/>
            <a:ext cx="51206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600"/>
              <a:buFont typeface="Arial"/>
              <a:buNone/>
            </a:pPr>
            <a:r>
              <a:rPr lang="en-US" sz="2600">
                <a:solidFill>
                  <a:srgbClr val="000000"/>
                </a:solidFill>
                <a:latin typeface="Arial"/>
                <a:ea typeface="Arial"/>
                <a:cs typeface="Arial"/>
                <a:sym typeface="Arial"/>
              </a:rPr>
              <a:t>Final, comprehensive</a:t>
            </a:r>
            <a:endParaRPr sz="2600">
              <a:solidFill>
                <a:schemeClr val="dk1"/>
              </a:solidFill>
              <a:latin typeface="Arial"/>
              <a:ea typeface="Arial"/>
              <a:cs typeface="Arial"/>
              <a:sym typeface="Arial"/>
            </a:endParaRPr>
          </a:p>
        </p:txBody>
      </p:sp>
      <p:sp>
        <p:nvSpPr>
          <p:cNvPr id="136" name="Google Shape;136;p19"/>
          <p:cNvSpPr txBox="1"/>
          <p:nvPr/>
        </p:nvSpPr>
        <p:spPr>
          <a:xfrm>
            <a:off x="5669280" y="3118104"/>
            <a:ext cx="1463040" cy="5029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00000"/>
              </a:buClr>
              <a:buSzPts val="2600"/>
              <a:buFont typeface="Arial"/>
              <a:buNone/>
            </a:pPr>
            <a:r>
              <a:rPr lang="en-US" sz="2600" b="1">
                <a:solidFill>
                  <a:srgbClr val="000000"/>
                </a:solidFill>
                <a:latin typeface="Arial"/>
                <a:ea typeface="Arial"/>
                <a:cs typeface="Arial"/>
                <a:sym typeface="Arial"/>
              </a:rPr>
              <a:t>30%</a:t>
            </a:r>
            <a:endParaRPr sz="26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0"/>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The labs: 25 percent</a:t>
            </a:r>
            <a:endParaRPr/>
          </a:p>
        </p:txBody>
      </p:sp>
      <p:sp>
        <p:nvSpPr>
          <p:cNvPr id="143" name="Google Shape;143;p20"/>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Lab/discussion sessions, Thursdays, UTLF 215</a:t>
            </a:r>
            <a:endParaRPr/>
          </a:p>
          <a:p>
            <a:pPr marL="342900" lvl="0" indent="-342900" algn="l" rtl="0">
              <a:spcBef>
                <a:spcPts val="1200"/>
              </a:spcBef>
              <a:spcAft>
                <a:spcPts val="0"/>
              </a:spcAft>
              <a:buClr>
                <a:schemeClr val="dk1"/>
              </a:buClr>
              <a:buSzPts val="2000"/>
              <a:buChar char="•"/>
            </a:pPr>
            <a:r>
              <a:rPr lang="en-US"/>
              <a:t>One instructor-provided vulnerable C program runs through the whole sequence</a:t>
            </a:r>
            <a:endParaRPr/>
          </a:p>
          <a:p>
            <a:pPr marL="685800" lvl="1" indent="-342900" algn="l" rtl="0">
              <a:spcBef>
                <a:spcPts val="600"/>
              </a:spcBef>
              <a:spcAft>
                <a:spcPts val="0"/>
              </a:spcAft>
              <a:buClr>
                <a:schemeClr val="dk1"/>
              </a:buClr>
              <a:buSzPts val="1700"/>
              <a:buChar char="–"/>
            </a:pPr>
            <a:r>
              <a:rPr lang="en-US"/>
              <a:t>You never write the buggy code. You attack it, measure it, then harden it.</a:t>
            </a:r>
            <a:endParaRPr sz="2000"/>
          </a:p>
          <a:p>
            <a:pPr marL="342900" lvl="0" indent="-342900" algn="l" rtl="0">
              <a:spcBef>
                <a:spcPts val="1100"/>
              </a:spcBef>
              <a:spcAft>
                <a:spcPts val="0"/>
              </a:spcAft>
              <a:buClr>
                <a:schemeClr val="dk1"/>
              </a:buClr>
              <a:buSzPts val="2000"/>
              <a:buChar char="•"/>
            </a:pPr>
            <a:r>
              <a:rPr lang="en-US"/>
              <a:t>Every student gets their own seeded build</a:t>
            </a:r>
            <a:endParaRPr/>
          </a:p>
          <a:p>
            <a:pPr marL="685800" lvl="1" indent="-342900" algn="l" rtl="0">
              <a:spcBef>
                <a:spcPts val="600"/>
              </a:spcBef>
              <a:spcAft>
                <a:spcPts val="0"/>
              </a:spcAft>
              <a:buClr>
                <a:schemeClr val="dk1"/>
              </a:buClr>
              <a:buSzPts val="1700"/>
              <a:buChar char="–"/>
            </a:pPr>
            <a:r>
              <a:rPr lang="en-US"/>
              <a:t>Different secret, different buffer size, different target, per person.</a:t>
            </a:r>
            <a:endParaRPr sz="2000"/>
          </a:p>
          <a:p>
            <a:pPr marL="342900" lvl="0" indent="-342900" algn="l" rtl="0">
              <a:spcBef>
                <a:spcPts val="1100"/>
              </a:spcBef>
              <a:spcAft>
                <a:spcPts val="0"/>
              </a:spcAft>
              <a:buClr>
                <a:schemeClr val="dk1"/>
              </a:buClr>
              <a:buSzPts val="2000"/>
              <a:buChar char="•"/>
            </a:pPr>
            <a:r>
              <a:rPr lang="en-US" b="1"/>
              <a:t>Individual work</a:t>
            </a:r>
            <a:endParaRPr/>
          </a:p>
          <a:p>
            <a:pPr marL="685800" lvl="1" indent="-342900" algn="l" rtl="0">
              <a:spcBef>
                <a:spcPts val="600"/>
              </a:spcBef>
              <a:spcAft>
                <a:spcPts val="0"/>
              </a:spcAft>
              <a:buClr>
                <a:schemeClr val="dk1"/>
              </a:buClr>
              <a:buSzPts val="1700"/>
              <a:buChar char="–"/>
            </a:pPr>
            <a:r>
              <a:rPr lang="en-US"/>
              <a:t>An exploit that works against someone else's seed did not come from you.</a:t>
            </a:r>
            <a:endParaRPr sz="2000"/>
          </a:p>
        </p:txBody>
      </p:sp>
      <p:sp>
        <p:nvSpPr>
          <p:cNvPr id="144" name="Google Shape;144;p20"/>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14</a:t>
            </a:fld>
            <a:endParaRPr>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1"/>
          <p:cNvSpPr txBox="1">
            <a:spLocks noGrp="1"/>
          </p:cNvSpPr>
          <p:nvPr>
            <p:ph type="title"/>
          </p:nvPr>
        </p:nvSpPr>
        <p:spPr>
          <a:xfrm>
            <a:off x="548640" y="384048"/>
            <a:ext cx="8046600" cy="685800"/>
          </a:xfrm>
          <a:prstGeom prst="rect">
            <a:avLst/>
          </a:prstGeom>
          <a:noFill/>
          <a:ln>
            <a:noFill/>
          </a:ln>
        </p:spPr>
        <p:txBody>
          <a:bodyPr spcFirstLastPara="1" wrap="square" lIns="0" tIns="0" rIns="0" bIns="0" anchor="ctr" anchorCtr="0">
            <a:normAutofit/>
          </a:bodyPr>
          <a:lstStyle/>
          <a:p>
            <a:pPr marL="0" lvl="0" indent="0" algn="l" rtl="0">
              <a:spcBef>
                <a:spcPts val="0"/>
              </a:spcBef>
              <a:spcAft>
                <a:spcPts val="0"/>
              </a:spcAft>
              <a:buClr>
                <a:schemeClr val="dk1"/>
              </a:buClr>
              <a:buSzPts val="3000"/>
              <a:buFont typeface="Arial"/>
              <a:buNone/>
            </a:pPr>
            <a:r>
              <a:rPr lang="en-US"/>
              <a:t>The labs: Schedule</a:t>
            </a:r>
            <a:endParaRPr/>
          </a:p>
        </p:txBody>
      </p:sp>
      <p:sp>
        <p:nvSpPr>
          <p:cNvPr id="151" name="Google Shape;151;p21"/>
          <p:cNvSpPr txBox="1">
            <a:spLocks noGrp="1"/>
          </p:cNvSpPr>
          <p:nvPr>
            <p:ph type="sldNum" idx="12"/>
          </p:nvPr>
        </p:nvSpPr>
        <p:spPr>
          <a:xfrm>
            <a:off x="8229600" y="4690872"/>
            <a:ext cx="548700" cy="274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15</a:t>
            </a:fld>
            <a:endParaRPr>
              <a:solidFill>
                <a:srgbClr val="000000"/>
              </a:solidFill>
            </a:endParaRPr>
          </a:p>
        </p:txBody>
      </p:sp>
      <p:graphicFrame>
        <p:nvGraphicFramePr>
          <p:cNvPr id="152" name="Google Shape;152;p21"/>
          <p:cNvGraphicFramePr/>
          <p:nvPr/>
        </p:nvGraphicFramePr>
        <p:xfrm>
          <a:off x="693650" y="1170675"/>
          <a:ext cx="3000000" cy="3000000"/>
        </p:xfrm>
        <a:graphic>
          <a:graphicData uri="http://schemas.openxmlformats.org/drawingml/2006/table">
            <a:tbl>
              <a:tblPr>
                <a:noFill/>
                <a:tableStyleId>{9096F481-76FE-430A-8033-0D9017D95D37}</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US" b="1"/>
                        <a:t>Week</a:t>
                      </a:r>
                      <a:endParaRPr b="1"/>
                    </a:p>
                  </a:txBody>
                  <a:tcPr marL="91425" marR="91425" marT="91425" marB="91425"/>
                </a:tc>
                <a:tc>
                  <a:txBody>
                    <a:bodyPr/>
                    <a:lstStyle/>
                    <a:p>
                      <a:pPr marL="0" lvl="0" indent="0" algn="l" rtl="0">
                        <a:spcBef>
                          <a:spcPts val="0"/>
                        </a:spcBef>
                        <a:spcAft>
                          <a:spcPts val="0"/>
                        </a:spcAft>
                        <a:buNone/>
                      </a:pPr>
                      <a:r>
                        <a:rPr lang="en-US" b="1"/>
                        <a:t>Lab Type</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a:t>Week 1: Oct 1</a:t>
                      </a:r>
                      <a:endParaRPr/>
                    </a:p>
                  </a:txBody>
                  <a:tcPr marL="91425" marR="91425" marT="91425" marB="91425"/>
                </a:tc>
                <a:tc>
                  <a:txBody>
                    <a:bodyPr/>
                    <a:lstStyle/>
                    <a:p>
                      <a:pPr marL="0" lvl="0" indent="0" algn="l" rtl="0">
                        <a:spcBef>
                          <a:spcPts val="0"/>
                        </a:spcBef>
                        <a:spcAft>
                          <a:spcPts val="0"/>
                        </a:spcAft>
                        <a:buNone/>
                      </a:pPr>
                      <a:r>
                        <a:rPr lang="en-US"/>
                        <a:t>Ungraded Lab 1</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a:t>Week 2: Oct 8</a:t>
                      </a:r>
                      <a:endParaRPr/>
                    </a:p>
                  </a:txBody>
                  <a:tcPr marL="91425" marR="91425" marT="91425" marB="91425"/>
                </a:tc>
                <a:tc>
                  <a:txBody>
                    <a:bodyPr/>
                    <a:lstStyle/>
                    <a:p>
                      <a:pPr marL="0" lvl="0" indent="0" algn="l" rtl="0">
                        <a:spcBef>
                          <a:spcPts val="0"/>
                        </a:spcBef>
                        <a:spcAft>
                          <a:spcPts val="0"/>
                        </a:spcAft>
                        <a:buNone/>
                      </a:pPr>
                      <a:r>
                        <a:rPr lang="en-US"/>
                        <a:t>Graded Lab 1</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a:t>Week 3: Oct 15</a:t>
                      </a:r>
                      <a:endParaRPr/>
                    </a:p>
                  </a:txBody>
                  <a:tcPr marL="91425" marR="91425" marT="91425" marB="91425"/>
                </a:tc>
                <a:tc>
                  <a:txBody>
                    <a:bodyPr/>
                    <a:lstStyle/>
                    <a:p>
                      <a:pPr marL="0" lvl="0" indent="0" algn="l" rtl="0">
                        <a:spcBef>
                          <a:spcPts val="0"/>
                        </a:spcBef>
                        <a:spcAft>
                          <a:spcPts val="0"/>
                        </a:spcAft>
                        <a:buNone/>
                      </a:pPr>
                      <a:r>
                        <a:rPr lang="en-US"/>
                        <a:t>Ungraded Lab 2</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a:t>Week 4: Oct 22</a:t>
                      </a:r>
                      <a:endParaRPr/>
                    </a:p>
                  </a:txBody>
                  <a:tcPr marL="91425" marR="91425" marT="91425" marB="91425"/>
                </a:tc>
                <a:tc>
                  <a:txBody>
                    <a:bodyPr/>
                    <a:lstStyle/>
                    <a:p>
                      <a:pPr marL="0" lvl="0" indent="0" algn="l" rtl="0">
                        <a:spcBef>
                          <a:spcPts val="0"/>
                        </a:spcBef>
                        <a:spcAft>
                          <a:spcPts val="0"/>
                        </a:spcAft>
                        <a:buNone/>
                      </a:pPr>
                      <a:r>
                        <a:rPr lang="en-US"/>
                        <a:t>Graded Lab 2</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a:t>Week 5: Oct 29</a:t>
                      </a:r>
                      <a:endParaRPr/>
                    </a:p>
                  </a:txBody>
                  <a:tcPr marL="91425" marR="91425" marT="91425" marB="91425"/>
                </a:tc>
                <a:tc>
                  <a:txBody>
                    <a:bodyPr/>
                    <a:lstStyle/>
                    <a:p>
                      <a:pPr marL="0" lvl="0" indent="0" algn="l" rtl="0">
                        <a:spcBef>
                          <a:spcPts val="0"/>
                        </a:spcBef>
                        <a:spcAft>
                          <a:spcPts val="0"/>
                        </a:spcAft>
                        <a:buNone/>
                      </a:pPr>
                      <a:r>
                        <a:rPr lang="en-US"/>
                        <a:t>Ungraded Lab 3</a:t>
                      </a: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US"/>
                        <a:t>Week 7: Nov 12</a:t>
                      </a:r>
                      <a:endParaRPr/>
                    </a:p>
                  </a:txBody>
                  <a:tcPr marL="91425" marR="91425" marT="91425" marB="91425"/>
                </a:tc>
                <a:tc>
                  <a:txBody>
                    <a:bodyPr/>
                    <a:lstStyle/>
                    <a:p>
                      <a:pPr marL="0" lvl="0" indent="0" algn="l" rtl="0">
                        <a:spcBef>
                          <a:spcPts val="0"/>
                        </a:spcBef>
                        <a:spcAft>
                          <a:spcPts val="0"/>
                        </a:spcAft>
                        <a:buNone/>
                      </a:pPr>
                      <a:r>
                        <a:rPr lang="en-US"/>
                        <a:t>Graded Lab 3</a:t>
                      </a:r>
                      <a:endParaRPr/>
                    </a:p>
                  </a:txBody>
                  <a:tcPr marL="91425" marR="91425" marT="91425" marB="91425"/>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US"/>
                        <a:t>Week 8: Nov 19</a:t>
                      </a:r>
                      <a:endParaRPr/>
                    </a:p>
                  </a:txBody>
                  <a:tcPr marL="91425" marR="91425" marT="91425" marB="91425"/>
                </a:tc>
                <a:tc>
                  <a:txBody>
                    <a:bodyPr/>
                    <a:lstStyle/>
                    <a:p>
                      <a:pPr marL="0" lvl="0" indent="0" algn="l" rtl="0">
                        <a:spcBef>
                          <a:spcPts val="0"/>
                        </a:spcBef>
                        <a:spcAft>
                          <a:spcPts val="0"/>
                        </a:spcAft>
                        <a:buNone/>
                      </a:pPr>
                      <a:r>
                        <a:rPr lang="en-US"/>
                        <a:t>Ungraded Lab 4</a:t>
                      </a:r>
                      <a:endParaRPr/>
                    </a:p>
                  </a:txBody>
                  <a:tcPr marL="91425" marR="91425" marT="91425" marB="91425"/>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r>
                        <a:rPr lang="en-US"/>
                        <a:t>Week 10: Dec 3</a:t>
                      </a:r>
                      <a:endParaRPr/>
                    </a:p>
                  </a:txBody>
                  <a:tcPr marL="91425" marR="91425" marT="91425" marB="91425"/>
                </a:tc>
                <a:tc>
                  <a:txBody>
                    <a:bodyPr/>
                    <a:lstStyle/>
                    <a:p>
                      <a:pPr marL="0" lvl="0" indent="0" algn="l" rtl="0">
                        <a:spcBef>
                          <a:spcPts val="0"/>
                        </a:spcBef>
                        <a:spcAft>
                          <a:spcPts val="0"/>
                        </a:spcAft>
                        <a:buNone/>
                      </a:pPr>
                      <a:r>
                        <a:rPr lang="en-US"/>
                        <a:t>Graded Lab 4</a:t>
                      </a:r>
                      <a:endParaRPr/>
                    </a:p>
                  </a:txBody>
                  <a:tcPr marL="91425" marR="91425" marT="91425" marB="91425"/>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2"/>
          <p:cNvSpPr txBox="1">
            <a:spLocks noGrp="1"/>
          </p:cNvSpPr>
          <p:nvPr>
            <p:ph type="title"/>
          </p:nvPr>
        </p:nvSpPr>
        <p:spPr>
          <a:xfrm>
            <a:off x="548640" y="384048"/>
            <a:ext cx="804660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Ungraded Labs</a:t>
            </a:r>
            <a:endParaRPr/>
          </a:p>
        </p:txBody>
      </p:sp>
      <p:sp>
        <p:nvSpPr>
          <p:cNvPr id="159" name="Google Shape;159;p22"/>
          <p:cNvSpPr txBox="1">
            <a:spLocks noGrp="1"/>
          </p:cNvSpPr>
          <p:nvPr>
            <p:ph type="body" idx="1"/>
          </p:nvPr>
        </p:nvSpPr>
        <p:spPr>
          <a:xfrm>
            <a:off x="548640" y="1298448"/>
            <a:ext cx="8046600" cy="33834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800" b="1"/>
              <a:t>Ungraded labs are short, guided practice sessions</a:t>
            </a:r>
            <a:endParaRPr sz="1800" b="1"/>
          </a:p>
          <a:p>
            <a:pPr marL="457200" lvl="0" indent="-342900" algn="l" rtl="0">
              <a:lnSpc>
                <a:spcPct val="115000"/>
              </a:lnSpc>
              <a:spcBef>
                <a:spcPts val="1200"/>
              </a:spcBef>
              <a:spcAft>
                <a:spcPts val="0"/>
              </a:spcAft>
              <a:buSzPts val="1800"/>
              <a:buChar char="●"/>
            </a:pPr>
            <a:r>
              <a:rPr lang="en-US" sz="1800"/>
              <a:t>Small, focused exercises that prepare you for the next graded lab.</a:t>
            </a:r>
            <a:endParaRPr sz="1800"/>
          </a:p>
          <a:p>
            <a:pPr marL="457200" lvl="0" indent="-342900" algn="l" rtl="0">
              <a:lnSpc>
                <a:spcPct val="115000"/>
              </a:lnSpc>
              <a:spcBef>
                <a:spcPts val="0"/>
              </a:spcBef>
              <a:spcAft>
                <a:spcPts val="0"/>
              </a:spcAft>
              <a:buSzPts val="1800"/>
              <a:buChar char="●"/>
            </a:pPr>
            <a:r>
              <a:rPr lang="en-US" sz="1800"/>
              <a:t>Work through the problems during the scheduled lab session.</a:t>
            </a:r>
            <a:endParaRPr sz="1800"/>
          </a:p>
          <a:p>
            <a:pPr marL="457200" lvl="0" indent="-342900" algn="l" rtl="0">
              <a:lnSpc>
                <a:spcPct val="115000"/>
              </a:lnSpc>
              <a:spcBef>
                <a:spcPts val="0"/>
              </a:spcBef>
              <a:spcAft>
                <a:spcPts val="0"/>
              </a:spcAft>
              <a:buSzPts val="1800"/>
              <a:buChar char="●"/>
            </a:pPr>
            <a:r>
              <a:rPr lang="en-US" sz="1800"/>
              <a:t>There is no required submission and no direct grade.</a:t>
            </a:r>
            <a:endParaRPr sz="1800"/>
          </a:p>
          <a:p>
            <a:pPr marL="0" lvl="0" indent="0" algn="l" rtl="0">
              <a:lnSpc>
                <a:spcPct val="115000"/>
              </a:lnSpc>
              <a:spcBef>
                <a:spcPts val="1200"/>
              </a:spcBef>
              <a:spcAft>
                <a:spcPts val="0"/>
              </a:spcAft>
              <a:buNone/>
            </a:pPr>
            <a:r>
              <a:rPr lang="en-US" sz="1800" b="1"/>
              <a:t>Optional Demo Readiness Bonus</a:t>
            </a:r>
            <a:endParaRPr sz="1800" b="1"/>
          </a:p>
          <a:p>
            <a:pPr marL="457200" lvl="0" indent="-342900" algn="l" rtl="0">
              <a:lnSpc>
                <a:spcPct val="115000"/>
              </a:lnSpc>
              <a:spcBef>
                <a:spcPts val="1200"/>
              </a:spcBef>
              <a:spcAft>
                <a:spcPts val="0"/>
              </a:spcAft>
              <a:buSzPts val="1800"/>
              <a:buChar char="●"/>
            </a:pPr>
            <a:r>
              <a:rPr lang="en-US" sz="1800"/>
              <a:t>Complete the practice exercise and check off your solution with a TA during the ungraded lab.</a:t>
            </a:r>
            <a:endParaRPr sz="1800"/>
          </a:p>
          <a:p>
            <a:pPr marL="457200" lvl="0" indent="-342900" algn="l" rtl="0">
              <a:lnSpc>
                <a:spcPct val="115000"/>
              </a:lnSpc>
              <a:spcBef>
                <a:spcPts val="0"/>
              </a:spcBef>
              <a:spcAft>
                <a:spcPts val="0"/>
              </a:spcAft>
              <a:buSzPts val="1800"/>
              <a:buChar char="●"/>
            </a:pPr>
            <a:r>
              <a:rPr lang="en-US" sz="1800"/>
              <a:t>Earn a </a:t>
            </a:r>
            <a:r>
              <a:rPr lang="en-US" sz="1800" b="1"/>
              <a:t>10% bonus multiplier</a:t>
            </a:r>
            <a:r>
              <a:rPr lang="en-US" sz="1800"/>
              <a:t> on the next graded lab’s in-lab demo score.</a:t>
            </a:r>
            <a:endParaRPr sz="1800"/>
          </a:p>
          <a:p>
            <a:pPr marL="457200" lvl="0" indent="-342900" algn="l" rtl="0">
              <a:lnSpc>
                <a:spcPct val="115000"/>
              </a:lnSpc>
              <a:spcBef>
                <a:spcPts val="0"/>
              </a:spcBef>
              <a:spcAft>
                <a:spcPts val="0"/>
              </a:spcAft>
              <a:buSzPts val="1800"/>
              <a:buChar char="●"/>
            </a:pPr>
            <a:r>
              <a:rPr lang="en-US" sz="1800"/>
              <a:t>The bonus is capped at a 100% demo score.</a:t>
            </a:r>
            <a:endParaRPr sz="1800"/>
          </a:p>
          <a:p>
            <a:pPr marL="0" lvl="0" indent="0" algn="l" rtl="0">
              <a:lnSpc>
                <a:spcPct val="115000"/>
              </a:lnSpc>
              <a:spcBef>
                <a:spcPts val="1200"/>
              </a:spcBef>
              <a:spcAft>
                <a:spcPts val="0"/>
              </a:spcAft>
              <a:buNone/>
            </a:pPr>
            <a:endParaRPr sz="1800"/>
          </a:p>
          <a:p>
            <a:pPr marL="0" lvl="0" indent="0" algn="l" rtl="0">
              <a:spcBef>
                <a:spcPts val="1200"/>
              </a:spcBef>
              <a:spcAft>
                <a:spcPts val="0"/>
              </a:spcAft>
              <a:buNone/>
            </a:pPr>
            <a:endParaRPr sz="1800"/>
          </a:p>
        </p:txBody>
      </p:sp>
      <p:sp>
        <p:nvSpPr>
          <p:cNvPr id="160" name="Google Shape;160;p22"/>
          <p:cNvSpPr txBox="1">
            <a:spLocks noGrp="1"/>
          </p:cNvSpPr>
          <p:nvPr>
            <p:ph type="sldNum" idx="12"/>
          </p:nvPr>
        </p:nvSpPr>
        <p:spPr>
          <a:xfrm>
            <a:off x="8229600" y="4690872"/>
            <a:ext cx="548700" cy="274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16</a:t>
            </a:fld>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3"/>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Graded Labs</a:t>
            </a:r>
            <a:endParaRPr/>
          </a:p>
        </p:txBody>
      </p:sp>
      <p:sp>
        <p:nvSpPr>
          <p:cNvPr id="167" name="Google Shape;167;p23"/>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fontScale="92500"/>
          </a:bodyPr>
          <a:lstStyle/>
          <a:p>
            <a:pPr marL="342900" lvl="0" indent="-342900" algn="l" rtl="0">
              <a:spcBef>
                <a:spcPts val="0"/>
              </a:spcBef>
              <a:spcAft>
                <a:spcPts val="0"/>
              </a:spcAft>
              <a:buClr>
                <a:schemeClr val="dk1"/>
              </a:buClr>
              <a:buSzPts val="2000"/>
              <a:buChar char="•"/>
            </a:pPr>
            <a:r>
              <a:rPr lang="en-US" b="1"/>
              <a:t>60 percent: the in-lab demo</a:t>
            </a:r>
            <a:endParaRPr/>
          </a:p>
          <a:p>
            <a:pPr marL="685800" lvl="1" indent="-342900" algn="l" rtl="0">
              <a:spcBef>
                <a:spcPts val="600"/>
              </a:spcBef>
              <a:spcAft>
                <a:spcPts val="0"/>
              </a:spcAft>
              <a:buClr>
                <a:schemeClr val="dk1"/>
              </a:buClr>
              <a:buSzPts val="1700"/>
              <a:buChar char="–"/>
            </a:pPr>
            <a:r>
              <a:rPr lang="en-US"/>
              <a:t>You show the TA your working exploit, crash or patch during the session.</a:t>
            </a:r>
            <a:endParaRPr sz="2000"/>
          </a:p>
          <a:p>
            <a:pPr marL="685800" lvl="1" indent="-342900" algn="l" rtl="0">
              <a:spcBef>
                <a:spcPts val="500"/>
              </a:spcBef>
              <a:spcAft>
                <a:spcPts val="0"/>
              </a:spcAft>
              <a:buClr>
                <a:schemeClr val="dk1"/>
              </a:buClr>
              <a:buSzPts val="1700"/>
              <a:buChar char="–"/>
            </a:pPr>
            <a:r>
              <a:rPr lang="en-US"/>
              <a:t>This is where 'it actually runs' gets verified.</a:t>
            </a:r>
            <a:endParaRPr sz="2000"/>
          </a:p>
          <a:p>
            <a:pPr marL="342900" lvl="0" indent="-342900" algn="l" rtl="0">
              <a:spcBef>
                <a:spcPts val="1100"/>
              </a:spcBef>
              <a:spcAft>
                <a:spcPts val="0"/>
              </a:spcAft>
              <a:buClr>
                <a:schemeClr val="dk1"/>
              </a:buClr>
              <a:buSzPts val="2000"/>
              <a:buChar char="•"/>
            </a:pPr>
            <a:r>
              <a:rPr lang="en-US" b="1"/>
              <a:t>40 percent: the submission itself </a:t>
            </a:r>
            <a:endParaRPr b="1"/>
          </a:p>
          <a:p>
            <a:pPr marL="685800" lvl="1" indent="-342900" algn="l" rtl="0">
              <a:spcBef>
                <a:spcPts val="1100"/>
              </a:spcBef>
              <a:spcAft>
                <a:spcPts val="0"/>
              </a:spcAft>
              <a:buSzPts val="1800"/>
              <a:buChar char="–"/>
            </a:pPr>
            <a:r>
              <a:rPr lang="en-US"/>
              <a:t>Submission includes (may vary for each assignment): patched file, identified bugs and a one page writeup</a:t>
            </a:r>
            <a:endParaRPr/>
          </a:p>
          <a:p>
            <a:pPr marL="685800" lvl="1" indent="-342900" algn="l" rtl="0">
              <a:spcBef>
                <a:spcPts val="600"/>
              </a:spcBef>
              <a:spcAft>
                <a:spcPts val="0"/>
              </a:spcAft>
              <a:buClr>
                <a:schemeClr val="dk1"/>
              </a:buClr>
              <a:buSzPts val="1700"/>
              <a:buChar char="–"/>
            </a:pPr>
            <a:r>
              <a:rPr lang="en-US"/>
              <a:t>Due the following Sunday at 11:59pm. What the flaw was, how your payload or patch works, and your evidence.</a:t>
            </a:r>
            <a:endParaRPr sz="2000"/>
          </a:p>
          <a:p>
            <a:pPr marL="342900" lvl="0" indent="-342900" algn="l" rtl="0">
              <a:spcBef>
                <a:spcPts val="1100"/>
              </a:spcBef>
              <a:spcAft>
                <a:spcPts val="0"/>
              </a:spcAft>
              <a:buClr>
                <a:schemeClr val="dk1"/>
              </a:buClr>
              <a:buSzPts val="2000"/>
              <a:buChar char="•"/>
            </a:pPr>
            <a:r>
              <a:rPr lang="en-US"/>
              <a:t>Your lowest writeup is dropped.</a:t>
            </a:r>
            <a:endParaRPr/>
          </a:p>
          <a:p>
            <a:pPr marL="342900" lvl="0" indent="-342900" algn="l" rtl="0">
              <a:spcBef>
                <a:spcPts val="1200"/>
              </a:spcBef>
              <a:spcAft>
                <a:spcPts val="0"/>
              </a:spcAft>
              <a:buClr>
                <a:schemeClr val="dk1"/>
              </a:buClr>
              <a:buSzPts val="2000"/>
              <a:buChar char="•"/>
            </a:pPr>
            <a:r>
              <a:rPr lang="en-US" b="1"/>
              <a:t>Demos cannot be made up. If you are not there, there is no demo credit.</a:t>
            </a:r>
            <a:endParaRPr/>
          </a:p>
        </p:txBody>
      </p:sp>
      <p:sp>
        <p:nvSpPr>
          <p:cNvPr id="168" name="Google Shape;168;p23"/>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17</a:t>
            </a:fld>
            <a:endParaRPr>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Quizzes: 20 percent</a:t>
            </a:r>
            <a:endParaRPr/>
          </a:p>
        </p:txBody>
      </p:sp>
      <p:sp>
        <p:nvSpPr>
          <p:cNvPr id="175" name="Google Shape;175;p24"/>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Five quizzes, held at the start of class</a:t>
            </a:r>
            <a:endParaRPr/>
          </a:p>
          <a:p>
            <a:pPr marL="342900" lvl="0" indent="-342900" algn="l" rtl="0">
              <a:spcBef>
                <a:spcPts val="1200"/>
              </a:spcBef>
              <a:spcAft>
                <a:spcPts val="0"/>
              </a:spcAft>
              <a:buClr>
                <a:schemeClr val="dk1"/>
              </a:buClr>
              <a:buSzPts val="2000"/>
              <a:buChar char="•"/>
            </a:pPr>
            <a:r>
              <a:rPr lang="en-US"/>
              <a:t>One or two questions, drawn from the lectures since the last quiz</a:t>
            </a:r>
            <a:endParaRPr/>
          </a:p>
          <a:p>
            <a:pPr marL="342900" lvl="0" indent="-342900" algn="l" rtl="0">
              <a:spcBef>
                <a:spcPts val="1200"/>
              </a:spcBef>
              <a:spcAft>
                <a:spcPts val="0"/>
              </a:spcAft>
              <a:buClr>
                <a:schemeClr val="dk1"/>
              </a:buClr>
              <a:buSzPts val="2000"/>
              <a:buChar char="•"/>
            </a:pPr>
            <a:r>
              <a:rPr lang="en-US" b="1"/>
              <a:t>The lowest two are dropped</a:t>
            </a:r>
            <a:endParaRPr/>
          </a:p>
          <a:p>
            <a:pPr marL="685800" lvl="1" indent="-342900" algn="l" rtl="0">
              <a:spcBef>
                <a:spcPts val="600"/>
              </a:spcBef>
              <a:spcAft>
                <a:spcPts val="0"/>
              </a:spcAft>
              <a:buClr>
                <a:schemeClr val="dk1"/>
              </a:buClr>
              <a:buSzPts val="1700"/>
              <a:buChar char="–"/>
            </a:pPr>
            <a:r>
              <a:rPr lang="en-US"/>
              <a:t>That also covers any you miss. No note required.</a:t>
            </a:r>
            <a:endParaRPr sz="2000"/>
          </a:p>
          <a:p>
            <a:pPr marL="342900" lvl="0" indent="-342900" algn="l" rtl="0">
              <a:spcBef>
                <a:spcPts val="1100"/>
              </a:spcBef>
              <a:spcAft>
                <a:spcPts val="0"/>
              </a:spcAft>
              <a:buClr>
                <a:schemeClr val="dk1"/>
              </a:buClr>
              <a:buSzPts val="2000"/>
              <a:buChar char="•"/>
            </a:pPr>
            <a:r>
              <a:rPr lang="en-US"/>
              <a:t>Keeping up with the slides and readings is the cheapest way to do well on these.</a:t>
            </a:r>
            <a:endParaRPr/>
          </a:p>
        </p:txBody>
      </p:sp>
      <p:sp>
        <p:nvSpPr>
          <p:cNvPr id="176" name="Google Shape;176;p24"/>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18</a:t>
            </a:fld>
            <a:endParaRPr>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Exams: 55 percent</a:t>
            </a:r>
            <a:endParaRPr/>
          </a:p>
        </p:txBody>
      </p:sp>
      <p:sp>
        <p:nvSpPr>
          <p:cNvPr id="183" name="Google Shape;183;p25"/>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Midterm, in class, 25 percent</a:t>
            </a:r>
            <a:endParaRPr/>
          </a:p>
          <a:p>
            <a:pPr marL="342900" lvl="0" indent="-342900" algn="l" rtl="0">
              <a:spcBef>
                <a:spcPts val="1200"/>
              </a:spcBef>
              <a:spcAft>
                <a:spcPts val="0"/>
              </a:spcAft>
              <a:buClr>
                <a:schemeClr val="dk1"/>
              </a:buClr>
              <a:buSzPts val="2000"/>
              <a:buChar char="•"/>
            </a:pPr>
            <a:r>
              <a:rPr lang="en-US"/>
              <a:t>Final, comprehensive, 30 percent, date TBA</a:t>
            </a:r>
            <a:endParaRPr/>
          </a:p>
          <a:p>
            <a:pPr marL="342900" lvl="0" indent="-342900" algn="l" rtl="0">
              <a:spcBef>
                <a:spcPts val="1200"/>
              </a:spcBef>
              <a:spcAft>
                <a:spcPts val="0"/>
              </a:spcAft>
              <a:buClr>
                <a:schemeClr val="dk1"/>
              </a:buClr>
              <a:buSzPts val="2000"/>
              <a:buChar char="•"/>
            </a:pPr>
            <a:r>
              <a:rPr lang="en-US"/>
              <a:t>Both test the material broadly and deeply</a:t>
            </a:r>
            <a:endParaRPr/>
          </a:p>
          <a:p>
            <a:pPr marL="685800" lvl="1" indent="-342900" algn="l" rtl="0">
              <a:spcBef>
                <a:spcPts val="600"/>
              </a:spcBef>
              <a:spcAft>
                <a:spcPts val="0"/>
              </a:spcAft>
              <a:buClr>
                <a:schemeClr val="dk1"/>
              </a:buClr>
              <a:buSzPts val="1700"/>
              <a:buChar char="–"/>
            </a:pPr>
            <a:r>
              <a:rPr lang="en-US"/>
              <a:t>Expect some conceptual questions and problem-solving, not recall.</a:t>
            </a:r>
            <a:endParaRPr sz="2000"/>
          </a:p>
          <a:p>
            <a:pPr marL="342900" lvl="0" indent="-342900" algn="l" rtl="0">
              <a:spcBef>
                <a:spcPts val="1100"/>
              </a:spcBef>
              <a:spcAft>
                <a:spcPts val="0"/>
              </a:spcAft>
              <a:buClr>
                <a:schemeClr val="dk1"/>
              </a:buClr>
              <a:buSzPts val="2000"/>
              <a:buChar char="•"/>
            </a:pPr>
            <a:r>
              <a:rPr lang="en-US" b="1"/>
              <a:t>The quizzes and some review sessions will prepare you for these.</a:t>
            </a:r>
            <a:endParaRPr/>
          </a:p>
        </p:txBody>
      </p:sp>
      <p:sp>
        <p:nvSpPr>
          <p:cNvPr id="184" name="Google Shape;184;p25"/>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19</a:t>
            </a:fld>
            <a:endParaRPr>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6"/>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Academic integrity</a:t>
            </a:r>
            <a:endParaRPr/>
          </a:p>
        </p:txBody>
      </p:sp>
      <p:sp>
        <p:nvSpPr>
          <p:cNvPr id="191" name="Google Shape;191;p26"/>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UCR Academic Integrity Policies and Procedures apply in full</a:t>
            </a:r>
            <a:endParaRPr/>
          </a:p>
          <a:p>
            <a:pPr marL="685800" lvl="1" indent="-342900" algn="l" rtl="0">
              <a:spcBef>
                <a:spcPts val="600"/>
              </a:spcBef>
              <a:spcAft>
                <a:spcPts val="0"/>
              </a:spcAft>
              <a:buClr>
                <a:schemeClr val="dk1"/>
              </a:buClr>
              <a:buSzPts val="1700"/>
              <a:buChar char="–"/>
            </a:pPr>
            <a:r>
              <a:rPr lang="en-US"/>
              <a:t>Linked from the course website.</a:t>
            </a:r>
            <a:endParaRPr sz="2000"/>
          </a:p>
          <a:p>
            <a:pPr marL="342900" lvl="0" indent="-342900" algn="l" rtl="0">
              <a:spcBef>
                <a:spcPts val="1100"/>
              </a:spcBef>
              <a:spcAft>
                <a:spcPts val="0"/>
              </a:spcAft>
              <a:buClr>
                <a:schemeClr val="dk1"/>
              </a:buClr>
              <a:buSzPts val="2000"/>
              <a:buChar char="•"/>
            </a:pPr>
            <a:r>
              <a:rPr lang="en-US"/>
              <a:t>Labs are individual. Do not share code, payloads, or writeups.</a:t>
            </a:r>
            <a:endParaRPr/>
          </a:p>
          <a:p>
            <a:pPr marL="685800" lvl="1" indent="-342900" algn="l" rtl="0">
              <a:spcBef>
                <a:spcPts val="600"/>
              </a:spcBef>
              <a:spcAft>
                <a:spcPts val="0"/>
              </a:spcAft>
              <a:buClr>
                <a:schemeClr val="dk1"/>
              </a:buClr>
              <a:buSzPts val="1700"/>
              <a:buChar char="–"/>
            </a:pPr>
            <a:r>
              <a:rPr lang="en-US"/>
              <a:t>Because builds are seeded per student, a shared payload is visible as a shared payload.</a:t>
            </a:r>
            <a:endParaRPr sz="2000"/>
          </a:p>
          <a:p>
            <a:pPr marL="342900" lvl="0" indent="-342900" algn="l" rtl="0">
              <a:spcBef>
                <a:spcPts val="1100"/>
              </a:spcBef>
              <a:spcAft>
                <a:spcPts val="0"/>
              </a:spcAft>
              <a:buClr>
                <a:schemeClr val="dk1"/>
              </a:buClr>
              <a:buSzPts val="2000"/>
              <a:buChar char="•"/>
            </a:pPr>
            <a:r>
              <a:rPr lang="en-US"/>
              <a:t>Discussing concepts is fine. Handing over a working exploit is not.</a:t>
            </a:r>
            <a:endParaRPr/>
          </a:p>
          <a:p>
            <a:pPr marL="342900" lvl="0" indent="-342900" algn="l" rtl="0">
              <a:spcBef>
                <a:spcPts val="1200"/>
              </a:spcBef>
              <a:spcAft>
                <a:spcPts val="0"/>
              </a:spcAft>
              <a:buClr>
                <a:schemeClr val="dk1"/>
              </a:buClr>
              <a:buSzPts val="2000"/>
              <a:buChar char="•"/>
            </a:pPr>
            <a:r>
              <a:rPr lang="en-US"/>
              <a:t>If you are unsure where the line is, ask me. That is always the cheaper option.</a:t>
            </a:r>
            <a:endParaRPr/>
          </a:p>
        </p:txBody>
      </p:sp>
      <p:sp>
        <p:nvSpPr>
          <p:cNvPr id="192" name="Google Shape;192;p26"/>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20</a:t>
            </a:fld>
            <a:endParaRPr>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7"/>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Ethics</a:t>
            </a:r>
            <a:endParaRPr/>
          </a:p>
        </p:txBody>
      </p:sp>
      <p:sp>
        <p:nvSpPr>
          <p:cNvPr id="199" name="Google Shape;199;p27"/>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lnSpcReduction="10000"/>
          </a:bodyPr>
          <a:lstStyle/>
          <a:p>
            <a:pPr marL="0" lvl="0" indent="0" algn="l" rtl="0">
              <a:spcBef>
                <a:spcPts val="0"/>
              </a:spcBef>
              <a:spcAft>
                <a:spcPts val="0"/>
              </a:spcAft>
              <a:buClr>
                <a:schemeClr val="dk1"/>
              </a:buClr>
              <a:buSzPts val="1900"/>
              <a:buNone/>
            </a:pPr>
            <a:r>
              <a:rPr lang="en-US" sz="1900"/>
              <a:t>This course covers software exploitation techniques. Some of what you learn could be abused to infringe on the rights of others.</a:t>
            </a:r>
            <a:endParaRPr/>
          </a:p>
          <a:p>
            <a:pPr marL="0" lvl="0" indent="0" algn="l" rtl="0">
              <a:spcBef>
                <a:spcPts val="500"/>
              </a:spcBef>
              <a:spcAft>
                <a:spcPts val="0"/>
              </a:spcAft>
              <a:buClr>
                <a:schemeClr val="dk1"/>
              </a:buClr>
              <a:buSzPts val="1900"/>
              <a:buNone/>
            </a:pPr>
            <a:r>
              <a:rPr lang="en-US" sz="1900"/>
              <a:t>I am relying on you to use it ethically. Unethical use includes circumventing security or privacy measures for any purpose, and disseminating, promoting or exploiting vulnerabilities in systems you do not own.</a:t>
            </a:r>
            <a:endParaRPr/>
          </a:p>
          <a:p>
            <a:pPr marL="0" lvl="0" indent="0" algn="l" rtl="0">
              <a:spcBef>
                <a:spcPts val="500"/>
              </a:spcBef>
              <a:spcAft>
                <a:spcPts val="0"/>
              </a:spcAft>
              <a:buClr>
                <a:schemeClr val="dk1"/>
              </a:buClr>
              <a:buSzPts val="1900"/>
              <a:buNone/>
            </a:pPr>
            <a:r>
              <a:rPr lang="en-US" sz="1900"/>
              <a:t>Responsible disclosure through proper channels is an exception, and a good one.</a:t>
            </a:r>
            <a:endParaRPr/>
          </a:p>
          <a:p>
            <a:pPr marL="0" lvl="0" indent="0" algn="l" rtl="0">
              <a:spcBef>
                <a:spcPts val="500"/>
              </a:spcBef>
              <a:spcAft>
                <a:spcPts val="0"/>
              </a:spcAft>
              <a:buClr>
                <a:schemeClr val="dk1"/>
              </a:buClr>
              <a:buSzPts val="1900"/>
              <a:buNone/>
            </a:pPr>
            <a:r>
              <a:rPr lang="en-US" sz="1900"/>
              <a:t>Anything outside the letter or spirit of this will be reported and may result in dismissal from the class.</a:t>
            </a:r>
            <a:endParaRPr/>
          </a:p>
          <a:p>
            <a:pPr marL="0" lvl="0" indent="0" algn="l" rtl="0">
              <a:spcBef>
                <a:spcPts val="500"/>
              </a:spcBef>
              <a:spcAft>
                <a:spcPts val="0"/>
              </a:spcAft>
              <a:buClr>
                <a:schemeClr val="dk1"/>
              </a:buClr>
              <a:buSzPts val="1900"/>
              <a:buNone/>
            </a:pPr>
            <a:r>
              <a:rPr lang="en-US" sz="1900" b="1"/>
              <a:t>When in doubt, ask me first. Do not take any action that could be read as misuse without explicit permission.</a:t>
            </a:r>
            <a:endParaRPr sz="1900"/>
          </a:p>
        </p:txBody>
      </p:sp>
      <p:sp>
        <p:nvSpPr>
          <p:cNvPr id="200" name="Google Shape;200;p27"/>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21</a:t>
            </a:fld>
            <a:endParaRPr>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8"/>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Caveat Emptor</a:t>
            </a:r>
            <a:endParaRPr/>
          </a:p>
        </p:txBody>
      </p:sp>
      <p:sp>
        <p:nvSpPr>
          <p:cNvPr id="207" name="Google Shape;207;p28"/>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University of California Electronic Communications Policy</a:t>
            </a:r>
            <a:endParaRPr/>
          </a:p>
          <a:p>
            <a:pPr marL="685800" lvl="1" indent="-342900" algn="l" rtl="0">
              <a:spcBef>
                <a:spcPts val="600"/>
              </a:spcBef>
              <a:spcAft>
                <a:spcPts val="0"/>
              </a:spcAft>
              <a:buClr>
                <a:schemeClr val="dk1"/>
              </a:buClr>
              <a:buSzPts val="1700"/>
              <a:buChar char="–"/>
            </a:pPr>
            <a:r>
              <a:rPr lang="en-US"/>
              <a:t>Violations can result in expulsion.</a:t>
            </a:r>
            <a:endParaRPr sz="2000"/>
          </a:p>
          <a:p>
            <a:pPr marL="342900" lvl="0" indent="-342900" algn="l" rtl="0">
              <a:spcBef>
                <a:spcPts val="1100"/>
              </a:spcBef>
              <a:spcAft>
                <a:spcPts val="0"/>
              </a:spcAft>
              <a:buClr>
                <a:schemeClr val="dk1"/>
              </a:buClr>
              <a:buSzPts val="2000"/>
              <a:buChar char="•"/>
            </a:pPr>
            <a:r>
              <a:rPr lang="en-US"/>
              <a:t>Federal and state law criminalize computer intrusion and wiretapping</a:t>
            </a:r>
            <a:endParaRPr/>
          </a:p>
          <a:p>
            <a:pPr marL="685800" lvl="1" indent="-342900" algn="l" rtl="0">
              <a:spcBef>
                <a:spcPts val="600"/>
              </a:spcBef>
              <a:spcAft>
                <a:spcPts val="0"/>
              </a:spcAft>
              <a:buClr>
                <a:schemeClr val="dk1"/>
              </a:buClr>
              <a:buSzPts val="1700"/>
              <a:buChar char="–"/>
            </a:pPr>
            <a:r>
              <a:rPr lang="en-US"/>
              <a:t>Computer Fraud and Abuse Act (CFAA)</a:t>
            </a:r>
            <a:endParaRPr sz="2000"/>
          </a:p>
          <a:p>
            <a:pPr marL="685800" lvl="1" indent="-342900" algn="l" rtl="0">
              <a:spcBef>
                <a:spcPts val="500"/>
              </a:spcBef>
              <a:spcAft>
                <a:spcPts val="0"/>
              </a:spcAft>
              <a:buClr>
                <a:schemeClr val="dk1"/>
              </a:buClr>
              <a:buSzPts val="1700"/>
              <a:buChar char="–"/>
            </a:pPr>
            <a:r>
              <a:rPr lang="en-US"/>
              <a:t>Electronic Communications Privacy Act (ECPA)</a:t>
            </a:r>
            <a:endParaRPr sz="2000"/>
          </a:p>
          <a:p>
            <a:pPr marL="342900" lvl="0" indent="-342900" algn="l" rtl="0">
              <a:spcBef>
                <a:spcPts val="1100"/>
              </a:spcBef>
              <a:spcAft>
                <a:spcPts val="0"/>
              </a:spcAft>
              <a:buClr>
                <a:schemeClr val="dk1"/>
              </a:buClr>
              <a:buSzPts val="2000"/>
              <a:buChar char="•"/>
            </a:pPr>
            <a:r>
              <a:rPr lang="en-US" b="1"/>
              <a:t>Only ever test systems you own, or have explicit written authorization to test.</a:t>
            </a:r>
            <a:endParaRPr/>
          </a:p>
        </p:txBody>
      </p:sp>
      <p:sp>
        <p:nvSpPr>
          <p:cNvPr id="208" name="Google Shape;208;p2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22</a:t>
            </a:fld>
            <a:endParaRPr>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9"/>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Background, and how to do well</a:t>
            </a:r>
            <a:endParaRPr/>
          </a:p>
        </p:txBody>
      </p:sp>
      <p:sp>
        <p:nvSpPr>
          <p:cNvPr id="215" name="Google Shape;215;p29"/>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This course assumes</a:t>
            </a:r>
            <a:endParaRPr/>
          </a:p>
          <a:p>
            <a:pPr marL="685800" lvl="1" indent="-342900" algn="l" rtl="0">
              <a:spcBef>
                <a:spcPts val="600"/>
              </a:spcBef>
              <a:spcAft>
                <a:spcPts val="0"/>
              </a:spcAft>
              <a:buClr>
                <a:schemeClr val="dk1"/>
              </a:buClr>
              <a:buSzPts val="1700"/>
              <a:buChar char="–"/>
            </a:pPr>
            <a:r>
              <a:rPr lang="en-US"/>
              <a:t>Working knowledge of C, computer organization, operating systems, and a little networking</a:t>
            </a:r>
            <a:endParaRPr sz="2000"/>
          </a:p>
          <a:p>
            <a:pPr marL="685800" lvl="1" indent="-342900" algn="l" rtl="0">
              <a:spcBef>
                <a:spcPts val="500"/>
              </a:spcBef>
              <a:spcAft>
                <a:spcPts val="0"/>
              </a:spcAft>
              <a:buClr>
                <a:schemeClr val="dk1"/>
              </a:buClr>
              <a:buSzPts val="1700"/>
              <a:buChar char="–"/>
            </a:pPr>
            <a:r>
              <a:rPr lang="en-US"/>
              <a:t>CS 61, CS 161, CS 153</a:t>
            </a:r>
            <a:endParaRPr sz="2000"/>
          </a:p>
          <a:p>
            <a:pPr marL="342900" lvl="0" indent="-342900" algn="l" rtl="0">
              <a:spcBef>
                <a:spcPts val="1100"/>
              </a:spcBef>
              <a:spcAft>
                <a:spcPts val="0"/>
              </a:spcAft>
              <a:buClr>
                <a:schemeClr val="dk1"/>
              </a:buClr>
              <a:buSzPts val="2000"/>
              <a:buChar char="•"/>
            </a:pPr>
            <a:r>
              <a:rPr lang="en-US"/>
              <a:t>During the term</a:t>
            </a:r>
            <a:endParaRPr/>
          </a:p>
          <a:p>
            <a:pPr marL="685800" lvl="1" indent="-342900" algn="l" rtl="0">
              <a:spcBef>
                <a:spcPts val="600"/>
              </a:spcBef>
              <a:spcAft>
                <a:spcPts val="0"/>
              </a:spcAft>
              <a:buClr>
                <a:schemeClr val="dk1"/>
              </a:buClr>
              <a:buSzPts val="1700"/>
              <a:buChar char="–"/>
            </a:pPr>
            <a:r>
              <a:rPr lang="en-US"/>
              <a:t>Keep up with the readings. The course moves quickly and does not wait.</a:t>
            </a:r>
            <a:endParaRPr sz="2000"/>
          </a:p>
          <a:p>
            <a:pPr marL="685800" lvl="1" indent="-342900" algn="l" rtl="0">
              <a:spcBef>
                <a:spcPts val="500"/>
              </a:spcBef>
              <a:spcAft>
                <a:spcPts val="0"/>
              </a:spcAft>
              <a:buClr>
                <a:schemeClr val="dk1"/>
              </a:buClr>
              <a:buSzPts val="1700"/>
              <a:buChar char="–"/>
            </a:pPr>
            <a:r>
              <a:rPr lang="en-US"/>
              <a:t>Treat the labs as exam preparation, because they are.</a:t>
            </a:r>
            <a:endParaRPr sz="2000"/>
          </a:p>
          <a:p>
            <a:pPr marL="685800" lvl="1" indent="-342900" algn="l" rtl="0">
              <a:spcBef>
                <a:spcPts val="500"/>
              </a:spcBef>
              <a:spcAft>
                <a:spcPts val="0"/>
              </a:spcAft>
              <a:buClr>
                <a:schemeClr val="dk1"/>
              </a:buClr>
              <a:buSzPts val="1700"/>
              <a:buChar char="–"/>
            </a:pPr>
            <a:r>
              <a:rPr lang="en-US"/>
              <a:t>Come to the Thursday sessions. Fifteen percent of your grade is demonstrated there and cannot be made up.</a:t>
            </a:r>
            <a:endParaRPr sz="2000"/>
          </a:p>
        </p:txBody>
      </p:sp>
      <p:sp>
        <p:nvSpPr>
          <p:cNvPr id="216" name="Google Shape;216;p29"/>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23</a:t>
            </a:fld>
            <a:endParaRPr>
              <a:solidFill>
                <a:srgbClr val="0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0"/>
          <p:cNvSpPr txBox="1">
            <a:spLocks noGrp="1"/>
          </p:cNvSpPr>
          <p:nvPr>
            <p:ph type="title"/>
          </p:nvPr>
        </p:nvSpPr>
        <p:spPr>
          <a:xfrm>
            <a:off x="548640" y="1965960"/>
            <a:ext cx="8046720" cy="82296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4000"/>
              <a:buFont typeface="Arial"/>
              <a:buNone/>
            </a:pPr>
            <a:r>
              <a:rPr lang="en-US"/>
              <a:t>The security mindset</a:t>
            </a:r>
            <a:endParaRPr/>
          </a:p>
        </p:txBody>
      </p:sp>
      <p:sp>
        <p:nvSpPr>
          <p:cNvPr id="223" name="Google Shape;223;p30"/>
          <p:cNvSpPr txBox="1">
            <a:spLocks noGrp="1"/>
          </p:cNvSpPr>
          <p:nvPr>
            <p:ph type="body" idx="1"/>
          </p:nvPr>
        </p:nvSpPr>
        <p:spPr>
          <a:xfrm>
            <a:off x="548640" y="2761488"/>
            <a:ext cx="8046720" cy="4572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rgbClr val="8A8A8A"/>
              </a:buClr>
              <a:buSzPts val="1900"/>
              <a:buNone/>
            </a:pPr>
            <a:endParaRPr/>
          </a:p>
        </p:txBody>
      </p:sp>
      <p:sp>
        <p:nvSpPr>
          <p:cNvPr id="224" name="Google Shape;224;p30"/>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24</a:t>
            </a:fld>
            <a:endParaRPr>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1"/>
          <p:cNvSpPr txBox="1"/>
          <p:nvPr/>
        </p:nvSpPr>
        <p:spPr>
          <a:xfrm>
            <a:off x="548640" y="1783080"/>
            <a:ext cx="804672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3400"/>
              <a:buFont typeface="Arial"/>
              <a:buNone/>
            </a:pPr>
            <a:r>
              <a:rPr lang="en-US" sz="3400" b="1">
                <a:solidFill>
                  <a:srgbClr val="000000"/>
                </a:solidFill>
                <a:latin typeface="Arial"/>
                <a:ea typeface="Arial"/>
                <a:cs typeface="Arial"/>
                <a:sym typeface="Arial"/>
              </a:rPr>
              <a:t>"The study of how a system behaves under adversarial actions."</a:t>
            </a:r>
            <a:endParaRPr sz="3400">
              <a:solidFill>
                <a:schemeClr val="dk1"/>
              </a:solidFill>
              <a:latin typeface="Arial"/>
              <a:ea typeface="Arial"/>
              <a:cs typeface="Arial"/>
              <a:sym typeface="Arial"/>
            </a:endParaRPr>
          </a:p>
        </p:txBody>
      </p:sp>
      <p:sp>
        <p:nvSpPr>
          <p:cNvPr id="231" name="Google Shape;231;p31"/>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25</a:t>
            </a:fld>
            <a:endParaRPr>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2"/>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How things can be made to fail</a:t>
            </a:r>
            <a:endParaRPr/>
          </a:p>
        </p:txBody>
      </p:sp>
      <p:sp>
        <p:nvSpPr>
          <p:cNvPr id="238" name="Google Shape;238;p32"/>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lnSpcReduction="10000"/>
          </a:bodyPr>
          <a:lstStyle/>
          <a:p>
            <a:pPr marL="0" lvl="0" indent="0" algn="l" rtl="0">
              <a:spcBef>
                <a:spcPts val="0"/>
              </a:spcBef>
              <a:spcAft>
                <a:spcPts val="0"/>
              </a:spcAft>
              <a:buClr>
                <a:schemeClr val="dk1"/>
              </a:buClr>
              <a:buSzPts val="1700"/>
              <a:buNone/>
            </a:pPr>
            <a:r>
              <a:rPr lang="en-US" sz="1700"/>
              <a:t>Uncle Milton Industries has been selling ant farms to children since 1956. Some years ago, I remember opening one up with a friend. There were no actual ants included in the box. Instead, there was a card that you filled in with your address, and the company would mail you some ants. My friend expressed surprise that you could get ants sent to you in the mail.</a:t>
            </a:r>
            <a:endParaRPr/>
          </a:p>
          <a:p>
            <a:pPr marL="0" lvl="0" indent="0" algn="l" rtl="0">
              <a:spcBef>
                <a:spcPts val="500"/>
              </a:spcBef>
              <a:spcAft>
                <a:spcPts val="0"/>
              </a:spcAft>
              <a:buClr>
                <a:schemeClr val="dk1"/>
              </a:buClr>
              <a:buSzPts val="1700"/>
              <a:buNone/>
            </a:pPr>
            <a:r>
              <a:rPr lang="en-US" sz="1700"/>
              <a:t>I replied: “What’s really interesting is that these people will send a tube of live ants to anyone you tell them to.”</a:t>
            </a:r>
            <a:endParaRPr/>
          </a:p>
          <a:p>
            <a:pPr marL="0" lvl="0" indent="0" algn="l" rtl="0">
              <a:spcBef>
                <a:spcPts val="500"/>
              </a:spcBef>
              <a:spcAft>
                <a:spcPts val="0"/>
              </a:spcAft>
              <a:buClr>
                <a:schemeClr val="dk1"/>
              </a:buClr>
              <a:buSzPts val="1700"/>
              <a:buNone/>
            </a:pPr>
            <a:r>
              <a:rPr lang="en-US" sz="1700"/>
              <a:t>Good engineering involves thinking about how things can be made to work; </a:t>
            </a:r>
            <a:r>
              <a:rPr lang="en-US" sz="1700" b="1"/>
              <a:t>the security mindset involves thinking about how things can be made to fail.</a:t>
            </a:r>
            <a:r>
              <a:rPr lang="en-US" sz="1700"/>
              <a:t> It involves thinking like an attacker, an adversary or a criminal. You don’t have to exploit the vulnerabilities you find, but if you don’t see the world that way, you’ll never notice most security problems.</a:t>
            </a:r>
            <a:endParaRPr/>
          </a:p>
          <a:p>
            <a:pPr marL="0" lvl="0" indent="0" algn="l" rtl="0">
              <a:spcBef>
                <a:spcPts val="500"/>
              </a:spcBef>
              <a:spcAft>
                <a:spcPts val="0"/>
              </a:spcAft>
              <a:buClr>
                <a:srgbClr val="7F7F7F"/>
              </a:buClr>
              <a:buSzPts val="1200"/>
              <a:buNone/>
            </a:pPr>
            <a:r>
              <a:rPr lang="en-US" sz="1200">
                <a:solidFill>
                  <a:srgbClr val="7F7F7F"/>
                </a:solidFill>
              </a:rPr>
              <a:t>Bruce Schneier, “The Security Mindset”, 2008</a:t>
            </a:r>
            <a:endParaRPr/>
          </a:p>
        </p:txBody>
      </p:sp>
      <p:sp>
        <p:nvSpPr>
          <p:cNvPr id="239" name="Google Shape;239;p32"/>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26</a:t>
            </a:fld>
            <a:endParaRPr>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3"/>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Security versus systems</a:t>
            </a:r>
            <a:endParaRPr/>
          </a:p>
        </p:txBody>
      </p:sp>
      <p:sp>
        <p:nvSpPr>
          <p:cNvPr id="246" name="Google Shape;246;p33"/>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lnSpcReduction="10000"/>
          </a:bodyPr>
          <a:lstStyle/>
          <a:p>
            <a:pPr marL="342900" lvl="0" indent="-342900" algn="l" rtl="0">
              <a:spcBef>
                <a:spcPts val="0"/>
              </a:spcBef>
              <a:spcAft>
                <a:spcPts val="0"/>
              </a:spcAft>
              <a:buClr>
                <a:schemeClr val="dk1"/>
              </a:buClr>
              <a:buSzPts val="2000"/>
              <a:buChar char="•"/>
            </a:pPr>
            <a:r>
              <a:rPr lang="en-US"/>
              <a:t>Systems engineering optimizes the common case</a:t>
            </a:r>
            <a:endParaRPr/>
          </a:p>
          <a:p>
            <a:pPr marL="685800" lvl="1" indent="-342900" algn="l" rtl="0">
              <a:spcBef>
                <a:spcPts val="600"/>
              </a:spcBef>
              <a:spcAft>
                <a:spcPts val="0"/>
              </a:spcAft>
              <a:buClr>
                <a:schemeClr val="dk1"/>
              </a:buClr>
              <a:buSzPts val="1700"/>
              <a:buChar char="–"/>
            </a:pPr>
            <a:r>
              <a:rPr lang="en-US"/>
              <a:t>Correctness, safety, robustness: the right output, never a dangerous one, and graceful handling of errors.</a:t>
            </a:r>
            <a:endParaRPr sz="2000"/>
          </a:p>
          <a:p>
            <a:pPr marL="342900" lvl="0" indent="-342900" algn="l" rtl="0">
              <a:spcBef>
                <a:spcPts val="1100"/>
              </a:spcBef>
              <a:spcAft>
                <a:spcPts val="0"/>
              </a:spcAft>
              <a:buClr>
                <a:schemeClr val="dk1"/>
              </a:buClr>
              <a:buSzPts val="2000"/>
              <a:buChar char="•"/>
            </a:pPr>
            <a:r>
              <a:rPr lang="en-US"/>
              <a:t>Security lives in the corner cases</a:t>
            </a:r>
            <a:endParaRPr/>
          </a:p>
          <a:p>
            <a:pPr marL="685800" lvl="1" indent="-342900" algn="l" rtl="0">
              <a:spcBef>
                <a:spcPts val="600"/>
              </a:spcBef>
              <a:spcAft>
                <a:spcPts val="0"/>
              </a:spcAft>
              <a:buClr>
                <a:schemeClr val="dk1"/>
              </a:buClr>
              <a:buSzPts val="1700"/>
              <a:buChar char="–"/>
            </a:pPr>
            <a:r>
              <a:rPr lang="en-US"/>
              <a:t>The same properties must hold against a resourceful, strategic adversary choosing the input nobody expected.</a:t>
            </a:r>
            <a:endParaRPr sz="2000"/>
          </a:p>
          <a:p>
            <a:pPr marL="342900" lvl="0" indent="-342900" algn="l" rtl="0">
              <a:spcBef>
                <a:spcPts val="1100"/>
              </a:spcBef>
              <a:spcAft>
                <a:spcPts val="0"/>
              </a:spcAft>
              <a:buClr>
                <a:schemeClr val="dk1"/>
              </a:buClr>
              <a:buSzPts val="2000"/>
              <a:buChar char="•"/>
            </a:pPr>
            <a:r>
              <a:rPr lang="en-US" b="1"/>
              <a:t>A program can work perfectly for every honest user and still be completely broken.</a:t>
            </a:r>
            <a:endParaRPr/>
          </a:p>
          <a:p>
            <a:pPr marL="342900" lvl="0" indent="-342900" algn="l" rtl="0">
              <a:spcBef>
                <a:spcPts val="1200"/>
              </a:spcBef>
              <a:spcAft>
                <a:spcPts val="0"/>
              </a:spcAft>
              <a:buClr>
                <a:schemeClr val="dk1"/>
              </a:buClr>
              <a:buSzPts val="2000"/>
              <a:buChar char="•"/>
            </a:pPr>
            <a:r>
              <a:rPr lang="en-US"/>
              <a:t>This is why testing for correctness does not give you security for free.</a:t>
            </a:r>
            <a:endParaRPr/>
          </a:p>
        </p:txBody>
      </p:sp>
      <p:sp>
        <p:nvSpPr>
          <p:cNvPr id="247" name="Google Shape;247;p33"/>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27</a:t>
            </a:fld>
            <a:endParaRPr>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4"/>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Rules have bugs</a:t>
            </a:r>
            <a:endParaRPr/>
          </a:p>
        </p:txBody>
      </p:sp>
      <p:sp>
        <p:nvSpPr>
          <p:cNvPr id="254" name="Google Shape;254;p34"/>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Security is a game played against a set of rules somebody made up</a:t>
            </a:r>
            <a:endParaRPr/>
          </a:p>
          <a:p>
            <a:pPr marL="685800" lvl="1" indent="-342900" algn="l" rtl="0">
              <a:spcBef>
                <a:spcPts val="600"/>
              </a:spcBef>
              <a:spcAft>
                <a:spcPts val="0"/>
              </a:spcAft>
              <a:buClr>
                <a:schemeClr val="dk1"/>
              </a:buClr>
              <a:buSzPts val="1700"/>
              <a:buChar char="–"/>
            </a:pPr>
            <a:r>
              <a:rPr lang="en-US"/>
              <a:t>Protocols, file permissions, calling conventions, type systems.</a:t>
            </a:r>
            <a:endParaRPr sz="2000"/>
          </a:p>
          <a:p>
            <a:pPr marL="342900" lvl="0" indent="-342900" algn="l" rtl="0">
              <a:spcBef>
                <a:spcPts val="1100"/>
              </a:spcBef>
              <a:spcAft>
                <a:spcPts val="0"/>
              </a:spcAft>
              <a:buClr>
                <a:schemeClr val="dk1"/>
              </a:buClr>
              <a:buSzPts val="2000"/>
              <a:buChar char="•"/>
            </a:pPr>
            <a:r>
              <a:rPr lang="en-US"/>
              <a:t>Any sufficiently complex rule system has gaps its designers did not intend</a:t>
            </a:r>
            <a:endParaRPr/>
          </a:p>
          <a:p>
            <a:pPr marL="685800" lvl="1" indent="-342900" algn="l" rtl="0">
              <a:spcBef>
                <a:spcPts val="600"/>
              </a:spcBef>
              <a:spcAft>
                <a:spcPts val="0"/>
              </a:spcAft>
              <a:buClr>
                <a:schemeClr val="dk1"/>
              </a:buClr>
              <a:buSzPts val="1700"/>
              <a:buChar char="–"/>
            </a:pPr>
            <a:r>
              <a:rPr lang="en-US"/>
              <a:t>Tax codes. Building codes. Board games. Network protocols.</a:t>
            </a:r>
            <a:endParaRPr sz="2000"/>
          </a:p>
          <a:p>
            <a:pPr marL="342900" lvl="0" indent="-342900" algn="l" rtl="0">
              <a:spcBef>
                <a:spcPts val="1100"/>
              </a:spcBef>
              <a:spcAft>
                <a:spcPts val="0"/>
              </a:spcAft>
              <a:buClr>
                <a:schemeClr val="dk1"/>
              </a:buClr>
              <a:buSzPts val="2000"/>
              <a:buChar char="•"/>
            </a:pPr>
            <a:r>
              <a:rPr lang="en-US" b="1"/>
              <a:t>The more complex the rules, the more places to hide.</a:t>
            </a:r>
            <a:endParaRPr/>
          </a:p>
          <a:p>
            <a:pPr marL="685800" lvl="1" indent="-342900" algn="l" rtl="0">
              <a:spcBef>
                <a:spcPts val="600"/>
              </a:spcBef>
              <a:spcAft>
                <a:spcPts val="0"/>
              </a:spcAft>
              <a:buClr>
                <a:schemeClr val="dk1"/>
              </a:buClr>
              <a:buSzPts val="1700"/>
              <a:buChar char="–"/>
            </a:pPr>
            <a:r>
              <a:rPr lang="en-US"/>
              <a:t>Complexity is the enemy. Remember this when you design something.</a:t>
            </a:r>
            <a:endParaRPr sz="2000"/>
          </a:p>
        </p:txBody>
      </p:sp>
      <p:sp>
        <p:nvSpPr>
          <p:cNvPr id="255" name="Google Shape;255;p34"/>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28</a:t>
            </a:fld>
            <a:endParaRPr>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5"/>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Thinking like an attacker</a:t>
            </a:r>
            <a:endParaRPr/>
          </a:p>
        </p:txBody>
      </p:sp>
      <p:sp>
        <p:nvSpPr>
          <p:cNvPr id="262" name="Google Shape;262;p35"/>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Read the rules looking for what they fail to forbid</a:t>
            </a:r>
            <a:endParaRPr/>
          </a:p>
          <a:p>
            <a:pPr marL="342900" lvl="0" indent="-342900" algn="l" rtl="0">
              <a:spcBef>
                <a:spcPts val="1200"/>
              </a:spcBef>
              <a:spcAft>
                <a:spcPts val="0"/>
              </a:spcAft>
              <a:buClr>
                <a:schemeClr val="dk1"/>
              </a:buClr>
              <a:buSzPts val="2000"/>
              <a:buChar char="•"/>
            </a:pPr>
            <a:r>
              <a:rPr lang="en-US"/>
              <a:t>Find the assumption the designer made without noticing, then break it</a:t>
            </a:r>
            <a:endParaRPr/>
          </a:p>
          <a:p>
            <a:pPr marL="342900" lvl="0" indent="-342900" algn="l" rtl="0">
              <a:spcBef>
                <a:spcPts val="1200"/>
              </a:spcBef>
              <a:spcAft>
                <a:spcPts val="0"/>
              </a:spcAft>
              <a:buClr>
                <a:schemeClr val="dk1"/>
              </a:buClr>
              <a:buSzPts val="2000"/>
              <a:buChar char="•"/>
            </a:pPr>
            <a:r>
              <a:rPr lang="en-US"/>
              <a:t>You only need one path in. You do not have to play fair.</a:t>
            </a:r>
            <a:endParaRPr/>
          </a:p>
          <a:p>
            <a:pPr marL="342900" lvl="0" indent="-342900" algn="l" rtl="0">
              <a:spcBef>
                <a:spcPts val="1200"/>
              </a:spcBef>
              <a:spcAft>
                <a:spcPts val="0"/>
              </a:spcAft>
              <a:buClr>
                <a:schemeClr val="dk1"/>
              </a:buClr>
              <a:buSzPts val="2000"/>
              <a:buChar char="•"/>
            </a:pPr>
            <a:r>
              <a:rPr lang="en-US" b="1"/>
              <a:t>Thought experiment</a:t>
            </a:r>
            <a:endParaRPr/>
          </a:p>
          <a:p>
            <a:pPr marL="685800" lvl="1" indent="-342900" algn="l" rtl="0">
              <a:spcBef>
                <a:spcPts val="600"/>
              </a:spcBef>
              <a:spcAft>
                <a:spcPts val="0"/>
              </a:spcAft>
              <a:buClr>
                <a:schemeClr val="dk1"/>
              </a:buClr>
              <a:buSzPts val="1700"/>
              <a:buChar char="–"/>
            </a:pPr>
            <a:r>
              <a:rPr lang="en-US"/>
              <a:t>How would you get into a locked campus office after hours? List every approach, including the ones that are not technical.</a:t>
            </a:r>
            <a:endParaRPr sz="2000"/>
          </a:p>
        </p:txBody>
      </p:sp>
      <p:sp>
        <p:nvSpPr>
          <p:cNvPr id="263" name="Google Shape;263;p35"/>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29</a:t>
            </a:fld>
            <a:endParaRPr>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6"/>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Thinking like a defender</a:t>
            </a:r>
            <a:endParaRPr/>
          </a:p>
        </p:txBody>
      </p:sp>
      <p:sp>
        <p:nvSpPr>
          <p:cNvPr id="270" name="Google Shape;270;p36"/>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You have to cover every corner case. The attacker needs one.</a:t>
            </a:r>
            <a:endParaRPr/>
          </a:p>
          <a:p>
            <a:pPr marL="342900" lvl="0" indent="-342900" algn="l" rtl="0">
              <a:spcBef>
                <a:spcPts val="1200"/>
              </a:spcBef>
              <a:spcAft>
                <a:spcPts val="0"/>
              </a:spcAft>
              <a:buClr>
                <a:schemeClr val="dk1"/>
              </a:buClr>
              <a:buSzPts val="2000"/>
              <a:buChar char="•"/>
            </a:pPr>
            <a:r>
              <a:rPr lang="en-US"/>
              <a:t>Defense is only meaningful relative to a threat model</a:t>
            </a:r>
            <a:endParaRPr/>
          </a:p>
          <a:p>
            <a:pPr marL="685800" lvl="1" indent="-342900" algn="l" rtl="0">
              <a:spcBef>
                <a:spcPts val="600"/>
              </a:spcBef>
              <a:spcAft>
                <a:spcPts val="0"/>
              </a:spcAft>
              <a:buClr>
                <a:schemeClr val="dk1"/>
              </a:buClr>
              <a:buSzPts val="1700"/>
              <a:buChar char="–"/>
            </a:pPr>
            <a:r>
              <a:rPr lang="en-US"/>
              <a:t>"Is this secure?" is not a question until you say against whom.</a:t>
            </a:r>
            <a:endParaRPr sz="2000"/>
          </a:p>
          <a:p>
            <a:pPr marL="342900" lvl="0" indent="-342900" algn="l" rtl="0">
              <a:spcBef>
                <a:spcPts val="1100"/>
              </a:spcBef>
              <a:spcAft>
                <a:spcPts val="0"/>
              </a:spcAft>
              <a:buClr>
                <a:schemeClr val="dk1"/>
              </a:buClr>
              <a:buSzPts val="2000"/>
              <a:buChar char="•"/>
            </a:pPr>
            <a:r>
              <a:rPr lang="en-US"/>
              <a:t>The hard part is preventing bad outcomes without blocking legitimate use</a:t>
            </a:r>
            <a:endParaRPr/>
          </a:p>
          <a:p>
            <a:pPr marL="685800" lvl="1" indent="-342900" algn="l" rtl="0">
              <a:spcBef>
                <a:spcPts val="600"/>
              </a:spcBef>
              <a:spcAft>
                <a:spcPts val="0"/>
              </a:spcAft>
              <a:buClr>
                <a:schemeClr val="dk1"/>
              </a:buClr>
              <a:buSzPts val="1700"/>
              <a:buChar char="–"/>
            </a:pPr>
            <a:r>
              <a:rPr lang="en-US"/>
              <a:t>A system nobody can use is secure and useless.</a:t>
            </a:r>
            <a:endParaRPr sz="2000"/>
          </a:p>
          <a:p>
            <a:pPr marL="342900" lvl="0" indent="-342900" algn="l" rtl="0">
              <a:spcBef>
                <a:spcPts val="1100"/>
              </a:spcBef>
              <a:spcAft>
                <a:spcPts val="0"/>
              </a:spcAft>
              <a:buClr>
                <a:schemeClr val="dk1"/>
              </a:buClr>
              <a:buSzPts val="2000"/>
              <a:buChar char="•"/>
            </a:pPr>
            <a:r>
              <a:rPr lang="en-US" b="1"/>
              <a:t>Defense is structurally more expensive than offense. That asymmetry never goes away.</a:t>
            </a:r>
            <a:endParaRPr/>
          </a:p>
        </p:txBody>
      </p:sp>
      <p:sp>
        <p:nvSpPr>
          <p:cNvPr id="271" name="Google Shape;271;p36"/>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30</a:t>
            </a:fld>
            <a:endParaRPr>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7"/>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Why security is hard</a:t>
            </a:r>
            <a:endParaRPr/>
          </a:p>
        </p:txBody>
      </p:sp>
      <p:sp>
        <p:nvSpPr>
          <p:cNvPr id="278" name="Google Shape;278;p37"/>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The internet was not designed for it</a:t>
            </a:r>
            <a:endParaRPr/>
          </a:p>
          <a:p>
            <a:pPr marL="685800" lvl="1" indent="-342900" algn="l" rtl="0">
              <a:spcBef>
                <a:spcPts val="600"/>
              </a:spcBef>
              <a:spcAft>
                <a:spcPts val="0"/>
              </a:spcAft>
              <a:buClr>
                <a:schemeClr val="dk1"/>
              </a:buClr>
              <a:buSzPts val="1700"/>
              <a:buChar char="–"/>
            </a:pPr>
            <a:r>
              <a:rPr lang="en-US"/>
              <a:t>ARPANET connected universities that trusted each other. TCP/IP inherited those assumptions.</a:t>
            </a:r>
            <a:endParaRPr sz="2000"/>
          </a:p>
          <a:p>
            <a:pPr marL="342900" lvl="0" indent="-342900" algn="l" rtl="0">
              <a:spcBef>
                <a:spcPts val="1100"/>
              </a:spcBef>
              <a:spcAft>
                <a:spcPts val="0"/>
              </a:spcAft>
              <a:buClr>
                <a:schemeClr val="dk1"/>
              </a:buClr>
              <a:buSzPts val="2000"/>
              <a:buChar char="•"/>
            </a:pPr>
            <a:r>
              <a:rPr lang="en-US"/>
              <a:t>Legacy software outlives its assumptions</a:t>
            </a:r>
            <a:endParaRPr/>
          </a:p>
          <a:p>
            <a:pPr marL="342900" lvl="0" indent="-342900" algn="l" rtl="0">
              <a:spcBef>
                <a:spcPts val="1200"/>
              </a:spcBef>
              <a:spcAft>
                <a:spcPts val="0"/>
              </a:spcAft>
              <a:buClr>
                <a:schemeClr val="dk1"/>
              </a:buClr>
              <a:buSzPts val="2000"/>
              <a:buChar char="•"/>
            </a:pPr>
            <a:r>
              <a:rPr lang="en-US"/>
              <a:t>Attacker capability keeps improving, and attacking is now a business</a:t>
            </a:r>
            <a:endParaRPr/>
          </a:p>
          <a:p>
            <a:pPr marL="685800" lvl="1" indent="-342900" algn="l" rtl="0">
              <a:spcBef>
                <a:spcPts val="600"/>
              </a:spcBef>
              <a:spcAft>
                <a:spcPts val="0"/>
              </a:spcAft>
              <a:buClr>
                <a:schemeClr val="dk1"/>
              </a:buClr>
              <a:buSzPts val="1700"/>
              <a:buChar char="–"/>
            </a:pPr>
            <a:r>
              <a:rPr lang="en-US"/>
              <a:t>Organized, funded, sometimes state-sponsored.</a:t>
            </a:r>
            <a:endParaRPr sz="2000"/>
          </a:p>
          <a:p>
            <a:pPr marL="342900" lvl="0" indent="-342900" algn="l" rtl="0">
              <a:spcBef>
                <a:spcPts val="1100"/>
              </a:spcBef>
              <a:spcAft>
                <a:spcPts val="0"/>
              </a:spcAft>
              <a:buClr>
                <a:schemeClr val="dk1"/>
              </a:buClr>
              <a:buSzPts val="2000"/>
              <a:buChar char="•"/>
            </a:pPr>
            <a:r>
              <a:rPr lang="en-US"/>
              <a:t>People are reliably the weakest link</a:t>
            </a:r>
            <a:endParaRPr/>
          </a:p>
          <a:p>
            <a:pPr marL="685800" lvl="1" indent="-342900" algn="l" rtl="0">
              <a:spcBef>
                <a:spcPts val="600"/>
              </a:spcBef>
              <a:spcAft>
                <a:spcPts val="0"/>
              </a:spcAft>
              <a:buClr>
                <a:schemeClr val="dk1"/>
              </a:buClr>
              <a:buSzPts val="1700"/>
              <a:buChar char="–"/>
            </a:pPr>
            <a:r>
              <a:rPr lang="en-US"/>
              <a:t>Social engineering beats cryptography every time it is tried.</a:t>
            </a:r>
            <a:endParaRPr sz="2000"/>
          </a:p>
        </p:txBody>
      </p:sp>
      <p:sp>
        <p:nvSpPr>
          <p:cNvPr id="279" name="Google Shape;279;p37"/>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31</a:t>
            </a:fld>
            <a:endParaRPr>
              <a:solidFill>
                <a:srgbClr val="0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8"/>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What defenders actually do</a:t>
            </a:r>
            <a:endParaRPr/>
          </a:p>
        </p:txBody>
      </p:sp>
      <p:sp>
        <p:nvSpPr>
          <p:cNvPr id="286" name="Google Shape;286;p38"/>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Avoidance: find and fix the bugs before shipping</a:t>
            </a:r>
            <a:endParaRPr/>
          </a:p>
          <a:p>
            <a:pPr marL="685800" lvl="1" indent="-342900" algn="l" rtl="0">
              <a:spcBef>
                <a:spcPts val="600"/>
              </a:spcBef>
              <a:spcAft>
                <a:spcPts val="0"/>
              </a:spcAft>
              <a:buClr>
                <a:schemeClr val="dk1"/>
              </a:buClr>
              <a:buSzPts val="1700"/>
              <a:buChar char="–"/>
            </a:pPr>
            <a:r>
              <a:rPr lang="en-US"/>
              <a:t>Labs 2, 5 and 7.</a:t>
            </a:r>
            <a:endParaRPr sz="2000"/>
          </a:p>
          <a:p>
            <a:pPr marL="342900" lvl="0" indent="-342900" algn="l" rtl="0">
              <a:spcBef>
                <a:spcPts val="1100"/>
              </a:spcBef>
              <a:spcAft>
                <a:spcPts val="0"/>
              </a:spcAft>
              <a:buClr>
                <a:schemeClr val="dk1"/>
              </a:buClr>
              <a:buSzPts val="2000"/>
              <a:buChar char="•"/>
            </a:pPr>
            <a:r>
              <a:rPr lang="en-US"/>
              <a:t>Prevention: make the bad outcome structurally impossible</a:t>
            </a:r>
            <a:endParaRPr/>
          </a:p>
          <a:p>
            <a:pPr marL="685800" lvl="1" indent="-342900" algn="l" rtl="0">
              <a:spcBef>
                <a:spcPts val="600"/>
              </a:spcBef>
              <a:spcAft>
                <a:spcPts val="0"/>
              </a:spcAft>
              <a:buClr>
                <a:schemeClr val="dk1"/>
              </a:buClr>
              <a:buSzPts val="1700"/>
              <a:buChar char="–"/>
            </a:pPr>
            <a:r>
              <a:rPr lang="en-US"/>
              <a:t>Lab 6, and most of the second half of the course.</a:t>
            </a:r>
            <a:endParaRPr sz="2000"/>
          </a:p>
          <a:p>
            <a:pPr marL="342900" lvl="0" indent="-342900" algn="l" rtl="0">
              <a:spcBef>
                <a:spcPts val="1100"/>
              </a:spcBef>
              <a:spcAft>
                <a:spcPts val="0"/>
              </a:spcAft>
              <a:buClr>
                <a:schemeClr val="dk1"/>
              </a:buClr>
              <a:buSzPts val="2000"/>
              <a:buChar char="•"/>
            </a:pPr>
            <a:r>
              <a:rPr lang="en-US"/>
              <a:t>Deterrence: raise the cost of attacking enough that it is not worth it</a:t>
            </a:r>
            <a:endParaRPr/>
          </a:p>
          <a:p>
            <a:pPr marL="342900" lvl="0" indent="-342900" algn="l" rtl="0">
              <a:spcBef>
                <a:spcPts val="1200"/>
              </a:spcBef>
              <a:spcAft>
                <a:spcPts val="0"/>
              </a:spcAft>
              <a:buClr>
                <a:schemeClr val="dk1"/>
              </a:buClr>
              <a:buSzPts val="2000"/>
              <a:buChar char="•"/>
            </a:pPr>
            <a:r>
              <a:rPr lang="en-US"/>
              <a:t>Detection: assume some attacks succeed, and notice when they do</a:t>
            </a:r>
            <a:endParaRPr/>
          </a:p>
          <a:p>
            <a:pPr marL="342900" lvl="0" indent="-342900" algn="l" rtl="0">
              <a:spcBef>
                <a:spcPts val="1200"/>
              </a:spcBef>
              <a:spcAft>
                <a:spcPts val="0"/>
              </a:spcAft>
              <a:buClr>
                <a:schemeClr val="dk1"/>
              </a:buClr>
              <a:buSzPts val="2000"/>
              <a:buChar char="•"/>
            </a:pPr>
            <a:r>
              <a:rPr lang="en-US" b="1"/>
              <a:t>No single one of these is sufficient. You need all four.</a:t>
            </a:r>
            <a:endParaRPr/>
          </a:p>
        </p:txBody>
      </p:sp>
      <p:sp>
        <p:nvSpPr>
          <p:cNvPr id="287" name="Google Shape;287;p38"/>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32</a:t>
            </a:fld>
            <a:endParaRPr>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9"/>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2600"/>
              <a:buFont typeface="Arial"/>
              <a:buNone/>
            </a:pPr>
            <a:r>
              <a:rPr lang="en-US" sz="2600"/>
              <a:t>Confidentiality, integrity, availability</a:t>
            </a:r>
            <a:endParaRPr/>
          </a:p>
        </p:txBody>
      </p:sp>
      <p:sp>
        <p:nvSpPr>
          <p:cNvPr id="294" name="Google Shape;294;p39"/>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b="1"/>
              <a:t>Confidentiality</a:t>
            </a:r>
            <a:endParaRPr/>
          </a:p>
          <a:p>
            <a:pPr marL="685800" lvl="1" indent="-342900" algn="l" rtl="0">
              <a:spcBef>
                <a:spcPts val="600"/>
              </a:spcBef>
              <a:spcAft>
                <a:spcPts val="0"/>
              </a:spcAft>
              <a:buClr>
                <a:schemeClr val="dk1"/>
              </a:buClr>
              <a:buSzPts val="1700"/>
              <a:buChar char="–"/>
            </a:pPr>
            <a:r>
              <a:rPr lang="en-US"/>
              <a:t>Keeping data and resources hidden from those who should not see them.</a:t>
            </a:r>
            <a:endParaRPr sz="2000"/>
          </a:p>
          <a:p>
            <a:pPr marL="342900" lvl="0" indent="-342900" algn="l" rtl="0">
              <a:spcBef>
                <a:spcPts val="1100"/>
              </a:spcBef>
              <a:spcAft>
                <a:spcPts val="0"/>
              </a:spcAft>
              <a:buClr>
                <a:schemeClr val="dk1"/>
              </a:buClr>
              <a:buSzPts val="2000"/>
              <a:buChar char="•"/>
            </a:pPr>
            <a:r>
              <a:rPr lang="en-US" b="1"/>
              <a:t>Integrity</a:t>
            </a:r>
            <a:endParaRPr/>
          </a:p>
          <a:p>
            <a:pPr marL="685800" lvl="1" indent="-342900" algn="l" rtl="0">
              <a:spcBef>
                <a:spcPts val="600"/>
              </a:spcBef>
              <a:spcAft>
                <a:spcPts val="0"/>
              </a:spcAft>
              <a:buClr>
                <a:schemeClr val="dk1"/>
              </a:buClr>
              <a:buSzPts val="1700"/>
              <a:buChar char="–"/>
            </a:pPr>
            <a:r>
              <a:rPr lang="en-US"/>
              <a:t>Data integrity: the content has not been tampered with. Origin integrity: it came from who it claims. That second one is authentication.</a:t>
            </a:r>
            <a:endParaRPr sz="2000"/>
          </a:p>
          <a:p>
            <a:pPr marL="342900" lvl="0" indent="-342900" algn="l" rtl="0">
              <a:spcBef>
                <a:spcPts val="1100"/>
              </a:spcBef>
              <a:spcAft>
                <a:spcPts val="0"/>
              </a:spcAft>
              <a:buClr>
                <a:schemeClr val="dk1"/>
              </a:buClr>
              <a:buSzPts val="2000"/>
              <a:buChar char="•"/>
            </a:pPr>
            <a:r>
              <a:rPr lang="en-US" b="1"/>
              <a:t>Availability</a:t>
            </a:r>
            <a:endParaRPr/>
          </a:p>
          <a:p>
            <a:pPr marL="685800" lvl="1" indent="-342900" algn="l" rtl="0">
              <a:spcBef>
                <a:spcPts val="600"/>
              </a:spcBef>
              <a:spcAft>
                <a:spcPts val="0"/>
              </a:spcAft>
              <a:buClr>
                <a:schemeClr val="dk1"/>
              </a:buClr>
              <a:buSzPts val="1700"/>
              <a:buChar char="–"/>
            </a:pPr>
            <a:r>
              <a:rPr lang="en-US"/>
              <a:t>Keeping access to data and resources actually working.</a:t>
            </a:r>
            <a:endParaRPr sz="2000"/>
          </a:p>
          <a:p>
            <a:pPr marL="342900" lvl="0" indent="-342900" algn="l" rtl="0">
              <a:spcBef>
                <a:spcPts val="1100"/>
              </a:spcBef>
              <a:spcAft>
                <a:spcPts val="0"/>
              </a:spcAft>
              <a:buClr>
                <a:schemeClr val="dk1"/>
              </a:buClr>
              <a:buSzPts val="2000"/>
              <a:buChar char="•"/>
            </a:pPr>
            <a:r>
              <a:rPr lang="en-US"/>
              <a:t>Real incidents usually violate more than one at once.</a:t>
            </a:r>
            <a:endParaRPr/>
          </a:p>
        </p:txBody>
      </p:sp>
      <p:sp>
        <p:nvSpPr>
          <p:cNvPr id="295" name="Google Shape;295;p39"/>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33</a:t>
            </a:fld>
            <a:endParaRPr>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0"/>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STRIDE: six ways to break those properties</a:t>
            </a:r>
            <a:endParaRPr/>
          </a:p>
        </p:txBody>
      </p:sp>
      <p:sp>
        <p:nvSpPr>
          <p:cNvPr id="302" name="Google Shape;302;p40"/>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34</a:t>
            </a:fld>
            <a:endParaRPr>
              <a:solidFill>
                <a:srgbClr val="000000"/>
              </a:solidFill>
            </a:endParaRPr>
          </a:p>
        </p:txBody>
      </p:sp>
      <p:graphicFrame>
        <p:nvGraphicFramePr>
          <p:cNvPr id="303" name="Google Shape;303;p40"/>
          <p:cNvGraphicFramePr/>
          <p:nvPr/>
        </p:nvGraphicFramePr>
        <p:xfrm>
          <a:off x="548640" y="1188720"/>
          <a:ext cx="3000000" cy="3000000"/>
        </p:xfrm>
        <a:graphic>
          <a:graphicData uri="http://schemas.openxmlformats.org/drawingml/2006/table">
            <a:tbl>
              <a:tblPr>
                <a:noFill/>
                <a:tableStyleId>{31F7BAC6-EEA7-4524-A375-4FD7C61763D5}</a:tableStyleId>
              </a:tblPr>
              <a:tblGrid>
                <a:gridCol w="2651750">
                  <a:extLst>
                    <a:ext uri="{9D8B030D-6E8A-4147-A177-3AD203B41FA5}">
                      <a16:colId xmlns:a16="http://schemas.microsoft.com/office/drawing/2014/main" val="20000"/>
                    </a:ext>
                  </a:extLst>
                </a:gridCol>
                <a:gridCol w="173735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Threat</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E8E8E8"/>
                    </a:solidFill>
                  </a:tcPr>
                </a:tc>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Violates</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E8E8E8"/>
                    </a:solidFill>
                  </a:tcPr>
                </a:tc>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Example</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E8E8E8"/>
                    </a:solidFill>
                  </a:tcPr>
                </a:tc>
                <a:extLst>
                  <a:ext uri="{0D108BD9-81ED-4DB2-BD59-A6C34878D82A}">
                    <a16:rowId xmlns:a16="http://schemas.microsoft.com/office/drawing/2014/main" val="10000"/>
                  </a:ext>
                </a:extLst>
              </a:tr>
              <a:tr h="402325">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Spoofing</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Authenticity</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“It’s me, Alice!” when it isn’t</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02325">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Tampering</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Integrity</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Altering data at rest or in transit</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02325">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Repudiation</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Non-repudiation</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“It wasn’t me!”, with no proof it was</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02325">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Information disclosure</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Confidentiality</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Users’ account details leak out</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02325">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Denial of service</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Availability</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Alice can no longer reach her bank</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02325">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Elevation of privilege</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Authorization</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400" b="0" u="none" strike="noStrike" cap="none">
                          <a:solidFill>
                            <a:srgbClr val="000000"/>
                          </a:solidFill>
                          <a:latin typeface="Arial"/>
                          <a:ea typeface="Arial"/>
                          <a:cs typeface="Arial"/>
                          <a:sym typeface="Arial"/>
                        </a:rPr>
                        <a:t>An ordinary user gains admin rights</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304" name="Google Shape;304;p40"/>
          <p:cNvSpPr txBox="1"/>
          <p:nvPr/>
        </p:nvSpPr>
        <p:spPr>
          <a:xfrm>
            <a:off x="548640" y="4160520"/>
            <a:ext cx="7498079" cy="2560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7F7F7F"/>
                </a:solidFill>
                <a:latin typeface="Arial"/>
                <a:ea typeface="Arial"/>
                <a:cs typeface="Arial"/>
                <a:sym typeface="Arial"/>
              </a:rPr>
              <a:t>T, I and D are the CIA triad. S breaks origin integrity, which is authentication.</a:t>
            </a:r>
            <a:endParaRPr/>
          </a:p>
        </p:txBody>
      </p:sp>
      <p:sp>
        <p:nvSpPr>
          <p:cNvPr id="305" name="Google Shape;305;p40"/>
          <p:cNvSpPr txBox="1"/>
          <p:nvPr/>
        </p:nvSpPr>
        <p:spPr>
          <a:xfrm>
            <a:off x="548640" y="4480560"/>
            <a:ext cx="7498079" cy="201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7F7F7F"/>
                </a:solidFill>
                <a:latin typeface="Arial"/>
                <a:ea typeface="Arial"/>
                <a:cs typeface="Arial"/>
                <a:sym typeface="Arial"/>
              </a:rPr>
              <a:t>Kohnfelder and Garg, Microsoft, 1999</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1"/>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A resourceful, strategic adversary</a:t>
            </a:r>
            <a:endParaRPr/>
          </a:p>
        </p:txBody>
      </p:sp>
      <p:sp>
        <p:nvSpPr>
          <p:cNvPr id="312" name="Google Shape;312;p41"/>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lnSpcReduction="10000"/>
          </a:bodyPr>
          <a:lstStyle/>
          <a:p>
            <a:pPr marL="342900" lvl="0" indent="-342900" algn="l" rtl="0">
              <a:spcBef>
                <a:spcPts val="0"/>
              </a:spcBef>
              <a:spcAft>
                <a:spcPts val="0"/>
              </a:spcAft>
              <a:buClr>
                <a:schemeClr val="dk1"/>
              </a:buClr>
              <a:buSzPts val="2000"/>
              <a:buChar char="•"/>
            </a:pPr>
            <a:r>
              <a:rPr lang="en-US"/>
              <a:t>What resources does the adversary have? What can they...</a:t>
            </a:r>
            <a:endParaRPr/>
          </a:p>
          <a:p>
            <a:pPr marL="685800" lvl="1" indent="-342900" algn="l" rtl="0">
              <a:spcBef>
                <a:spcPts val="600"/>
              </a:spcBef>
              <a:spcAft>
                <a:spcPts val="0"/>
              </a:spcAft>
              <a:buClr>
                <a:schemeClr val="dk1"/>
              </a:buClr>
              <a:buSzPts val="1700"/>
              <a:buChar char="–"/>
            </a:pPr>
            <a:r>
              <a:rPr lang="en-US"/>
              <a:t>observe? A network connection</a:t>
            </a:r>
            <a:endParaRPr/>
          </a:p>
          <a:p>
            <a:pPr marL="685800" lvl="1" indent="-342900" algn="l" rtl="0">
              <a:spcBef>
                <a:spcPts val="500"/>
              </a:spcBef>
              <a:spcAft>
                <a:spcPts val="0"/>
              </a:spcAft>
              <a:buClr>
                <a:schemeClr val="dk1"/>
              </a:buClr>
              <a:buSzPts val="1700"/>
              <a:buChar char="–"/>
            </a:pPr>
            <a:r>
              <a:rPr lang="en-US"/>
              <a:t>corrupt? A router</a:t>
            </a:r>
            <a:endParaRPr/>
          </a:p>
          <a:p>
            <a:pPr marL="685800" lvl="1" indent="-342900" algn="l" rtl="0">
              <a:spcBef>
                <a:spcPts val="500"/>
              </a:spcBef>
              <a:spcAft>
                <a:spcPts val="0"/>
              </a:spcAft>
              <a:buClr>
                <a:schemeClr val="dk1"/>
              </a:buClr>
              <a:buSzPts val="1700"/>
              <a:buChar char="–"/>
            </a:pPr>
            <a:r>
              <a:rPr lang="en-US"/>
              <a:t>influence? A network configuration</a:t>
            </a:r>
            <a:endParaRPr/>
          </a:p>
          <a:p>
            <a:pPr marL="685800" lvl="1" indent="-342900" algn="l" rtl="0">
              <a:spcBef>
                <a:spcPts val="500"/>
              </a:spcBef>
              <a:spcAft>
                <a:spcPts val="0"/>
              </a:spcAft>
              <a:buClr>
                <a:schemeClr val="dk1"/>
              </a:buClr>
              <a:buSzPts val="1700"/>
              <a:buChar char="–"/>
            </a:pPr>
            <a:r>
              <a:rPr lang="en-US"/>
              <a:t>modify? Packet data</a:t>
            </a:r>
            <a:endParaRPr/>
          </a:p>
          <a:p>
            <a:pPr marL="685800" lvl="1" indent="-342900" algn="l" rtl="0">
              <a:spcBef>
                <a:spcPts val="500"/>
              </a:spcBef>
              <a:spcAft>
                <a:spcPts val="0"/>
              </a:spcAft>
              <a:buClr>
                <a:schemeClr val="dk1"/>
              </a:buClr>
              <a:buSzPts val="1700"/>
              <a:buChar char="–"/>
            </a:pPr>
            <a:r>
              <a:rPr lang="en-US"/>
              <a:t>control? A company employee</a:t>
            </a:r>
            <a:endParaRPr/>
          </a:p>
          <a:p>
            <a:pPr marL="342900" lvl="0" indent="-342900" algn="l" rtl="0">
              <a:spcBef>
                <a:spcPts val="1100"/>
              </a:spcBef>
              <a:spcAft>
                <a:spcPts val="0"/>
              </a:spcAft>
              <a:buClr>
                <a:schemeClr val="dk1"/>
              </a:buClr>
              <a:buSzPts val="2000"/>
              <a:buChar char="•"/>
            </a:pPr>
            <a:r>
              <a:rPr lang="en-US"/>
              <a:t>An attack is any series of actions that lets the adversary violate a given security policy</a:t>
            </a:r>
            <a:endParaRPr/>
          </a:p>
          <a:p>
            <a:pPr marL="342900" lvl="0" indent="-342900" algn="l" rtl="0">
              <a:spcBef>
                <a:spcPts val="1200"/>
              </a:spcBef>
              <a:spcAft>
                <a:spcPts val="0"/>
              </a:spcAft>
              <a:buClr>
                <a:schemeClr val="dk1"/>
              </a:buClr>
              <a:buSzPts val="2000"/>
              <a:buChar char="•"/>
            </a:pPr>
            <a:r>
              <a:rPr lang="en-US" b="1"/>
              <a:t>A strategic adversary picks the best way to spend those resources. Assume yours will.</a:t>
            </a:r>
            <a:endParaRPr/>
          </a:p>
        </p:txBody>
      </p:sp>
      <p:sp>
        <p:nvSpPr>
          <p:cNvPr id="313" name="Google Shape;313;p41"/>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35</a:t>
            </a:fld>
            <a:endParaRPr>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2"/>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The threat landscape</a:t>
            </a:r>
            <a:endParaRPr/>
          </a:p>
        </p:txBody>
      </p:sp>
      <p:sp>
        <p:nvSpPr>
          <p:cNvPr id="320" name="Google Shape;320;p42"/>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36</a:t>
            </a:fld>
            <a:endParaRPr>
              <a:solidFill>
                <a:srgbClr val="000000"/>
              </a:solidFill>
            </a:endParaRPr>
          </a:p>
        </p:txBody>
      </p:sp>
      <p:graphicFrame>
        <p:nvGraphicFramePr>
          <p:cNvPr id="321" name="Google Shape;321;p42"/>
          <p:cNvGraphicFramePr/>
          <p:nvPr/>
        </p:nvGraphicFramePr>
        <p:xfrm>
          <a:off x="548640" y="1188720"/>
          <a:ext cx="3000000" cy="3000000"/>
        </p:xfrm>
        <a:graphic>
          <a:graphicData uri="http://schemas.openxmlformats.org/drawingml/2006/table">
            <a:tbl>
              <a:tblPr>
                <a:noFill/>
                <a:tableStyleId>{31F7BAC6-EEA7-4524-A375-4FD7C61763D5}</a:tableStyleId>
              </a:tblPr>
              <a:tblGrid>
                <a:gridCol w="2011675">
                  <a:extLst>
                    <a:ext uri="{9D8B030D-6E8A-4147-A177-3AD203B41FA5}">
                      <a16:colId xmlns:a16="http://schemas.microsoft.com/office/drawing/2014/main" val="20000"/>
                    </a:ext>
                  </a:extLst>
                </a:gridCol>
                <a:gridCol w="1508750">
                  <a:extLst>
                    <a:ext uri="{9D8B030D-6E8A-4147-A177-3AD203B41FA5}">
                      <a16:colId xmlns:a16="http://schemas.microsoft.com/office/drawing/2014/main" val="20001"/>
                    </a:ext>
                  </a:extLst>
                </a:gridCol>
                <a:gridCol w="1508750">
                  <a:extLst>
                    <a:ext uri="{9D8B030D-6E8A-4147-A177-3AD203B41FA5}">
                      <a16:colId xmlns:a16="http://schemas.microsoft.com/office/drawing/2014/main" val="20002"/>
                    </a:ext>
                  </a:extLst>
                </a:gridCol>
                <a:gridCol w="1508750">
                  <a:extLst>
                    <a:ext uri="{9D8B030D-6E8A-4147-A177-3AD203B41FA5}">
                      <a16:colId xmlns:a16="http://schemas.microsoft.com/office/drawing/2014/main" val="20003"/>
                    </a:ext>
                  </a:extLst>
                </a:gridCol>
                <a:gridCol w="1508750">
                  <a:extLst>
                    <a:ext uri="{9D8B030D-6E8A-4147-A177-3AD203B41FA5}">
                      <a16:colId xmlns:a16="http://schemas.microsoft.com/office/drawing/2014/main" val="20004"/>
                    </a:ext>
                  </a:extLst>
                </a:gridCol>
              </a:tblGrid>
              <a:tr h="384050">
                <a:tc>
                  <a:txBody>
                    <a:bodyPr/>
                    <a:lstStyle/>
                    <a:p>
                      <a:pPr marL="0" marR="0" lvl="0" indent="0" algn="l" rtl="0">
                        <a:spcBef>
                          <a:spcPts val="0"/>
                        </a:spcBef>
                        <a:spcAft>
                          <a:spcPts val="0"/>
                        </a:spcAft>
                        <a:buNone/>
                      </a:pPr>
                      <a:r>
                        <a:rPr lang="en-US" sz="1100" b="0" u="none" strike="noStrike" cap="none">
                          <a:solidFill>
                            <a:srgbClr val="7F7F7F"/>
                          </a:solidFill>
                          <a:latin typeface="Arial"/>
                          <a:ea typeface="Arial"/>
                          <a:cs typeface="Arial"/>
                          <a:sym typeface="Arial"/>
                        </a:rPr>
                        <a:t>Motivation ↓   Capability →</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400" b="1" u="none" strike="noStrike" cap="none">
                          <a:solidFill>
                            <a:srgbClr val="000000"/>
                          </a:solidFill>
                          <a:latin typeface="Arial"/>
                          <a:ea typeface="Arial"/>
                          <a:cs typeface="Arial"/>
                          <a:sym typeface="Arial"/>
                        </a:rPr>
                        <a:t>Script kiddie</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400" b="1" u="none" strike="noStrike" cap="none">
                          <a:solidFill>
                            <a:srgbClr val="000000"/>
                          </a:solidFill>
                          <a:latin typeface="Arial"/>
                          <a:ea typeface="Arial"/>
                          <a:cs typeface="Arial"/>
                          <a:sym typeface="Arial"/>
                        </a:rPr>
                        <a:t>Hacker</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400" b="1" u="none" strike="noStrike" cap="none">
                          <a:solidFill>
                            <a:srgbClr val="000000"/>
                          </a:solidFill>
                          <a:latin typeface="Arial"/>
                          <a:ea typeface="Arial"/>
                          <a:cs typeface="Arial"/>
                          <a:sym typeface="Arial"/>
                        </a:rPr>
                        <a:t>Expert</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400" b="1" u="none" strike="noStrike" cap="none">
                          <a:solidFill>
                            <a:srgbClr val="000000"/>
                          </a:solidFill>
                          <a:latin typeface="Arial"/>
                          <a:ea typeface="Arial"/>
                          <a:cs typeface="Arial"/>
                          <a:sym typeface="Arial"/>
                        </a:rPr>
                        <a:t>Specialist</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566925">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National interest</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endParaRPr sz="2200" u="none" strike="noStrike" cap="none"/>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endParaRPr sz="2200" u="none" strike="noStrike" cap="none"/>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gridSpan="2">
                  <a:txBody>
                    <a:bodyPr/>
                    <a:lstStyle/>
                    <a:p>
                      <a:pPr marL="0" marR="0" lvl="0" indent="0" algn="ctr" rtl="0">
                        <a:spcBef>
                          <a:spcPts val="0"/>
                        </a:spcBef>
                        <a:spcAft>
                          <a:spcPts val="0"/>
                        </a:spcAft>
                        <a:buNone/>
                      </a:pPr>
                      <a:r>
                        <a:rPr lang="en-US" sz="1500" b="0" u="none" strike="noStrike" cap="none">
                          <a:solidFill>
                            <a:srgbClr val="000000"/>
                          </a:solidFill>
                          <a:latin typeface="Arial"/>
                          <a:ea typeface="Arial"/>
                          <a:cs typeface="Arial"/>
                          <a:sym typeface="Arial"/>
                        </a:rPr>
                        <a:t>Spy</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E8E8E8"/>
                    </a:solidFill>
                  </a:tcPr>
                </a:tc>
                <a:tc hMerge="1">
                  <a:txBody>
                    <a:bodyPr/>
                    <a:lstStyle/>
                    <a:p>
                      <a:endParaRPr lang="en-US"/>
                    </a:p>
                  </a:txBody>
                  <a:tcPr/>
                </a:tc>
                <a:extLst>
                  <a:ext uri="{0D108BD9-81ED-4DB2-BD59-A6C34878D82A}">
                    <a16:rowId xmlns:a16="http://schemas.microsoft.com/office/drawing/2014/main" val="10001"/>
                  </a:ext>
                </a:extLst>
              </a:tr>
              <a:tr h="566925">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Personal gain</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endParaRPr sz="2200" u="none" strike="noStrike" cap="none"/>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gridSpan="2">
                  <a:txBody>
                    <a:bodyPr/>
                    <a:lstStyle/>
                    <a:p>
                      <a:pPr marL="0" marR="0" lvl="0" indent="0" algn="ctr" rtl="0">
                        <a:spcBef>
                          <a:spcPts val="0"/>
                        </a:spcBef>
                        <a:spcAft>
                          <a:spcPts val="0"/>
                        </a:spcAft>
                        <a:buNone/>
                      </a:pPr>
                      <a:r>
                        <a:rPr lang="en-US" sz="1500" b="0" u="none" strike="noStrike" cap="none">
                          <a:solidFill>
                            <a:srgbClr val="000000"/>
                          </a:solidFill>
                          <a:latin typeface="Arial"/>
                          <a:ea typeface="Arial"/>
                          <a:cs typeface="Arial"/>
                          <a:sym typeface="Arial"/>
                        </a:rPr>
                        <a:t>Thief</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E8E8E8"/>
                    </a:solidFill>
                  </a:tcPr>
                </a:tc>
                <a:tc hMerge="1">
                  <a:txBody>
                    <a:bodyPr/>
                    <a:lstStyle/>
                    <a:p>
                      <a:endParaRPr lang="en-US"/>
                    </a:p>
                  </a:txBody>
                  <a:tcPr/>
                </a:tc>
                <a:tc>
                  <a:txBody>
                    <a:bodyPr/>
                    <a:lstStyle/>
                    <a:p>
                      <a:pPr marL="0" marR="0" lvl="0" indent="0" algn="l" rtl="0">
                        <a:spcBef>
                          <a:spcPts val="0"/>
                        </a:spcBef>
                        <a:spcAft>
                          <a:spcPts val="0"/>
                        </a:spcAft>
                        <a:buNone/>
                      </a:pPr>
                      <a:endParaRPr sz="2200" u="none" strike="noStrike" cap="none"/>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66925">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Personal fame</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gridSpan="2">
                  <a:txBody>
                    <a:bodyPr/>
                    <a:lstStyle/>
                    <a:p>
                      <a:pPr marL="0" marR="0" lvl="0" indent="0" algn="ctr" rtl="0">
                        <a:spcBef>
                          <a:spcPts val="0"/>
                        </a:spcBef>
                        <a:spcAft>
                          <a:spcPts val="0"/>
                        </a:spcAft>
                        <a:buNone/>
                      </a:pPr>
                      <a:r>
                        <a:rPr lang="en-US" sz="1500" b="0" u="none" strike="noStrike" cap="none">
                          <a:solidFill>
                            <a:srgbClr val="000000"/>
                          </a:solidFill>
                          <a:latin typeface="Arial"/>
                          <a:ea typeface="Arial"/>
                          <a:cs typeface="Arial"/>
                          <a:sym typeface="Arial"/>
                        </a:rPr>
                        <a:t>Trespasser</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E8E8E8"/>
                    </a:solidFill>
                  </a:tcPr>
                </a:tc>
                <a:tc hMerge="1">
                  <a:txBody>
                    <a:bodyPr/>
                    <a:lstStyle/>
                    <a:p>
                      <a:endParaRPr lang="en-US"/>
                    </a:p>
                  </a:txBody>
                  <a:tcPr/>
                </a:tc>
                <a:tc rowSpan="2">
                  <a:txBody>
                    <a:bodyPr/>
                    <a:lstStyle/>
                    <a:p>
                      <a:pPr marL="0" marR="0" lvl="0" indent="0" algn="ctr" rtl="0">
                        <a:spcBef>
                          <a:spcPts val="0"/>
                        </a:spcBef>
                        <a:spcAft>
                          <a:spcPts val="0"/>
                        </a:spcAft>
                        <a:buNone/>
                      </a:pPr>
                      <a:r>
                        <a:rPr lang="en-US" sz="1500" b="0" u="none" strike="noStrike" cap="none">
                          <a:solidFill>
                            <a:srgbClr val="000000"/>
                          </a:solidFill>
                          <a:latin typeface="Arial"/>
                          <a:ea typeface="Arial"/>
                          <a:cs typeface="Arial"/>
                          <a:sym typeface="Arial"/>
                        </a:rPr>
                        <a:t>Author</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E8E8E8"/>
                    </a:solidFill>
                  </a:tcPr>
                </a:tc>
                <a:tc>
                  <a:txBody>
                    <a:bodyPr/>
                    <a:lstStyle/>
                    <a:p>
                      <a:pPr marL="0" marR="0" lvl="0" indent="0" algn="l" rtl="0">
                        <a:spcBef>
                          <a:spcPts val="0"/>
                        </a:spcBef>
                        <a:spcAft>
                          <a:spcPts val="0"/>
                        </a:spcAft>
                        <a:buNone/>
                      </a:pPr>
                      <a:endParaRPr sz="2200" u="none" strike="noStrike" cap="none"/>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66925">
                <a:tc>
                  <a:txBody>
                    <a:bodyPr/>
                    <a:lstStyle/>
                    <a:p>
                      <a:pPr marL="0" marR="0" lvl="0" indent="0" algn="l" rtl="0">
                        <a:spcBef>
                          <a:spcPts val="0"/>
                        </a:spcBef>
                        <a:spcAft>
                          <a:spcPts val="0"/>
                        </a:spcAft>
                        <a:buNone/>
                      </a:pPr>
                      <a:r>
                        <a:rPr lang="en-US" sz="1400" b="1" u="none" strike="noStrike" cap="none">
                          <a:solidFill>
                            <a:srgbClr val="000000"/>
                          </a:solidFill>
                          <a:latin typeface="Arial"/>
                          <a:ea typeface="Arial"/>
                          <a:cs typeface="Arial"/>
                          <a:sym typeface="Arial"/>
                        </a:rPr>
                        <a:t>Curiosity</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500" b="0" u="none" strike="noStrike" cap="none">
                          <a:solidFill>
                            <a:srgbClr val="000000"/>
                          </a:solidFill>
                          <a:latin typeface="Arial"/>
                          <a:ea typeface="Arial"/>
                          <a:cs typeface="Arial"/>
                          <a:sym typeface="Arial"/>
                        </a:rPr>
                        <a:t>Vandal</a:t>
                      </a:r>
                      <a:endParaRPr/>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E8E8E8"/>
                    </a:solidFill>
                  </a:tcPr>
                </a:tc>
                <a:tc>
                  <a:txBody>
                    <a:bodyPr/>
                    <a:lstStyle/>
                    <a:p>
                      <a:pPr marL="0" marR="0" lvl="0" indent="0" algn="l" rtl="0">
                        <a:spcBef>
                          <a:spcPts val="0"/>
                        </a:spcBef>
                        <a:spcAft>
                          <a:spcPts val="0"/>
                        </a:spcAft>
                        <a:buNone/>
                      </a:pPr>
                      <a:endParaRPr sz="2200" u="none" strike="noStrike" cap="none"/>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tc vMerge="1">
                  <a:txBody>
                    <a:bodyPr/>
                    <a:lstStyle/>
                    <a:p>
                      <a:endParaRPr lang="en-US"/>
                    </a:p>
                  </a:txBody>
                  <a:tcPr/>
                </a:tc>
                <a:tc>
                  <a:txBody>
                    <a:bodyPr/>
                    <a:lstStyle/>
                    <a:p>
                      <a:pPr marL="0" marR="0" lvl="0" indent="0" algn="l" rtl="0">
                        <a:spcBef>
                          <a:spcPts val="0"/>
                        </a:spcBef>
                        <a:spcAft>
                          <a:spcPts val="0"/>
                        </a:spcAft>
                        <a:buNone/>
                      </a:pPr>
                      <a:endParaRPr sz="2200" u="none" strike="noStrike" cap="none"/>
                    </a:p>
                  </a:txBody>
                  <a:tcPr marL="91450" marR="91450" marT="36575" marB="365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
        <p:nvSpPr>
          <p:cNvPr id="322" name="Google Shape;322;p42"/>
          <p:cNvSpPr txBox="1"/>
          <p:nvPr/>
        </p:nvSpPr>
        <p:spPr>
          <a:xfrm>
            <a:off x="548640" y="3977639"/>
            <a:ext cx="7498079"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a:solidFill>
                  <a:srgbClr val="000000"/>
                </a:solidFill>
                <a:latin typeface="Arial"/>
                <a:ea typeface="Arial"/>
                <a:cs typeface="Arial"/>
                <a:sym typeface="Arial"/>
              </a:rPr>
              <a:t>Tools written by experts are now used by less-skilled attackers and criminals.</a:t>
            </a:r>
            <a:endParaRPr/>
          </a:p>
        </p:txBody>
      </p:sp>
      <p:sp>
        <p:nvSpPr>
          <p:cNvPr id="323" name="Google Shape;323;p42"/>
          <p:cNvSpPr txBox="1"/>
          <p:nvPr/>
        </p:nvSpPr>
        <p:spPr>
          <a:xfrm>
            <a:off x="548640" y="4389120"/>
            <a:ext cx="7498079" cy="2011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7F7F7F"/>
                </a:solidFill>
                <a:latin typeface="Arial"/>
                <a:ea typeface="Arial"/>
                <a:cs typeface="Arial"/>
                <a:sym typeface="Arial"/>
              </a:rPr>
              <a:t>After David Aucsmith, Microsoft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3"/>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Threat models</a:t>
            </a:r>
            <a:endParaRPr/>
          </a:p>
        </p:txBody>
      </p:sp>
      <p:sp>
        <p:nvSpPr>
          <p:cNvPr id="330" name="Google Shape;330;p43"/>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Before you can defend anything, write down</a:t>
            </a:r>
            <a:endParaRPr/>
          </a:p>
          <a:p>
            <a:pPr marL="685800" lvl="1" indent="-342900" algn="l" rtl="0">
              <a:spcBef>
                <a:spcPts val="600"/>
              </a:spcBef>
              <a:spcAft>
                <a:spcPts val="0"/>
              </a:spcAft>
              <a:buClr>
                <a:schemeClr val="dk1"/>
              </a:buClr>
              <a:buSzPts val="1700"/>
              <a:buChar char="–"/>
            </a:pPr>
            <a:r>
              <a:rPr lang="en-US"/>
              <a:t>Who the attacker is, what they can do, and what they want</a:t>
            </a:r>
            <a:endParaRPr sz="2000"/>
          </a:p>
          <a:p>
            <a:pPr marL="685800" lvl="1" indent="-342900" algn="l" rtl="0">
              <a:spcBef>
                <a:spcPts val="500"/>
              </a:spcBef>
              <a:spcAft>
                <a:spcPts val="0"/>
              </a:spcAft>
              <a:buClr>
                <a:schemeClr val="dk1"/>
              </a:buClr>
              <a:buSzPts val="1700"/>
              <a:buChar char="–"/>
            </a:pPr>
            <a:r>
              <a:rPr lang="en-US"/>
              <a:t>What defenses are already in place</a:t>
            </a:r>
            <a:endParaRPr sz="2000"/>
          </a:p>
          <a:p>
            <a:pPr marL="342900" lvl="0" indent="-342900" algn="l" rtl="0">
              <a:spcBef>
                <a:spcPts val="1100"/>
              </a:spcBef>
              <a:spcAft>
                <a:spcPts val="0"/>
              </a:spcAft>
              <a:buClr>
                <a:schemeClr val="dk1"/>
              </a:buClr>
              <a:buSzPts val="2000"/>
              <a:buChar char="•"/>
            </a:pPr>
            <a:r>
              <a:rPr lang="en-US"/>
              <a:t>A useful ladder of terms</a:t>
            </a:r>
            <a:endParaRPr/>
          </a:p>
          <a:p>
            <a:pPr marL="685800" lvl="1" indent="-342900" algn="l" rtl="0">
              <a:spcBef>
                <a:spcPts val="600"/>
              </a:spcBef>
              <a:spcAft>
                <a:spcPts val="0"/>
              </a:spcAft>
              <a:buClr>
                <a:schemeClr val="dk1"/>
              </a:buClr>
              <a:buSzPts val="2000"/>
              <a:buChar char="–"/>
            </a:pPr>
            <a:r>
              <a:rPr lang="en-US" sz="2000" b="1"/>
              <a:t>Weakness  &lt;  Vulnerability  &lt;  Exploit  &lt;  Attack</a:t>
            </a:r>
            <a:endParaRPr sz="2000"/>
          </a:p>
          <a:p>
            <a:pPr marL="342900" lvl="0" indent="-342900" algn="l" rtl="0">
              <a:spcBef>
                <a:spcPts val="1100"/>
              </a:spcBef>
              <a:spcAft>
                <a:spcPts val="0"/>
              </a:spcAft>
              <a:buClr>
                <a:schemeClr val="dk1"/>
              </a:buClr>
              <a:buSzPts val="2000"/>
              <a:buChar char="•"/>
            </a:pPr>
            <a:r>
              <a:rPr lang="en-US" b="1"/>
              <a:t>Without a threat model, "is it secure?" has no answer at all.</a:t>
            </a:r>
            <a:endParaRPr/>
          </a:p>
        </p:txBody>
      </p:sp>
      <p:sp>
        <p:nvSpPr>
          <p:cNvPr id="331" name="Google Shape;331;p43"/>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37</a:t>
            </a:fld>
            <a:endParaRPr>
              <a:solidFill>
                <a:srgbClr val="0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4"/>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So, is the system secure?</a:t>
            </a:r>
            <a:endParaRPr/>
          </a:p>
        </p:txBody>
      </p:sp>
      <p:sp>
        <p:nvSpPr>
          <p:cNvPr id="338" name="Google Shape;338;p44"/>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Only relative to a threat model: secure means no adversary within it can violate the policy</a:t>
            </a:r>
            <a:endParaRPr/>
          </a:p>
          <a:p>
            <a:pPr marL="342900" lvl="0" indent="-342900" algn="l" rtl="0">
              <a:spcBef>
                <a:spcPts val="1200"/>
              </a:spcBef>
              <a:spcAft>
                <a:spcPts val="0"/>
              </a:spcAft>
              <a:buClr>
                <a:schemeClr val="dk1"/>
              </a:buClr>
              <a:buSzPts val="2000"/>
              <a:buChar char="•"/>
            </a:pPr>
            <a:r>
              <a:rPr lang="en-US"/>
              <a:t>Security mechanisms enforce the policy</a:t>
            </a:r>
            <a:endParaRPr/>
          </a:p>
          <a:p>
            <a:pPr marL="685800" lvl="1" indent="-342900" algn="l" rtl="0">
              <a:spcBef>
                <a:spcPts val="600"/>
              </a:spcBef>
              <a:spcAft>
                <a:spcPts val="0"/>
              </a:spcAft>
              <a:buClr>
                <a:schemeClr val="dk1"/>
              </a:buClr>
              <a:buSzPts val="1700"/>
              <a:buChar char="–"/>
            </a:pPr>
            <a:r>
              <a:rPr lang="en-US"/>
              <a:t>Software, hardware, cryptography, or people and procedures</a:t>
            </a:r>
            <a:endParaRPr/>
          </a:p>
          <a:p>
            <a:pPr marL="685800" lvl="1" indent="-342900" algn="l" rtl="0">
              <a:spcBef>
                <a:spcPts val="500"/>
              </a:spcBef>
              <a:spcAft>
                <a:spcPts val="0"/>
              </a:spcAft>
              <a:buClr>
                <a:schemeClr val="dk1"/>
              </a:buClr>
              <a:buSzPts val="1700"/>
              <a:buChar char="–"/>
            </a:pPr>
            <a:r>
              <a:rPr lang="en-US"/>
              <a:t>For example, no one employee may alter the log, so keep copies on machines no one employee can all reach</a:t>
            </a:r>
            <a:endParaRPr/>
          </a:p>
          <a:p>
            <a:pPr marL="342900" lvl="0" indent="-342900" algn="l" rtl="0">
              <a:spcBef>
                <a:spcPts val="1100"/>
              </a:spcBef>
              <a:spcAft>
                <a:spcPts val="0"/>
              </a:spcAft>
              <a:buClr>
                <a:schemeClr val="dk1"/>
              </a:buClr>
              <a:buSzPts val="2000"/>
              <a:buChar char="•"/>
            </a:pPr>
            <a:r>
              <a:rPr lang="en-US"/>
              <a:t>A security argument shows the mechanisms uphold the policy under the threat model’s assumptions</a:t>
            </a:r>
            <a:endParaRPr/>
          </a:p>
          <a:p>
            <a:pPr marL="342900" lvl="0" indent="-342900" algn="l" rtl="0">
              <a:spcBef>
                <a:spcPts val="1200"/>
              </a:spcBef>
              <a:spcAft>
                <a:spcPts val="0"/>
              </a:spcAft>
              <a:buClr>
                <a:schemeClr val="dk1"/>
              </a:buClr>
              <a:buSzPts val="2000"/>
              <a:buChar char="•"/>
            </a:pPr>
            <a:r>
              <a:rPr lang="en-US" b="1"/>
              <a:t>If the threat model is wrong, so is the argument.</a:t>
            </a:r>
            <a:endParaRPr/>
          </a:p>
        </p:txBody>
      </p:sp>
      <p:sp>
        <p:nvSpPr>
          <p:cNvPr id="339" name="Google Shape;339;p44"/>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38</a:t>
            </a:fld>
            <a:endParaRPr>
              <a:solidFill>
                <a:srgbClr val="0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5"/>
          <p:cNvSpPr txBox="1">
            <a:spLocks noGrp="1"/>
          </p:cNvSpPr>
          <p:nvPr>
            <p:ph type="title"/>
          </p:nvPr>
        </p:nvSpPr>
        <p:spPr>
          <a:xfrm>
            <a:off x="548640" y="384048"/>
            <a:ext cx="8046720" cy="685800"/>
          </a:xfrm>
          <a:prstGeom prst="rect">
            <a:avLst/>
          </a:prstGeom>
          <a:noFill/>
          <a:ln>
            <a:noFill/>
          </a:ln>
        </p:spPr>
        <p:txBody>
          <a:bodyPr spcFirstLastPara="1" wrap="square" lIns="0" tIns="0" rIns="0" bIns="0" anchor="ctr" anchorCtr="0">
            <a:normAutofit/>
          </a:bodyPr>
          <a:lstStyle/>
          <a:p>
            <a:pPr marL="0" lvl="0" indent="0" algn="l" rtl="0">
              <a:lnSpc>
                <a:spcPct val="100000"/>
              </a:lnSpc>
              <a:spcBef>
                <a:spcPts val="0"/>
              </a:spcBef>
              <a:spcAft>
                <a:spcPts val="0"/>
              </a:spcAft>
              <a:buClr>
                <a:schemeClr val="dk1"/>
              </a:buClr>
              <a:buSzPts val="3000"/>
              <a:buFont typeface="Arial"/>
              <a:buNone/>
            </a:pPr>
            <a:r>
              <a:rPr lang="en-US"/>
              <a:t>Before Wednesday</a:t>
            </a:r>
            <a:endParaRPr/>
          </a:p>
        </p:txBody>
      </p:sp>
      <p:sp>
        <p:nvSpPr>
          <p:cNvPr id="346" name="Google Shape;346;p45"/>
          <p:cNvSpPr txBox="1">
            <a:spLocks noGrp="1"/>
          </p:cNvSpPr>
          <p:nvPr>
            <p:ph type="body" idx="1"/>
          </p:nvPr>
        </p:nvSpPr>
        <p:spPr>
          <a:xfrm>
            <a:off x="548640" y="1298448"/>
            <a:ext cx="8046720" cy="3383280"/>
          </a:xfrm>
          <a:prstGeom prst="rect">
            <a:avLst/>
          </a:prstGeom>
          <a:noFill/>
          <a:ln>
            <a:noFill/>
          </a:ln>
        </p:spPr>
        <p:txBody>
          <a:bodyPr spcFirstLastPara="1" wrap="square" lIns="0" tIns="0" rIns="0" bIns="0" anchor="t" anchorCtr="0">
            <a:normAutofit/>
          </a:bodyPr>
          <a:lstStyle/>
          <a:p>
            <a:pPr marL="342900" lvl="0" indent="-342900" algn="l" rtl="0">
              <a:spcBef>
                <a:spcPts val="0"/>
              </a:spcBef>
              <a:spcAft>
                <a:spcPts val="0"/>
              </a:spcAft>
              <a:buClr>
                <a:schemeClr val="dk1"/>
              </a:buClr>
              <a:buSzPts val="2000"/>
              <a:buChar char="•"/>
            </a:pPr>
            <a:r>
              <a:rPr lang="en-US"/>
              <a:t>Read the syllabus, check the schedule, etc.</a:t>
            </a:r>
            <a:endParaRPr/>
          </a:p>
          <a:p>
            <a:pPr marL="342900" lvl="0" indent="-215900" algn="l" rtl="0">
              <a:spcBef>
                <a:spcPts val="1200"/>
              </a:spcBef>
              <a:spcAft>
                <a:spcPts val="0"/>
              </a:spcAft>
              <a:buClr>
                <a:schemeClr val="dk1"/>
              </a:buClr>
              <a:buSzPts val="2000"/>
              <a:buNone/>
            </a:pPr>
            <a:endParaRPr sz="2000"/>
          </a:p>
          <a:p>
            <a:pPr marL="342900" lvl="0" indent="-342900" algn="l" rtl="0">
              <a:spcBef>
                <a:spcPts val="1200"/>
              </a:spcBef>
              <a:spcAft>
                <a:spcPts val="0"/>
              </a:spcAft>
              <a:buClr>
                <a:schemeClr val="dk1"/>
              </a:buClr>
              <a:buSzPts val="2600"/>
              <a:buChar char="•"/>
            </a:pPr>
            <a:r>
              <a:rPr lang="en-US" sz="2600" b="1"/>
              <a:t>Questions?</a:t>
            </a:r>
            <a:endParaRPr/>
          </a:p>
        </p:txBody>
      </p:sp>
      <p:sp>
        <p:nvSpPr>
          <p:cNvPr id="347" name="Google Shape;347;p45"/>
          <p:cNvSpPr txBox="1">
            <a:spLocks noGrp="1"/>
          </p:cNvSpPr>
          <p:nvPr>
            <p:ph type="sldNum" idx="12"/>
          </p:nvPr>
        </p:nvSpPr>
        <p:spPr>
          <a:xfrm>
            <a:off x="8229600" y="4690872"/>
            <a:ext cx="548640" cy="27432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8A8A8A"/>
              </a:buClr>
              <a:buSzPts val="1200"/>
              <a:buFont typeface="Arial"/>
              <a:buNone/>
            </a:pPr>
            <a:fld id="{00000000-1234-1234-1234-123412341234}" type="slidenum">
              <a:rPr lang="en-US"/>
              <a:t>39</a:t>
            </a:fld>
            <a:endParaRPr>
              <a:solidFill>
                <a:srgbClr val="000000"/>
              </a:solidFill>
            </a:endParaRPr>
          </a:p>
        </p:txBody>
      </p:sp>
    </p:spTree>
  </p:cSld>
  <p:clrMapOvr>
    <a:masterClrMapping/>
  </p:clrMapOvr>
</p:sld>
</file>

<file path=ppt/theme/theme1.xml><?xml version="1.0" encoding="utf-8"?>
<a:theme xmlns:a="http://schemas.openxmlformats.org/drawingml/2006/main" name="Office Theme [1790301506474]">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2915</Words>
  <Application>Microsoft Macintosh PowerPoint</Application>
  <PresentationFormat>On-screen Show (16:9)</PresentationFormat>
  <Paragraphs>386</Paragraphs>
  <Slides>39</Slides>
  <Notes>39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39</vt:i4>
      </vt:variant>
    </vt:vector>
  </HeadingPairs>
  <TitlesOfParts>
    <vt:vector size="41" baseType="lpstr">
      <vt:lpstr>Arial</vt:lpstr>
      <vt:lpstr>Office Theme [1790301506474]</vt:lpstr>
      <vt:lpstr>CS 165: Computer Security</vt:lpstr>
      <vt:lpstr>Today</vt:lpstr>
      <vt:lpstr>Course information</vt:lpstr>
      <vt:lpstr>About me</vt:lpstr>
      <vt:lpstr>Infamous bugs</vt:lpstr>
      <vt:lpstr>Mitigations?</vt:lpstr>
      <vt:lpstr>Software is still buggy…</vt:lpstr>
      <vt:lpstr>Mixing code and data</vt:lpstr>
      <vt:lpstr>What you will learn to do</vt:lpstr>
      <vt:lpstr>This is a hands-on course</vt:lpstr>
      <vt:lpstr>Logistics</vt:lpstr>
      <vt:lpstr>Materials</vt:lpstr>
      <vt:lpstr>Grading</vt:lpstr>
      <vt:lpstr>The labs: 25 percent</vt:lpstr>
      <vt:lpstr>The labs: Schedule</vt:lpstr>
      <vt:lpstr>Ungraded Labs</vt:lpstr>
      <vt:lpstr>Graded Labs</vt:lpstr>
      <vt:lpstr>Quizzes: 20 percent</vt:lpstr>
      <vt:lpstr>Exams: 55 percent</vt:lpstr>
      <vt:lpstr>Academic integrity</vt:lpstr>
      <vt:lpstr>Ethics</vt:lpstr>
      <vt:lpstr>Caveat Emptor</vt:lpstr>
      <vt:lpstr>Background, and how to do well</vt:lpstr>
      <vt:lpstr>The security mindset</vt:lpstr>
      <vt:lpstr>PowerPoint Presentation</vt:lpstr>
      <vt:lpstr>How things can be made to fail</vt:lpstr>
      <vt:lpstr>Security versus systems</vt:lpstr>
      <vt:lpstr>Rules have bugs</vt:lpstr>
      <vt:lpstr>Thinking like an attacker</vt:lpstr>
      <vt:lpstr>Thinking like a defender</vt:lpstr>
      <vt:lpstr>Why security is hard</vt:lpstr>
      <vt:lpstr>What defenders actually do</vt:lpstr>
      <vt:lpstr>Confidentiality, integrity, availability</vt:lpstr>
      <vt:lpstr>STRIDE: six ways to break those properties</vt:lpstr>
      <vt:lpstr>A resourceful, strategic adversary</vt:lpstr>
      <vt:lpstr>The threat landscape</vt:lpstr>
      <vt:lpstr>Threat models</vt:lpstr>
      <vt:lpstr>So, is the system secure?</vt:lpstr>
      <vt:lpstr>Before Wednesday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Emiliano De Cristofaro</cp:lastModifiedBy>
  <cp:revision>3</cp:revision>
  <dcterms:modified xsi:type="dcterms:W3CDTF">2026-09-28T22:31:45Z</dcterms:modified>
</cp:coreProperties>
</file>