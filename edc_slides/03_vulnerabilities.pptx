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91" r:id="rId31"/>
    <p:sldId id="292" r:id="rId32"/>
    <p:sldId id="295" r:id="rId33"/>
    <p:sldId id="296" r:id="rId34"/>
    <p:sldId id="305" r:id="rId35"/>
    <p:sldId id="306" r:id="rId3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53" d="100"/>
          <a:sy n="153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Secrecy of votes</a:t>
            </a:r>
          </a:p>
          <a:p>
            <a:r>
              <a:t>Integrity of individual votes</a:t>
            </a:r>
          </a:p>
          <a:p>
            <a:r>
              <a:t>Integrity of vote storage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the name of the register that contains the address of the current instruction?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the name of the register that contains the address of the current instruction?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the name of the register that contains the address of the current instruction?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the name of the register that contains the address of the current instruction?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Software Vulnerabilities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 algn="l">
              <a:buNone/>
            </a:pPr>
            <a:r>
              <a:t>Emiliano De Cristofaro</a:t>
            </a:r>
          </a:p>
          <a:p>
            <a:pPr marL="0" indent="0" algn="l">
              <a:buNone/>
            </a:pPr>
            <a:r>
              <a:t>University of California, Riverside</a:t>
            </a:r>
          </a:p>
          <a:p>
            <a:pPr marL="0" indent="0" algn="l">
              <a:buNone/>
            </a:pPr>
            <a:r>
              <a:t>Fall 2026  |  Monday, October 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Vulnerabilities!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Elements of a vulnerability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Impact of vulnerability exploitation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Confidentiality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Integrity 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Availability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Example vulnerability (and why)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Threat model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vulnerability</a:t>
            </a:r>
            <a:r>
              <a:t> is a </a:t>
            </a:r>
            <a:r>
              <a:rPr b="1"/>
              <a:t>flaw</a:t>
            </a:r>
            <a:r>
              <a:t> (e.g., in software) that is </a:t>
            </a:r>
            <a:r>
              <a:rPr b="1"/>
              <a:t>accessible to an adversary </a:t>
            </a:r>
            <a:r>
              <a:t>who </a:t>
            </a:r>
            <a:r>
              <a:rPr b="1"/>
              <a:t>can exploit </a:t>
            </a:r>
            <a:r>
              <a:t>that flaw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Flaw</a:t>
            </a:r>
            <a:r>
              <a:t> – Functionality that may violate security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E.g., Crash or bug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Accessible</a:t>
            </a:r>
            <a:r>
              <a:t> – Adversaries may access the flaw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Flaw can run using adversary input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Exploit</a:t>
            </a:r>
            <a:r>
              <a:t> – Provide inputs to cause </a:t>
            </a:r>
            <a:r>
              <a:rPr b="1"/>
              <a:t>security violation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Adversary can produce an attack payload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201" name="Viz roundRect 9201"/>
          <p:cNvSpPr/>
          <p:nvPr/>
        </p:nvSpPr>
        <p:spPr>
          <a:xfrm>
            <a:off x="1371600" y="4407408"/>
            <a:ext cx="1828800" cy="457200"/>
          </a:xfrm>
          <a:prstGeom prst="roundRect">
            <a:avLst>
              <a:gd name="adj" fmla="val 28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200" b="1" i="0">
                <a:solidFill>
                  <a:srgbClr val="000000"/>
                </a:solidFill>
              </a:rPr>
              <a:t>Flaw</a:t>
            </a:r>
          </a:p>
        </p:txBody>
      </p:sp>
      <p:sp>
        <p:nvSpPr>
          <p:cNvPr id="9202" name="Viz rightArrow 9202"/>
          <p:cNvSpPr/>
          <p:nvPr/>
        </p:nvSpPr>
        <p:spPr>
          <a:xfrm>
            <a:off x="3264408" y="4553712"/>
            <a:ext cx="329184" cy="164592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203" name="Viz roundRect 9203"/>
          <p:cNvSpPr/>
          <p:nvPr/>
        </p:nvSpPr>
        <p:spPr>
          <a:xfrm>
            <a:off x="3657600" y="4407408"/>
            <a:ext cx="1828800" cy="457200"/>
          </a:xfrm>
          <a:prstGeom prst="roundRect">
            <a:avLst>
              <a:gd name="adj" fmla="val 28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200" b="1" i="0">
                <a:solidFill>
                  <a:srgbClr val="000000"/>
                </a:solidFill>
              </a:rPr>
              <a:t>Accessible</a:t>
            </a:r>
          </a:p>
        </p:txBody>
      </p:sp>
      <p:sp>
        <p:nvSpPr>
          <p:cNvPr id="9204" name="Viz rightArrow 9204"/>
          <p:cNvSpPr/>
          <p:nvPr/>
        </p:nvSpPr>
        <p:spPr>
          <a:xfrm>
            <a:off x="5550408" y="4553712"/>
            <a:ext cx="329184" cy="164592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205" name="Viz roundRect 9205"/>
          <p:cNvSpPr/>
          <p:nvPr/>
        </p:nvSpPr>
        <p:spPr>
          <a:xfrm>
            <a:off x="5943600" y="4407408"/>
            <a:ext cx="1828800" cy="457200"/>
          </a:xfrm>
          <a:prstGeom prst="roundRect">
            <a:avLst>
              <a:gd name="adj" fmla="val 28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200" b="1" i="0">
                <a:solidFill>
                  <a:srgbClr val="000000"/>
                </a:solidFill>
              </a:rPr>
              <a:t>Exploit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0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Security requirements are described in three categories (CIA)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Confidentiality</a:t>
            </a:r>
            <a:r>
              <a:t> (Secrecy)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E.g., Prevent leakage of </a:t>
            </a:r>
            <a:r>
              <a:rPr b="1"/>
              <a:t>sensitive data</a:t>
            </a:r>
            <a:r>
              <a:t> to an adversary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Integrity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E.g., Prevent unauthorized modification of </a:t>
            </a:r>
            <a:r>
              <a:rPr b="1"/>
              <a:t>sensitive data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Availability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E.g., Prevent blockage of use of critical services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Violating these requirements is </a:t>
            </a:r>
            <a:r>
              <a:rPr b="1"/>
              <a:t>a security violation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But, security requirements are application-specific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206" name="Viz roundRect 9206"/>
          <p:cNvSpPr/>
          <p:nvPr/>
        </p:nvSpPr>
        <p:spPr>
          <a:xfrm>
            <a:off x="1321308" y="4315968"/>
            <a:ext cx="1965960" cy="438912"/>
          </a:xfrm>
          <a:prstGeom prst="roundRect">
            <a:avLst>
              <a:gd name="adj" fmla="val 40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150" b="1" i="0">
                <a:solidFill>
                  <a:srgbClr val="000000"/>
                </a:solidFill>
              </a:rPr>
              <a:t>Confidentiality</a:t>
            </a:r>
          </a:p>
        </p:txBody>
      </p:sp>
      <p:sp>
        <p:nvSpPr>
          <p:cNvPr id="9207" name="Viz roundRect 9207"/>
          <p:cNvSpPr/>
          <p:nvPr/>
        </p:nvSpPr>
        <p:spPr>
          <a:xfrm>
            <a:off x="3589020" y="4315968"/>
            <a:ext cx="1965960" cy="438912"/>
          </a:xfrm>
          <a:prstGeom prst="roundRect">
            <a:avLst>
              <a:gd name="adj" fmla="val 40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150" b="1" i="0">
                <a:solidFill>
                  <a:srgbClr val="000000"/>
                </a:solidFill>
              </a:rPr>
              <a:t>Integrity</a:t>
            </a:r>
          </a:p>
        </p:txBody>
      </p:sp>
      <p:sp>
        <p:nvSpPr>
          <p:cNvPr id="9208" name="Viz roundRect 9208"/>
          <p:cNvSpPr/>
          <p:nvPr/>
        </p:nvSpPr>
        <p:spPr>
          <a:xfrm>
            <a:off x="5856732" y="4315968"/>
            <a:ext cx="1965960" cy="438912"/>
          </a:xfrm>
          <a:prstGeom prst="roundRect">
            <a:avLst>
              <a:gd name="adj" fmla="val 40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150" b="1" i="0">
                <a:solidFill>
                  <a:srgbClr val="000000"/>
                </a:solidFill>
              </a:rPr>
              <a:t>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Does this code have a </a:t>
            </a:r>
            <a:r>
              <a:rPr b="1"/>
              <a:t>vulnerability</a:t>
            </a:r>
            <a:r>
              <a:t>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603" name="Viz2 roundRect 9603"/>
          <p:cNvSpPr/>
          <p:nvPr/>
        </p:nvSpPr>
        <p:spPr>
          <a:xfrm>
            <a:off x="2743200" y="192024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04" name="Viz2 code 9604"/>
          <p:cNvSpPr/>
          <p:nvPr/>
        </p:nvSpPr>
        <p:spPr>
          <a:xfrm>
            <a:off x="2907792" y="201168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Requirements of the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Confidentiality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Only output printed is the “buffer” address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Integrity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Must not modify data other than “buffer”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Availability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Must complete its execution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Not an exhaustive list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a Flaw?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vulnerability</a:t>
            </a:r>
            <a:r>
              <a:t> is a </a:t>
            </a:r>
            <a:r>
              <a:rPr b="1"/>
              <a:t>flaw</a:t>
            </a:r>
            <a:r>
              <a:t> (e.g., in software) that is </a:t>
            </a:r>
            <a:r>
              <a:rPr b="1"/>
              <a:t>accessible to an adversary </a:t>
            </a:r>
            <a:r>
              <a:t>who </a:t>
            </a:r>
            <a:r>
              <a:rPr b="1"/>
              <a:t>can exploit </a:t>
            </a:r>
            <a:r>
              <a:t>that flaw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Flaw</a:t>
            </a:r>
            <a:r>
              <a:t> – A functionality that may violate security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What violates a security requirement (CIA)?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006" name="Viz roundRect 9006"/>
          <p:cNvSpPr/>
          <p:nvPr/>
        </p:nvSpPr>
        <p:spPr>
          <a:xfrm>
            <a:off x="1188719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Flaw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violates security</a:t>
            </a:r>
          </a:p>
        </p:txBody>
      </p:sp>
      <p:sp>
        <p:nvSpPr>
          <p:cNvPr id="9007" name="Viz rightArrow 9007"/>
          <p:cNvSpPr/>
          <p:nvPr/>
        </p:nvSpPr>
        <p:spPr>
          <a:xfrm>
            <a:off x="3172968" y="3639312"/>
            <a:ext cx="374904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008" name="Viz roundRect 9008"/>
          <p:cNvSpPr/>
          <p:nvPr/>
        </p:nvSpPr>
        <p:spPr>
          <a:xfrm>
            <a:off x="3611880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Accessible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adversary reaches it</a:t>
            </a:r>
          </a:p>
        </p:txBody>
      </p:sp>
      <p:sp>
        <p:nvSpPr>
          <p:cNvPr id="9009" name="Viz rightArrow 9009"/>
          <p:cNvSpPr/>
          <p:nvPr/>
        </p:nvSpPr>
        <p:spPr>
          <a:xfrm>
            <a:off x="5596128" y="3639312"/>
            <a:ext cx="374904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010" name="Viz roundRect 9010"/>
          <p:cNvSpPr/>
          <p:nvPr/>
        </p:nvSpPr>
        <p:spPr>
          <a:xfrm>
            <a:off x="6035040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Exploit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causes violation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Does this code have a </a:t>
            </a:r>
            <a:r>
              <a:rPr b="1"/>
              <a:t>flaw</a:t>
            </a:r>
            <a:r>
              <a:t>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605" name="Viz2 roundRect 9605"/>
          <p:cNvSpPr/>
          <p:nvPr/>
        </p:nvSpPr>
        <p:spPr>
          <a:xfrm>
            <a:off x="2743200" y="192024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06" name="Viz2 code 9606"/>
          <p:cNvSpPr/>
          <p:nvPr/>
        </p:nvSpPr>
        <p:spPr>
          <a:xfrm>
            <a:off x="2907792" y="201168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is “buffer” represented?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Variable </a:t>
            </a:r>
            <a:r>
              <a:rPr b="1"/>
              <a:t>buffer</a:t>
            </a:r>
            <a:r>
              <a:t> occupies 10 bytes in the stack region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>
                <a:latin typeface="Courier New"/>
              </a:rPr>
              <a:t>char buffer[10]; 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normAutofit fontScale="77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 b="1"/>
              <a:t>buffer</a:t>
            </a:r>
            <a:r>
              <a:rPr sz="2000"/>
              <a:t> is an array of objects of </a:t>
            </a:r>
            <a:r>
              <a:rPr sz="2000" b="1"/>
              <a:t>type char[10] – 1 byte each</a:t>
            </a:r>
            <a:endParaRPr sz="2000"/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C does not represent strings as a data type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 b="1"/>
              <a:t>buffer</a:t>
            </a:r>
            <a:r>
              <a:rPr sz="2000"/>
              <a:t> is also a pointer to the memory region of 10 bytes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C uses the variable “</a:t>
            </a:r>
            <a:r>
              <a:rPr sz="1700" b="1"/>
              <a:t>buffer</a:t>
            </a:r>
            <a:r>
              <a:rPr sz="1700"/>
              <a:t>” to store the memory location of these 10 bytes in the process’s address space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>
                <a:latin typeface="Courier New"/>
              </a:rPr>
              <a:t>printf(“0x%x\n”, buffer);  // prints addr</a:t>
            </a:r>
            <a:endParaRPr sz="1700"/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>
                <a:latin typeface="Courier New"/>
              </a:rPr>
              <a:t>printf(“%s\n”, buffer);    // prints value</a:t>
            </a:r>
            <a:endParaRPr sz="1700"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501" name="Viz2 rect 9501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2" name="Viz2 rect 9502"/>
          <p:cNvSpPr/>
          <p:nvPr/>
        </p:nvSpPr>
        <p:spPr>
          <a:xfrm>
            <a:off x="125272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3" name="Viz2 rect 9503"/>
          <p:cNvSpPr/>
          <p:nvPr/>
        </p:nvSpPr>
        <p:spPr>
          <a:xfrm>
            <a:off x="1545336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4" name="Viz2 rect 9504"/>
          <p:cNvSpPr/>
          <p:nvPr/>
        </p:nvSpPr>
        <p:spPr>
          <a:xfrm>
            <a:off x="1837944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5" name="Viz2 rect 9505"/>
          <p:cNvSpPr/>
          <p:nvPr/>
        </p:nvSpPr>
        <p:spPr>
          <a:xfrm>
            <a:off x="2130552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6" name="Viz2 rect 9506"/>
          <p:cNvSpPr/>
          <p:nvPr/>
        </p:nvSpPr>
        <p:spPr>
          <a:xfrm>
            <a:off x="242316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7" name="Viz2 rect 9507"/>
          <p:cNvSpPr/>
          <p:nvPr/>
        </p:nvSpPr>
        <p:spPr>
          <a:xfrm>
            <a:off x="271576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8" name="Viz2 rect 9508"/>
          <p:cNvSpPr/>
          <p:nvPr/>
        </p:nvSpPr>
        <p:spPr>
          <a:xfrm>
            <a:off x="3008375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09" name="Viz2 rect 9509"/>
          <p:cNvSpPr/>
          <p:nvPr/>
        </p:nvSpPr>
        <p:spPr>
          <a:xfrm>
            <a:off x="3300983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10" name="Viz2 rect 9510"/>
          <p:cNvSpPr/>
          <p:nvPr/>
        </p:nvSpPr>
        <p:spPr>
          <a:xfrm>
            <a:off x="3593591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11" name="Viz2 rect 9511"/>
          <p:cNvSpPr/>
          <p:nvPr/>
        </p:nvSpPr>
        <p:spPr>
          <a:xfrm>
            <a:off x="3922776" y="2212848"/>
            <a:ext cx="50292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00" b="0" i="0">
                <a:solidFill>
                  <a:srgbClr val="8A8A8A"/>
                </a:solidFill>
              </a:rPr>
              <a:t>…</a:t>
            </a:r>
          </a:p>
        </p:txBody>
      </p:sp>
      <p:sp>
        <p:nvSpPr>
          <p:cNvPr id="9512" name="Viz2 rect 9512"/>
          <p:cNvSpPr/>
          <p:nvPr/>
        </p:nvSpPr>
        <p:spPr>
          <a:xfrm>
            <a:off x="960120" y="26334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 — 10 bytes, 1 byte each</a:t>
            </a:r>
          </a:p>
        </p:txBody>
      </p:sp>
      <p:sp>
        <p:nvSpPr>
          <p:cNvPr id="9513" name="Viz2 rect 9513"/>
          <p:cNvSpPr/>
          <p:nvPr/>
        </p:nvSpPr>
        <p:spPr>
          <a:xfrm>
            <a:off x="914400" y="184708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l"/>
            <a:r>
              <a:rPr lang="en-US" sz="850" b="0" i="1">
                <a:solidFill>
                  <a:srgbClr val="2E5F8A"/>
                </a:solidFill>
              </a:rPr>
              <a:t>buffer = address of the first byte</a:t>
            </a:r>
          </a:p>
        </p:txBody>
      </p:sp>
      <p:sp>
        <p:nvSpPr>
          <p:cNvPr id="9514" name="Viz2 downArrow 9514"/>
          <p:cNvSpPr/>
          <p:nvPr/>
        </p:nvSpPr>
        <p:spPr>
          <a:xfrm>
            <a:off x="1024128" y="2075688"/>
            <a:ext cx="146304" cy="118872"/>
          </a:xfrm>
          <a:prstGeom prst="downArrow">
            <a:avLst/>
          </a:prstGeom>
          <a:solidFill>
            <a:srgbClr val="2E5F8A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a Flaw?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vulnerability</a:t>
            </a:r>
            <a:r>
              <a:t> is a </a:t>
            </a:r>
            <a:r>
              <a:rPr b="1"/>
              <a:t>flaw</a:t>
            </a:r>
            <a:r>
              <a:t> (e.g., in software) that is </a:t>
            </a:r>
            <a:r>
              <a:rPr b="1"/>
              <a:t>accessible to an adversary </a:t>
            </a:r>
            <a:r>
              <a:t>who </a:t>
            </a:r>
            <a:r>
              <a:rPr b="1"/>
              <a:t>can exploit </a:t>
            </a:r>
            <a:r>
              <a:t>that flaw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Flaw</a:t>
            </a:r>
            <a:r>
              <a:t> – A functionality that violates security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What violates a security requirement (CIA)?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In the example code, </a:t>
            </a:r>
            <a:r>
              <a:rPr b="1"/>
              <a:t>memory outside of “buffer” may be written illicitly</a:t>
            </a:r>
            <a:r>
              <a:t>, violating integrity 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How does that happen?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function </a:t>
            </a:r>
            <a:r>
              <a:rPr>
                <a:latin typeface="Courier New"/>
              </a:rPr>
              <a:t>sscanf</a:t>
            </a:r>
            <a:r>
              <a:t> writes each byte from ”</a:t>
            </a:r>
            <a:r>
              <a:rPr b="1"/>
              <a:t>source</a:t>
            </a:r>
            <a:r>
              <a:t>” to “</a:t>
            </a:r>
            <a:r>
              <a:rPr b="1"/>
              <a:t>buffer</a:t>
            </a:r>
            <a:r>
              <a:t>” until a 0-byte in “</a:t>
            </a:r>
            <a:r>
              <a:rPr b="1"/>
              <a:t>source</a:t>
            </a:r>
            <a:r>
              <a:t>”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9609" name="Viz2 roundRect 9609"/>
          <p:cNvSpPr/>
          <p:nvPr/>
        </p:nvSpPr>
        <p:spPr>
          <a:xfrm>
            <a:off x="822960" y="205740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10" name="Viz2 rect 9610"/>
          <p:cNvSpPr/>
          <p:nvPr/>
        </p:nvSpPr>
        <p:spPr>
          <a:xfrm>
            <a:off x="914400" y="3177540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11" name="Viz2 code 9611"/>
          <p:cNvSpPr/>
          <p:nvPr/>
        </p:nvSpPr>
        <p:spPr>
          <a:xfrm>
            <a:off x="987552" y="214884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  <p:sp>
        <p:nvSpPr>
          <p:cNvPr id="9612" name="Viz2 roundRect 9612"/>
          <p:cNvSpPr/>
          <p:nvPr/>
        </p:nvSpPr>
        <p:spPr>
          <a:xfrm>
            <a:off x="4892040" y="2743200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copies source into buffer byte by byte — stops only at a 0-byte, never checks size</a:t>
            </a:r>
          </a:p>
        </p:txBody>
      </p:sp>
      <p:sp>
        <p:nvSpPr>
          <p:cNvPr id="9613" name="Viz2 leftArrow 9613"/>
          <p:cNvSpPr/>
          <p:nvPr/>
        </p:nvSpPr>
        <p:spPr>
          <a:xfrm>
            <a:off x="4517136" y="3208401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that a flaw?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buffer</a:t>
            </a:r>
            <a:r>
              <a:t> occupies 10 bytes in the stack region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>
                <a:latin typeface="Courier New"/>
              </a:rPr>
              <a:t>sscanf(source, “%s”, buffer)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>
                <a:latin typeface="Courier New"/>
              </a:rPr>
              <a:t>sscanf</a:t>
            </a:r>
            <a:r>
              <a:rPr sz="2000"/>
              <a:t> starts at the memory location “</a:t>
            </a:r>
            <a:r>
              <a:rPr sz="2000" b="1"/>
              <a:t>buffer</a:t>
            </a:r>
            <a:r>
              <a:rPr sz="2000"/>
              <a:t>”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And writes until a null byte is found in “</a:t>
            </a:r>
            <a:r>
              <a:rPr sz="1700" b="1"/>
              <a:t>source</a:t>
            </a:r>
            <a:r>
              <a:rPr sz="1700"/>
              <a:t>”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Does </a:t>
            </a:r>
            <a:r>
              <a:rPr sz="1700" b="1"/>
              <a:t>source</a:t>
            </a:r>
            <a:r>
              <a:rPr sz="1700"/>
              <a:t> have to have a null byte within its first 10 bytes?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9515" name="Viz2 rect 9515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16" name="Viz2 rect 9516"/>
          <p:cNvSpPr/>
          <p:nvPr/>
        </p:nvSpPr>
        <p:spPr>
          <a:xfrm>
            <a:off x="125272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17" name="Viz2 rect 9517"/>
          <p:cNvSpPr/>
          <p:nvPr/>
        </p:nvSpPr>
        <p:spPr>
          <a:xfrm>
            <a:off x="1545336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18" name="Viz2 rect 9518"/>
          <p:cNvSpPr/>
          <p:nvPr/>
        </p:nvSpPr>
        <p:spPr>
          <a:xfrm>
            <a:off x="1837944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19" name="Viz2 rect 9519"/>
          <p:cNvSpPr/>
          <p:nvPr/>
        </p:nvSpPr>
        <p:spPr>
          <a:xfrm>
            <a:off x="2130552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0" name="Viz2 rect 9520"/>
          <p:cNvSpPr/>
          <p:nvPr/>
        </p:nvSpPr>
        <p:spPr>
          <a:xfrm>
            <a:off x="242316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1" name="Viz2 rect 9521"/>
          <p:cNvSpPr/>
          <p:nvPr/>
        </p:nvSpPr>
        <p:spPr>
          <a:xfrm>
            <a:off x="271576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2" name="Viz2 rect 9522"/>
          <p:cNvSpPr/>
          <p:nvPr/>
        </p:nvSpPr>
        <p:spPr>
          <a:xfrm>
            <a:off x="3008375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3" name="Viz2 rect 9523"/>
          <p:cNvSpPr/>
          <p:nvPr/>
        </p:nvSpPr>
        <p:spPr>
          <a:xfrm>
            <a:off x="3300983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4" name="Viz2 rect 9524"/>
          <p:cNvSpPr/>
          <p:nvPr/>
        </p:nvSpPr>
        <p:spPr>
          <a:xfrm>
            <a:off x="3593591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5" name="Viz2 rect 9525"/>
          <p:cNvSpPr/>
          <p:nvPr/>
        </p:nvSpPr>
        <p:spPr>
          <a:xfrm>
            <a:off x="3922776" y="2212848"/>
            <a:ext cx="10058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26" name="Viz2 rect 9526"/>
          <p:cNvSpPr/>
          <p:nvPr/>
        </p:nvSpPr>
        <p:spPr>
          <a:xfrm>
            <a:off x="4983480" y="2212848"/>
            <a:ext cx="118872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27" name="Viz2 rect 9527"/>
          <p:cNvSpPr/>
          <p:nvPr/>
        </p:nvSpPr>
        <p:spPr>
          <a:xfrm>
            <a:off x="6227064" y="2212848"/>
            <a:ext cx="14630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28" name="Viz2 rightArrow 9528"/>
          <p:cNvSpPr/>
          <p:nvPr/>
        </p:nvSpPr>
        <p:spPr>
          <a:xfrm>
            <a:off x="960120" y="2029968"/>
            <a:ext cx="2907792" cy="12801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29" name="Viz2 rect 9529"/>
          <p:cNvSpPr/>
          <p:nvPr/>
        </p:nvSpPr>
        <p:spPr>
          <a:xfrm>
            <a:off x="3977640" y="195681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l"/>
            <a:r>
              <a:rPr lang="en-US" sz="900" b="1" i="1">
                <a:solidFill>
                  <a:srgbClr val="C0392B"/>
                </a:solidFill>
              </a:rPr>
              <a:t>sscanf writes byte by byte …</a:t>
            </a:r>
          </a:p>
        </p:txBody>
      </p:sp>
      <p:sp>
        <p:nvSpPr>
          <p:cNvPr id="9530" name="Viz2 rect 9530"/>
          <p:cNvSpPr/>
          <p:nvPr/>
        </p:nvSpPr>
        <p:spPr>
          <a:xfrm>
            <a:off x="960120" y="26334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that a flaw?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3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Buffer occupies 10 bytes in the stack region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>
                <a:latin typeface="Courier New"/>
              </a:rPr>
              <a:t>sscanf(source, “%s”, buffer)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normAutofit fontScale="83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>
                <a:latin typeface="Courier New"/>
              </a:rPr>
              <a:t>sscanf</a:t>
            </a:r>
            <a:r>
              <a:rPr sz="2000"/>
              <a:t> starts at the memory location “</a:t>
            </a:r>
            <a:r>
              <a:rPr sz="2000" b="1"/>
              <a:t>buffer</a:t>
            </a:r>
            <a:r>
              <a:rPr sz="2000"/>
              <a:t>”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And writes until a null byte is found in “</a:t>
            </a:r>
            <a:r>
              <a:rPr sz="1700" b="1"/>
              <a:t>source</a:t>
            </a:r>
            <a:r>
              <a:rPr sz="1700"/>
              <a:t>”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Which could be more than 10 bytes before the null bytes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/>
              <a:t>Which illicitly writes memory outside of the allocated region for “</a:t>
            </a:r>
            <a:r>
              <a:rPr sz="2000" b="1"/>
              <a:t>buffer</a:t>
            </a:r>
            <a:r>
              <a:rPr sz="2000"/>
              <a:t>”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What is there?  </a:t>
            </a:r>
            <a:r>
              <a:rPr sz="1700" b="1"/>
              <a:t>We’ll see</a:t>
            </a:r>
            <a:endParaRPr sz="1700"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531" name="Viz2 rect 9531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2" name="Viz2 rect 9532"/>
          <p:cNvSpPr/>
          <p:nvPr/>
        </p:nvSpPr>
        <p:spPr>
          <a:xfrm>
            <a:off x="125272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3" name="Viz2 rect 9533"/>
          <p:cNvSpPr/>
          <p:nvPr/>
        </p:nvSpPr>
        <p:spPr>
          <a:xfrm>
            <a:off x="1545336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4" name="Viz2 rect 9534"/>
          <p:cNvSpPr/>
          <p:nvPr/>
        </p:nvSpPr>
        <p:spPr>
          <a:xfrm>
            <a:off x="1837944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5" name="Viz2 rect 9535"/>
          <p:cNvSpPr/>
          <p:nvPr/>
        </p:nvSpPr>
        <p:spPr>
          <a:xfrm>
            <a:off x="2130552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6" name="Viz2 rect 9536"/>
          <p:cNvSpPr/>
          <p:nvPr/>
        </p:nvSpPr>
        <p:spPr>
          <a:xfrm>
            <a:off x="242316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7" name="Viz2 rect 9537"/>
          <p:cNvSpPr/>
          <p:nvPr/>
        </p:nvSpPr>
        <p:spPr>
          <a:xfrm>
            <a:off x="271576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8" name="Viz2 rect 9538"/>
          <p:cNvSpPr/>
          <p:nvPr/>
        </p:nvSpPr>
        <p:spPr>
          <a:xfrm>
            <a:off x="3008375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39" name="Viz2 rect 9539"/>
          <p:cNvSpPr/>
          <p:nvPr/>
        </p:nvSpPr>
        <p:spPr>
          <a:xfrm>
            <a:off x="3300983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40" name="Viz2 rect 9540"/>
          <p:cNvSpPr/>
          <p:nvPr/>
        </p:nvSpPr>
        <p:spPr>
          <a:xfrm>
            <a:off x="3593591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44" name="Viz2 rect 9544"/>
          <p:cNvSpPr/>
          <p:nvPr/>
        </p:nvSpPr>
        <p:spPr>
          <a:xfrm>
            <a:off x="3922776" y="2212848"/>
            <a:ext cx="1005840" cy="365760"/>
          </a:xfrm>
          <a:prstGeom prst="rect">
            <a:avLst/>
          </a:prstGeom>
          <a:solidFill>
            <a:srgbClr val="F5CCC4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C0392B"/>
                </a:solidFill>
              </a:rPr>
              <a:t>?</a:t>
            </a:r>
          </a:p>
        </p:txBody>
      </p:sp>
      <p:sp>
        <p:nvSpPr>
          <p:cNvPr id="9545" name="Viz2 rect 9545"/>
          <p:cNvSpPr/>
          <p:nvPr/>
        </p:nvSpPr>
        <p:spPr>
          <a:xfrm>
            <a:off x="4983480" y="2212848"/>
            <a:ext cx="1188720" cy="365760"/>
          </a:xfrm>
          <a:prstGeom prst="rect">
            <a:avLst/>
          </a:prstGeom>
          <a:solidFill>
            <a:srgbClr val="F5CCC4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C0392B"/>
                </a:solidFill>
              </a:rPr>
              <a:t>?</a:t>
            </a:r>
          </a:p>
        </p:txBody>
      </p:sp>
      <p:sp>
        <p:nvSpPr>
          <p:cNvPr id="9546" name="Viz2 rect 9546"/>
          <p:cNvSpPr/>
          <p:nvPr/>
        </p:nvSpPr>
        <p:spPr>
          <a:xfrm>
            <a:off x="6227064" y="2212848"/>
            <a:ext cx="14630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47" name="Viz2 rightArrow 9547"/>
          <p:cNvSpPr/>
          <p:nvPr/>
        </p:nvSpPr>
        <p:spPr>
          <a:xfrm>
            <a:off x="960120" y="2029968"/>
            <a:ext cx="5166360" cy="12801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48" name="Viz2 rect 9548"/>
          <p:cNvSpPr/>
          <p:nvPr/>
        </p:nvSpPr>
        <p:spPr>
          <a:xfrm>
            <a:off x="6236208" y="195681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l"/>
            <a:r>
              <a:rPr lang="en-US" sz="900" b="1" i="1">
                <a:solidFill>
                  <a:srgbClr val="C0392B"/>
                </a:solidFill>
              </a:rPr>
              <a:t>… past the end!</a:t>
            </a:r>
          </a:p>
        </p:txBody>
      </p:sp>
      <p:sp>
        <p:nvSpPr>
          <p:cNvPr id="9549" name="Viz2 rect 9549"/>
          <p:cNvSpPr/>
          <p:nvPr/>
        </p:nvSpPr>
        <p:spPr>
          <a:xfrm>
            <a:off x="960120" y="26334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Errors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6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kind of flaw shown in this example is called a </a:t>
            </a:r>
            <a:r>
              <a:rPr b="1"/>
              <a:t>memory error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Most common type of flaw in current vulnerabilities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Approximately 70% of vulnerabilities </a:t>
            </a:r>
            <a:r>
              <a:t>reported by Google and Microsoft independently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Can occur in languages that are not </a:t>
            </a:r>
            <a:r>
              <a:rPr b="1"/>
              <a:t>memory-safe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We’ll discuss what “memory-safe” means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Several languages are not memory safe (C/C++) or allow unsafe uses (Rust)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These languages are used for high performance 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9301" name="Viz stat 9301"/>
          <p:cNvSpPr/>
          <p:nvPr/>
        </p:nvSpPr>
        <p:spPr>
          <a:xfrm>
            <a:off x="1234440" y="384048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/>
          <a:lstStyle/>
          <a:p>
            <a:pPr algn="r"/>
            <a:r>
              <a:rPr lang="en-US" sz="3600" b="1">
                <a:solidFill>
                  <a:srgbClr val="E47932"/>
                </a:solidFill>
              </a:rPr>
              <a:t>~70%</a:t>
            </a:r>
          </a:p>
        </p:txBody>
      </p:sp>
      <p:sp>
        <p:nvSpPr>
          <p:cNvPr id="9302" name="Viz stat 9302"/>
          <p:cNvSpPr/>
          <p:nvPr/>
        </p:nvSpPr>
        <p:spPr>
          <a:xfrm>
            <a:off x="3429000" y="384048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/>
          <a:lstStyle/>
          <a:p>
            <a:pPr algn="l"/>
            <a:r>
              <a:rPr lang="en-US" sz="1250">
                <a:solidFill>
                  <a:srgbClr val="000000"/>
                </a:solidFill>
              </a:rPr>
              <a:t>of vulnerabilities reported by Google</a:t>
            </a:r>
          </a:p>
          <a:p>
            <a:pPr algn="l"/>
            <a:r>
              <a:rPr lang="en-US" sz="1250">
                <a:solidFill>
                  <a:srgbClr val="000000"/>
                </a:solidFill>
              </a:rPr>
              <a:t>and Microsoft are memory errors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Kinds of Flaws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But, there are </a:t>
            </a:r>
            <a:r>
              <a:rPr b="1"/>
              <a:t>many</a:t>
            </a:r>
            <a:r>
              <a:t> </a:t>
            </a:r>
            <a:r>
              <a:rPr b="1"/>
              <a:t>other causes of flaws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Which typically involve other ways of mixing adversary-controlled input with code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Supply inputs that change the way the program executes (e.g., change the return address)</a:t>
            </a:r>
          </a:p>
          <a:p>
            <a:pPr marL="10287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Without a memory error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Includes (we will discuss later)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SQL injection 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Cross-site scripting and request forgery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LLM prompt injections 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9211" name="Viz roundRect 9211"/>
          <p:cNvSpPr/>
          <p:nvPr/>
        </p:nvSpPr>
        <p:spPr>
          <a:xfrm>
            <a:off x="1211580" y="4133087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050" b="1" i="0">
                <a:solidFill>
                  <a:srgbClr val="000000"/>
                </a:solidFill>
              </a:rPr>
              <a:t>SQL injection</a:t>
            </a:r>
          </a:p>
        </p:txBody>
      </p:sp>
      <p:sp>
        <p:nvSpPr>
          <p:cNvPr id="9212" name="Viz roundRect 9212"/>
          <p:cNvSpPr/>
          <p:nvPr/>
        </p:nvSpPr>
        <p:spPr>
          <a:xfrm>
            <a:off x="3543300" y="4133087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050" b="1" i="0">
                <a:solidFill>
                  <a:srgbClr val="000000"/>
                </a:solidFill>
              </a:rPr>
              <a:t>XSS &amp; CSRF</a:t>
            </a:r>
          </a:p>
        </p:txBody>
      </p:sp>
      <p:sp>
        <p:nvSpPr>
          <p:cNvPr id="9213" name="Viz roundRect 9213"/>
          <p:cNvSpPr/>
          <p:nvPr/>
        </p:nvSpPr>
        <p:spPr>
          <a:xfrm>
            <a:off x="5875020" y="4133087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050" b="1" i="0">
                <a:solidFill>
                  <a:srgbClr val="000000"/>
                </a:solidFill>
              </a:rPr>
              <a:t>LLM prompt injection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Popularity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Top 8 languages per the TIOBE index </a:t>
            </a:r>
            <a:r>
              <a:rPr>
                <a:hlinkClick r:id="rId2"/>
              </a:rPr>
              <a:t>https://www.tiobe.com/tiobe-index/</a:t>
            </a:r>
            <a:r>
              <a:t> 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1. Python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2. </a:t>
            </a:r>
            <a:r>
              <a:rPr b="1"/>
              <a:t>C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3. </a:t>
            </a:r>
            <a:r>
              <a:rPr b="1"/>
              <a:t>C++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4. Java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5. C#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6. JavaScript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7. Visual Basic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8. SQL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Other languages expend overhead to enforce memory safety (e.g., garbage collection)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Accessibility?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vulnerability</a:t>
            </a:r>
            <a:r>
              <a:t> is a </a:t>
            </a:r>
            <a:r>
              <a:rPr b="1"/>
              <a:t>flaw</a:t>
            </a:r>
            <a:r>
              <a:t> (e.g., in software) that is </a:t>
            </a:r>
            <a:r>
              <a:rPr b="1"/>
              <a:t>accessible to an adversary </a:t>
            </a:r>
            <a:r>
              <a:t>who </a:t>
            </a:r>
            <a:r>
              <a:rPr b="1"/>
              <a:t>can exploit </a:t>
            </a:r>
            <a:r>
              <a:t>that flaw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Accessibility</a:t>
            </a:r>
            <a:r>
              <a:t> – Can an adversary access the flaw? 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What does “access” mean?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9011" name="Viz roundRect 9011"/>
          <p:cNvSpPr/>
          <p:nvPr/>
        </p:nvSpPr>
        <p:spPr>
          <a:xfrm>
            <a:off x="1188719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Flaw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violates security</a:t>
            </a:r>
          </a:p>
        </p:txBody>
      </p:sp>
      <p:sp>
        <p:nvSpPr>
          <p:cNvPr id="9012" name="Viz rightArrow 9012"/>
          <p:cNvSpPr/>
          <p:nvPr/>
        </p:nvSpPr>
        <p:spPr>
          <a:xfrm>
            <a:off x="3172968" y="3639312"/>
            <a:ext cx="374904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013" name="Viz roundRect 9013"/>
          <p:cNvSpPr/>
          <p:nvPr/>
        </p:nvSpPr>
        <p:spPr>
          <a:xfrm>
            <a:off x="3611880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Accessible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adversary reaches it</a:t>
            </a:r>
          </a:p>
        </p:txBody>
      </p:sp>
      <p:sp>
        <p:nvSpPr>
          <p:cNvPr id="9014" name="Viz rightArrow 9014"/>
          <p:cNvSpPr/>
          <p:nvPr/>
        </p:nvSpPr>
        <p:spPr>
          <a:xfrm>
            <a:off x="5596128" y="3639312"/>
            <a:ext cx="374904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015" name="Viz roundRect 9015"/>
          <p:cNvSpPr/>
          <p:nvPr/>
        </p:nvSpPr>
        <p:spPr>
          <a:xfrm>
            <a:off x="6035040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Exploit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causes violation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to Accessibility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vulnerability</a:t>
            </a:r>
            <a:r>
              <a:t> is a </a:t>
            </a:r>
            <a:r>
              <a:rPr b="1"/>
              <a:t>flaw</a:t>
            </a:r>
            <a:r>
              <a:t> (e.g., in software) that is </a:t>
            </a:r>
            <a:r>
              <a:rPr b="1"/>
              <a:t>accessible to an adversary </a:t>
            </a:r>
            <a:r>
              <a:t>who </a:t>
            </a:r>
            <a:r>
              <a:rPr b="1"/>
              <a:t>can exploit </a:t>
            </a:r>
            <a:r>
              <a:t>that flaw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Accessibility</a:t>
            </a:r>
            <a:r>
              <a:t> – Can an adversary access the flaw? 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I.e., Cause the flawed action to happen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Can the adversary cause the </a:t>
            </a:r>
            <a:r>
              <a:rPr b="1"/>
              <a:t>flawed code to run</a:t>
            </a:r>
            <a:r>
              <a:t>?  Can the adversary </a:t>
            </a:r>
            <a:r>
              <a:rPr b="1"/>
              <a:t>supply the inputs </a:t>
            </a:r>
            <a:r>
              <a:t>to cause the flawed action to happen?  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Is “</a:t>
            </a:r>
            <a:r>
              <a:rPr b="1"/>
              <a:t>source</a:t>
            </a:r>
            <a:r>
              <a:t>” accessible to an adversary?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Can an adversary cause “</a:t>
            </a:r>
            <a:r>
              <a:rPr b="1"/>
              <a:t>sscanf</a:t>
            </a:r>
            <a:r>
              <a:t>” to run?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9614" name="Viz2 roundRect 9614"/>
          <p:cNvSpPr/>
          <p:nvPr/>
        </p:nvSpPr>
        <p:spPr>
          <a:xfrm>
            <a:off x="822960" y="205740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15" name="Viz2 rect 9615"/>
          <p:cNvSpPr/>
          <p:nvPr/>
        </p:nvSpPr>
        <p:spPr>
          <a:xfrm>
            <a:off x="914400" y="2491740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16" name="Viz2 rect 9616"/>
          <p:cNvSpPr/>
          <p:nvPr/>
        </p:nvSpPr>
        <p:spPr>
          <a:xfrm>
            <a:off x="914400" y="3177540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17" name="Viz2 code 9617"/>
          <p:cNvSpPr/>
          <p:nvPr/>
        </p:nvSpPr>
        <p:spPr>
          <a:xfrm>
            <a:off x="987552" y="214884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  <p:sp>
        <p:nvSpPr>
          <p:cNvPr id="9618" name="Viz2 roundRect 9618"/>
          <p:cNvSpPr/>
          <p:nvPr/>
        </p:nvSpPr>
        <p:spPr>
          <a:xfrm>
            <a:off x="4892040" y="2212848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who controls source?</a:t>
            </a:r>
          </a:p>
        </p:txBody>
      </p:sp>
      <p:sp>
        <p:nvSpPr>
          <p:cNvPr id="9619" name="Viz2 leftArrow 9619"/>
          <p:cNvSpPr/>
          <p:nvPr/>
        </p:nvSpPr>
        <p:spPr>
          <a:xfrm>
            <a:off x="4517136" y="2522601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20" name="Viz2 roundRect 9620"/>
          <p:cNvSpPr/>
          <p:nvPr/>
        </p:nvSpPr>
        <p:spPr>
          <a:xfrm>
            <a:off x="4892040" y="2944368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50" b="0" i="0">
                <a:solidFill>
                  <a:srgbClr val="202020"/>
                </a:solidFill>
              </a:rPr>
              <a:t>can an adversary make this run?</a:t>
            </a:r>
          </a:p>
        </p:txBody>
      </p:sp>
      <p:sp>
        <p:nvSpPr>
          <p:cNvPr id="9621" name="Viz2 leftArrow 9621"/>
          <p:cNvSpPr/>
          <p:nvPr/>
        </p:nvSpPr>
        <p:spPr>
          <a:xfrm>
            <a:off x="4517136" y="3208401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Vulnerabilities connect exploitable flaws in programs with adversary accessibility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</a:t>
            </a:r>
            <a:r>
              <a:rPr b="1"/>
              <a:t>resources an adversary can access </a:t>
            </a:r>
            <a:r>
              <a:t>from a program’s attack surface</a:t>
            </a:r>
            <a:r>
              <a:rPr b="1"/>
              <a:t> </a:t>
            </a:r>
            <a:r>
              <a:t>and the </a:t>
            </a:r>
            <a:r>
              <a:rPr b="1"/>
              <a:t>operations an adversary can perform on those resources </a:t>
            </a:r>
            <a:r>
              <a:t>form the </a:t>
            </a:r>
            <a:r>
              <a:rPr b="1"/>
              <a:t>Threat Model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You must consider systematically what threats your programs face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9214" name="Viz rect 9214"/>
          <p:cNvSpPr/>
          <p:nvPr/>
        </p:nvSpPr>
        <p:spPr>
          <a:xfrm>
            <a:off x="3657600" y="34381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000" b="0" i="1">
                <a:solidFill>
                  <a:srgbClr val="8A8A8A"/>
                </a:solidFill>
              </a:rPr>
              <a:t>operations</a:t>
            </a:r>
          </a:p>
        </p:txBody>
      </p:sp>
      <p:sp>
        <p:nvSpPr>
          <p:cNvPr id="9215" name="Viz roundRect 9215"/>
          <p:cNvSpPr/>
          <p:nvPr/>
        </p:nvSpPr>
        <p:spPr>
          <a:xfrm>
            <a:off x="1828800" y="3749039"/>
            <a:ext cx="1737360" cy="64008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Adversary</a:t>
            </a:r>
          </a:p>
        </p:txBody>
      </p:sp>
      <p:sp>
        <p:nvSpPr>
          <p:cNvPr id="9216" name="Viz rightArrow 9216"/>
          <p:cNvSpPr/>
          <p:nvPr/>
        </p:nvSpPr>
        <p:spPr>
          <a:xfrm>
            <a:off x="3703320" y="3913632"/>
            <a:ext cx="1737360" cy="329184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217" name="Viz roundRect 9217"/>
          <p:cNvSpPr/>
          <p:nvPr/>
        </p:nvSpPr>
        <p:spPr>
          <a:xfrm>
            <a:off x="5577840" y="3749039"/>
            <a:ext cx="1737360" cy="64008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Resources</a:t>
            </a:r>
          </a:p>
        </p:txBody>
      </p:sp>
      <p:sp>
        <p:nvSpPr>
          <p:cNvPr id="9218" name="Viz rect 9218"/>
          <p:cNvSpPr/>
          <p:nvPr/>
        </p:nvSpPr>
        <p:spPr>
          <a:xfrm>
            <a:off x="3017520" y="44622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000" b="0" i="1">
                <a:solidFill>
                  <a:srgbClr val="8A8A8A"/>
                </a:solidFill>
              </a:rPr>
              <a:t>attack surface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are the resources and operations on those resources that form the threats here?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9607" name="Viz2 roundRect 9607"/>
          <p:cNvSpPr/>
          <p:nvPr/>
        </p:nvSpPr>
        <p:spPr>
          <a:xfrm>
            <a:off x="2743200" y="210312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08" name="Viz2 code 9608"/>
          <p:cNvSpPr/>
          <p:nvPr/>
        </p:nvSpPr>
        <p:spPr>
          <a:xfrm>
            <a:off x="2907792" y="219456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Can supply (write) the values from the command line – argv[] and argc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9622" name="Viz2 roundRect 9622"/>
          <p:cNvSpPr/>
          <p:nvPr/>
        </p:nvSpPr>
        <p:spPr>
          <a:xfrm>
            <a:off x="822960" y="205740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23" name="Viz2 rect 9623"/>
          <p:cNvSpPr/>
          <p:nvPr/>
        </p:nvSpPr>
        <p:spPr>
          <a:xfrm>
            <a:off x="914400" y="4034789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24" name="Viz2 code 9624"/>
          <p:cNvSpPr/>
          <p:nvPr/>
        </p:nvSpPr>
        <p:spPr>
          <a:xfrm>
            <a:off x="987552" y="214884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  <p:sp>
        <p:nvSpPr>
          <p:cNvPr id="9625" name="Viz2 roundRect 9625"/>
          <p:cNvSpPr/>
          <p:nvPr/>
        </p:nvSpPr>
        <p:spPr>
          <a:xfrm>
            <a:off x="4892040" y="365760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argv and argc come straight from the command line</a:t>
            </a:r>
          </a:p>
        </p:txBody>
      </p:sp>
      <p:sp>
        <p:nvSpPr>
          <p:cNvPr id="9626" name="Viz2 leftArrow 9626"/>
          <p:cNvSpPr/>
          <p:nvPr/>
        </p:nvSpPr>
        <p:spPr>
          <a:xfrm>
            <a:off x="4517136" y="4065651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 adversary can supply the value “</a:t>
            </a:r>
            <a:r>
              <a:rPr b="1"/>
              <a:t>source</a:t>
            </a:r>
            <a:r>
              <a:t>” indirectly from the command line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9627" name="Viz2 roundRect 9627"/>
          <p:cNvSpPr/>
          <p:nvPr/>
        </p:nvSpPr>
        <p:spPr>
          <a:xfrm>
            <a:off x="822960" y="2057400"/>
            <a:ext cx="3657600" cy="2871216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28" name="Viz2 rect 9628"/>
          <p:cNvSpPr/>
          <p:nvPr/>
        </p:nvSpPr>
        <p:spPr>
          <a:xfrm>
            <a:off x="914400" y="2491740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29" name="Viz2 rect 9629"/>
          <p:cNvSpPr/>
          <p:nvPr/>
        </p:nvSpPr>
        <p:spPr>
          <a:xfrm>
            <a:off x="914400" y="4377690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30" name="Viz2 code 9630"/>
          <p:cNvSpPr/>
          <p:nvPr/>
        </p:nvSpPr>
        <p:spPr>
          <a:xfrm>
            <a:off x="987552" y="2148840"/>
            <a:ext cx="3383280" cy="272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"buffer address: %p\n\n"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main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argc,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*argv[]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argv[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  <p:sp>
        <p:nvSpPr>
          <p:cNvPr id="9631" name="Viz2 roundRect 9631"/>
          <p:cNvSpPr/>
          <p:nvPr/>
        </p:nvSpPr>
        <p:spPr>
          <a:xfrm>
            <a:off x="4892040" y="406908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1. the adversary types this argument</a:t>
            </a:r>
          </a:p>
        </p:txBody>
      </p:sp>
      <p:sp>
        <p:nvSpPr>
          <p:cNvPr id="9632" name="Viz2 leftArrow 9632"/>
          <p:cNvSpPr/>
          <p:nvPr/>
        </p:nvSpPr>
        <p:spPr>
          <a:xfrm>
            <a:off x="4517136" y="4408551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633" name="Viz2 roundRect 9633"/>
          <p:cNvSpPr/>
          <p:nvPr/>
        </p:nvSpPr>
        <p:spPr>
          <a:xfrm>
            <a:off x="4892040" y="2212848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2. … and it arrives here as source</a:t>
            </a:r>
          </a:p>
        </p:txBody>
      </p:sp>
      <p:sp>
        <p:nvSpPr>
          <p:cNvPr id="9634" name="Viz2 leftArrow 9634"/>
          <p:cNvSpPr/>
          <p:nvPr/>
        </p:nvSpPr>
        <p:spPr>
          <a:xfrm>
            <a:off x="4517136" y="2522601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Exploitation?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vulnerability</a:t>
            </a:r>
            <a:r>
              <a:t> is a </a:t>
            </a:r>
            <a:r>
              <a:rPr b="1"/>
              <a:t>flaw</a:t>
            </a:r>
            <a:r>
              <a:t> (e.g., in software) that is </a:t>
            </a:r>
            <a:r>
              <a:rPr b="1"/>
              <a:t>accessible to an adversary </a:t>
            </a:r>
            <a:r>
              <a:t>who </a:t>
            </a:r>
            <a:r>
              <a:rPr b="1"/>
              <a:t>can exploit </a:t>
            </a:r>
            <a:r>
              <a:t>that flaw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Exploit</a:t>
            </a:r>
            <a:r>
              <a:t> – Can the adversary use the accessible flaw to cause the program’s execution to violate a security requirement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What are violations of security requirements?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9016" name="Viz roundRect 9016"/>
          <p:cNvSpPr/>
          <p:nvPr/>
        </p:nvSpPr>
        <p:spPr>
          <a:xfrm>
            <a:off x="1188719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Flaw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violates security</a:t>
            </a:r>
          </a:p>
        </p:txBody>
      </p:sp>
      <p:sp>
        <p:nvSpPr>
          <p:cNvPr id="9017" name="Viz rightArrow 9017"/>
          <p:cNvSpPr/>
          <p:nvPr/>
        </p:nvSpPr>
        <p:spPr>
          <a:xfrm>
            <a:off x="3172968" y="3639312"/>
            <a:ext cx="374904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018" name="Viz roundRect 9018"/>
          <p:cNvSpPr/>
          <p:nvPr/>
        </p:nvSpPr>
        <p:spPr>
          <a:xfrm>
            <a:off x="3611880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Accessible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adversary reaches it</a:t>
            </a:r>
          </a:p>
        </p:txBody>
      </p:sp>
      <p:sp>
        <p:nvSpPr>
          <p:cNvPr id="9019" name="Viz rightArrow 9019"/>
          <p:cNvSpPr/>
          <p:nvPr/>
        </p:nvSpPr>
        <p:spPr>
          <a:xfrm>
            <a:off x="5596128" y="3639312"/>
            <a:ext cx="374904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18288" tIns="9144" rIns="18288" bIns="9144" anchor="ctr"/>
          <a:lstStyle/>
          <a:p>
            <a:endParaRPr/>
          </a:p>
        </p:txBody>
      </p:sp>
      <p:sp>
        <p:nvSpPr>
          <p:cNvPr id="9020" name="Viz roundRect 9020"/>
          <p:cNvSpPr/>
          <p:nvPr/>
        </p:nvSpPr>
        <p:spPr>
          <a:xfrm>
            <a:off x="6035040" y="3383280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18288" tIns="9144" rIns="18288" bIns="9144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Exploit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causes violation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Be Exploited?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is in the yellow memory area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Stack memory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/>
              <a:t>What does stack memory look like?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9550" name="Viz2 rect 9550"/>
          <p:cNvSpPr/>
          <p:nvPr/>
        </p:nvSpPr>
        <p:spPr>
          <a:xfrm>
            <a:off x="960120" y="2212848"/>
            <a:ext cx="960120" cy="36576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00" b="1" i="0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9551" name="Viz2 rect 9551"/>
          <p:cNvSpPr/>
          <p:nvPr/>
        </p:nvSpPr>
        <p:spPr>
          <a:xfrm>
            <a:off x="1920240" y="2212848"/>
            <a:ext cx="960120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00" b="1" i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9552" name="Viz2 rect 9552"/>
          <p:cNvSpPr/>
          <p:nvPr/>
        </p:nvSpPr>
        <p:spPr>
          <a:xfrm>
            <a:off x="2880360" y="2212848"/>
            <a:ext cx="1325880" cy="365760"/>
          </a:xfrm>
          <a:prstGeom prst="rect">
            <a:avLst/>
          </a:prstGeom>
          <a:solidFill>
            <a:srgbClr val="F4AB70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00" b="1" i="0">
                <a:solidFill>
                  <a:srgbClr val="000000"/>
                </a:solidFill>
              </a:rPr>
              <a:t>Heap</a:t>
            </a:r>
          </a:p>
        </p:txBody>
      </p:sp>
      <p:sp>
        <p:nvSpPr>
          <p:cNvPr id="9553" name="Viz2 rect 9553"/>
          <p:cNvSpPr/>
          <p:nvPr/>
        </p:nvSpPr>
        <p:spPr>
          <a:xfrm>
            <a:off x="4206240" y="2212848"/>
            <a:ext cx="160020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00" b="0" i="1">
                <a:solidFill>
                  <a:srgbClr val="8A8A8A"/>
                </a:solidFill>
              </a:rPr>
              <a:t>free</a:t>
            </a:r>
          </a:p>
        </p:txBody>
      </p:sp>
      <p:sp>
        <p:nvSpPr>
          <p:cNvPr id="9554" name="Viz2 rect 9554"/>
          <p:cNvSpPr/>
          <p:nvPr/>
        </p:nvSpPr>
        <p:spPr>
          <a:xfrm>
            <a:off x="5806440" y="2212848"/>
            <a:ext cx="1783080" cy="36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900" b="1" i="0">
                <a:solidFill>
                  <a:srgbClr val="000000"/>
                </a:solidFill>
              </a:rPr>
              <a:t>Stack</a:t>
            </a:r>
          </a:p>
        </p:txBody>
      </p:sp>
      <p:sp>
        <p:nvSpPr>
          <p:cNvPr id="9555" name="Viz2 rect 9555"/>
          <p:cNvSpPr/>
          <p:nvPr/>
        </p:nvSpPr>
        <p:spPr>
          <a:xfrm>
            <a:off x="914400" y="263347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l"/>
            <a:r>
              <a:rPr lang="en-US" sz="85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556" name="Viz2 rect 9556"/>
          <p:cNvSpPr/>
          <p:nvPr/>
        </p:nvSpPr>
        <p:spPr>
          <a:xfrm>
            <a:off x="6675120" y="263347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r"/>
            <a:r>
              <a:rPr lang="en-US" sz="850" b="0" i="0">
                <a:solidFill>
                  <a:srgbClr val="000000"/>
                </a:solidFill>
              </a:rPr>
              <a:t>2ⁿ–1</a:t>
            </a:r>
          </a:p>
        </p:txBody>
      </p:sp>
      <p:sp>
        <p:nvSpPr>
          <p:cNvPr id="9557" name="Viz2 rect 9557"/>
          <p:cNvSpPr/>
          <p:nvPr/>
        </p:nvSpPr>
        <p:spPr>
          <a:xfrm>
            <a:off x="3246120" y="263347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00" b="0" i="1">
                <a:solidFill>
                  <a:srgbClr val="8A8A8A"/>
                </a:solidFill>
              </a:rPr>
              <a:t>heap grows →</a:t>
            </a:r>
          </a:p>
        </p:txBody>
      </p:sp>
      <p:sp>
        <p:nvSpPr>
          <p:cNvPr id="9558" name="Viz2 rect 9558"/>
          <p:cNvSpPr/>
          <p:nvPr/>
        </p:nvSpPr>
        <p:spPr>
          <a:xfrm>
            <a:off x="4709160" y="26334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00" b="0" i="1">
                <a:solidFill>
                  <a:srgbClr val="8A8A8A"/>
                </a:solidFill>
              </a:rPr>
              <a:t>← stack grows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Execution</a:t>
            </a:r>
          </a:p>
        </p:txBody>
      </p:sp>
      <p:sp>
        <p:nvSpPr>
          <p:cNvPr id="1019" name="Rounded Rectangle 12" descr=" 13"/>
          <p:cNvSpPr/>
          <p:nvPr/>
        </p:nvSpPr>
        <p:spPr>
          <a:xfrm>
            <a:off x="3782239" y="1285978"/>
            <a:ext cx="1632171" cy="3685547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020" name="Rounded Rectangle 11" descr=" 12"/>
          <p:cNvSpPr/>
          <p:nvPr/>
        </p:nvSpPr>
        <p:spPr>
          <a:xfrm>
            <a:off x="1570910" y="1307952"/>
            <a:ext cx="1632171" cy="3685547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File system</a:t>
            </a:r>
          </a:p>
        </p:txBody>
      </p:sp>
      <p:sp>
        <p:nvSpPr>
          <p:cNvPr id="1021" name="Rounded Rectangle 5" descr=" 6"/>
          <p:cNvSpPr/>
          <p:nvPr/>
        </p:nvSpPr>
        <p:spPr>
          <a:xfrm>
            <a:off x="1781513" y="1422632"/>
            <a:ext cx="1210965" cy="1938696"/>
          </a:xfrm>
          <a:prstGeom prst="roundRect">
            <a:avLst/>
          </a:prstGeom>
          <a:solidFill>
            <a:srgbClr val="E47932"/>
          </a:solidFill>
          <a:ln>
            <a:solidFill>
              <a:srgbClr val="E47932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t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Binary</a:t>
            </a:r>
          </a:p>
        </p:txBody>
      </p:sp>
      <p:grpSp>
        <p:nvGrpSpPr>
          <p:cNvPr id="1022" name="Group 19" descr=" 20"/>
          <p:cNvGrpSpPr/>
          <p:nvPr/>
        </p:nvGrpSpPr>
        <p:grpSpPr>
          <a:xfrm>
            <a:off x="1939466" y="1834458"/>
            <a:ext cx="895060" cy="1368917"/>
            <a:chOff x="1066801" y="2057400"/>
            <a:chExt cx="1295399" cy="1981200"/>
          </a:xfrm>
        </p:grpSpPr>
        <p:sp>
          <p:nvSpPr>
            <p:cNvPr id="1023" name="Rounded Rectangle 6"/>
            <p:cNvSpPr/>
            <p:nvPr/>
          </p:nvSpPr>
          <p:spPr>
            <a:xfrm>
              <a:off x="1066801" y="2057400"/>
              <a:ext cx="1295399" cy="6858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Code </a:t>
              </a:r>
            </a:p>
          </p:txBody>
        </p:sp>
        <p:sp>
          <p:nvSpPr>
            <p:cNvPr id="1024" name="Rounded Rectangle 7"/>
            <p:cNvSpPr/>
            <p:nvPr/>
          </p:nvSpPr>
          <p:spPr>
            <a:xfrm>
              <a:off x="1066801" y="2819400"/>
              <a:ext cx="1295399" cy="6096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Data</a:t>
              </a:r>
            </a:p>
          </p:txBody>
        </p:sp>
        <p:sp>
          <p:nvSpPr>
            <p:cNvPr id="1025" name="Rounded Rectangle 9"/>
            <p:cNvSpPr/>
            <p:nvPr/>
          </p:nvSpPr>
          <p:spPr>
            <a:xfrm>
              <a:off x="1066801" y="3581400"/>
              <a:ext cx="1295399" cy="4572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...</a:t>
              </a:r>
            </a:p>
          </p:txBody>
        </p:sp>
      </p:grpSp>
      <p:sp>
        <p:nvSpPr>
          <p:cNvPr id="1026" name="Rounded Rectangle 20" descr=" 21"/>
          <p:cNvSpPr/>
          <p:nvPr/>
        </p:nvSpPr>
        <p:spPr>
          <a:xfrm>
            <a:off x="5940917" y="2255664"/>
            <a:ext cx="1632171" cy="737109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Processor</a:t>
            </a:r>
          </a:p>
        </p:txBody>
      </p:sp>
      <p:sp>
        <p:nvSpPr>
          <p:cNvPr id="1027" name="TextBox 27" descr=" 28"/>
          <p:cNvSpPr txBox="1"/>
          <p:nvPr/>
        </p:nvSpPr>
        <p:spPr>
          <a:xfrm>
            <a:off x="6151520" y="1150000"/>
            <a:ext cx="127595" cy="255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Execution</a:t>
            </a:r>
          </a:p>
        </p:txBody>
      </p:sp>
      <p:sp>
        <p:nvSpPr>
          <p:cNvPr id="1028" name="Rounded Rectangle 12" descr=" 13"/>
          <p:cNvSpPr/>
          <p:nvPr/>
        </p:nvSpPr>
        <p:spPr>
          <a:xfrm>
            <a:off x="3782239" y="1285978"/>
            <a:ext cx="1632171" cy="3685547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029" name="Rounded Rectangle 11" descr=" 12"/>
          <p:cNvSpPr/>
          <p:nvPr/>
        </p:nvSpPr>
        <p:spPr>
          <a:xfrm>
            <a:off x="1570910" y="1307952"/>
            <a:ext cx="1632171" cy="3685547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File system</a:t>
            </a:r>
          </a:p>
        </p:txBody>
      </p:sp>
      <p:sp>
        <p:nvSpPr>
          <p:cNvPr id="1030" name="Rounded Rectangle 5" descr=" 6"/>
          <p:cNvSpPr/>
          <p:nvPr/>
        </p:nvSpPr>
        <p:spPr>
          <a:xfrm>
            <a:off x="1781513" y="1422632"/>
            <a:ext cx="1210965" cy="1938696"/>
          </a:xfrm>
          <a:prstGeom prst="roundRect">
            <a:avLst/>
          </a:prstGeom>
          <a:solidFill>
            <a:srgbClr val="E47932"/>
          </a:solidFill>
          <a:ln>
            <a:solidFill>
              <a:srgbClr val="E47932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t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Binary</a:t>
            </a:r>
          </a:p>
        </p:txBody>
      </p:sp>
      <p:grpSp>
        <p:nvGrpSpPr>
          <p:cNvPr id="1031" name="Group 19" descr=" 20"/>
          <p:cNvGrpSpPr/>
          <p:nvPr/>
        </p:nvGrpSpPr>
        <p:grpSpPr>
          <a:xfrm>
            <a:off x="4123754" y="1518775"/>
            <a:ext cx="895060" cy="1368917"/>
            <a:chOff x="1066801" y="2057400"/>
            <a:chExt cx="1295399" cy="1981200"/>
          </a:xfrm>
        </p:grpSpPr>
        <p:sp>
          <p:nvSpPr>
            <p:cNvPr id="1032" name="Rounded Rectangle 6"/>
            <p:cNvSpPr/>
            <p:nvPr/>
          </p:nvSpPr>
          <p:spPr>
            <a:xfrm>
              <a:off x="1066801" y="2057400"/>
              <a:ext cx="1295399" cy="6858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Code </a:t>
              </a:r>
            </a:p>
          </p:txBody>
        </p:sp>
        <p:sp>
          <p:nvSpPr>
            <p:cNvPr id="1033" name="Rounded Rectangle 7"/>
            <p:cNvSpPr/>
            <p:nvPr/>
          </p:nvSpPr>
          <p:spPr>
            <a:xfrm>
              <a:off x="1066801" y="2819400"/>
              <a:ext cx="1295399" cy="6096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Data</a:t>
              </a:r>
            </a:p>
          </p:txBody>
        </p:sp>
        <p:sp>
          <p:nvSpPr>
            <p:cNvPr id="1034" name="Rounded Rectangle 9"/>
            <p:cNvSpPr/>
            <p:nvPr/>
          </p:nvSpPr>
          <p:spPr>
            <a:xfrm>
              <a:off x="1066801" y="3581400"/>
              <a:ext cx="1295399" cy="4572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...</a:t>
              </a:r>
            </a:p>
          </p:txBody>
        </p:sp>
      </p:grpSp>
      <p:sp>
        <p:nvSpPr>
          <p:cNvPr id="1035" name="Rounded Rectangle 13" descr=" 16"/>
          <p:cNvSpPr/>
          <p:nvPr/>
        </p:nvSpPr>
        <p:spPr>
          <a:xfrm>
            <a:off x="4150794" y="2940123"/>
            <a:ext cx="895060" cy="631808"/>
          </a:xfrm>
          <a:prstGeom prst="roundRect">
            <a:avLst/>
          </a:prstGeom>
          <a:solidFill>
            <a:srgbClr val="F4AB70"/>
          </a:solidFill>
          <a:ln>
            <a:solidFill>
              <a:srgbClr val="FFFFFF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036" name="Rounded Rectangle 14" descr=" 17"/>
          <p:cNvSpPr/>
          <p:nvPr/>
        </p:nvSpPr>
        <p:spPr>
          <a:xfrm>
            <a:off x="4150794" y="3624582"/>
            <a:ext cx="895060" cy="631808"/>
          </a:xfrm>
          <a:prstGeom prst="roundRect">
            <a:avLst/>
          </a:prstGeom>
          <a:solidFill>
            <a:srgbClr val="F4AB70"/>
          </a:solidFill>
          <a:ln>
            <a:solidFill>
              <a:srgbClr val="FFFFFF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Heap</a:t>
            </a:r>
          </a:p>
        </p:txBody>
      </p:sp>
      <p:sp>
        <p:nvSpPr>
          <p:cNvPr id="1037" name="Rounded Rectangle 20" descr=" 21"/>
          <p:cNvSpPr/>
          <p:nvPr/>
        </p:nvSpPr>
        <p:spPr>
          <a:xfrm>
            <a:off x="5940917" y="2255664"/>
            <a:ext cx="1632171" cy="737109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Processor</a:t>
            </a:r>
          </a:p>
        </p:txBody>
      </p:sp>
      <p:sp>
        <p:nvSpPr>
          <p:cNvPr id="1038" name="TextBox 27" descr=" 28"/>
          <p:cNvSpPr txBox="1"/>
          <p:nvPr/>
        </p:nvSpPr>
        <p:spPr>
          <a:xfrm>
            <a:off x="6151520" y="1150000"/>
            <a:ext cx="127595" cy="255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Execution</a:t>
            </a:r>
          </a:p>
        </p:txBody>
      </p:sp>
      <p:sp>
        <p:nvSpPr>
          <p:cNvPr id="1039" name="Rounded Rectangle 12" descr=" 13"/>
          <p:cNvSpPr/>
          <p:nvPr/>
        </p:nvSpPr>
        <p:spPr>
          <a:xfrm>
            <a:off x="3730636" y="1285978"/>
            <a:ext cx="1632171" cy="3685547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040" name="Rounded Rectangle 11" descr=" 12"/>
          <p:cNvSpPr/>
          <p:nvPr/>
        </p:nvSpPr>
        <p:spPr>
          <a:xfrm>
            <a:off x="1519308" y="1307952"/>
            <a:ext cx="1632171" cy="3685547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File system</a:t>
            </a:r>
          </a:p>
        </p:txBody>
      </p:sp>
      <p:sp>
        <p:nvSpPr>
          <p:cNvPr id="1041" name="Rounded Rectangle 5" descr=" 6"/>
          <p:cNvSpPr/>
          <p:nvPr/>
        </p:nvSpPr>
        <p:spPr>
          <a:xfrm>
            <a:off x="1729910" y="1422632"/>
            <a:ext cx="1210965" cy="1938696"/>
          </a:xfrm>
          <a:prstGeom prst="roundRect">
            <a:avLst/>
          </a:prstGeom>
          <a:solidFill>
            <a:srgbClr val="E47932"/>
          </a:solidFill>
          <a:ln>
            <a:solidFill>
              <a:srgbClr val="E47932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t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Binary</a:t>
            </a:r>
          </a:p>
        </p:txBody>
      </p:sp>
      <p:grpSp>
        <p:nvGrpSpPr>
          <p:cNvPr id="1042" name="Group 19" descr=" 20"/>
          <p:cNvGrpSpPr/>
          <p:nvPr/>
        </p:nvGrpSpPr>
        <p:grpSpPr>
          <a:xfrm>
            <a:off x="4072151" y="1518775"/>
            <a:ext cx="895060" cy="1368917"/>
            <a:chOff x="1066801" y="2057400"/>
            <a:chExt cx="1295399" cy="1981200"/>
          </a:xfrm>
        </p:grpSpPr>
        <p:sp>
          <p:nvSpPr>
            <p:cNvPr id="1043" name="Rounded Rectangle 6"/>
            <p:cNvSpPr/>
            <p:nvPr/>
          </p:nvSpPr>
          <p:spPr>
            <a:xfrm>
              <a:off x="1066801" y="2057400"/>
              <a:ext cx="1295399" cy="6858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Code </a:t>
              </a:r>
            </a:p>
          </p:txBody>
        </p:sp>
        <p:sp>
          <p:nvSpPr>
            <p:cNvPr id="1044" name="Rounded Rectangle 7"/>
            <p:cNvSpPr/>
            <p:nvPr/>
          </p:nvSpPr>
          <p:spPr>
            <a:xfrm>
              <a:off x="1066801" y="2819400"/>
              <a:ext cx="1295399" cy="6096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Data</a:t>
              </a:r>
            </a:p>
          </p:txBody>
        </p:sp>
        <p:sp>
          <p:nvSpPr>
            <p:cNvPr id="1045" name="Rounded Rectangle 9"/>
            <p:cNvSpPr/>
            <p:nvPr/>
          </p:nvSpPr>
          <p:spPr>
            <a:xfrm>
              <a:off x="1066801" y="3581400"/>
              <a:ext cx="1295399" cy="4572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...</a:t>
              </a:r>
            </a:p>
          </p:txBody>
        </p:sp>
      </p:grpSp>
      <p:sp>
        <p:nvSpPr>
          <p:cNvPr id="1046" name="Rounded Rectangle 13" descr=" 16"/>
          <p:cNvSpPr/>
          <p:nvPr/>
        </p:nvSpPr>
        <p:spPr>
          <a:xfrm>
            <a:off x="4099191" y="2940123"/>
            <a:ext cx="895060" cy="631808"/>
          </a:xfrm>
          <a:prstGeom prst="roundRect">
            <a:avLst/>
          </a:prstGeom>
          <a:solidFill>
            <a:srgbClr val="F4AB70"/>
          </a:solidFill>
          <a:ln>
            <a:solidFill>
              <a:srgbClr val="FFFFFF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047" name="Rounded Rectangle 14" descr=" 17"/>
          <p:cNvSpPr/>
          <p:nvPr/>
        </p:nvSpPr>
        <p:spPr>
          <a:xfrm>
            <a:off x="4099191" y="3624582"/>
            <a:ext cx="895060" cy="631808"/>
          </a:xfrm>
          <a:prstGeom prst="roundRect">
            <a:avLst/>
          </a:prstGeom>
          <a:solidFill>
            <a:srgbClr val="F4AB70"/>
          </a:solidFill>
          <a:ln>
            <a:solidFill>
              <a:srgbClr val="FFFFFF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Heap</a:t>
            </a:r>
          </a:p>
        </p:txBody>
      </p:sp>
      <p:sp>
        <p:nvSpPr>
          <p:cNvPr id="1048" name="Rounded Rectangle 20" descr=" 21"/>
          <p:cNvSpPr/>
          <p:nvPr/>
        </p:nvSpPr>
        <p:spPr>
          <a:xfrm>
            <a:off x="5889314" y="2255664"/>
            <a:ext cx="1632171" cy="737109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Processor</a:t>
            </a:r>
          </a:p>
        </p:txBody>
      </p:sp>
      <p:grpSp>
        <p:nvGrpSpPr>
          <p:cNvPr id="1049" name="Group 15" descr=" 30"/>
          <p:cNvGrpSpPr/>
          <p:nvPr/>
        </p:nvGrpSpPr>
        <p:grpSpPr>
          <a:xfrm>
            <a:off x="4994252" y="1473966"/>
            <a:ext cx="2630439" cy="781698"/>
            <a:chOff x="5333999" y="1535668"/>
            <a:chExt cx="3806968" cy="1131332"/>
          </a:xfrm>
        </p:grpSpPr>
        <p:cxnSp>
          <p:nvCxnSpPr>
            <p:cNvPr id="1050" name="Elbow Connector 16"/>
            <p:cNvCxnSpPr/>
            <p:nvPr/>
          </p:nvCxnSpPr>
          <p:spPr>
            <a:xfrm>
              <a:off x="5333999" y="1997333"/>
              <a:ext cx="2476501" cy="669667"/>
            </a:xfrm>
            <a:prstGeom prst="bentConnector2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rgbClr val="94B6D2"/>
            </a:lnRef>
            <a:fillRef idx="0">
              <a:srgbClr val="94B6D2"/>
            </a:fillRef>
            <a:effectRef idx="1">
              <a:srgbClr val="94B6D2"/>
            </a:effectRef>
            <a:fontRef idx="minor">
              <a:srgbClr val="000000"/>
            </a:fontRef>
          </p:style>
        </p:cxnSp>
        <p:sp>
          <p:nvSpPr>
            <p:cNvPr id="1051" name="TextBox 17"/>
            <p:cNvSpPr txBox="1"/>
            <p:nvPr/>
          </p:nvSpPr>
          <p:spPr>
            <a:xfrm>
              <a:off x="6019800" y="1535668"/>
              <a:ext cx="31211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/>
                <a:t>Fetch, decode, execute</a:t>
              </a:r>
            </a:p>
          </p:txBody>
        </p:sp>
      </p:grpSp>
      <p:sp>
        <p:nvSpPr>
          <p:cNvPr id="1052" name="TextBox 27" descr=" 28"/>
          <p:cNvSpPr txBox="1"/>
          <p:nvPr/>
        </p:nvSpPr>
        <p:spPr>
          <a:xfrm>
            <a:off x="6099917" y="1150000"/>
            <a:ext cx="127595" cy="255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Execution</a:t>
            </a:r>
          </a:p>
        </p:txBody>
      </p:sp>
      <p:sp>
        <p:nvSpPr>
          <p:cNvPr id="1053" name="Rounded Rectangle 12" descr=" 13"/>
          <p:cNvSpPr/>
          <p:nvPr/>
        </p:nvSpPr>
        <p:spPr>
          <a:xfrm>
            <a:off x="3730636" y="1285978"/>
            <a:ext cx="1632171" cy="3685547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054" name="Rounded Rectangle 11" descr=" 12"/>
          <p:cNvSpPr/>
          <p:nvPr/>
        </p:nvSpPr>
        <p:spPr>
          <a:xfrm>
            <a:off x="1519308" y="1307952"/>
            <a:ext cx="1632171" cy="3685547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b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File system</a:t>
            </a:r>
          </a:p>
        </p:txBody>
      </p:sp>
      <p:sp>
        <p:nvSpPr>
          <p:cNvPr id="1055" name="Rounded Rectangle 5" descr=" 6"/>
          <p:cNvSpPr/>
          <p:nvPr/>
        </p:nvSpPr>
        <p:spPr>
          <a:xfrm>
            <a:off x="1729910" y="1422632"/>
            <a:ext cx="1210965" cy="1938696"/>
          </a:xfrm>
          <a:prstGeom prst="roundRect">
            <a:avLst/>
          </a:prstGeom>
          <a:solidFill>
            <a:srgbClr val="E47932"/>
          </a:solidFill>
          <a:ln>
            <a:solidFill>
              <a:srgbClr val="E47932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t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Binary</a:t>
            </a:r>
          </a:p>
        </p:txBody>
      </p:sp>
      <p:grpSp>
        <p:nvGrpSpPr>
          <p:cNvPr id="1056" name="Group 19" descr=" 20"/>
          <p:cNvGrpSpPr/>
          <p:nvPr/>
        </p:nvGrpSpPr>
        <p:grpSpPr>
          <a:xfrm>
            <a:off x="4072151" y="1518775"/>
            <a:ext cx="895060" cy="1368917"/>
            <a:chOff x="1066801" y="2057400"/>
            <a:chExt cx="1295399" cy="1981200"/>
          </a:xfrm>
        </p:grpSpPr>
        <p:sp>
          <p:nvSpPr>
            <p:cNvPr id="1057" name="Rounded Rectangle 6"/>
            <p:cNvSpPr/>
            <p:nvPr/>
          </p:nvSpPr>
          <p:spPr>
            <a:xfrm>
              <a:off x="1066801" y="2057400"/>
              <a:ext cx="1295399" cy="6858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Code </a:t>
              </a:r>
            </a:p>
          </p:txBody>
        </p:sp>
        <p:sp>
          <p:nvSpPr>
            <p:cNvPr id="1058" name="Rounded Rectangle 7"/>
            <p:cNvSpPr/>
            <p:nvPr/>
          </p:nvSpPr>
          <p:spPr>
            <a:xfrm>
              <a:off x="1066801" y="2819400"/>
              <a:ext cx="1295399" cy="6096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Data</a:t>
              </a:r>
            </a:p>
          </p:txBody>
        </p:sp>
        <p:sp>
          <p:nvSpPr>
            <p:cNvPr id="1059" name="Rounded Rectangle 9"/>
            <p:cNvSpPr/>
            <p:nvPr/>
          </p:nvSpPr>
          <p:spPr>
            <a:xfrm>
              <a:off x="1066801" y="3581400"/>
              <a:ext cx="1295399" cy="457200"/>
            </a:xfrm>
            <a:prstGeom prst="roundRect">
              <a:avLst/>
            </a:prstGeom>
            <a:solidFill>
              <a:srgbClr val="F4AB70"/>
            </a:solidFill>
            <a:ln>
              <a:solidFill>
                <a:srgbClr val="FFFFFF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rgbClr val="94B6D2"/>
            </a:lnRef>
            <a:fillRef idx="3">
              <a:srgbClr val="94B6D2"/>
            </a:fillRef>
            <a:effectRef idx="2">
              <a:srgbClr val="94B6D2"/>
            </a:effectRef>
            <a:fontRef idx="minor">
              <a:srgbClr val="FFFFFF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US" sz="1900" dirty="0">
                  <a:solidFill>
                    <a:srgbClr val="FFFFFF"/>
                  </a:solidFill>
                </a:rPr>
                <a:t>...</a:t>
              </a:r>
            </a:p>
          </p:txBody>
        </p:sp>
      </p:grpSp>
      <p:sp>
        <p:nvSpPr>
          <p:cNvPr id="1060" name="Rounded Rectangle 13" descr=" 16"/>
          <p:cNvSpPr/>
          <p:nvPr/>
        </p:nvSpPr>
        <p:spPr>
          <a:xfrm>
            <a:off x="4099191" y="2940123"/>
            <a:ext cx="895060" cy="631808"/>
          </a:xfrm>
          <a:prstGeom prst="roundRect">
            <a:avLst/>
          </a:prstGeom>
          <a:solidFill>
            <a:srgbClr val="F4AB70"/>
          </a:solidFill>
          <a:ln>
            <a:solidFill>
              <a:srgbClr val="FFFFFF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061" name="Rounded Rectangle 14" descr=" 17"/>
          <p:cNvSpPr/>
          <p:nvPr/>
        </p:nvSpPr>
        <p:spPr>
          <a:xfrm>
            <a:off x="4099191" y="3624582"/>
            <a:ext cx="895060" cy="631808"/>
          </a:xfrm>
          <a:prstGeom prst="roundRect">
            <a:avLst/>
          </a:prstGeom>
          <a:solidFill>
            <a:srgbClr val="F4AB70"/>
          </a:solidFill>
          <a:ln>
            <a:solidFill>
              <a:srgbClr val="FFFFFF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Heap</a:t>
            </a:r>
          </a:p>
        </p:txBody>
      </p:sp>
      <p:sp>
        <p:nvSpPr>
          <p:cNvPr id="1062" name="Rounded Rectangle 20" descr=" 21"/>
          <p:cNvSpPr/>
          <p:nvPr/>
        </p:nvSpPr>
        <p:spPr>
          <a:xfrm>
            <a:off x="5889314" y="2255664"/>
            <a:ext cx="1632171" cy="737109"/>
          </a:xfrm>
          <a:prstGeom prst="roundRect">
            <a:avLst/>
          </a:prstGeom>
          <a:solidFill>
            <a:srgbClr val="92939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rgbClr val="94B6D2"/>
          </a:lnRef>
          <a:fillRef idx="3">
            <a:srgbClr val="94B6D2"/>
          </a:fillRef>
          <a:effectRef idx="2">
            <a:srgbClr val="94B6D2"/>
          </a:effectRef>
          <a:fontRef idx="minor">
            <a:srgbClr val="FFFFFF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Processor</a:t>
            </a:r>
          </a:p>
        </p:txBody>
      </p:sp>
      <p:grpSp>
        <p:nvGrpSpPr>
          <p:cNvPr id="1063" name="Group 15" descr=" 30"/>
          <p:cNvGrpSpPr/>
          <p:nvPr/>
        </p:nvGrpSpPr>
        <p:grpSpPr>
          <a:xfrm>
            <a:off x="4994252" y="1473966"/>
            <a:ext cx="2630439" cy="781698"/>
            <a:chOff x="5333999" y="1535668"/>
            <a:chExt cx="3806968" cy="1131332"/>
          </a:xfrm>
        </p:grpSpPr>
        <p:cxnSp>
          <p:nvCxnSpPr>
            <p:cNvPr id="1064" name="Elbow Connector 16"/>
            <p:cNvCxnSpPr/>
            <p:nvPr/>
          </p:nvCxnSpPr>
          <p:spPr>
            <a:xfrm>
              <a:off x="5333999" y="1997333"/>
              <a:ext cx="2476501" cy="669667"/>
            </a:xfrm>
            <a:prstGeom prst="bentConnector2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rgbClr val="94B6D2"/>
            </a:lnRef>
            <a:fillRef idx="0">
              <a:srgbClr val="94B6D2"/>
            </a:fillRef>
            <a:effectRef idx="1">
              <a:srgbClr val="94B6D2"/>
            </a:effectRef>
            <a:fontRef idx="minor">
              <a:srgbClr val="000000"/>
            </a:fontRef>
          </p:style>
        </p:cxnSp>
        <p:sp>
          <p:nvSpPr>
            <p:cNvPr id="1065" name="TextBox 17"/>
            <p:cNvSpPr txBox="1"/>
            <p:nvPr/>
          </p:nvSpPr>
          <p:spPr>
            <a:xfrm>
              <a:off x="6019800" y="1535668"/>
              <a:ext cx="31211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/>
                <a:t>Fetch, decode, execute</a:t>
              </a:r>
            </a:p>
          </p:txBody>
        </p:sp>
      </p:grpSp>
      <p:sp>
        <p:nvSpPr>
          <p:cNvPr id="1066" name="TextBox 27" descr=" 28"/>
          <p:cNvSpPr txBox="1"/>
          <p:nvPr/>
        </p:nvSpPr>
        <p:spPr>
          <a:xfrm>
            <a:off x="6099917" y="1150000"/>
            <a:ext cx="127595" cy="255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067" name="Group 18" descr=" 31"/>
          <p:cNvGrpSpPr/>
          <p:nvPr/>
        </p:nvGrpSpPr>
        <p:grpSpPr>
          <a:xfrm>
            <a:off x="4994252" y="2992773"/>
            <a:ext cx="1936492" cy="1271890"/>
            <a:chOff x="5333999" y="3733800"/>
            <a:chExt cx="2802637" cy="1840775"/>
          </a:xfrm>
        </p:grpSpPr>
        <p:cxnSp>
          <p:nvCxnSpPr>
            <p:cNvPr id="1068" name="Elbow Connector 21"/>
            <p:cNvCxnSpPr/>
            <p:nvPr/>
          </p:nvCxnSpPr>
          <p:spPr>
            <a:xfrm flipV="1">
              <a:off x="5333999" y="3810000"/>
              <a:ext cx="2476501" cy="381000"/>
            </a:xfrm>
            <a:prstGeom prst="bentConnector2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rgbClr val="94B6D2"/>
            </a:lnRef>
            <a:fillRef idx="0">
              <a:srgbClr val="94B6D2"/>
            </a:fillRef>
            <a:effectRef idx="1">
              <a:srgbClr val="94B6D2"/>
            </a:effectRef>
            <a:fontRef idx="minor">
              <a:srgbClr val="000000"/>
            </a:fontRef>
          </p:style>
        </p:cxnSp>
        <p:cxnSp>
          <p:nvCxnSpPr>
            <p:cNvPr id="1069" name="Elbow Connector 22"/>
            <p:cNvCxnSpPr/>
            <p:nvPr/>
          </p:nvCxnSpPr>
          <p:spPr>
            <a:xfrm flipV="1">
              <a:off x="5333999" y="3733800"/>
              <a:ext cx="2476501" cy="1371600"/>
            </a:xfrm>
            <a:prstGeom prst="bentConnector2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rgbClr val="94B6D2"/>
            </a:lnRef>
            <a:fillRef idx="0">
              <a:srgbClr val="94B6D2"/>
            </a:fillRef>
            <a:effectRef idx="1">
              <a:srgbClr val="94B6D2"/>
            </a:effectRef>
            <a:fontRef idx="minor">
              <a:srgbClr val="000000"/>
            </a:fontRef>
          </p:style>
        </p:cxnSp>
        <p:sp>
          <p:nvSpPr>
            <p:cNvPr id="1070" name="TextBox 23"/>
            <p:cNvSpPr txBox="1"/>
            <p:nvPr/>
          </p:nvSpPr>
          <p:spPr>
            <a:xfrm>
              <a:off x="6019800" y="5112910"/>
              <a:ext cx="211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/>
                <a:t>read and write</a:t>
              </a:r>
            </a:p>
          </p:txBody>
        </p:sp>
      </p:grp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Be Exploited?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is in the yellow memory area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Stack memory</a:t>
            </a:r>
          </a:p>
        </p:txBody>
      </p:sp>
      <p:sp>
        <p:nvSpPr>
          <p:cNvPr id="1187" name="TextBox 1186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/>
              <a:t>What can be written illicitly by sscanf in this program?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Local variables: “buffer[10]” is the only one in this stack frame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No local variables in prior frame (main)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9559" name="Viz2 rect 9559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0" name="Viz2 rect 9560"/>
          <p:cNvSpPr/>
          <p:nvPr/>
        </p:nvSpPr>
        <p:spPr>
          <a:xfrm>
            <a:off x="125272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1" name="Viz2 rect 9561"/>
          <p:cNvSpPr/>
          <p:nvPr/>
        </p:nvSpPr>
        <p:spPr>
          <a:xfrm>
            <a:off x="1545336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2" name="Viz2 rect 9562"/>
          <p:cNvSpPr/>
          <p:nvPr/>
        </p:nvSpPr>
        <p:spPr>
          <a:xfrm>
            <a:off x="1837944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3" name="Viz2 rect 9563"/>
          <p:cNvSpPr/>
          <p:nvPr/>
        </p:nvSpPr>
        <p:spPr>
          <a:xfrm>
            <a:off x="2130552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4" name="Viz2 rect 9564"/>
          <p:cNvSpPr/>
          <p:nvPr/>
        </p:nvSpPr>
        <p:spPr>
          <a:xfrm>
            <a:off x="242316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5" name="Viz2 rect 9565"/>
          <p:cNvSpPr/>
          <p:nvPr/>
        </p:nvSpPr>
        <p:spPr>
          <a:xfrm>
            <a:off x="271576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6" name="Viz2 rect 9566"/>
          <p:cNvSpPr/>
          <p:nvPr/>
        </p:nvSpPr>
        <p:spPr>
          <a:xfrm>
            <a:off x="3008375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7" name="Viz2 rect 9567"/>
          <p:cNvSpPr/>
          <p:nvPr/>
        </p:nvSpPr>
        <p:spPr>
          <a:xfrm>
            <a:off x="3300983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8" name="Viz2 rect 9568"/>
          <p:cNvSpPr/>
          <p:nvPr/>
        </p:nvSpPr>
        <p:spPr>
          <a:xfrm>
            <a:off x="3593591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69" name="Viz2 rect 9569"/>
          <p:cNvSpPr/>
          <p:nvPr/>
        </p:nvSpPr>
        <p:spPr>
          <a:xfrm>
            <a:off x="3922776" y="2212848"/>
            <a:ext cx="10058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70" name="Viz2 rect 9570"/>
          <p:cNvSpPr/>
          <p:nvPr/>
        </p:nvSpPr>
        <p:spPr>
          <a:xfrm>
            <a:off x="4983480" y="2212848"/>
            <a:ext cx="118872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71" name="Viz2 rect 9571"/>
          <p:cNvSpPr/>
          <p:nvPr/>
        </p:nvSpPr>
        <p:spPr>
          <a:xfrm>
            <a:off x="6227064" y="2212848"/>
            <a:ext cx="14630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100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572" name="Viz2 rect 9572"/>
          <p:cNvSpPr/>
          <p:nvPr/>
        </p:nvSpPr>
        <p:spPr>
          <a:xfrm>
            <a:off x="960120" y="26334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 — the only local variable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Be Exploited?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6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is in the yellow memory area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Stack memory</a:t>
            </a:r>
          </a:p>
        </p:txBody>
      </p:sp>
      <p:sp>
        <p:nvSpPr>
          <p:cNvPr id="1192" name="TextBox 1191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normAutofit fontScale="86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/>
              <a:t>What can be written illicitly by sscanf in this program?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Local variables: “buffer[10]” is the only one in this stack frame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But there is more – metadata controlling the program execution, such as </a:t>
            </a:r>
          </a:p>
          <a:p>
            <a:pPr marL="10287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sz="1700"/>
              <a:t>Frame pointer (ebp)</a:t>
            </a:r>
          </a:p>
          <a:p>
            <a:pPr marL="10287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sz="1700"/>
              <a:t>Return address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9573" name="Viz2 rect 9573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74" name="Viz2 rect 9574"/>
          <p:cNvSpPr/>
          <p:nvPr/>
        </p:nvSpPr>
        <p:spPr>
          <a:xfrm>
            <a:off x="125272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75" name="Viz2 rect 9575"/>
          <p:cNvSpPr/>
          <p:nvPr/>
        </p:nvSpPr>
        <p:spPr>
          <a:xfrm>
            <a:off x="1545336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76" name="Viz2 rect 9576"/>
          <p:cNvSpPr/>
          <p:nvPr/>
        </p:nvSpPr>
        <p:spPr>
          <a:xfrm>
            <a:off x="1837944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77" name="Viz2 rect 9577"/>
          <p:cNvSpPr/>
          <p:nvPr/>
        </p:nvSpPr>
        <p:spPr>
          <a:xfrm>
            <a:off x="2130552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78" name="Viz2 rect 9578"/>
          <p:cNvSpPr/>
          <p:nvPr/>
        </p:nvSpPr>
        <p:spPr>
          <a:xfrm>
            <a:off x="242316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79" name="Viz2 rect 9579"/>
          <p:cNvSpPr/>
          <p:nvPr/>
        </p:nvSpPr>
        <p:spPr>
          <a:xfrm>
            <a:off x="271576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80" name="Viz2 rect 9580"/>
          <p:cNvSpPr/>
          <p:nvPr/>
        </p:nvSpPr>
        <p:spPr>
          <a:xfrm>
            <a:off x="3008375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81" name="Viz2 rect 9581"/>
          <p:cNvSpPr/>
          <p:nvPr/>
        </p:nvSpPr>
        <p:spPr>
          <a:xfrm>
            <a:off x="3300983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82" name="Viz2 rect 9582"/>
          <p:cNvSpPr/>
          <p:nvPr/>
        </p:nvSpPr>
        <p:spPr>
          <a:xfrm>
            <a:off x="3593591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83" name="Viz2 rect 9583"/>
          <p:cNvSpPr/>
          <p:nvPr/>
        </p:nvSpPr>
        <p:spPr>
          <a:xfrm>
            <a:off x="3922776" y="2212848"/>
            <a:ext cx="1005840" cy="365760"/>
          </a:xfrm>
          <a:prstGeom prst="rect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saved ebp</a:t>
            </a:r>
          </a:p>
        </p:txBody>
      </p:sp>
      <p:sp>
        <p:nvSpPr>
          <p:cNvPr id="9584" name="Viz2 rect 9584"/>
          <p:cNvSpPr/>
          <p:nvPr/>
        </p:nvSpPr>
        <p:spPr>
          <a:xfrm>
            <a:off x="4983480" y="2212848"/>
            <a:ext cx="1188720" cy="365760"/>
          </a:xfrm>
          <a:prstGeom prst="rect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return addr</a:t>
            </a:r>
          </a:p>
        </p:txBody>
      </p:sp>
      <p:sp>
        <p:nvSpPr>
          <p:cNvPr id="9585" name="Viz2 rect 9585"/>
          <p:cNvSpPr/>
          <p:nvPr/>
        </p:nvSpPr>
        <p:spPr>
          <a:xfrm>
            <a:off x="6227064" y="2212848"/>
            <a:ext cx="14630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00" b="0" i="1">
                <a:solidFill>
                  <a:srgbClr val="8A8A8A"/>
                </a:solidFill>
              </a:rPr>
              <a:t>caller’s frame …</a:t>
            </a:r>
          </a:p>
        </p:txBody>
      </p:sp>
      <p:sp>
        <p:nvSpPr>
          <p:cNvPr id="9586" name="Viz2 rect 9586"/>
          <p:cNvSpPr/>
          <p:nvPr/>
        </p:nvSpPr>
        <p:spPr>
          <a:xfrm>
            <a:off x="960120" y="26334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</a:t>
            </a:r>
          </a:p>
        </p:txBody>
      </p:sp>
      <p:sp>
        <p:nvSpPr>
          <p:cNvPr id="9587" name="Viz2 rect 9587"/>
          <p:cNvSpPr/>
          <p:nvPr/>
        </p:nvSpPr>
        <p:spPr>
          <a:xfrm>
            <a:off x="3922776" y="263347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1" i="1">
                <a:solidFill>
                  <a:srgbClr val="E47932"/>
                </a:solidFill>
              </a:rPr>
              <a:t>metadata controlling execution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Address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</a:t>
            </a:r>
            <a:r>
              <a:rPr b="1"/>
              <a:t>return address </a:t>
            </a:r>
            <a:r>
              <a:t>of a function determines the code that is run when the function returns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By modifying this value, you can change how the program executes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In arbitrary and powerful ways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main way of </a:t>
            </a:r>
            <a:r>
              <a:rPr b="1"/>
              <a:t>hijacking programs </a:t>
            </a:r>
            <a:r>
              <a:t>for many years, but now there are new hijacking techniques that are harder for defenders to detect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Be Exploited?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is in the yellow memory area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Stack memory</a:t>
            </a:r>
          </a:p>
        </p:txBody>
      </p:sp>
      <p:sp>
        <p:nvSpPr>
          <p:cNvPr id="1241" name="TextBox 1240"/>
          <p:cNvSpPr txBox="1"/>
          <p:nvPr/>
        </p:nvSpPr>
        <p:spPr>
          <a:xfrm>
            <a:off x="548640" y="3003650"/>
            <a:ext cx="8046720" cy="1678078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10000"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sz="2000"/>
              <a:t>What happens if the return address is located in the yellow region of memory?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Change the return address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Change the address of the instruction run after the function returns</a:t>
            </a:r>
          </a:p>
          <a:p>
            <a:pPr marL="10287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sz="1700"/>
              <a:t>To any address the attacker wants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sz="1700"/>
              <a:t>Can run arbitrary code of the program to violate (CIA)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9588" name="Viz2 rect 9588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89" name="Viz2 rect 9589"/>
          <p:cNvSpPr/>
          <p:nvPr/>
        </p:nvSpPr>
        <p:spPr>
          <a:xfrm>
            <a:off x="125272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0" name="Viz2 rect 9590"/>
          <p:cNvSpPr/>
          <p:nvPr/>
        </p:nvSpPr>
        <p:spPr>
          <a:xfrm>
            <a:off x="1545336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1" name="Viz2 rect 9591"/>
          <p:cNvSpPr/>
          <p:nvPr/>
        </p:nvSpPr>
        <p:spPr>
          <a:xfrm>
            <a:off x="1837944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2" name="Viz2 rect 9592"/>
          <p:cNvSpPr/>
          <p:nvPr/>
        </p:nvSpPr>
        <p:spPr>
          <a:xfrm>
            <a:off x="2130552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3" name="Viz2 rect 9593"/>
          <p:cNvSpPr/>
          <p:nvPr/>
        </p:nvSpPr>
        <p:spPr>
          <a:xfrm>
            <a:off x="2423160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4" name="Viz2 rect 9594"/>
          <p:cNvSpPr/>
          <p:nvPr/>
        </p:nvSpPr>
        <p:spPr>
          <a:xfrm>
            <a:off x="2715768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5" name="Viz2 rect 9595"/>
          <p:cNvSpPr/>
          <p:nvPr/>
        </p:nvSpPr>
        <p:spPr>
          <a:xfrm>
            <a:off x="3008375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6" name="Viz2 rect 9596"/>
          <p:cNvSpPr/>
          <p:nvPr/>
        </p:nvSpPr>
        <p:spPr>
          <a:xfrm>
            <a:off x="3300983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7" name="Viz2 rect 9597"/>
          <p:cNvSpPr/>
          <p:nvPr/>
        </p:nvSpPr>
        <p:spPr>
          <a:xfrm>
            <a:off x="3593591" y="22128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tIns="4572" rIns="9144" bIns="4572" anchor="ctr"/>
          <a:lstStyle/>
          <a:p>
            <a:endParaRPr/>
          </a:p>
        </p:txBody>
      </p:sp>
      <p:sp>
        <p:nvSpPr>
          <p:cNvPr id="9598" name="Viz2 rect 9598"/>
          <p:cNvSpPr/>
          <p:nvPr/>
        </p:nvSpPr>
        <p:spPr>
          <a:xfrm>
            <a:off x="3922776" y="2212848"/>
            <a:ext cx="1005840" cy="365760"/>
          </a:xfrm>
          <a:prstGeom prst="rect">
            <a:avLst/>
          </a:prstGeom>
          <a:solidFill>
            <a:srgbClr val="E47932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saved ebp</a:t>
            </a:r>
          </a:p>
        </p:txBody>
      </p:sp>
      <p:sp>
        <p:nvSpPr>
          <p:cNvPr id="9599" name="Viz2 rect 9599"/>
          <p:cNvSpPr/>
          <p:nvPr/>
        </p:nvSpPr>
        <p:spPr>
          <a:xfrm>
            <a:off x="4983480" y="2212848"/>
            <a:ext cx="11887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return addr</a:t>
            </a:r>
          </a:p>
        </p:txBody>
      </p:sp>
      <p:sp>
        <p:nvSpPr>
          <p:cNvPr id="9600" name="Viz2 rect 9600"/>
          <p:cNvSpPr/>
          <p:nvPr/>
        </p:nvSpPr>
        <p:spPr>
          <a:xfrm>
            <a:off x="6227064" y="2212848"/>
            <a:ext cx="14630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00" b="0" i="1">
                <a:solidFill>
                  <a:srgbClr val="8A8A8A"/>
                </a:solidFill>
              </a:rPr>
              <a:t>caller’s frame …</a:t>
            </a:r>
          </a:p>
        </p:txBody>
      </p:sp>
      <p:sp>
        <p:nvSpPr>
          <p:cNvPr id="9601" name="Viz2 rect 9601"/>
          <p:cNvSpPr/>
          <p:nvPr/>
        </p:nvSpPr>
        <p:spPr>
          <a:xfrm>
            <a:off x="960120" y="26334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</a:t>
            </a:r>
          </a:p>
        </p:txBody>
      </p:sp>
      <p:sp>
        <p:nvSpPr>
          <p:cNvPr id="9602" name="Viz2 rect 9602"/>
          <p:cNvSpPr/>
          <p:nvPr/>
        </p:nvSpPr>
        <p:spPr>
          <a:xfrm>
            <a:off x="4434840" y="263347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4572" rIns="9144" bIns="4572" anchor="ctr"/>
          <a:lstStyle/>
          <a:p>
            <a:pPr algn="ctr"/>
            <a:r>
              <a:rPr lang="en-US" sz="850" b="1" i="1">
                <a:solidFill>
                  <a:srgbClr val="C0392B"/>
                </a:solidFill>
              </a:rPr>
              <a:t>attacker-chosen address → runs arbitrary code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Vulnerabilities that compromise confidentiality or integrity are common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Vulnerabilities allow adversary to access flaws that they can exploit to violate security requirements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We demonstrated a memory error vulnerability to hijack the return address on the stack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Buffer overflow </a:t>
            </a:r>
            <a:r>
              <a:t>(more later)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Many types of flaws are out there that may be exploitable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9101" name="Viz qcircle"/>
          <p:cNvSpPr/>
          <p:nvPr/>
        </p:nvSpPr>
        <p:spPr>
          <a:xfrm>
            <a:off x="3794760" y="1783080"/>
            <a:ext cx="1554480" cy="1554480"/>
          </a:xfrm>
          <a:prstGeom prst="ellipse">
            <a:avLst/>
          </a:prstGeom>
          <a:solidFill>
            <a:srgbClr val="E47932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2296</Words>
  <Application>Microsoft Macintosh PowerPoint</Application>
  <PresentationFormat>On-screen Show (16:9)</PresentationFormat>
  <Paragraphs>435</Paragraphs>
  <Slides>35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Courier New</vt:lpstr>
      <vt:lpstr>Office Theme [1790301506474]</vt:lpstr>
      <vt:lpstr>CS 165: Computer Security</vt:lpstr>
      <vt:lpstr>Outline</vt:lpstr>
      <vt:lpstr>Vulnerability</vt:lpstr>
      <vt:lpstr>Security Requirements</vt:lpstr>
      <vt:lpstr>Example Code</vt:lpstr>
      <vt:lpstr>Security Requirements of the Code</vt:lpstr>
      <vt:lpstr>What’s a Flaw?</vt:lpstr>
      <vt:lpstr>Example Code</vt:lpstr>
      <vt:lpstr>How is “buffer” represented?</vt:lpstr>
      <vt:lpstr>What’s a Flaw?</vt:lpstr>
      <vt:lpstr>Example Code</vt:lpstr>
      <vt:lpstr>Why is that a flaw?</vt:lpstr>
      <vt:lpstr>Why is that a flaw?</vt:lpstr>
      <vt:lpstr>Memory Errors</vt:lpstr>
      <vt:lpstr>Other Kinds of Flaws</vt:lpstr>
      <vt:lpstr>Language Popularity</vt:lpstr>
      <vt:lpstr>What’s Accessibility?</vt:lpstr>
      <vt:lpstr>Back to Accessibility</vt:lpstr>
      <vt:lpstr>Example Code</vt:lpstr>
      <vt:lpstr>Threat Model</vt:lpstr>
      <vt:lpstr>Threat Model</vt:lpstr>
      <vt:lpstr>Threat Model</vt:lpstr>
      <vt:lpstr>Example Code</vt:lpstr>
      <vt:lpstr>What’s Exploitation?</vt:lpstr>
      <vt:lpstr>What Can Be Exploited?</vt:lpstr>
      <vt:lpstr>Basic Execution</vt:lpstr>
      <vt:lpstr>Basic Execution</vt:lpstr>
      <vt:lpstr>Basic Execution</vt:lpstr>
      <vt:lpstr>Basic Execution</vt:lpstr>
      <vt:lpstr>What Can Be Exploited?</vt:lpstr>
      <vt:lpstr>What Can Be Exploited?</vt:lpstr>
      <vt:lpstr>Return Address</vt:lpstr>
      <vt:lpstr>What Can Be Exploited?</vt:lpstr>
      <vt:lpstr>Conclusions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5</cp:revision>
  <dcterms:modified xsi:type="dcterms:W3CDTF">2026-10-04T01:08:59Z</dcterms:modified>
</cp:coreProperties>
</file>