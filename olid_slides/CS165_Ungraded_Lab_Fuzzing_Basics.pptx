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7905e95c244659" /><Relationship Type="http://schemas.openxmlformats.org/officeDocument/2006/relationships/extended-properties" Target="/docProps/app.xml" Id="R322fe244aaa34988" /><Relationship Type="http://schemas.openxmlformats.org/officeDocument/2006/relationships/officeDocument" Target="/ppt/presentation.xml" Id="R470ec9568d4244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2e4f58079e4085"/>
  </p:sldMasterIdLst>
  <p:notesMasterIdLst>
    <p:notesMasterId xmlns:r="http://schemas.openxmlformats.org/officeDocument/2006/relationships" r:id="Re475bc7616e4487f"/>
  </p:notesMasterIdLst>
  <p:sldIdLst>
    <p:sldId xmlns:r="http://schemas.openxmlformats.org/officeDocument/2006/relationships" id="256" r:id="Rcc3613f5176845ab"/>
    <p:sldId xmlns:r="http://schemas.openxmlformats.org/officeDocument/2006/relationships" id="257" r:id="Rb9cf7157f9da453f"/>
    <p:sldId xmlns:r="http://schemas.openxmlformats.org/officeDocument/2006/relationships" id="258" r:id="R2ead361a92ca4f71"/>
    <p:sldId xmlns:r="http://schemas.openxmlformats.org/officeDocument/2006/relationships" id="259" r:id="R8cdefac48537456a"/>
    <p:sldId xmlns:r="http://schemas.openxmlformats.org/officeDocument/2006/relationships" id="260" r:id="R445d553e40934a6e"/>
    <p:sldId xmlns:r="http://schemas.openxmlformats.org/officeDocument/2006/relationships" id="261" r:id="Rfb2e3cb4125a43a6"/>
    <p:sldId xmlns:r="http://schemas.openxmlformats.org/officeDocument/2006/relationships" id="262" r:id="R1a04dfa43d07453c"/>
    <p:sldId xmlns:r="http://schemas.openxmlformats.org/officeDocument/2006/relationships" id="263" r:id="R5dc26437d8ca4644"/>
    <p:sldId xmlns:r="http://schemas.openxmlformats.org/officeDocument/2006/relationships" id="264" r:id="R5b07a9728fb94811"/>
    <p:sldId xmlns:r="http://schemas.openxmlformats.org/officeDocument/2006/relationships" id="265" r:id="R2a9134554a4f41f4"/>
    <p:sldId xmlns:r="http://schemas.openxmlformats.org/officeDocument/2006/relationships" id="266" r:id="R2f6154736c8c407b"/>
    <p:sldId xmlns:r="http://schemas.openxmlformats.org/officeDocument/2006/relationships" id="267" r:id="Raf16b3fb9cb74750"/>
    <p:sldId xmlns:r="http://schemas.openxmlformats.org/officeDocument/2006/relationships" id="268" r:id="R87cb790fe3ba460e"/>
    <p:sldId xmlns:r="http://schemas.openxmlformats.org/officeDocument/2006/relationships" id="269" r:id="Rae31e8df0e634972"/>
    <p:sldId xmlns:r="http://schemas.openxmlformats.org/officeDocument/2006/relationships" id="270" r:id="Re093be2912774be0"/>
    <p:sldId xmlns:r="http://schemas.openxmlformats.org/officeDocument/2006/relationships" id="271" r:id="Ra309b9df6ab34b08"/>
    <p:sldId xmlns:r="http://schemas.openxmlformats.org/officeDocument/2006/relationships" id="272" r:id="Re445731335604073"/>
    <p:sldId xmlns:r="http://schemas.openxmlformats.org/officeDocument/2006/relationships" id="273" r:id="R948f5374f7b44e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64c717d7334d89" /><Relationship Type="http://schemas.openxmlformats.org/officeDocument/2006/relationships/slideMaster" Target="/ppt/slideMasters/slideMaster1.xml" Id="R0b2e4f58079e4085" /><Relationship Type="http://schemas.openxmlformats.org/officeDocument/2006/relationships/notesMaster" Target="/ppt/notesMasters/notesMaster1.xml" Id="Re475bc7616e4487f" /><Relationship Type="http://schemas.openxmlformats.org/officeDocument/2006/relationships/presProps" Target="/ppt/presProps.xml" Id="R130ac2126ff2468b" /><Relationship Type="http://schemas.openxmlformats.org/officeDocument/2006/relationships/tableStyles" Target="/ppt/tableStyles.xml" Id="R68e7d17f472d4327" /><Relationship Type="http://schemas.openxmlformats.org/officeDocument/2006/relationships/slide" Target="/ppt/slides/slide1.xml" Id="Rcc3613f5176845ab" /><Relationship Type="http://schemas.openxmlformats.org/officeDocument/2006/relationships/slide" Target="/ppt/slides/slide2.xml" Id="Rb9cf7157f9da453f" /><Relationship Type="http://schemas.openxmlformats.org/officeDocument/2006/relationships/slide" Target="/ppt/slides/slide3.xml" Id="R2ead361a92ca4f71" /><Relationship Type="http://schemas.openxmlformats.org/officeDocument/2006/relationships/slide" Target="/ppt/slides/slide4.xml" Id="R8cdefac48537456a" /><Relationship Type="http://schemas.openxmlformats.org/officeDocument/2006/relationships/slide" Target="/ppt/slides/slide5.xml" Id="R445d553e40934a6e" /><Relationship Type="http://schemas.openxmlformats.org/officeDocument/2006/relationships/slide" Target="/ppt/slides/slide6.xml" Id="Rfb2e3cb4125a43a6" /><Relationship Type="http://schemas.openxmlformats.org/officeDocument/2006/relationships/slide" Target="/ppt/slides/slide7.xml" Id="R1a04dfa43d07453c" /><Relationship Type="http://schemas.openxmlformats.org/officeDocument/2006/relationships/slide" Target="/ppt/slides/slide8.xml" Id="R5dc26437d8ca4644" /><Relationship Type="http://schemas.openxmlformats.org/officeDocument/2006/relationships/slide" Target="/ppt/slides/slide9.xml" Id="R5b07a9728fb94811" /><Relationship Type="http://schemas.openxmlformats.org/officeDocument/2006/relationships/slide" Target="/ppt/slides/slide10.xml" Id="R2a9134554a4f41f4" /><Relationship Type="http://schemas.openxmlformats.org/officeDocument/2006/relationships/slide" Target="/ppt/slides/slide11.xml" Id="R2f6154736c8c407b" /><Relationship Type="http://schemas.openxmlformats.org/officeDocument/2006/relationships/slide" Target="/ppt/slides/slide12.xml" Id="Raf16b3fb9cb74750" /><Relationship Type="http://schemas.openxmlformats.org/officeDocument/2006/relationships/slide" Target="/ppt/slides/slide13.xml" Id="R87cb790fe3ba460e" /><Relationship Type="http://schemas.openxmlformats.org/officeDocument/2006/relationships/slide" Target="/ppt/slides/slide14.xml" Id="Rae31e8df0e634972" /><Relationship Type="http://schemas.openxmlformats.org/officeDocument/2006/relationships/slide" Target="/ppt/slides/slide15.xml" Id="Re093be2912774be0" /><Relationship Type="http://schemas.openxmlformats.org/officeDocument/2006/relationships/slide" Target="/ppt/slides/slide16.xml" Id="Ra309b9df6ab34b08" /><Relationship Type="http://schemas.openxmlformats.org/officeDocument/2006/relationships/slide" Target="/ppt/slides/slide17.xml" Id="Re445731335604073" /><Relationship Type="http://schemas.openxmlformats.org/officeDocument/2006/relationships/slide" Target="/ppt/slides/slide18.xml" Id="R948f5374f7b44e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0b6979c68844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1e9d7082264ede" /><Relationship Type="http://schemas.openxmlformats.org/officeDocument/2006/relationships/notesMaster" Target="/ppt/notesMasters/notesMaster1.xml" Id="Ra289ee41b30f46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71ede39d8c4206" /><Relationship Type="http://schemas.openxmlformats.org/officeDocument/2006/relationships/notesMaster" Target="/ppt/notesMasters/notesMaster1.xml" Id="Rd37cc1f2760d48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fd200f2442497c" /><Relationship Type="http://schemas.openxmlformats.org/officeDocument/2006/relationships/notesMaster" Target="/ppt/notesMasters/notesMaster1.xml" Id="Re8c2f3caf34748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902bd481f34a8a" /><Relationship Type="http://schemas.openxmlformats.org/officeDocument/2006/relationships/notesMaster" Target="/ppt/notesMasters/notesMaster1.xml" Id="R5c2c0d0cde0d48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f5c75120a64130" /><Relationship Type="http://schemas.openxmlformats.org/officeDocument/2006/relationships/notesMaster" Target="/ppt/notesMasters/notesMaster1.xml" Id="R1c307525bbd145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b2fb1d4d2f489a" /><Relationship Type="http://schemas.openxmlformats.org/officeDocument/2006/relationships/notesMaster" Target="/ppt/notesMasters/notesMaster1.xml" Id="R82a2a027338243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cc8dac86e94e91" /><Relationship Type="http://schemas.openxmlformats.org/officeDocument/2006/relationships/notesMaster" Target="/ppt/notesMasters/notesMaster1.xml" Id="R82b6b6b576184a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8d039609344014" /><Relationship Type="http://schemas.openxmlformats.org/officeDocument/2006/relationships/notesMaster" Target="/ppt/notesMasters/notesMaster1.xml" Id="Reae17950827a47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5bae5a259a4c99" /><Relationship Type="http://schemas.openxmlformats.org/officeDocument/2006/relationships/notesMaster" Target="/ppt/notesMasters/notesMaster1.xml" Id="Rd4f7fad594f94e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04ffb546c94542" /><Relationship Type="http://schemas.openxmlformats.org/officeDocument/2006/relationships/notesMaster" Target="/ppt/notesMasters/notesMaster1.xml" Id="R6e669e5df7b145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e5330a0b6144b9" /><Relationship Type="http://schemas.openxmlformats.org/officeDocument/2006/relationships/notesMaster" Target="/ppt/notesMasters/notesMaster1.xml" Id="Rb0f58eb8120847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46d528af18447f8" /><Relationship Type="http://schemas.openxmlformats.org/officeDocument/2006/relationships/notesMaster" Target="/ppt/notesMasters/notesMaster1.xml" Id="Rfe47dee0016a4e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c8f379e92d147f5" /><Relationship Type="http://schemas.openxmlformats.org/officeDocument/2006/relationships/notesMaster" Target="/ppt/notesMasters/notesMaster1.xml" Id="Re7949cf93ddc47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524f86618164bc7" /><Relationship Type="http://schemas.openxmlformats.org/officeDocument/2006/relationships/notesMaster" Target="/ppt/notesMasters/notesMaster1.xml" Id="R5e2c1c0e436741d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fff90f29b2b4d01" /><Relationship Type="http://schemas.openxmlformats.org/officeDocument/2006/relationships/notesMaster" Target="/ppt/notesMasters/notesMaster1.xml" Id="Redb5328c4ab845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ace7d49f1f644ae" /><Relationship Type="http://schemas.openxmlformats.org/officeDocument/2006/relationships/notesMaster" Target="/ppt/notesMasters/notesMaster1.xml" Id="R96d8d188019a45f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c36717972554f0e" /><Relationship Type="http://schemas.openxmlformats.org/officeDocument/2006/relationships/notesMaster" Target="/ppt/notesMasters/notesMaster1.xml" Id="Ra98e2efc56614a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40f0bfc55a74035" /><Relationship Type="http://schemas.openxmlformats.org/officeDocument/2006/relationships/notesMaster" Target="/ppt/notesMasters/notesMaster1.xml" Id="R6f13ea0d03274f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1e6ba12404f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b362d8483d493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baf1293af14f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ca3b8acb2c4c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aeb2bb4734f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2229a209540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8BDC4C-35AD-48F1-8A74-C357403D3F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6ED8C11-05A6-4BC5-A76C-803DCE7F74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44FF99-9CE9-469B-ADA9-06A7854367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443720-A5AA-4ED8-AA6F-76B6A6905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B2900CA-1118-43A3-9E3A-9E471ABBC1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6C18FFF-A725-4510-9166-8DDBAA3D6C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3DEF1E-A27E-4A4D-A75D-C84FF156E0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F068A8-1E63-4709-9B3A-F3E72B9022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ED902A-221C-4072-9AA5-A59CBE6F4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38F7A8-6F25-45B4-AB8E-0373ABD2CB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027effb67b4222" /><Relationship Type="http://schemas.openxmlformats.org/officeDocument/2006/relationships/slideLayout" Target="/ppt/slideLayouts/slideLayout1.xml" Id="R6f96e8e293dd4881" /><Relationship Type="http://schemas.openxmlformats.org/officeDocument/2006/relationships/slideLayout" Target="/ppt/slideLayouts/slideLayout2.xml" Id="R7d85584818d64a4b" /><Relationship Type="http://schemas.openxmlformats.org/officeDocument/2006/relationships/slideLayout" Target="/ppt/slideLayouts/slideLayout3.xml" Id="R353b55aeddde4c23" /><Relationship Type="http://schemas.openxmlformats.org/officeDocument/2006/relationships/slideLayout" Target="/ppt/slideLayouts/slideLayout4.xml" Id="Ra7858423ce8044a7" /><Relationship Type="http://schemas.openxmlformats.org/officeDocument/2006/relationships/slideLayout" Target="/ppt/slideLayouts/slideLayout5.xml" Id="R095c10aa5d38445c" /><Relationship Type="http://schemas.openxmlformats.org/officeDocument/2006/relationships/slideLayout" Target="/ppt/slideLayouts/slideLayout6.xml" Id="R38e892ba983e43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96e8e293dd4881"/>
    <p:sldLayoutId xmlns:r="http://schemas.openxmlformats.org/officeDocument/2006/relationships" id="2147483650" r:id="R7d85584818d64a4b"/>
    <p:sldLayoutId xmlns:r="http://schemas.openxmlformats.org/officeDocument/2006/relationships" id="2147483651" r:id="R353b55aeddde4c23"/>
    <p:sldLayoutId xmlns:r="http://schemas.openxmlformats.org/officeDocument/2006/relationships" id="2147483652" r:id="Ra7858423ce8044a7"/>
    <p:sldLayoutId xmlns:r="http://schemas.openxmlformats.org/officeDocument/2006/relationships" id="2147483653" r:id="R095c10aa5d38445c"/>
    <p:sldLayoutId xmlns:r="http://schemas.openxmlformats.org/officeDocument/2006/relationships" id="2147483654" r:id="R38e892ba983e43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1967bf0524485e" /><Relationship Type="http://schemas.openxmlformats.org/officeDocument/2006/relationships/notesSlide" Target="/ppt/notesSlides/notesSlide1.xml" Id="R687f0edcf2994c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5b75aa563d4532" /><Relationship Type="http://schemas.openxmlformats.org/officeDocument/2006/relationships/notesSlide" Target="/ppt/notesSlides/notesSlide2.xml" Id="Rae9310309b034b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a61c7036624a8a" /><Relationship Type="http://schemas.openxmlformats.org/officeDocument/2006/relationships/notesSlide" Target="/ppt/notesSlides/notesSlide3.xml" Id="Rd65ad208beb947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93f57d74f34092" /><Relationship Type="http://schemas.openxmlformats.org/officeDocument/2006/relationships/notesSlide" Target="/ppt/notesSlides/notesSlide4.xml" Id="R38933ad250f445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75c63765594600" /><Relationship Type="http://schemas.openxmlformats.org/officeDocument/2006/relationships/notesSlide" Target="/ppt/notesSlides/notesSlide5.xml" Id="R084184d26f8f47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307f3f230a428a" /><Relationship Type="http://schemas.openxmlformats.org/officeDocument/2006/relationships/notesSlide" Target="/ppt/notesSlides/notesSlide6.xml" Id="R4f14b8e815964f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0284dc09dc446e" /><Relationship Type="http://schemas.openxmlformats.org/officeDocument/2006/relationships/notesSlide" Target="/ppt/notesSlides/notesSlide7.xml" Id="R5defa26d4df449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1cd2b9b5c74d52" /><Relationship Type="http://schemas.openxmlformats.org/officeDocument/2006/relationships/notesSlide" Target="/ppt/notesSlides/notesSlide8.xml" Id="R044c4d8750de4a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ac1641ea214d5d" /><Relationship Type="http://schemas.openxmlformats.org/officeDocument/2006/relationships/notesSlide" Target="/ppt/notesSlides/notesSlide9.xml" Id="Rd9a02117797f40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989c03ef714ed5" /><Relationship Type="http://schemas.openxmlformats.org/officeDocument/2006/relationships/notesSlide" Target="/ppt/notesSlides/notesSlide10.xml" Id="R2554d2500ffe4b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a5ff070f1241ad" /><Relationship Type="http://schemas.openxmlformats.org/officeDocument/2006/relationships/notesSlide" Target="/ppt/notesSlides/notesSlide11.xml" Id="R29938da384844b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56df6fba484ea5" /><Relationship Type="http://schemas.openxmlformats.org/officeDocument/2006/relationships/notesSlide" Target="/ppt/notesSlides/notesSlide12.xml" Id="R0aea8c289ada4c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e1eae05eec4498" /><Relationship Type="http://schemas.openxmlformats.org/officeDocument/2006/relationships/notesSlide" Target="/ppt/notesSlides/notesSlide13.xml" Id="R695e53e8f9ce4e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ddb7e089a14871" /><Relationship Type="http://schemas.openxmlformats.org/officeDocument/2006/relationships/notesSlide" Target="/ppt/notesSlides/notesSlide14.xml" Id="R881a2bd4381940b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c5b672e807431d" /><Relationship Type="http://schemas.openxmlformats.org/officeDocument/2006/relationships/notesSlide" Target="/ppt/notesSlides/notesSlide15.xml" Id="R26141c5719c140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4d04c409df4db0" /><Relationship Type="http://schemas.openxmlformats.org/officeDocument/2006/relationships/notesSlide" Target="/ppt/notesSlides/notesSlide16.xml" Id="Rfc3552f143f5489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697b29b0cb410f" /><Relationship Type="http://schemas.openxmlformats.org/officeDocument/2006/relationships/notesSlide" Target="/ppt/notesSlides/notesSlide17.xml" Id="R1060c2bc610c41c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194e5dae3b4660" /><Relationship Type="http://schemas.openxmlformats.org/officeDocument/2006/relationships/notesSlide" Target="/ppt/notesSlides/notesSlide18.xml" Id="R7edc201f5c044b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BA970-ABE6-496E-AEB3-36A83311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51A1D-69A0-48F0-A410-0DC0AC9F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Fuzzing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76426-A2ED-4973-B2B6-EA83C33B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6D9B"/>
                </a:solidFill>
                <a:latin typeface="Arial"/>
                <a:ea typeface="Arial"/>
                <a:cs typeface="Arial"/>
              </a:rPr>
              <a:t>CS 165 Ungraded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A361A-B883-43B3-A9A6-BEEC57F8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90875"/>
            <a:ext cx="7905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Coverage feedback, corpus evolution, harnesses, dictionaries, sanitizers, and minimization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A8E33-617F-4B5F-AD6B-280ADE49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219200"/>
            <a:ext cx="2000250" cy="40957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9A58A-C598-4649-8A00-51446011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145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3AAC8-6C82-44E6-B17F-EC6E7E34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3837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444"/>
          </a:bodyPr>
          <a:lstStyle xmlns:a="http://schemas.openxmlformats.org/drawingml/2006/main">
            <a:def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8DD2D3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F292F-94A4-4813-B326-119EC81E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8CDA5-F5AB-413E-A895-4640C896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8612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444"/>
          </a:bodyPr>
          <a:lstStyle xmlns:a="http://schemas.openxmlformats.org/drawingml/2006/main">
            <a:def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8DD2D3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96745-ADD9-4C20-96F7-02264A21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2905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BD7A4-5D59-40CF-BD3F-177C984A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410075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>
            <a:def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defPPr>
            <a:lvl1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1pPr>
            <a:lvl2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2pPr>
            <a:lvl3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3pPr>
            <a:lvl4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4pPr>
            <a:lvl5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5pPr>
            <a:lvl6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6pPr>
            <a:lvl7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7pPr>
            <a:lvl8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8pPr>
            <a:lvl9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850" b="0">
                <a:solidFill>
                  <a:srgbClr val="8DD2D3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8DD2D3"/>
                </a:solidFill>
                <a:latin typeface="Arial"/>
                <a:ea typeface="Arial"/>
                <a:cs typeface="Arial"/>
              </a:rPr>
              <a:t>↺</a:t>
            </a:r>
          </a:p>
        </p:txBody>
      </p:sp>
    </p:spTree>
    <p:extLst>
      <p:ext uri="{BB962C8B-B14F-4D97-AF65-F5344CB8AC3E}">
        <p14:creationId xmlns:p14="http://schemas.microsoft.com/office/powerpoint/2010/main" val="1687952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BDF84-1403-41C3-93ED-13190FF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What we will do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14FDE-C106-4D9E-8E66-921A168A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63FED-84AD-46E2-8D00-9331B00B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D66AF-4D6D-48BF-A549-8AEAAD1A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7F0B8-82BB-435D-9F16-D8B5B628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BC26D-8F69-4336-BEFF-AF29B665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28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02F5B-9237-4683-ACCF-5D273087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3335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>
            <a:def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Understand the fuzzing loop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83690-D9E9-4EB2-AC66-95AE947F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145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How generated inputs and coverage feedback work together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A4282-3EF2-4065-9C0B-1E41CA2A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646054-2952-465F-9698-F58FFF8B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628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5066A-E2DC-4E04-A1B1-18AAA6C0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146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>
            <a:def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Meet the lab target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E7427-54EB-457F-B0C2-E234AEC9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956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small packet parser with one intentional memory bug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64D324-67B0-46EE-AE2D-9F9F0943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8858F-3A0F-44DA-B641-70D18585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628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68EA3-522B-4477-9DEF-8FAFF5AA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6957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>
            <a:def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Run two mutation strategies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CF25F-7108-491C-B0B9-783D1C9F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767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blind mutator first, then coverage guided libFuzzer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B868DE-E74E-4995-B57F-B45A4CB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00D8F9-8836-4FA8-A703-F50E9740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628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8F0B27-AC76-4F72-9083-16A6BF8B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76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>
            <a:def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Use debugging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061D39-46F1-4D2C-AF34-7EACD537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578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AddressSanitizer reports, saved crashes, and minimized inputs</a:t>
            </a:r>
          </a:p>
        </p:txBody>
      </p:sp>
    </p:spTree>
    <p:extLst>
      <p:ext uri="{BB962C8B-B14F-4D97-AF65-F5344CB8AC3E}">
        <p14:creationId xmlns:p14="http://schemas.microsoft.com/office/powerpoint/2010/main" val="11702320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A5F604-0270-4C80-A46A-CB9EC6B6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What fuzzing means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0AEB9-F100-4552-9699-BCCC976E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ECC5F-F3AB-426B-B125-E63E7DD5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F6D32-BDE7-4ED5-B207-CCCDBCA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BD5BD-9F63-48CD-A7CE-F359CBE7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1038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32D"/>
                </a:solidFill>
                <a:latin typeface="Arial"/>
                <a:ea typeface="Arial"/>
                <a:cs typeface="Arial"/>
              </a:rPr>
              <a:t>Fuzzing repeatedly runs a program with generated or mutated inputs and watches for useful behavior.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6A784-06F6-4D9F-9EE3-9F6A6740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9850"/>
            <a:ext cx="3143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E7605-BC82-4C9B-9281-4914D513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985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D9B"/>
          </a:solidFill>
          <a:ln xmlns:a="http://schemas.openxmlformats.org/drawingml/2006/main" w="0">
            <a:solidFill>
              <a:srgbClr val="256D9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2A563-0E15-4567-B5AC-2FF2DD68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Inputs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6BD52-D571-4FEE-816C-EA396293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24200"/>
            <a:ext cx="2743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Files or byte sequences that the target program accepts.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C08D8-F1A4-4F8C-B951-388F0C5D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09850"/>
            <a:ext cx="3143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04394-462A-4E59-AA19-0FA0062D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0985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64242"/>
          </a:solidFill>
          <a:ln xmlns:a="http://schemas.openxmlformats.org/drawingml/2006/main" w="0">
            <a:solidFill>
              <a:srgbClr val="B642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2BCB58-37CE-416B-9BAB-878B4700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432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64242"/>
                </a:solidFill>
                <a:latin typeface="Arial"/>
                <a:ea typeface="Arial"/>
                <a:cs typeface="Arial"/>
              </a:rPr>
              <a:t>Oracle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95F696-2D90-448B-A3D2-828C7F4E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24200"/>
            <a:ext cx="2743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signal that says something went wrong. In this lab, AddressSanitizer provides that signal.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E88A4-1A88-44F8-A7F3-C0573B4F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09850"/>
            <a:ext cx="3143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140EB-BCB6-4DEB-8710-53B85A15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0985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E8CFDE-D7CE-4E47-86D7-02688DD5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432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E5E4E-B49D-40FC-A8B6-FF11353A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24200"/>
            <a:ext cx="2743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Mutation changes inputs. Coverage feedback helps the fuzzer keep useful changes.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F0AD9-819E-4C68-B74B-285D334A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Goal: reach program states that ordinary tests did not exercise.</a:t>
            </a:r>
          </a:p>
        </p:txBody>
      </p:sp>
    </p:spTree>
    <p:extLst>
      <p:ext uri="{BB962C8B-B14F-4D97-AF65-F5344CB8AC3E}">
        <p14:creationId xmlns:p14="http://schemas.microsoft.com/office/powerpoint/2010/main" val="7713784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1D1DE-16AE-44B7-AFED-61CF076C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Example tests and fuzzing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F8312-701D-4D48-ABE8-557CA42C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1FF87-F49B-48B0-A5DE-6ABBDDF9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20380-1606-4643-B764-37AFC206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57B8D-D602-4142-81B0-5FE351FE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81125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Example based testing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BF083-B7EA-4A55-BB5B-3D061B8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4667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A person selects each input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Each expected result is known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Excellent for known requirements and regressions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Limited by the examples we imagined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A7D77-2487-4D94-9BF1-5A88332F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352550"/>
            <a:ext cx="28575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5"/>
          </a:solidFill>
          <a:ln xmlns:a="http://schemas.openxmlformats.org/drawingml/2006/main" w="0">
            <a:solidFill>
              <a:srgbClr val="D7E0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94FBC-3B68-4497-89D0-427C0269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381125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Fuzzing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44CF0-A68D-41AA-9E93-B99CED76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4667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The fuzzer creates many inputs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A failure oracle detects bad behavior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Coverage can guide the search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65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32D"/>
                </a:solidFill>
                <a:latin typeface="Arial"/>
                <a:ea typeface="Arial"/>
                <a:cs typeface="Arial"/>
              </a:rPr>
              <a:t>Useful for unexpected edge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B34AA4-9B4C-437A-9B74-CAA242E5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62600"/>
            <a:ext cx="1023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We use both: normal tests protect intended behavior, while fuzzing searches beyond them.</a:t>
            </a:r>
          </a:p>
        </p:txBody>
      </p:sp>
    </p:spTree>
    <p:extLst>
      <p:ext uri="{BB962C8B-B14F-4D97-AF65-F5344CB8AC3E}">
        <p14:creationId xmlns:p14="http://schemas.microsoft.com/office/powerpoint/2010/main" val="11871739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D18569-F8B2-46A2-8E05-274E907D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coverage guided feedback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7C0DD-A6F8-48C9-9249-CB164520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9CBF9-7AEB-407B-A950-1452E575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CDD3D-107B-4D11-B135-2ED1E70A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F2AE9-B45E-4165-B103-ABE94791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24050"/>
            <a:ext cx="1905000" cy="21431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AD9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5F6AF-FEFD-4AE0-8319-069B8C6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600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DA95E-8D63-4A5A-A644-7563351B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600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D05DF-95EF-4C0F-9574-C826B470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4574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Choose 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F1E19-5236-4842-96E5-219FD3C7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90850"/>
            <a:ext cx="1562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Start from a seed or retained corpus entry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AABD6-4E14-42EC-91A5-CD920D7E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6289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9152"/>
          </a:bodyPr>
          <a:lstStyle xmlns:a="http://schemas.openxmlformats.org/drawingml/2006/main">
            <a:def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3ABF54-14DE-49B0-BB62-89C2CC46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24050"/>
            <a:ext cx="1905000" cy="21431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AD9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425AC0-67DC-4344-BB02-24953F9C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00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E9234-5530-46D5-BAA3-17EDB40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00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09720-398E-4EF4-8F06-2AD06D95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574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Mutate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ABE9D-7F7D-466C-8BDC-0CA3B15B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990850"/>
            <a:ext cx="1562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Flip, insert, delete, or replace bytes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980626-B3D2-451E-9F8B-D3BE1A3C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6289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9152"/>
          </a:bodyPr>
          <a:lstStyle xmlns:a="http://schemas.openxmlformats.org/drawingml/2006/main">
            <a:def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56173-FE40-4023-B833-541B80EA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924050"/>
            <a:ext cx="1905000" cy="21431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AD9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B41FDC-08C0-4B15-B1FE-845C7087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600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427C9-3567-4712-9710-858050B7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600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F00E42-5E4C-406E-A1AC-C37D4B39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4574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Execute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E856A5-6E7B-4106-AADB-C43B3268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990850"/>
            <a:ext cx="1562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Run the instrumented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6D5C0-B9B8-46EF-9DF1-967446AF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6289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9152"/>
          </a:bodyPr>
          <a:lstStyle xmlns:a="http://schemas.openxmlformats.org/drawingml/2006/main">
            <a:def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033AB6-F98D-4BEE-A5ED-FF2E64F4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924050"/>
            <a:ext cx="1905000" cy="21431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AD9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07AD0F-A40A-4ABE-AE4F-9CBEBEBB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1600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95FE6B-D26C-4AC4-8106-42174FA7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1600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355523-69E5-4322-A3FF-0D3F8A67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4574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B06157-E620-485B-AA93-2D97E996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990850"/>
            <a:ext cx="1562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Observe new coverage or a failure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D692AC-0552-49AD-A6D9-7ED12CA6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6289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9152"/>
          </a:bodyPr>
          <a:lstStyle xmlns:a="http://schemas.openxmlformats.org/drawingml/2006/main">
            <a:def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D67523-83B1-4F25-BA7A-26E7CDA7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1924050"/>
            <a:ext cx="1905000" cy="21431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AD9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EE6F32-214F-45CD-9571-D9B17A20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600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C8C110-7836-44C0-ACC5-155DEB7F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600200"/>
            <a:ext cx="647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A3401A-698E-4728-AD4F-2FCB0E7F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574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884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Keep or discard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58F2A5-DD25-46C9-9667-D8076856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90850"/>
            <a:ext cx="1562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Retain inputs that add useful behavior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820CB8-71D5-4730-8281-B00B2C1C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625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loop repeats thousands of times. Coverage determines which inputs the fuzzer keeps.</a:t>
            </a:r>
          </a:p>
        </p:txBody>
      </p:sp>
    </p:spTree>
    <p:extLst>
      <p:ext uri="{BB962C8B-B14F-4D97-AF65-F5344CB8AC3E}">
        <p14:creationId xmlns:p14="http://schemas.microsoft.com/office/powerpoint/2010/main" val="12655777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F0AED-899F-4E2D-8115-2922EA24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target: a packet parser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2AF76-1E1E-416D-859A-321636FE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784AA-1D7E-42F6-81B6-0BD8FDCC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27909-9C45-4AB5-844B-ABF87052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BA186-24AD-452B-8518-461D54B3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14450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parser turns a byte sequence into structured fields and chooses behavior from those fields.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3D610-77E9-43A6-BC0C-61C28B57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10287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4BAF3-8D07-435B-AF85-4B54F950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9944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PKT1;TYPE=TEXT;ACTION=SHOW;AUTH=NO;DATA=hello;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1B9D2-9C64-4804-A4BA-2B280EB8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>
            <a:def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PKT1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BB9F4-6ADE-4AC4-99C7-5123811A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848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>
            <a:def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Header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6D4B78-C514-4465-AF85-FDE87955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29100"/>
            <a:ext cx="1752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Identifies the input format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69AA0-E59A-44F6-8A6D-A4FA215B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4766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>
            <a:def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5CF2D-86FC-417D-9D2B-B6C41FE3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>
            <a:def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Record type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F2229D-0750-4477-B6E3-63092B76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29100"/>
            <a:ext cx="1752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TEXT, NUMBER, or META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006233-3E72-4D4E-87D6-A8433423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4766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>
            <a:def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6C85DA-C65F-47E6-B90C-B45C6D9E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848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>
            <a:def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Requested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4BC00-FF50-4E11-81A6-210C7BFF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229100"/>
            <a:ext cx="1752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SHOW, COUNT, or STORE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38129D-758A-42B4-9455-1D545A34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766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>
            <a:def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AUTH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E491C0-78C7-4257-BD6F-ACCD216C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848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>
            <a:def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D28C43-1171-4381-80F9-EB37D11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229100"/>
            <a:ext cx="1752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YES or NO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0AACEF-D2B5-46AD-B863-9DF6272B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4766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>
            <a:def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FA16C8-A3F3-4AC1-8D88-26A2D19C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48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>
            <a:def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DB058C-4CDD-4BC4-B994-6C23779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229100"/>
            <a:ext cx="1752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Bytes processed by the selected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D444BD-E272-444A-B906-74A73516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4483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parser accepts some combinations and rejects malformed or unsupported packets.</a:t>
            </a:r>
          </a:p>
        </p:txBody>
      </p:sp>
    </p:spTree>
    <p:extLst>
      <p:ext uri="{BB962C8B-B14F-4D97-AF65-F5344CB8AC3E}">
        <p14:creationId xmlns:p14="http://schemas.microsoft.com/office/powerpoint/2010/main" val="10512425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251902-3D1D-4B1E-BDE6-1DD65612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Parser paths and the intentional bug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DB7A6-C53C-4E0B-863A-DFAD20EE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D99F6-0014-4301-AEA0-D1EA04C9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DD172-3C1B-44C5-9B68-0EC48BB0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0097F-37D1-435F-9164-859F69C1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41B33-6EF3-49DD-AA1B-0CB6CDA2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D9B"/>
          </a:solidFill>
          <a:ln xmlns:a="http://schemas.openxmlformats.org/drawingml/2006/main" w="0">
            <a:solidFill>
              <a:srgbClr val="256D9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A4910-AC82-4872-859D-FA6D3CDD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SHOW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82856-21AA-41D0-AF28-3DD50A28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812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Return success when a DATA field exists.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CB900-A700-438E-9CBF-088848EE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668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FC429C-B48E-4BF5-8B17-067A8480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668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27E87-4517-4D86-9385-29F683B0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6002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COUNT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4917BD-9923-4DED-BDBD-F948F1E8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9812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Read the payload length. NUMBER inputs also exercise numeric parsing.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1F5263-AC3A-4078-B381-119C9478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4668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5A3BD9-DF26-4C78-909B-F5DC84A8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4668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67A16"/>
          </a:solidFill>
          <a:ln xmlns:a="http://schemas.openxmlformats.org/drawingml/2006/main" w="0">
            <a:solidFill>
              <a:srgbClr val="C67A1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79B13-F0F5-406A-88A4-6B89E75F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002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7A16"/>
                </a:solidFill>
                <a:latin typeface="Arial"/>
                <a:ea typeface="Arial"/>
                <a:cs typeface="Arial"/>
              </a:rPr>
              <a:t>STORE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8E29E1-6922-4503-85ED-689BA8E0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812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Copy TEXT data into a heap slot after AUTH=YES.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8CE38-58E8-4252-8B71-0D36F3CC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>
            <a:def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vulnerable path requires all four conditions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22D48-F91A-422B-A192-4DFB6752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14800"/>
            <a:ext cx="2381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DF3F6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AFA731-8BEB-4A57-97A8-BC6FCF66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11480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TYPE=TEXT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89A68-123F-4EDC-A23F-92124C94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14800"/>
            <a:ext cx="2381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DF3F6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9410B3-EA68-47B9-9E2F-9A2C0493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1480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ACTION=STORE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435D12-CFE8-4DE5-8B07-EF45EAC5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114800"/>
            <a:ext cx="2381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DF3F6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60F83D-4D1F-4F96-8095-BB434BA3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11480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AUTH=YES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650269-74BB-48FD-8212-F60D5BCD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14800"/>
            <a:ext cx="2381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2E2"/>
          </a:solidFill>
          <a:ln xmlns:a="http://schemas.openxmlformats.org/drawingml/2006/main" w="9525">
            <a:solidFill>
              <a:srgbClr val="C67A1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4A7C48-C89E-4477-AF82-DB3E78D2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1480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C67A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67A16"/>
                </a:solidFill>
                <a:latin typeface="Arial"/>
                <a:ea typeface="Arial"/>
                <a:cs typeface="Arial"/>
              </a:rPr>
              <a:t>DATA longer than 16 bytes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949527-A4E0-498D-BECC-2C55BC5A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72100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Fuzzing must discover a combination of fields, not merely one unusual byte.</a:t>
            </a:r>
          </a:p>
        </p:txBody>
      </p:sp>
    </p:spTree>
    <p:extLst>
      <p:ext uri="{BB962C8B-B14F-4D97-AF65-F5344CB8AC3E}">
        <p14:creationId xmlns:p14="http://schemas.microsoft.com/office/powerpoint/2010/main" val="14450481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B78E6-389B-46FB-80A2-E9247586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Files in the student lab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7BD99-A3BA-4EF7-B9CC-BCCBEC94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BBDDB-AF7F-4DDE-9A1B-4E5BD2B9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34F723-7157-42DD-AB85-AF5475A1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2758B-F216-4B7C-9731-DAE5512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5732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packet.c / packet.h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985D9-D288-4DA3-91A9-2DF3385D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45732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The parser under test and its public function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A68E2-1D21-433C-B37A-CBAB1498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packet_cli.c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9BEA8-11F8-4D0F-A58E-89EB810A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0507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normal program that reads one packet from standard 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FF9EF-4E55-4742-AA81-7C404E3B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5282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fuzz_target.c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E0AB5D-645E-44A0-A742-4A79E717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5282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The libFuzzer harness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61834A-F49B-4A2A-B9D8-10A6C5BE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dumb_fuzz.py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155B34-CFCB-4E69-AAC0-67D9B0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60057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mutation script with no coverage feedback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53836E-D433-4BE6-953D-31BA4CBC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45732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Makefile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8AC751-CB44-47C0-9359-167305D0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5732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Build commands for normal, ASan, and fuzzing binaries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C14C9-C120-404F-9165-7B7D0211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050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seeds/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A9F6E9-1631-4446-85F0-563484BE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0507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Three valid starting inputs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DDAEC4-8B20-44F6-8670-0C4E333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5282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tokens.dict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C040E-A7C0-47F7-A5A6-A2A4E8BD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5282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Useful strings from the packet format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686DE3-4783-457C-906A-74DEF81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tests/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EAF342-2434-48AB-916B-E71F5841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00575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Normal regression inputs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73D287-8E09-48CE-95AB-106A74B3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33500"/>
            <a:ext cx="1905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5"/>
          </a:solidFill>
          <a:ln xmlns:a="http://schemas.openxmlformats.org/drawingml/2006/main" w="0">
            <a:solidFill>
              <a:srgbClr val="D7E0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03730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F8AB1D-7BF3-40C3-B108-B6F1D9E0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Three ways to run the same parser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1675E-685C-491B-BAF7-F47EE79A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327F8-3AB2-44FC-B72B-A470CEFC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51E64-F44C-4041-9466-B6945777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750AF-EBA0-43C8-8FF2-D3A92355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4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CD9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96D8D-FB0A-439D-B7DF-508497BC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2402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>
            <a:def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packet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22742-18E5-4520-8AD1-D0A4623A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85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Normal executable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3E8B5B-C24C-4C43-916C-EF3D9BEA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90700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Regression tests and ordinary behavior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9C434-27E9-4E2A-88F3-A1B45E70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81175"/>
            <a:ext cx="27813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8890A-8668-4545-8D59-C190BC03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76425"/>
            <a:ext cx="2438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make packet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ACFB6-7649-44FC-A248-D6AC413C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074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CD9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C5F0C-37D9-4224-8412-56D9B891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>
            <a:def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packet-asan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22B50-0889-415A-85BC-03554CA3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671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Sanitized executable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56B9F-288C-4127-9760-E123FF0F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7182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Manual replay with memory error detection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26233-60E5-4E9E-AF6F-AFD5F1AA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62300"/>
            <a:ext cx="27813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252FB-C2BF-4DE0-9E1E-06B0ADFF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57550"/>
            <a:ext cx="2438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make packet-asan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AE623B-7F45-4F66-AC33-5422BDEC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074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DF8F7"/>
          </a:solidFill>
          <a:ln xmlns:a="http://schemas.openxmlformats.org/drawingml/2006/main" w="9525">
            <a:solidFill>
              <a:srgbClr val="CCD9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156AD-E63B-4C0A-8839-6AC9D030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862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>
            <a:def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fuzz_target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E53A62-DEAC-44D0-A64D-78144C96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4822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Fuzzing executable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852979-74ED-4EFD-9253-3ADAEE8D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52950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Coverage guided mutation plus ASan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1B0F1-A0E0-4463-8BC7-8E9B60CE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43425"/>
            <a:ext cx="27813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9B38A-45B0-45E0-8138-4CB67A2E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38675"/>
            <a:ext cx="2438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make fuzz_target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AA9677-9F8B-4F25-916A-098D65AC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make builds all three. make test runs the normal regression inputs.</a:t>
            </a:r>
          </a:p>
        </p:txBody>
      </p:sp>
    </p:spTree>
    <p:extLst>
      <p:ext uri="{BB962C8B-B14F-4D97-AF65-F5344CB8AC3E}">
        <p14:creationId xmlns:p14="http://schemas.microsoft.com/office/powerpoint/2010/main" val="3067665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1D0A24-16B9-409D-8BE5-041D73E6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fuzzing 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CC925-1BD1-4AC1-901A-DA85C19B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BAA70-821E-4E02-8DD5-55EA2D2B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37518-08F7-455E-8DA4-91CE171E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EB813B-4065-457E-AB33-56643FD2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61912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DCF8B-E3CF-41AD-8C62-0FFECB3A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58483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int LLVMFuzzerTestOneInput(const uint8_t *data, size_t size) {</a:t>
            </a:r>
          </a:p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    (void)parse_packet(data, size);</a:t>
            </a:r>
          </a:p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    return 0;</a:t>
            </a:r>
          </a:p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485C6-797F-486B-B916-215B4A3D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049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What the harness does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AC044-2DF0-4235-BE34-34C29246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9775"/>
            <a:ext cx="4000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Receives arbitrary bytes from libFuzzer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Passes those bytes to parse_packet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Returns so the next input can run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D0BD6-B571-487E-978C-C3A271CD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>
            <a:def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A good harness 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817CA-1281-4936-845B-675AEFBE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Fast enough to execute repeatedly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Deterministic for the same input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Free of unnecessary file, network, or global state</a:t>
            </a:r>
          </a:p>
        </p:txBody>
      </p:sp>
    </p:spTree>
    <p:extLst>
      <p:ext uri="{BB962C8B-B14F-4D97-AF65-F5344CB8AC3E}">
        <p14:creationId xmlns:p14="http://schemas.microsoft.com/office/powerpoint/2010/main" val="12491560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9CC98-4081-4AA0-8F8F-DEF44351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Seeds and corpus evolution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FDAEF-C652-425D-8660-5EAA19C7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493BE-01EB-439E-A6B7-CDE61D5A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24B1F-3742-4193-9F72-CA260C8A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3A6BB-BF80-470B-8C23-343CDA36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A seed corpus gives the fuzzer valid starting points.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A32EB7-D2FD-46B8-BA5F-7DC5DFB0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24075"/>
            <a:ext cx="32575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3CD14-D087-4C57-AFEC-D730B82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24075"/>
            <a:ext cx="76200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D9B"/>
          </a:solidFill>
          <a:ln xmlns:a="http://schemas.openxmlformats.org/drawingml/2006/main" w="0">
            <a:solidFill>
              <a:srgbClr val="256D9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52DD3-DC49-460F-BDD9-64E5D1A0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574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basic.pkt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AC5CB-DA0F-4125-A5EA-E4E8D50E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3842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TEXT + SHOW</a:t>
            </a:r>
          </a:p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normal text packet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EA6707-98DC-48E6-8491-3297055B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24075"/>
            <a:ext cx="32575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E80BF-C679-4A47-9291-E0492B96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24075"/>
            <a:ext cx="76200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DD736-15AD-4348-9765-283DAF38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574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number.pkt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9EEED-68CF-4B7D-A27A-A9647665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63842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NUMBER + COUNT</a:t>
            </a:r>
          </a:p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Exercises numeric parsing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8ED3D-2AA1-48F0-BDEB-D5164C54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24075"/>
            <a:ext cx="32575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F1083-714A-4597-8C97-9039E431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24075"/>
            <a:ext cx="76200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D9B"/>
          </a:solidFill>
          <a:ln xmlns:a="http://schemas.openxmlformats.org/drawingml/2006/main" w="0">
            <a:solidFill>
              <a:srgbClr val="256D9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68880-0579-4114-98F5-09F0242B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574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56D9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D9B"/>
                </a:solidFill>
                <a:latin typeface="Arial"/>
                <a:ea typeface="Arial"/>
                <a:cs typeface="Arial"/>
              </a:rPr>
              <a:t>meta.pkt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5BDF1E-ACCA-4D27-B96F-4E063109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3842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META + SHOW</a:t>
            </a:r>
          </a:p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Exercises the metadata branch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0A21BE-33B3-45B1-85A2-471B3F50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>
            <a:def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Corpus evolution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8CCF9E-F544-4234-AB90-59E1725C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038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When a mutation reaches new behavior, libFuzzer keeps it in the corpus. Later mutations can build on that progress.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8029F-6688-41FA-BCDA-ABCF2667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6737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corpus becomes a compact memory of useful discoveries.</a:t>
            </a:r>
          </a:p>
        </p:txBody>
      </p:sp>
    </p:spTree>
    <p:extLst>
      <p:ext uri="{BB962C8B-B14F-4D97-AF65-F5344CB8AC3E}">
        <p14:creationId xmlns:p14="http://schemas.microsoft.com/office/powerpoint/2010/main" val="10661636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3232B1-251D-4AE1-801E-0ABF40E0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Blind mutation and coverage guided mutation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CB027-FEDC-4F0D-B8C6-63B0483F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487FB9-37FA-4EB3-B445-A5F458B7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69EDC-477D-40F2-9843-637BF412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254AD-C94A-48D9-8081-320CD5D8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4953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E8AC00-495A-4CE8-AB6D-42BD538C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76200" cy="2095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6636D"/>
          </a:solidFill>
          <a:ln xmlns:a="http://schemas.openxmlformats.org/drawingml/2006/main" w="0">
            <a:solidFill>
              <a:srgbClr val="56636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F50D7F-E3A2-4DE9-8D7C-E8E2F00E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657350"/>
            <a:ext cx="4552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Blind mutator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F6075-1C7F-4078-B980-F5A3AED9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03835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Mutates a seed and only notices a crash or timeout. It does not know whether an input reached a new branch.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78256-9627-47CC-917F-6D1766B0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524000"/>
            <a:ext cx="4953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37D6A-7270-4AD4-848E-10EBA76A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524000"/>
            <a:ext cx="76200" cy="2095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0E210-EC90-496B-BDEC-0C2094AB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657350"/>
            <a:ext cx="4552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Coverage guided fuzzer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005E49-B481-4DAE-8555-96B1AF63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03835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Measures execution coverage and keeps inputs that add new behavior. Useful discoveries become future mutation targets.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BF38CD-98BE-454F-8736-E3CD82B8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95750"/>
            <a:ext cx="4572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27D31-D821-42FB-841D-6B70D4D5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191000"/>
            <a:ext cx="422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python3 dumb_fuzz.py --runs 250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34476D-B467-48E1-A329-C8AA2FE3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095750"/>
            <a:ext cx="4572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3290BC-201C-47D6-AE86-DE2B1407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191000"/>
            <a:ext cx="422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./fuzz_target work/no-dict-corpus ...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3C65A-1BD5-4F0C-A885-F3C4D8AD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3875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Both use mutation. Coverage feedback changes the search strategy.</a:t>
            </a:r>
          </a:p>
        </p:txBody>
      </p:sp>
    </p:spTree>
    <p:extLst>
      <p:ext uri="{BB962C8B-B14F-4D97-AF65-F5344CB8AC3E}">
        <p14:creationId xmlns:p14="http://schemas.microsoft.com/office/powerpoint/2010/main" val="1726868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08411-6C5F-4B19-93E1-39F5FDF2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Dictionary assisted mutation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DB94D-694F-4A30-BFE4-9ED67D92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C959C-B9BE-420D-BD6E-3B8DA490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A845E-042E-42AE-B4DE-C5465794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DA1EA-FE34-4058-89F5-7BB1B375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Structured formats often contain multi-byte words that random byte changes rarely assemble.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76B6EB-660F-43CE-8D7A-397E47E3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4524375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0E549-68EC-46EC-8DFE-10C09D91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41814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action_store="ACTION=STORE;"</a:t>
            </a:r>
          </a:p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auth_yes="AUTH=YES;"</a:t>
            </a:r>
          </a:p>
          <a:p xmlns:a="http://schemas.openxmlformats.org/drawingml/2006/main">
            <a:pPr algn="l">
              <a:defRPr sz="150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type_text="TYPE=TEXT;"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0F230-C7A7-4041-BF97-6D87BE30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62200"/>
            <a:ext cx="509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385"/>
          </a:bodyPr>
          <a:lstStyle xmlns:a="http://schemas.openxmlformats.org/drawingml/2006/main">
            <a:def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tokens.dict supplies packet fragments to the mutation engine.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5B19AF-2FBD-4820-A75E-97CB9C9D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90875"/>
            <a:ext cx="50958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The dictionary does not define the full grammar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The fuzzer still decides where to insert tokens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75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32D"/>
                </a:solidFill>
                <a:latin typeface="Arial"/>
                <a:ea typeface="Arial"/>
                <a:cs typeface="Arial"/>
              </a:rPr>
              <a:t>Coverage still decides which results are useful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0C9A9-CC65-4B70-832A-CD110A08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219700"/>
            <a:ext cx="88963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46978-6352-43D4-A669-1DFCADBE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5314950"/>
            <a:ext cx="855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./fuzz_target work/dict-corpus -dict=tokens.dict ...</a:t>
            </a:r>
          </a:p>
        </p:txBody>
      </p:sp>
    </p:spTree>
    <p:extLst>
      <p:ext uri="{BB962C8B-B14F-4D97-AF65-F5344CB8AC3E}">
        <p14:creationId xmlns:p14="http://schemas.microsoft.com/office/powerpoint/2010/main" val="11195781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23DA8E-24A3-47BA-9B26-481817BF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AddressSanitizer as the failure oracle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044A0-A1CE-4413-8B34-8501BAD6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6885F-B2D9-4C9F-BAA3-20E99B6E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064A14-698E-46B0-AB3F-359B261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727C8-7AF4-445B-A9DA-6C86E774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memory bug may silently corrupt data during a normal run. AddressSanitizer adds checks that stop the program and report the violation.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BD911-AEB4-47E4-BFB6-C0DC04C5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33337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D14589-6860-4766-93B2-7D4985D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64242"/>
          </a:solidFill>
          <a:ln xmlns:a="http://schemas.openxmlformats.org/drawingml/2006/main" w="0">
            <a:solidFill>
              <a:srgbClr val="B642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7C5D0-FCB0-4837-A854-1B755C38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64242"/>
                </a:solidFill>
                <a:latin typeface="Arial"/>
                <a:ea typeface="Arial"/>
                <a:cs typeface="Arial"/>
              </a:rPr>
              <a:t>Bug in this lab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8656E-99AC-46C7-A375-73A44035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43250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The STORE path allocates 16 bytes but copies payload.len bytes.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E7EA2-6907-4D86-BA98-EC56EBA8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28900"/>
            <a:ext cx="33337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3CE87-0A7F-4693-8D55-451B07CA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2890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64242"/>
          </a:solidFill>
          <a:ln xmlns:a="http://schemas.openxmlformats.org/drawingml/2006/main" w="0">
            <a:solidFill>
              <a:srgbClr val="B642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0021FA-D19F-4664-9E8B-F44C60B6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622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64242"/>
                </a:solidFill>
                <a:latin typeface="Arial"/>
                <a:ea typeface="Arial"/>
                <a:cs typeface="Arial"/>
              </a:rPr>
              <a:t>ASan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3459FF-B6FF-4E55-BEA7-F1C84CB2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43250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heap-buffer-overflow with a stack trace and source location.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542D4-9593-467E-B9E1-1423410E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33337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8EFB3-487A-4A97-9C3A-53AF9922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5CCAEE-D167-4312-AEB3-FA227EF1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622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Saved artifact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E08315-4C8B-4EDD-B49A-6409CC24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libFuzzer writes the triggering bytes to a crash-* file.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31A627-88C3-4DA5-8DB0-33341D78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54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 sanitizer finds the memory violation. The fuzzer finds an input that reaches it.</a:t>
            </a:r>
          </a:p>
        </p:txBody>
      </p:sp>
    </p:spTree>
    <p:extLst>
      <p:ext uri="{BB962C8B-B14F-4D97-AF65-F5344CB8AC3E}">
        <p14:creationId xmlns:p14="http://schemas.microsoft.com/office/powerpoint/2010/main" val="8966274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31075C-A8BB-4621-8CCF-84BABE6C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Reading a libFuzzer campaign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FA7AD-9DAC-4A1E-B078-0B9EF79B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F44AD-7BE0-4B85-A29C-0BA5238F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7B7BA-2B71-4862-9A54-3E9D6ACF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6B1F5-0107-437F-AB38-37A27965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9700"/>
            <a:ext cx="609600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BDBAE-E85F-4FD6-B3FA-24D4B42E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504950"/>
            <a:ext cx="57531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./fuzz_target work/dict-corpus \</a:t>
            </a:r>
          </a:p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  -dict=tokens.dict \</a:t>
            </a:r>
          </a:p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  -artifact_prefix=work/dict-artifacts/ \</a:t>
            </a:r>
          </a:p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  -max_total_time=60 -max_len=128 -timeout=2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D2A3B-05F3-41AB-94A3-E97CC1C3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304925"/>
            <a:ext cx="1047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8E163-AFF0-41FA-8C00-98DD4469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304925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D9F6C-C7C1-4400-9102-371A96EC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304925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Coverage units observed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604F1E-DAE1-4684-B2E6-34BE71EE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152650"/>
            <a:ext cx="1047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DB83D-C173-4567-8701-89E4602A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152650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3E1CE-00C5-452F-973B-8384F302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Features used to guide retention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F33A1B-240D-45EA-9982-E624E275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00375"/>
            <a:ext cx="1047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5B6CB-557E-4787-BB77-E2D45D9C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00375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565B5-7CCE-4848-A6AF-0DAFAC31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0375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Retained corpus count and size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97FBB1-8124-4D9A-AF9A-BA36AF6E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48100"/>
            <a:ext cx="1047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9282C1-D065-4BCD-8B11-5AB5C246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48100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48C250-8C92-4BAA-9441-31E65007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4810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new useful input entered the corpus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68173-57C5-4ED7-B3ED-8D256752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695825"/>
            <a:ext cx="1047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C7E66E-D569-4537-8A7A-6CE776F4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695825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REDUCE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774555-BD9B-4FD2-8887-E44D23F5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95825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 smaller input kept existing behavior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9404CD-40E2-4E90-8C6A-3EBE7FD9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Campaigns are stochastic. Output and execution counts vary.</a:t>
            </a:r>
          </a:p>
        </p:txBody>
      </p:sp>
    </p:spTree>
    <p:extLst>
      <p:ext uri="{BB962C8B-B14F-4D97-AF65-F5344CB8AC3E}">
        <p14:creationId xmlns:p14="http://schemas.microsoft.com/office/powerpoint/2010/main" val="8416382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3362-8276-4BA0-B782-58F35D74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Crash reproduction and minimization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C8DFD-B0D3-447E-83DC-038E7E39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1D7B1-D16A-4F0F-A97A-64D46CF1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75D97-7ABA-4573-92D6-D12C68D5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7475CE-7D1D-4018-A44A-14F6AA77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81150"/>
            <a:ext cx="2495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EDC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25872-7BBB-408D-A5E4-3DC8B8B4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74307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E8F247-D8D5-40F4-96AB-C5C6CFBB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7811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Locate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26943-736E-41CB-90C9-967B94F5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71725"/>
            <a:ext cx="2114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Find the saved crash-* artifact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1B24B-19C9-4001-8C79-DD3F9FD5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581150"/>
            <a:ext cx="2495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EDC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FC075-E68E-4B7C-91AE-EA2329D7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4307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7F866-9831-4E39-9A68-700C7638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7811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59F06-8573-4363-86E6-099908DB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371725"/>
            <a:ext cx="2114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Run the same binary with that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D0A3D-20DD-4C61-9DAE-65B2062B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81150"/>
            <a:ext cx="2495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EDC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24ACF1-F330-4D17-9493-FE91A8E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4307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7EC43-7654-41A2-9C24-A4753939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17811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Confirm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0A1D4B-6C80-49C3-918B-D4CC3276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371725"/>
            <a:ext cx="2114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Check the sanitizer class and source location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67050-287A-4F67-A7C5-A594BFF2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581150"/>
            <a:ext cx="2495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EDC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E0E6B0-1045-4839-B445-01B8EF15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74307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E2303-2E93-46EC-BA8B-E51B8C38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17811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Minimize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D185BE-9A1C-458B-A8F5-726D3116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371725"/>
            <a:ext cx="2114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Remove bytes while preserving the failure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580286-E931-4020-A382-DB2378C5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05250"/>
            <a:ext cx="10248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4F0B14-ED9F-4DFD-9249-F99C0B03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990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./fuzz_target crash-...</a:t>
            </a:r>
          </a:p>
          <a:p xmlns:a="http://schemas.openxmlformats.org/drawingml/2006/main">
            <a:pPr algn="l">
              <a:defRPr sz="127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./fuzz_target -minimize_crash=1 -exact_artifact_path=work/minimized-crash.pkt crash-...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8503A-7D05-4789-9996-C51360E9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292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A minimized input makes the root cause easier to understand and easier to test later.</a:t>
            </a:r>
          </a:p>
        </p:txBody>
      </p:sp>
    </p:spTree>
    <p:extLst>
      <p:ext uri="{BB962C8B-B14F-4D97-AF65-F5344CB8AC3E}">
        <p14:creationId xmlns:p14="http://schemas.microsoft.com/office/powerpoint/2010/main" val="8919849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D667D-CC4C-4FDC-A8E9-F5364C5E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Crash minimization and corpus minimization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5A528-38BD-4044-B2E3-13E510C0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384A4-0874-4B44-97AA-D30CB213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38499-70AA-4A8B-90AB-51AD2655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DB6E0-C929-4083-B0B5-1775B11B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4953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AF75B-982B-4C6D-9E82-827ACE89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7620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64242"/>
          </a:solidFill>
          <a:ln xmlns:a="http://schemas.openxmlformats.org/drawingml/2006/main" w="0">
            <a:solidFill>
              <a:srgbClr val="B6424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2EC150-3B05-450D-A3C9-76BF6FD8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33550"/>
            <a:ext cx="4552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642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64242"/>
                </a:solidFill>
                <a:latin typeface="Arial"/>
                <a:ea typeface="Arial"/>
                <a:cs typeface="Arial"/>
              </a:rPr>
              <a:t>Crash minimization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083D2-AA60-4898-8B3B-12EFE795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14550"/>
            <a:ext cx="45529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Question: what is the smallest input that still causes this failure?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Output: one compact crash trigger.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12660-E8AB-44AC-9DB7-A563DF38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0200"/>
            <a:ext cx="4953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FDC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E76C2-3F63-4B8C-BEC0-C085E39A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0200"/>
            <a:ext cx="7620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06488-E672-4B5C-9B84-0594D674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33550"/>
            <a:ext cx="4552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>
            <a:def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5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58C"/>
                </a:solidFill>
                <a:latin typeface="Arial"/>
                <a:ea typeface="Arial"/>
                <a:cs typeface="Arial"/>
              </a:rPr>
              <a:t>Corpus minimization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8EF5BE-4908-46DA-B748-1247AF6C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14550"/>
            <a:ext cx="45529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Question: what is the smallest set of inputs that preserves the corpus coverage?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Output: a smaller set of useful inputs.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8826B-9B85-4BF4-98C7-F514DFB0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62500"/>
            <a:ext cx="85534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D4DE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6279B5-3F31-4DCC-8ADA-578A735D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857750"/>
            <a:ext cx="8210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defPPr>
            <a:lvl1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1pPr>
            <a:lvl2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2pPr>
            <a:lvl3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3pPr>
            <a:lvl4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4pPr>
            <a:lvl5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5pPr>
            <a:lvl6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6pPr>
            <a:lvl7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7pPr>
            <a:lvl8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8pPr>
            <a:lvl9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32D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232D"/>
                </a:solidFill>
                <a:latin typeface="Menlo"/>
                <a:ea typeface="Menlo"/>
                <a:cs typeface="Menlo"/>
              </a:rPr>
              <a:t>./fuzz_target -merge=1 work/min-corpus work/dict-corpus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12C72-09DF-444E-A793-8C45735C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150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These operations solve different problems. We will demonstrate both.</a:t>
            </a:r>
          </a:p>
        </p:txBody>
      </p:sp>
    </p:spTree>
    <p:extLst>
      <p:ext uri="{BB962C8B-B14F-4D97-AF65-F5344CB8AC3E}">
        <p14:creationId xmlns:p14="http://schemas.microsoft.com/office/powerpoint/2010/main" val="10659085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28B87D-D04A-434B-A58B-227134D6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Ungraded lab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4BE1F-F1CE-460F-A927-8717E645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957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663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04C0F-2C97-4061-9D49-57446951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ADF88-0106-4A8D-92C9-6600867F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663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6636D"/>
                </a:solidFill>
                <a:latin typeface="Arial"/>
                <a:ea typeface="Arial"/>
                <a:cs typeface="Arial"/>
              </a:rPr>
              <a:t>CS 165  |  Ungraded Lab: Fuzzing Basics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E6060-1442-4EEA-B210-9AB576D5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971F4-1C88-4E2C-BFD0-8ACA40AA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AD29E-A67F-4AFB-A869-E9759159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335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make &amp;&amp; make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96E4C-0691-4819-B85C-731A5814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5FE2D-A4CB-4DB6-B45D-6A6DF872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F0E30-3C2B-4D30-BE57-34F08791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098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packet.c and fuzz_target.c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5442D-A8E3-4E30-B141-80684AD8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6C182C-CDC6-4C29-9760-9257504D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8E16A-AF80-43EE-A555-C99A2ED3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blind mutation and libFuzzer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903E0C-97DA-4F86-BCF5-8FB59B5B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solidFill>
              <a:srgbClr val="183B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D52F7-DB6B-4BA8-AE89-3D65DB1D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0178E-EF3E-4518-8083-1D283770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9624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add tokens.dict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86F845-CE03-49D5-A1A5-3EA6173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6858C"/>
          </a:solidFill>
          <a:ln xmlns:a="http://schemas.openxmlformats.org/drawingml/2006/main" w="0">
            <a:solidFill>
              <a:srgbClr val="16858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31D0BC-DFFD-464F-BC97-7D6B8ED1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Investigate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30BA6-5A4F-4C5C-9681-A50A0E49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387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32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32D"/>
                </a:solidFill>
                <a:latin typeface="Arial"/>
                <a:ea typeface="Arial"/>
                <a:cs typeface="Arial"/>
              </a:rPr>
              <a:t>replay and minimize the crash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EB542-6753-44C9-8791-4B6F3468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38825"/>
            <a:ext cx="1036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684"/>
          </a:bodyPr>
          <a:lstStyle xmlns:a="http://schemas.openxmlformats.org/drawingml/2006/main">
            <a:def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3B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B5B"/>
                </a:solidFill>
                <a:latin typeface="Arial"/>
                <a:ea typeface="Arial"/>
                <a:cs typeface="Arial"/>
              </a:rPr>
              <a:t>By the end, you should be able to explain why feedback, harness design, dictionaries, and sanitizers matter.</a:t>
            </a:r>
          </a:p>
        </p:txBody>
      </p:sp>
    </p:spTree>
    <p:extLst>
      <p:ext uri="{BB962C8B-B14F-4D97-AF65-F5344CB8AC3E}">
        <p14:creationId xmlns:p14="http://schemas.microsoft.com/office/powerpoint/2010/main" val="18068745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2026-10-27T00:22:33.5770000Z</dcterms:created>
  <dcterms:modified xsi:type="dcterms:W3CDTF">2026-10-27T00:22:33.5770000Z</dcterms:modified>
</coreProperties>
</file>