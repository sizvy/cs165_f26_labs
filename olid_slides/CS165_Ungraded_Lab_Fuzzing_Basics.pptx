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Spectral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pectra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pectral-italic.fntdata"/><Relationship Id="rId30" Type="http://schemas.openxmlformats.org/officeDocument/2006/relationships/font" Target="fonts/Spectral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Spectral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Some slides are designed using Codex</a:t>
            </a:r>
            <a:endParaRPr sz="1200"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1eb1e6a4acb81d6a_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h1eb1e6a4acb81d6a_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h1eb1e6a4acb81d6a_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eb1e6a4acb81d6a_1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h1eb1e6a4acb81d6a_1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h1eb1e6a4acb81d6a_1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1eb1e6a4acb81d6a_1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h1eb1e6a4acb81d6a_1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5" name="Google Shape;255;h1eb1e6a4acb81d6a_1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8" name="Google Shape;35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7" name="Google Shape;39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4" name="Google Shape;42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52" name="Google Shape;45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2" name="Google Shape;47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766f0504827d45b8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h766f0504827d45b8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7" name="Google Shape;497;h766f0504827d45b8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766f0504827d45b8_0_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h766f0504827d45b8_0_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7" name="Google Shape;507;h766f0504827d45b8_0_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766f0504827d45b8_0_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6" name="Google Shape;516;h766f0504827d45b8_0_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7" name="Google Shape;517;h766f0504827d45b8_0_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819150" y="142875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857250" y="242887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CS 165 Ungraded Lab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8"/>
          <p:cNvSpPr/>
          <p:nvPr/>
        </p:nvSpPr>
        <p:spPr>
          <a:xfrm>
            <a:off x="857250" y="3190875"/>
            <a:ext cx="7905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Coverage feedback, corpus evolution, harnesses, dictionaries, sanitizers, and minimization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9191625" y="1219200"/>
            <a:ext cx="2000250" cy="4095750"/>
          </a:xfrm>
          <a:prstGeom prst="roundRect">
            <a:avLst>
              <a:gd fmla="val 3810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9525000" y="1714500"/>
            <a:ext cx="1333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INPUT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9810750" y="2238375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8DD2D3"/>
                </a:solidFill>
                <a:latin typeface="Georgia"/>
                <a:ea typeface="Georgia"/>
                <a:cs typeface="Georgia"/>
                <a:sym typeface="Georgia"/>
              </a:rPr>
              <a:t>↓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9429750" y="2781300"/>
            <a:ext cx="152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PROGRAM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9810750" y="3286125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8DD2D3"/>
                </a:solidFill>
                <a:latin typeface="Georgia"/>
                <a:ea typeface="Georgia"/>
                <a:cs typeface="Georgia"/>
                <a:sym typeface="Georgia"/>
              </a:rPr>
              <a:t>↓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9429750" y="3829050"/>
            <a:ext cx="1524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FEEDBACK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8"/>
          <p:cNvSpPr/>
          <p:nvPr/>
        </p:nvSpPr>
        <p:spPr>
          <a:xfrm>
            <a:off x="9820275" y="4410075"/>
            <a:ext cx="76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5">
                <a:solidFill>
                  <a:srgbClr val="8DD2D3"/>
                </a:solidFill>
                <a:latin typeface="Georgia"/>
                <a:ea typeface="Georgia"/>
                <a:cs typeface="Georgia"/>
                <a:sym typeface="Georgia"/>
              </a:rPr>
              <a:t>↺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What we will do today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" name="Google Shape;50;p9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781050" y="1352550"/>
            <a:ext cx="628650" cy="628650"/>
          </a:xfrm>
          <a:prstGeom prst="roundRect">
            <a:avLst>
              <a:gd fmla="val 12121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781050" y="1352550"/>
            <a:ext cx="628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1676400" y="1333500"/>
            <a:ext cx="390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Understand the fuzzing loop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1676400" y="17145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How generated inputs and coverage feedback work together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781050" y="2533650"/>
            <a:ext cx="628650" cy="628650"/>
          </a:xfrm>
          <a:prstGeom prst="roundRect">
            <a:avLst>
              <a:gd fmla="val 12121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781050" y="2533650"/>
            <a:ext cx="628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1676400" y="2514600"/>
            <a:ext cx="390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Meet the lab target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1676400" y="28956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small packet parser with one intentional memory bug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781050" y="3714750"/>
            <a:ext cx="628650" cy="628650"/>
          </a:xfrm>
          <a:prstGeom prst="roundRect">
            <a:avLst>
              <a:gd fmla="val 12121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781050" y="3714750"/>
            <a:ext cx="628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1676400" y="3695700"/>
            <a:ext cx="390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Run two mutation strategies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1676400" y="40767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blind mutator first, then coverage guided libFuzzer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781050" y="4895850"/>
            <a:ext cx="628650" cy="628650"/>
          </a:xfrm>
          <a:prstGeom prst="roundRect">
            <a:avLst>
              <a:gd fmla="val 12121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781050" y="4895850"/>
            <a:ext cx="628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1676400" y="4876800"/>
            <a:ext cx="3905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Use debugging evidence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1676400" y="52578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AddressSanitizer reports, saved crashes, and minimized inputs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What fuzzing means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781050" y="1333500"/>
            <a:ext cx="103822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Fuzzing repeatedly runs a program with </a:t>
            </a:r>
            <a:r>
              <a:rPr b="1" lang="en-US" sz="2175">
                <a:solidFill>
                  <a:srgbClr val="CC0000"/>
                </a:solidFill>
                <a:latin typeface="Georgia"/>
                <a:ea typeface="Georgia"/>
                <a:cs typeface="Georgia"/>
                <a:sym typeface="Georgia"/>
              </a:rPr>
              <a:t>generated</a:t>
            </a:r>
            <a:r>
              <a:rPr b="1" lang="en-US" sz="21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or </a:t>
            </a:r>
            <a:r>
              <a:rPr b="1" lang="en-US" sz="2175">
                <a:solidFill>
                  <a:srgbClr val="CC0000"/>
                </a:solidFill>
                <a:latin typeface="Georgia"/>
                <a:ea typeface="Georgia"/>
                <a:cs typeface="Georgia"/>
                <a:sym typeface="Georgia"/>
              </a:rPr>
              <a:t>mutated</a:t>
            </a:r>
            <a:r>
              <a:rPr b="1" lang="en-US" sz="21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inputs and watches for useful behavior.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781050" y="2609850"/>
            <a:ext cx="31432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781050" y="260985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256D9B"/>
          </a:solidFill>
          <a:ln cap="flat" cmpd="sng" w="9525">
            <a:solidFill>
              <a:srgbClr val="256D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1009650" y="2743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Inputs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009650" y="3124200"/>
            <a:ext cx="2743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Files or byte sequences that the target program accepts.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24375" y="2609850"/>
            <a:ext cx="31432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24375" y="260985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B64242"/>
          </a:solidFill>
          <a:ln cap="flat" cmpd="sng" w="9525">
            <a:solidFill>
              <a:srgbClr val="B6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752975" y="2743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B64242"/>
                </a:solidFill>
                <a:latin typeface="Georgia"/>
                <a:ea typeface="Georgia"/>
                <a:cs typeface="Georgia"/>
                <a:sym typeface="Georgia"/>
              </a:rPr>
              <a:t>Oracle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752975" y="3124200"/>
            <a:ext cx="2743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signal that says something went wrong. In this lab, AddressSanitizer provides that signal.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8267700" y="2609850"/>
            <a:ext cx="31432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8267700" y="260985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8496300" y="2743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Search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8496300" y="3124200"/>
            <a:ext cx="2743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Mutation changes inputs. Coverage feedback helps the fuzzer keep useful changes.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781050" y="4857750"/>
            <a:ext cx="10572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Goal: reach program states that ordinary tests did not exercise.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Example tests and fuzzing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876300" y="13811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Example based testing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876300" y="1885950"/>
            <a:ext cx="466725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person selects each input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Each expected result is known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Excellent for known requirements and regressions</a:t>
            </a:r>
            <a:endParaRPr>
              <a:solidFill>
                <a:srgbClr val="3876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CC0000"/>
                </a:solidFill>
                <a:latin typeface="Georgia"/>
                <a:ea typeface="Georgia"/>
                <a:cs typeface="Georgia"/>
                <a:sym typeface="Georgia"/>
              </a:rPr>
              <a:t>Limited by the examples we imagined</a:t>
            </a:r>
            <a:endParaRPr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000750" y="1352550"/>
            <a:ext cx="28575" cy="4114800"/>
          </a:xfrm>
          <a:prstGeom prst="rect">
            <a:avLst/>
          </a:prstGeom>
          <a:solidFill>
            <a:srgbClr val="D7E0E5"/>
          </a:solidFill>
          <a:ln cap="flat" cmpd="sng" w="9525">
            <a:solidFill>
              <a:srgbClr val="D7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496050" y="13811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Fuzzing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6496050" y="1885950"/>
            <a:ext cx="466725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fuzzer creates many inputs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failure oracle detects bad behavior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Coverage can guide the search</a:t>
            </a:r>
            <a:endParaRPr>
              <a:solidFill>
                <a:srgbClr val="38761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50"/>
              <a:buFont typeface="Georgia"/>
              <a:buChar char="-"/>
            </a:pPr>
            <a:r>
              <a:rPr lang="en-US" sz="1650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Useful for unexpected edge cases</a:t>
            </a:r>
            <a:endParaRPr>
              <a:solidFill>
                <a:srgbClr val="38761D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895350" y="5562600"/>
            <a:ext cx="10239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We use both: normal tests protect intended behavior, while fuzzing searches beyond them.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coverage guided feedback loop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638175" y="1924050"/>
            <a:ext cx="1905000" cy="2143125"/>
          </a:xfrm>
          <a:prstGeom prst="roundRect">
            <a:avLst>
              <a:gd fmla="val 4000" name="adj"/>
            </a:avLst>
          </a:prstGeom>
          <a:solidFill>
            <a:srgbClr val="F7FAFB"/>
          </a:solidFill>
          <a:ln cap="flat" cmpd="sng" w="9525">
            <a:solidFill>
              <a:srgbClr val="CA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1266825" y="1600200"/>
            <a:ext cx="647700" cy="647700"/>
          </a:xfrm>
          <a:prstGeom prst="roundRect">
            <a:avLst>
              <a:gd fmla="val 1176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1266825" y="16002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771525" y="2457450"/>
            <a:ext cx="16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Choose input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809625" y="2990850"/>
            <a:ext cx="1562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Start from a seed or retained corpus entry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2562225" y="262890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6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2905125" y="1924050"/>
            <a:ext cx="1905000" cy="2143125"/>
          </a:xfrm>
          <a:prstGeom prst="roundRect">
            <a:avLst>
              <a:gd fmla="val 4000" name="adj"/>
            </a:avLst>
          </a:prstGeom>
          <a:solidFill>
            <a:srgbClr val="F7FAFB"/>
          </a:solidFill>
          <a:ln cap="flat" cmpd="sng" w="9525">
            <a:solidFill>
              <a:srgbClr val="CA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3533775" y="1600200"/>
            <a:ext cx="647700" cy="647700"/>
          </a:xfrm>
          <a:prstGeom prst="roundRect">
            <a:avLst>
              <a:gd fmla="val 1176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3533775" y="16002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038475" y="2457450"/>
            <a:ext cx="16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Mutate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3076575" y="2990850"/>
            <a:ext cx="1562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Flip, insert, delete, or replace bytes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4829175" y="262890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6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5172075" y="1924050"/>
            <a:ext cx="1905000" cy="2143125"/>
          </a:xfrm>
          <a:prstGeom prst="roundRect">
            <a:avLst>
              <a:gd fmla="val 4000" name="adj"/>
            </a:avLst>
          </a:prstGeom>
          <a:solidFill>
            <a:srgbClr val="F7FAFB"/>
          </a:solidFill>
          <a:ln cap="flat" cmpd="sng" w="9525">
            <a:solidFill>
              <a:srgbClr val="CA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5800725" y="1600200"/>
            <a:ext cx="647700" cy="647700"/>
          </a:xfrm>
          <a:prstGeom prst="roundRect">
            <a:avLst>
              <a:gd fmla="val 1176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5800725" y="16002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5305425" y="2457450"/>
            <a:ext cx="16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Execute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5343525" y="2990850"/>
            <a:ext cx="1562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Run the instrumented target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7096125" y="262890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6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7439025" y="1924050"/>
            <a:ext cx="1905000" cy="2143125"/>
          </a:xfrm>
          <a:prstGeom prst="roundRect">
            <a:avLst>
              <a:gd fmla="val 4000" name="adj"/>
            </a:avLst>
          </a:prstGeom>
          <a:solidFill>
            <a:srgbClr val="F7FAFB"/>
          </a:solidFill>
          <a:ln cap="flat" cmpd="sng" w="9525">
            <a:solidFill>
              <a:srgbClr val="CA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8067675" y="1600200"/>
            <a:ext cx="647700" cy="647700"/>
          </a:xfrm>
          <a:prstGeom prst="roundRect">
            <a:avLst>
              <a:gd fmla="val 11765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8067675" y="16002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7572375" y="2457450"/>
            <a:ext cx="16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Measure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7610475" y="2990850"/>
            <a:ext cx="1562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Observe new coverage or a failure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9363075" y="2628900"/>
            <a:ext cx="323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6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9705975" y="1924050"/>
            <a:ext cx="1905000" cy="2143125"/>
          </a:xfrm>
          <a:prstGeom prst="roundRect">
            <a:avLst>
              <a:gd fmla="val 4000" name="adj"/>
            </a:avLst>
          </a:prstGeom>
          <a:solidFill>
            <a:srgbClr val="F7FAFB"/>
          </a:solidFill>
          <a:ln cap="flat" cmpd="sng" w="9525">
            <a:solidFill>
              <a:srgbClr val="CAD9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10334625" y="1600200"/>
            <a:ext cx="647700" cy="647700"/>
          </a:xfrm>
          <a:prstGeom prst="roundRect">
            <a:avLst>
              <a:gd fmla="val 1176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10334625" y="1600200"/>
            <a:ext cx="647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9839325" y="2457450"/>
            <a:ext cx="1638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6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Keep or discard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9877425" y="2990850"/>
            <a:ext cx="1562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Retain inputs that add useful behavior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1047750" y="4762500"/>
            <a:ext cx="10096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loop repeats thousands of times. Coverage determines which inputs the fuzzer keeps.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target: a packet parser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781050" y="1314450"/>
            <a:ext cx="10382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parser turns a byte sequence into structured fields and chooses behavior from those fields.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952500" y="2247900"/>
            <a:ext cx="10287000" cy="781050"/>
          </a:xfrm>
          <a:prstGeom prst="roundRect">
            <a:avLst>
              <a:gd fmla="val 9756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123950" y="2343150"/>
            <a:ext cx="99441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PKT1;TYPE=TEXT;ACTION=SHOW;AUTH=NO;DATA=hello;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676275" y="3476625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PKT1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676275" y="38481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Header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752475" y="4229100"/>
            <a:ext cx="1752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Identifies the input format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2914650" y="3476625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TYPE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2914650" y="38481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Record type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2990850" y="4229100"/>
            <a:ext cx="1752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TEXT, NUMBER, or META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5153025" y="3476625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ACTION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5153025" y="38481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Requested work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229225" y="4229100"/>
            <a:ext cx="1752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SHOW, COUNT, or STORE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7391400" y="3476625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AUTH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7391400" y="38481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Authorization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7467600" y="4229100"/>
            <a:ext cx="1752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YES or NO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9629775" y="3476625"/>
            <a:ext cx="190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9629775" y="38481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Payload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9705975" y="4229100"/>
            <a:ext cx="17526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Bytes processed by the selected action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904875" y="5448300"/>
            <a:ext cx="1038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parser accepts some combinations and rejects malformed or unsupported packets.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Parser paths and the intentional bug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723900" y="1466850"/>
            <a:ext cx="3143250" cy="1428750"/>
          </a:xfrm>
          <a:prstGeom prst="roundRect">
            <a:avLst>
              <a:gd fmla="val 533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723900" y="1466850"/>
            <a:ext cx="76200" cy="1428750"/>
          </a:xfrm>
          <a:prstGeom prst="roundRect">
            <a:avLst>
              <a:gd fmla="val 50000" name="adj"/>
            </a:avLst>
          </a:prstGeom>
          <a:solidFill>
            <a:srgbClr val="256D9B"/>
          </a:solidFill>
          <a:ln cap="flat" cmpd="sng" w="9525">
            <a:solidFill>
              <a:srgbClr val="256D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952500" y="1600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SHOW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952500" y="1981200"/>
            <a:ext cx="27432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Return success when a DATA field exists.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4524375" y="1466850"/>
            <a:ext cx="3143250" cy="1428750"/>
          </a:xfrm>
          <a:prstGeom prst="roundRect">
            <a:avLst>
              <a:gd fmla="val 533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4524375" y="1466850"/>
            <a:ext cx="76200" cy="142875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752975" y="1600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COUNT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752975" y="1981200"/>
            <a:ext cx="27432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Read the payload length. NUMBER inputs also exercise numeric parsing.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8324850" y="1466850"/>
            <a:ext cx="3143250" cy="1428750"/>
          </a:xfrm>
          <a:prstGeom prst="roundRect">
            <a:avLst>
              <a:gd fmla="val 533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8324850" y="1466850"/>
            <a:ext cx="76200" cy="1428750"/>
          </a:xfrm>
          <a:prstGeom prst="roundRect">
            <a:avLst>
              <a:gd fmla="val 50000" name="adj"/>
            </a:avLst>
          </a:prstGeom>
          <a:solidFill>
            <a:srgbClr val="C67A16"/>
          </a:solidFill>
          <a:ln cap="flat" cmpd="sng" w="9525">
            <a:solidFill>
              <a:srgbClr val="C67A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8553450" y="1600200"/>
            <a:ext cx="27432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C67A16"/>
                </a:solidFill>
                <a:latin typeface="Georgia"/>
                <a:ea typeface="Georgia"/>
                <a:cs typeface="Georgia"/>
                <a:sym typeface="Georgia"/>
              </a:rPr>
              <a:t>STORE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8553450" y="1981200"/>
            <a:ext cx="27432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Copy TEXT data into a heap slot after AUTH=YES.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723900" y="33909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vulnerable path requires all four conditions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733425" y="4114800"/>
            <a:ext cx="2381250" cy="742950"/>
          </a:xfrm>
          <a:prstGeom prst="roundRect">
            <a:avLst>
              <a:gd fmla="val 10256" name="adj"/>
            </a:avLst>
          </a:prstGeom>
          <a:solidFill>
            <a:srgbClr val="EDF3F6"/>
          </a:solidFill>
          <a:ln cap="flat" cmpd="sng" w="9525">
            <a:solidFill>
              <a:srgbClr val="C9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828675" y="41148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TYPE=TEXT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3429000" y="4114800"/>
            <a:ext cx="2381250" cy="742950"/>
          </a:xfrm>
          <a:prstGeom prst="roundRect">
            <a:avLst>
              <a:gd fmla="val 10256" name="adj"/>
            </a:avLst>
          </a:prstGeom>
          <a:solidFill>
            <a:srgbClr val="EDF3F6"/>
          </a:solidFill>
          <a:ln cap="flat" cmpd="sng" w="9525">
            <a:solidFill>
              <a:srgbClr val="C9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3524250" y="41148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ACTION=STORE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6124575" y="4114800"/>
            <a:ext cx="2381250" cy="742950"/>
          </a:xfrm>
          <a:prstGeom prst="roundRect">
            <a:avLst>
              <a:gd fmla="val 10256" name="adj"/>
            </a:avLst>
          </a:prstGeom>
          <a:solidFill>
            <a:srgbClr val="EDF3F6"/>
          </a:solidFill>
          <a:ln cap="flat" cmpd="sng" w="9525">
            <a:solidFill>
              <a:srgbClr val="C9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6219825" y="41148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AUTH=YES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8820150" y="4114800"/>
            <a:ext cx="2381250" cy="742950"/>
          </a:xfrm>
          <a:prstGeom prst="roundRect">
            <a:avLst>
              <a:gd fmla="val 10256" name="adj"/>
            </a:avLst>
          </a:prstGeom>
          <a:solidFill>
            <a:srgbClr val="FFF2E2"/>
          </a:solidFill>
          <a:ln cap="flat" cmpd="sng" w="9525">
            <a:solidFill>
              <a:srgbClr val="C67A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8915400" y="4114800"/>
            <a:ext cx="2190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67A16"/>
                </a:solidFill>
                <a:latin typeface="Georgia"/>
                <a:ea typeface="Georgia"/>
                <a:cs typeface="Georgia"/>
                <a:sym typeface="Georgia"/>
              </a:rPr>
              <a:t>DATA longer than 16 bytes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1000125" y="5372100"/>
            <a:ext cx="1019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Fuzzing must discover a combination of fields, not merely one unusual byte.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Files in the ungraded lab folder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762000" y="145732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packet.c / packet.h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2809875" y="145732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parser under test and its public function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762000" y="250507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packet_cli.c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2809875" y="250507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normal program that reads one packet from standard input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762000" y="355282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fuzz_target.c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2809875" y="355282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libFuzzer harness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762000" y="460057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dumb_fuzz.py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2809875" y="460057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mutation script with no coverage feedback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6334125" y="145732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Makefile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8096250" y="145732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Build commands for normal, ASan, and fuzzing binaries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6334125" y="250507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seeds/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8096250" y="250507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Three valid starting inputs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6334125" y="355282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tokens.dict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8096250" y="355282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Useful strings from the packet format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6334125" y="4600575"/>
            <a:ext cx="1905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tests/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8096250" y="4600575"/>
            <a:ext cx="304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Normal regression inputs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5943600" y="1333500"/>
            <a:ext cx="19050" cy="4514850"/>
          </a:xfrm>
          <a:prstGeom prst="rect">
            <a:avLst/>
          </a:prstGeom>
          <a:solidFill>
            <a:srgbClr val="D7E0E5"/>
          </a:solidFill>
          <a:ln cap="flat" cmpd="sng" w="9525">
            <a:solidFill>
              <a:srgbClr val="D7E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Possible Branches: Overall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1041575" y="1377938"/>
            <a:ext cx="10359300" cy="4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Start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├── Does input begin with PKT1;?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├──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└── Yes → continue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├── What is TYPE?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├── TEXT   → TEXT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├── NUMBER → NUMBER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├── META   → META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      └── Other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│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└── What is ACTION?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├──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├── 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├── STORE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└── Other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Possible Branches: Type Branches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1041575" y="1377950"/>
            <a:ext cx="26478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TYPE=TEXT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enter the TEXT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continue to ACTION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7384800" y="1295325"/>
            <a:ext cx="41976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TYPE=NUMBER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call observe_number(DATA)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continue to ACTION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1041575" y="3194650"/>
            <a:ext cx="4354500" cy="13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missing or empty  → stop numeric processing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contains letters  → stop numeric processing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is 165            → special 165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is greater than 1000 → large-number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Other number           → ordinary number path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7441525" y="3218800"/>
            <a:ext cx="4241700" cy="2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TYPE=META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DATA begin with CS165?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Yes → special CS165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No  → ordinary META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continue to ACTION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Possible Branches: Action Branches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65475" y="1524700"/>
            <a:ext cx="24471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ACTION=SHOW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DATA exist?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Yes → accepted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TEXT +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NUMBER +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META +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4339050" y="1524700"/>
            <a:ext cx="24471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ACTION=COUNT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DATA exist?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Yes → accepted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TEXT + 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NUMBER + 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META + 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9066300" y="1295325"/>
            <a:ext cx="2516100" cy="52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ACTION=STORE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Is AUTH=YES?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Yes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Is TYPE=TEXT?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Yes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DATA exist?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Yes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Allocate 16 bytes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Was allocation successful?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├── No  → rejected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└── Yes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      ↓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Copy DATA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3325475" y="4084675"/>
            <a:ext cx="3915300" cy="2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length ≤ 16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→ safe copy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→ accepted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DATA length &gt; 16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→ heap-buffer-overflow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    → AddressSanitizer reports a crash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Three ways to run the same parser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723900" y="1562100"/>
            <a:ext cx="10744200" cy="1066800"/>
          </a:xfrm>
          <a:prstGeom prst="roundRect">
            <a:avLst>
              <a:gd fmla="val 7143" name="adj"/>
            </a:avLst>
          </a:prstGeom>
          <a:solidFill>
            <a:srgbClr val="F7FAFB"/>
          </a:solidFill>
          <a:ln cap="flat" cmpd="sng" w="9525">
            <a:solidFill>
              <a:srgbClr val="CCD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933450" y="1724025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packet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933450" y="2085975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Normal executable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3257550" y="1790700"/>
            <a:ext cx="4857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Regression tests and ordinary behavior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8382000" y="1781175"/>
            <a:ext cx="2781300" cy="59055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8553450" y="1876425"/>
            <a:ext cx="2438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make packet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23900" y="2943225"/>
            <a:ext cx="10744200" cy="1066800"/>
          </a:xfrm>
          <a:prstGeom prst="roundRect">
            <a:avLst>
              <a:gd fmla="val 7143" name="adj"/>
            </a:avLst>
          </a:prstGeom>
          <a:solidFill>
            <a:srgbClr val="F7FAFB"/>
          </a:solidFill>
          <a:ln cap="flat" cmpd="sng" w="9525">
            <a:solidFill>
              <a:srgbClr val="CCD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33450" y="3105150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packet-asan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933450" y="3467100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Sanitized executable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3257550" y="3171825"/>
            <a:ext cx="4857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Manual replay with memory error detection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8382000" y="3162300"/>
            <a:ext cx="2781300" cy="59055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8553450" y="3257550"/>
            <a:ext cx="2438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make packet-asan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723900" y="4324350"/>
            <a:ext cx="10744200" cy="1066800"/>
          </a:xfrm>
          <a:prstGeom prst="roundRect">
            <a:avLst>
              <a:gd fmla="val 7143" name="adj"/>
            </a:avLst>
          </a:prstGeom>
          <a:solidFill>
            <a:srgbClr val="EDF8F7"/>
          </a:solidFill>
          <a:ln cap="flat" cmpd="sng" w="9525">
            <a:solidFill>
              <a:srgbClr val="CCD9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933450" y="4486275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fuzz_target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933450" y="4848225"/>
            <a:ext cx="1952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Fuzzing executable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3257550" y="4552950"/>
            <a:ext cx="4857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Coverage guided mutation plus ASan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8382000" y="4543425"/>
            <a:ext cx="2781300" cy="59055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8553450" y="4638675"/>
            <a:ext cx="2438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make fuzz_target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857250" y="5715000"/>
            <a:ext cx="10477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make builds all three. make test runs the normal regression inputs.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fuzzing harness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666750" y="1571625"/>
            <a:ext cx="6191250" cy="2190750"/>
          </a:xfrm>
          <a:prstGeom prst="roundRect">
            <a:avLst>
              <a:gd fmla="val 3478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838200" y="1666875"/>
            <a:ext cx="584835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int LLVMFuzzerTestOneInput(const uint8_t *data, size_t size) {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   (void)parse_packet(data, size);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   return 0;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}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7429500" y="150495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What the harness does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7429500" y="2009775"/>
            <a:ext cx="40005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Receives arbitrary bytes from libFuzzer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Passes those bytes to parse_packet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Returns so the next input can run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666750" y="4381500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7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A good harness is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666750" y="4838700"/>
            <a:ext cx="10477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Fast enough to execute repeatedly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Deterministic for the same input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Free of unnecessary file, network, or global state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Seeds and corpus evolution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762000" y="1352550"/>
            <a:ext cx="104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 seed corpus gives the fuzzer valid starting points.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742950" y="2124075"/>
            <a:ext cx="3257550" cy="1504950"/>
          </a:xfrm>
          <a:prstGeom prst="roundRect">
            <a:avLst>
              <a:gd fmla="val 506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742950" y="2124075"/>
            <a:ext cx="76200" cy="1504950"/>
          </a:xfrm>
          <a:prstGeom prst="roundRect">
            <a:avLst>
              <a:gd fmla="val 50000" name="adj"/>
            </a:avLst>
          </a:prstGeom>
          <a:solidFill>
            <a:srgbClr val="256D9B"/>
          </a:solidFill>
          <a:ln cap="flat" cmpd="sng" w="9525">
            <a:solidFill>
              <a:srgbClr val="256D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971550" y="2257425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basic.pkt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971550" y="2638425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TEXT +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normal text packet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4505325" y="2124075"/>
            <a:ext cx="3257550" cy="1504950"/>
          </a:xfrm>
          <a:prstGeom prst="roundRect">
            <a:avLst>
              <a:gd fmla="val 506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505325" y="2124075"/>
            <a:ext cx="76200" cy="150495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4733925" y="2257425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number.pkt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4733925" y="2638425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NUMBER + COUNT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Exercises numeric parsing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8267700" y="2124075"/>
            <a:ext cx="3257550" cy="1504950"/>
          </a:xfrm>
          <a:prstGeom prst="roundRect">
            <a:avLst>
              <a:gd fmla="val 5063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8267700" y="2124075"/>
            <a:ext cx="76200" cy="1504950"/>
          </a:xfrm>
          <a:prstGeom prst="roundRect">
            <a:avLst>
              <a:gd fmla="val 50000" name="adj"/>
            </a:avLst>
          </a:prstGeom>
          <a:solidFill>
            <a:srgbClr val="256D9B"/>
          </a:solidFill>
          <a:ln cap="flat" cmpd="sng" w="9525">
            <a:solidFill>
              <a:srgbClr val="256D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8496300" y="2257425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256D9B"/>
                </a:solidFill>
                <a:latin typeface="Georgia"/>
                <a:ea typeface="Georgia"/>
                <a:cs typeface="Georgia"/>
                <a:sym typeface="Georgia"/>
              </a:rPr>
              <a:t>meta.pkt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8496300" y="2638425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META + SHOW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Exercises the metadata branch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742950" y="421005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Corpus evolution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742950" y="4667250"/>
            <a:ext cx="10382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When a mutation reaches new behavior, libFuzzer keeps it in the corpus. Later mutations can build on that progress.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742950" y="5667375"/>
            <a:ext cx="10382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corpus becomes a compact memory of useful discoveries.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Blind mutation and coverage guided mutation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14375" y="1524000"/>
            <a:ext cx="4953000" cy="2095500"/>
          </a:xfrm>
          <a:prstGeom prst="roundRect">
            <a:avLst>
              <a:gd fmla="val 3636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714375" y="1524000"/>
            <a:ext cx="76200" cy="2095500"/>
          </a:xfrm>
          <a:prstGeom prst="roundRect">
            <a:avLst>
              <a:gd fmla="val 50000" name="adj"/>
            </a:avLst>
          </a:prstGeom>
          <a:solidFill>
            <a:srgbClr val="56636D"/>
          </a:solidFill>
          <a:ln cap="flat" cmpd="sng" w="9525">
            <a:solidFill>
              <a:srgbClr val="5663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942975" y="1657350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Blind mutator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5" name="Google Shape;345;p22"/>
          <p:cNvSpPr/>
          <p:nvPr/>
        </p:nvSpPr>
        <p:spPr>
          <a:xfrm>
            <a:off x="942975" y="2038350"/>
            <a:ext cx="45529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Mutates a seed and only notices a crash or timeout. It does not know whether an input reached a new branch.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6524625" y="1524000"/>
            <a:ext cx="4953000" cy="2095500"/>
          </a:xfrm>
          <a:prstGeom prst="roundRect">
            <a:avLst>
              <a:gd fmla="val 3636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524625" y="1524000"/>
            <a:ext cx="76200" cy="209550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6753225" y="1657350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Coverage guided fuzzer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6753225" y="2038350"/>
            <a:ext cx="45529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Measures execution coverage and keeps inputs that add new behavior. Useful discoveries become future mutation targets.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885825" y="4095750"/>
            <a:ext cx="4572000" cy="609600"/>
          </a:xfrm>
          <a:prstGeom prst="roundRect">
            <a:avLst>
              <a:gd fmla="val 12500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057275" y="4191000"/>
            <a:ext cx="422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python3 dumb_fuzz.py --runs 250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6696075" y="4095750"/>
            <a:ext cx="4572000" cy="609600"/>
          </a:xfrm>
          <a:prstGeom prst="roundRect">
            <a:avLst>
              <a:gd fmla="val 12500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6867525" y="4191000"/>
            <a:ext cx="4229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work/no-dict-corpus ...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904875" y="5238750"/>
            <a:ext cx="10382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Both use mutation. Coverage feedback changes the search strategy.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Dictionary assisted mutation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62000" y="1333500"/>
            <a:ext cx="1047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Structured formats often contain multi-byte words that random byte changes rarely assemble.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781050" y="2286000"/>
            <a:ext cx="4524375" cy="1762125"/>
          </a:xfrm>
          <a:prstGeom prst="roundRect">
            <a:avLst>
              <a:gd fmla="val 4324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952500" y="2381250"/>
            <a:ext cx="4181475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action_store="ACTION=STORE;"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auth_yes="AUTH=YES;"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type_text="TYPE=TEXT;"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6076950" y="2362200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63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tokens.dict supplies packet fragments to the mutation engine.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6076950" y="3190875"/>
            <a:ext cx="50958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dictionary does not define the full grammar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fuzzer still decides where to insert tokens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7232D"/>
              </a:buClr>
              <a:buSzPts val="1575"/>
              <a:buFont typeface="Georgia"/>
              <a:buChar char="•"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Coverage still decides which results are useful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1647825" y="5219700"/>
            <a:ext cx="8896350" cy="628650"/>
          </a:xfrm>
          <a:prstGeom prst="roundRect">
            <a:avLst>
              <a:gd fmla="val 12121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1819275" y="5314950"/>
            <a:ext cx="8553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work/dict-corpus -dict=tokens.dict ...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4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AddressSanitizer as the failure oracle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762000" y="1333500"/>
            <a:ext cx="10477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memory bug may silently corrupt data during a normal run. AddressSanitizer adds checks that stop the program and report the violation.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781050" y="26289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781050" y="262890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B64242"/>
          </a:solidFill>
          <a:ln cap="flat" cmpd="sng" w="9525">
            <a:solidFill>
              <a:srgbClr val="B6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1009650" y="2762250"/>
            <a:ext cx="2933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B64242"/>
                </a:solidFill>
                <a:latin typeface="Georgia"/>
                <a:ea typeface="Georgia"/>
                <a:cs typeface="Georgia"/>
                <a:sym typeface="Georgia"/>
              </a:rPr>
              <a:t>Bug in this lab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1009650" y="3143250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The STORE path allocates 16 bytes but copies payload.len bytes.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4429125" y="26289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4429125" y="262890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B64242"/>
          </a:solidFill>
          <a:ln cap="flat" cmpd="sng" w="9525">
            <a:solidFill>
              <a:srgbClr val="B6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4657725" y="2762250"/>
            <a:ext cx="2933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B64242"/>
                </a:solidFill>
                <a:latin typeface="Georgia"/>
                <a:ea typeface="Georgia"/>
                <a:cs typeface="Georgia"/>
                <a:sym typeface="Georgia"/>
              </a:rPr>
              <a:t>ASan signal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4657725" y="3143250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heap-buffer-overflow with a stack trace and source location.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8077200" y="2628900"/>
            <a:ext cx="3333750" cy="1676400"/>
          </a:xfrm>
          <a:prstGeom prst="roundRect">
            <a:avLst>
              <a:gd fmla="val 4545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8077200" y="2628900"/>
            <a:ext cx="76200" cy="167640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8305800" y="2762250"/>
            <a:ext cx="2933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Saved artifact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8305800" y="3143250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libFuzzer writes the triggering bytes to a crash-* file.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857250" y="51054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 sanitizer finds the memory violation. The fuzzer finds an input that reaches it.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Reading a libFuzzer campaign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619125" y="1409700"/>
            <a:ext cx="6096000" cy="1981200"/>
          </a:xfrm>
          <a:prstGeom prst="roundRect">
            <a:avLst>
              <a:gd fmla="val 3846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790575" y="1504950"/>
            <a:ext cx="5753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work/dict-corpus \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 -dict=tokens.dict \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 -artifact_prefix=work/dict-artifacts/ \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  -max_total_time=60 -max_len=128 -timeout=2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7096125" y="1304925"/>
            <a:ext cx="1047750" cy="514350"/>
          </a:xfrm>
          <a:prstGeom prst="roundRect">
            <a:avLst>
              <a:gd fmla="val 1481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7096125" y="1304925"/>
            <a:ext cx="104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cov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8382000" y="1304925"/>
            <a:ext cx="3000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Coverage units observed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7096125" y="2152650"/>
            <a:ext cx="1047750" cy="514350"/>
          </a:xfrm>
          <a:prstGeom prst="roundRect">
            <a:avLst>
              <a:gd fmla="val 1481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7096125" y="2152650"/>
            <a:ext cx="104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8382000" y="2152650"/>
            <a:ext cx="3000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Features used to guide retention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7096125" y="3000375"/>
            <a:ext cx="1047750" cy="514350"/>
          </a:xfrm>
          <a:prstGeom prst="roundRect">
            <a:avLst>
              <a:gd fmla="val 14815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7096125" y="3000375"/>
            <a:ext cx="104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corp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8382000" y="3000375"/>
            <a:ext cx="3000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Retained corpus count and size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7096125" y="3848100"/>
            <a:ext cx="1047750" cy="514350"/>
          </a:xfrm>
          <a:prstGeom prst="roundRect">
            <a:avLst>
              <a:gd fmla="val 14815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7096125" y="3848100"/>
            <a:ext cx="104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NEW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8382000" y="3848100"/>
            <a:ext cx="3000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new useful input entered the corpus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7096125" y="4695825"/>
            <a:ext cx="1047750" cy="514350"/>
          </a:xfrm>
          <a:prstGeom prst="roundRect">
            <a:avLst>
              <a:gd fmla="val 14815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7096125" y="4695825"/>
            <a:ext cx="1047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REDUCE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8382000" y="4695825"/>
            <a:ext cx="30003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 smaller input kept existing behavior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666750" y="5619750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Campaigns are stochastic. Output and execution counts vary.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Crash reproduction and minimization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16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676275" y="1581150"/>
            <a:ext cx="2495550" cy="1657350"/>
          </a:xfrm>
          <a:prstGeom prst="roundRect">
            <a:avLst>
              <a:gd fmla="val 4598" name="adj"/>
            </a:avLst>
          </a:prstGeom>
          <a:solidFill>
            <a:srgbClr val="F7FAFB"/>
          </a:solidFill>
          <a:ln cap="flat" cmpd="sng" w="9525">
            <a:solidFill>
              <a:srgbClr val="CE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847725" y="174307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1457325" y="1781175"/>
            <a:ext cx="147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Locate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866775" y="2371725"/>
            <a:ext cx="21145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Find the saved crash-* artifact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3514725" y="1581150"/>
            <a:ext cx="2495550" cy="1657350"/>
          </a:xfrm>
          <a:prstGeom prst="roundRect">
            <a:avLst>
              <a:gd fmla="val 4598" name="adj"/>
            </a:avLst>
          </a:prstGeom>
          <a:solidFill>
            <a:srgbClr val="F7FAFB"/>
          </a:solidFill>
          <a:ln cap="flat" cmpd="sng" w="9525">
            <a:solidFill>
              <a:srgbClr val="CE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3686175" y="174307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4295775" y="1781175"/>
            <a:ext cx="147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Replay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3705225" y="2371725"/>
            <a:ext cx="21145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Run the same binary with that file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6353175" y="1581150"/>
            <a:ext cx="2495550" cy="1657350"/>
          </a:xfrm>
          <a:prstGeom prst="roundRect">
            <a:avLst>
              <a:gd fmla="val 4598" name="adj"/>
            </a:avLst>
          </a:prstGeom>
          <a:solidFill>
            <a:srgbClr val="F7FAFB"/>
          </a:solidFill>
          <a:ln cap="flat" cmpd="sng" w="9525">
            <a:solidFill>
              <a:srgbClr val="CE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6524625" y="174307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7134225" y="1781175"/>
            <a:ext cx="147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Confirm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6543675" y="2371725"/>
            <a:ext cx="21145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Check the sanitizer class and source location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9191625" y="1581150"/>
            <a:ext cx="2495550" cy="1657350"/>
          </a:xfrm>
          <a:prstGeom prst="roundRect">
            <a:avLst>
              <a:gd fmla="val 4598" name="adj"/>
            </a:avLst>
          </a:prstGeom>
          <a:solidFill>
            <a:srgbClr val="F7FAFB"/>
          </a:solidFill>
          <a:ln cap="flat" cmpd="sng" w="9525">
            <a:solidFill>
              <a:srgbClr val="CE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9363075" y="1743075"/>
            <a:ext cx="457200" cy="457200"/>
          </a:xfrm>
          <a:prstGeom prst="roundRect">
            <a:avLst>
              <a:gd fmla="val 16667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9972675" y="1781175"/>
            <a:ext cx="147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Minimize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9382125" y="2371725"/>
            <a:ext cx="21145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Remove bytes while preserving the failure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971550" y="3905250"/>
            <a:ext cx="10248900" cy="1104900"/>
          </a:xfrm>
          <a:prstGeom prst="roundRect">
            <a:avLst>
              <a:gd fmla="val 6897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1143000" y="4000500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crash-...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-minimize_crash=1 -exact_artifact_path=work/minimized-crash.pkt crash-...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952500" y="5429250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A minimized input makes the root cause easier to understand and easier to test later.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Crash minimization and corpus minimization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17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723900" y="1600200"/>
            <a:ext cx="4953000" cy="2476500"/>
          </a:xfrm>
          <a:prstGeom prst="roundRect">
            <a:avLst>
              <a:gd fmla="val 3077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723900" y="1600200"/>
            <a:ext cx="76200" cy="2476500"/>
          </a:xfrm>
          <a:prstGeom prst="roundRect">
            <a:avLst>
              <a:gd fmla="val 50000" name="adj"/>
            </a:avLst>
          </a:prstGeom>
          <a:solidFill>
            <a:srgbClr val="B64242"/>
          </a:solidFill>
          <a:ln cap="flat" cmpd="sng" w="9525">
            <a:solidFill>
              <a:srgbClr val="B6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952500" y="1733550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B64242"/>
                </a:solidFill>
                <a:latin typeface="Georgia"/>
                <a:ea typeface="Georgia"/>
                <a:cs typeface="Georgia"/>
                <a:sym typeface="Georgia"/>
              </a:rPr>
              <a:t>Crash minimization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952500" y="2114550"/>
            <a:ext cx="4552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Question: what is the smallest input that still causes this failure?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17232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Output: one compact crash trigger.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6515100" y="1600200"/>
            <a:ext cx="4953000" cy="2476500"/>
          </a:xfrm>
          <a:prstGeom prst="roundRect">
            <a:avLst>
              <a:gd fmla="val 3077" name="adj"/>
            </a:avLst>
          </a:prstGeom>
          <a:solidFill>
            <a:srgbClr val="F7FAFB"/>
          </a:solidFill>
          <a:ln cap="flat" cmpd="sng" w="9525">
            <a:solidFill>
              <a:srgbClr val="CF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6515100" y="1600200"/>
            <a:ext cx="76200" cy="2476500"/>
          </a:xfrm>
          <a:prstGeom prst="roundRect">
            <a:avLst>
              <a:gd fmla="val 50000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6743700" y="1733550"/>
            <a:ext cx="4552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16858C"/>
                </a:solidFill>
                <a:latin typeface="Georgia"/>
                <a:ea typeface="Georgia"/>
                <a:cs typeface="Georgia"/>
                <a:sym typeface="Georgia"/>
              </a:rPr>
              <a:t>Corpus minimization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6743700" y="2114550"/>
            <a:ext cx="4552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Question: what is the smallest set of inputs that preserves the corpus coverage?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17232D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Output: a smaller set of useful inputs.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1819275" y="4762500"/>
            <a:ext cx="8553450" cy="685800"/>
          </a:xfrm>
          <a:prstGeom prst="roundRect">
            <a:avLst>
              <a:gd fmla="val 11111" name="adj"/>
            </a:avLst>
          </a:prstGeom>
          <a:solidFill>
            <a:srgbClr val="F7FAFB"/>
          </a:solidFill>
          <a:ln cap="flat" cmpd="sng" w="9525">
            <a:solidFill>
              <a:srgbClr val="D4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1990725" y="4857750"/>
            <a:ext cx="8210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./fuzz_target -merge=1 work/min-corpus work/dict-corpus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8" name="Google Shape;468;p27"/>
          <p:cNvSpPr/>
          <p:nvPr/>
        </p:nvSpPr>
        <p:spPr>
          <a:xfrm>
            <a:off x="952500" y="5715000"/>
            <a:ext cx="10287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These operations solve different problems. We will demonstrate both.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/>
          <p:nvPr/>
        </p:nvSpPr>
        <p:spPr>
          <a:xfrm>
            <a:off x="609600" y="361950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Ungraded lab sequence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609600" y="1009650"/>
            <a:ext cx="10972800" cy="28575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609600" y="6477000"/>
            <a:ext cx="4953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8" name="Google Shape;478;p28"/>
          <p:cNvSpPr/>
          <p:nvPr/>
        </p:nvSpPr>
        <p:spPr>
          <a:xfrm>
            <a:off x="781050" y="1333500"/>
            <a:ext cx="1809750" cy="552450"/>
          </a:xfrm>
          <a:prstGeom prst="roundRect">
            <a:avLst>
              <a:gd fmla="val 13793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781050" y="13335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2952750" y="13335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make &amp;&amp; make test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781050" y="2209800"/>
            <a:ext cx="1809750" cy="552450"/>
          </a:xfrm>
          <a:prstGeom prst="roundRect">
            <a:avLst>
              <a:gd fmla="val 13793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781050" y="22098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Inspect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2952750" y="22098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packet.c and fuzz_target.c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781050" y="3086100"/>
            <a:ext cx="1809750" cy="552450"/>
          </a:xfrm>
          <a:prstGeom prst="roundRect">
            <a:avLst>
              <a:gd fmla="val 13793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781050" y="30861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Compare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6" name="Google Shape;486;p28"/>
          <p:cNvSpPr/>
          <p:nvPr/>
        </p:nvSpPr>
        <p:spPr>
          <a:xfrm>
            <a:off x="2952750" y="30861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blind mutation and libFuzzer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781050" y="3962400"/>
            <a:ext cx="1809750" cy="552450"/>
          </a:xfrm>
          <a:prstGeom prst="roundRect">
            <a:avLst>
              <a:gd fmla="val 13793" name="adj"/>
            </a:avLst>
          </a:prstGeom>
          <a:solidFill>
            <a:srgbClr val="183B5B"/>
          </a:solidFill>
          <a:ln cap="flat" cmpd="sng" w="9525">
            <a:solidFill>
              <a:srgbClr val="183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781050" y="39624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Guide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2952750" y="39624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add tokens.dict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781050" y="4838700"/>
            <a:ext cx="1809750" cy="552450"/>
          </a:xfrm>
          <a:prstGeom prst="roundRect">
            <a:avLst>
              <a:gd fmla="val 13793" name="adj"/>
            </a:avLst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1" name="Google Shape;491;p28"/>
          <p:cNvSpPr/>
          <p:nvPr/>
        </p:nvSpPr>
        <p:spPr>
          <a:xfrm>
            <a:off x="781050" y="4838700"/>
            <a:ext cx="180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Investigate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2952750" y="4838700"/>
            <a:ext cx="7810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17232D"/>
                </a:solidFill>
                <a:latin typeface="Georgia"/>
                <a:ea typeface="Georgia"/>
                <a:cs typeface="Georgia"/>
                <a:sym typeface="Georgia"/>
              </a:rPr>
              <a:t>replay and minimize the crash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914400" y="5838825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62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By the end, you should be able to explain why feedback, harness design, dictionaries, and sanitizers matter.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9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Ungraded lab sequence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0" name="Google Shape;500;p29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658825" y="1229800"/>
            <a:ext cx="10972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Commands: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-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No Fuzzing yet: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make clean; make packet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./packet &lt; seeds/basic.pkt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(or any you can try any other input here as well; see what happens)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-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Pass the Regression tests: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make test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It should print “normal-input tests passed”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Your fixed program should pass this 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regression</a:t>
            </a:r>
            <a:r>
              <a:rPr lang="en-US">
                <a:latin typeface="Spectral"/>
                <a:ea typeface="Spectral"/>
                <a:cs typeface="Spectral"/>
                <a:sym typeface="Spectral"/>
              </a:rPr>
              <a:t> test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-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ASan and Blind Fuzzer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make packet-asan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./packet-asan &lt; &lt;any input file&gt;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-"/>
            </a:pPr>
            <a:r>
              <a:rPr lang="en-US">
                <a:latin typeface="Spectral"/>
                <a:ea typeface="Spectral"/>
                <a:cs typeface="Spectral"/>
                <a:sym typeface="Spectral"/>
              </a:rPr>
              <a:t>python3 dumb_fuzz.py --runs 250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Font typeface="Spectral"/>
              <a:buChar char="-"/>
            </a:pPr>
            <a:r>
              <a:rPr lang="en-US">
                <a:solidFill>
                  <a:srgbClr val="38761D"/>
                </a:solidFill>
                <a:latin typeface="Spectral"/>
                <a:ea typeface="Spectral"/>
                <a:cs typeface="Spectral"/>
                <a:sym typeface="Spectral"/>
              </a:rPr>
              <a:t>crash/no crash/timeout</a:t>
            </a:r>
            <a:endParaRPr>
              <a:solidFill>
                <a:srgbClr val="38761D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Spectral"/>
              <a:buChar char="-"/>
            </a:pPr>
            <a:r>
              <a:rPr lang="en-US">
                <a:solidFill>
                  <a:srgbClr val="990000"/>
                </a:solidFill>
                <a:latin typeface="Spectral"/>
                <a:ea typeface="Spectral"/>
                <a:cs typeface="Spectral"/>
                <a:sym typeface="Spectral"/>
              </a:rPr>
              <a:t>New branch reached/useful input worth saving</a:t>
            </a:r>
            <a:endParaRPr>
              <a:solidFill>
                <a:srgbClr val="99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libFuzzer without the dictionary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make fuzz_target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make demo-reset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work/no-dict-corpus/, work/no-dict-artifacts/, work/dict-corpus/, work/dict-artifacts/, work/min-corpus/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./fuzz_target work/no-dict-corpus -artifact_prefix=work/no-dict-artifacts/ -max_total_time=15 -max_len=128 -timeout=2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find work/no-dict-corpus -maxdepth 1 -type f | wc -l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ls -l work/no-dict-artifacts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Ungraded lab sequence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658825" y="1229800"/>
            <a:ext cx="115074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Commands: 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No Fuzzing yet: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clean; make packet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./packet &lt; seeds/basic.pkt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(or any you can try any other input here as well; see what happens)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Pass the Regression tests: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test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It should print “normal-input tests passed”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Your fixed program should pass this regression test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ASan and Blind Fuzzer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packet-asan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./packet-asan &lt; &lt;any input file&gt;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python3 dumb_fuzz.py --runs 250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crash/no crash/timeout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New branch reached/useful input worth saving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libFuzzer with the dictionary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make demo-reset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work/no-dict-corpus/, work/no-dict-artifacts/, work/dict-corpus/, work/dict-artifacts/, work/min-corpus/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./fuzz_target work/dict-corpus -dict=tokens.dict -artifact_prefix=work/dict-artifacts/ -max_total_time=60 -max_len=128 -timeout=2</a:t>
            </a:r>
            <a:endParaRPr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Crash Minimization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crash_file=work/dict-artifacts/crash-*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wc -c "$crash_file"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./fuzz_target -minimize_crash=1 -exact_artifact_path=work/minimized-crash.pkt -max_total_time=30 "$crash_file"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/>
          <p:nvPr/>
        </p:nvSpPr>
        <p:spPr>
          <a:xfrm>
            <a:off x="609600" y="361950"/>
            <a:ext cx="9906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83B5B"/>
                </a:solidFill>
                <a:latin typeface="Georgia"/>
                <a:ea typeface="Georgia"/>
                <a:cs typeface="Georgia"/>
                <a:sym typeface="Georgia"/>
              </a:rPr>
              <a:t>Ungraded lab sequence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11049000" y="409575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1" name="Google Shape;521;p31"/>
          <p:cNvSpPr/>
          <p:nvPr/>
        </p:nvSpPr>
        <p:spPr>
          <a:xfrm>
            <a:off x="609600" y="1009650"/>
            <a:ext cx="10972800" cy="28500"/>
          </a:xfrm>
          <a:prstGeom prst="rect">
            <a:avLst/>
          </a:prstGeom>
          <a:solidFill>
            <a:srgbClr val="16858C"/>
          </a:solidFill>
          <a:ln cap="flat" cmpd="sng" w="9525">
            <a:solidFill>
              <a:srgbClr val="1685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609600" y="6477000"/>
            <a:ext cx="495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5">
                <a:solidFill>
                  <a:srgbClr val="56636D"/>
                </a:solidFill>
                <a:latin typeface="Georgia"/>
                <a:ea typeface="Georgia"/>
                <a:cs typeface="Georgia"/>
                <a:sym typeface="Georgia"/>
              </a:rPr>
              <a:t>CS 165  |  Ungraded Lab: Fuzzing Basics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3" name="Google Shape;523;p31"/>
          <p:cNvSpPr txBox="1"/>
          <p:nvPr/>
        </p:nvSpPr>
        <p:spPr>
          <a:xfrm>
            <a:off x="658825" y="1229800"/>
            <a:ext cx="115074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Commands: 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No Fuzzing yet: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clean; make packet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./packet &lt; seeds/basic.pkt</a:t>
            </a: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 (or any you can try any other input here as well; see what happens)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Pass the Regression tests: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test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It should print “normal-input tests passed”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Your fixed program should pass this regression test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ASan and Blind Fuzzer</a:t>
            </a:r>
            <a:endParaRPr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packet-asan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./packet-asan &lt; &lt;any input file&gt;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python3 dumb_fuzz.py --runs 250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crash/no crash/timeout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New branch reached/useful input worth saving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libFuzzer with the dictionary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make demo-reset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work/no-dict-corpus/, work/no-dict-artifacts/, work/dict-corpus/, work/dict-artifacts/, work/min-corpus/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pectral"/>
              <a:buChar char="-"/>
            </a:pPr>
            <a:r>
              <a:rPr lang="en-US">
                <a:solidFill>
                  <a:schemeClr val="lt2"/>
                </a:solidFill>
                <a:latin typeface="Spectral"/>
                <a:ea typeface="Spectral"/>
                <a:cs typeface="Spectral"/>
                <a:sym typeface="Spectral"/>
              </a:rPr>
              <a:t>./fuzz_target work/dict-corpus -dict=tokens.dict -artifact_prefix=work/dict-artifacts/ -max_total_time=60 -max_len=128 -timeout=2</a:t>
            </a:r>
            <a:endParaRPr>
              <a:solidFill>
                <a:schemeClr val="lt2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Corpus</a:t>
            </a: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Minimization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./fuzz_target -merge=1 work/min-corpus work/dict-corpus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Char char="-"/>
            </a:pPr>
            <a:r>
              <a:rPr lang="en-US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find work/min-corpus -maxdepth 1 -type f | wc -l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