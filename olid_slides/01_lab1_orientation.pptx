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with the lab goal. Do not solve any bug during this slide.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Walk through the workflow once. Students should return to this sequence whenever they get stuck.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Pause here until students have generated, built, and run a sample. These commands match the handout.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a harmless preparation example or a screenshot from the prep exercise during delivery. Do not display a solution to Lab 1.</a:t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Close with logistics. Remind students that they need to preserve their original trigger evidence before patching.</a:t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59caf5b9a2eab1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h559caf5b9a2eab1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h559caf5b9a2eab1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59caf5b9a2eab16_0_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h559caf5b9a2eab16_0_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2" name="Google Shape;132;h559caf5b9a2eab16_0_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559caf5b9a2eab1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h559caf5b9a2eab1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559caf5b9a2eab1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h559caf5b9a2eab1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59caf5b9a2eab1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h559caf5b9a2eab1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559caf5b9a2eab1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559caf5b9a2eab1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559caf5b9a2eab1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h559caf5b9a2eab1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559caf5b9a2eab1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h559caf5b9a2eab1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559caf5b9a2eab16_0_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h559caf5b9a2eab16_0_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9" name="Google Shape;199;h559caf5b9a2eab16_0_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559caf5b9a2eab16_0_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h559caf5b9a2eab16_0_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h559caf5b9a2eab16_0_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900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19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324F"/>
          </a:solidFill>
          <a:ln cap="flat" cmpd="sng" w="9525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38200" y="876300"/>
            <a:ext cx="285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15D7C"/>
                </a:solidFill>
                <a:latin typeface="Georgia"/>
                <a:ea typeface="Georgia"/>
                <a:cs typeface="Georgia"/>
                <a:sym typeface="Georgia"/>
              </a:rPr>
              <a:t>CS 165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838200" y="1381125"/>
            <a:ext cx="9715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Lab 1: Find, Trigger &amp; Fix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38200" y="2286000"/>
            <a:ext cx="904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56636F"/>
                </a:solidFill>
                <a:latin typeface="Georgia"/>
                <a:ea typeface="Georgia"/>
                <a:cs typeface="Georgia"/>
                <a:sym typeface="Georgia"/>
              </a:rPr>
              <a:t>A hands-on introduction to finding and fixing memory-safety bugs in C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38200" y="3190875"/>
            <a:ext cx="9620250" cy="19050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1144250" y="6448425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6636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685800" y="438150"/>
            <a:ext cx="10820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What You Will Do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5800" y="1076325"/>
            <a:ext cx="10820400" cy="28575"/>
          </a:xfrm>
          <a:prstGeom prst="rect">
            <a:avLst/>
          </a:prstGeom>
          <a:solidFill>
            <a:srgbClr val="315D7C"/>
          </a:solidFill>
          <a:ln cap="flat" cmpd="sng" w="9525">
            <a:solidFill>
              <a:srgbClr val="315D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876300" y="1428750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524000" y="14287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Generate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3333750" y="1447800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Create the instance tied to your student ID.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876300" y="22955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2.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524000" y="2295525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Build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3333750" y="2314575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Compile with AddressSanitizer and run a sample script.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76300" y="3162300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3.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524000" y="316230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Investigate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333750" y="3181350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Read the source and create an input that exposes one bug.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876300" y="402907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4.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524000" y="4029075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Fix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333750" y="4048125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Make a targeted change, then rerun the trigger and samples.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876300" y="4895850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5.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524000" y="48958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Submit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333750" y="4914900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Package your patched source, trigger files, and writeup.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76300" y="5962650"/>
            <a:ext cx="962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315D7C"/>
                </a:solidFill>
                <a:latin typeface="Georgia"/>
                <a:ea typeface="Georgia"/>
                <a:cs typeface="Georgia"/>
                <a:sym typeface="Georgia"/>
              </a:rPr>
              <a:t>Repeat the investigation and fix process for all five bugs.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1144250" y="6448425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6636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685800" y="438150"/>
            <a:ext cx="10820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Getting Started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85800" y="1076325"/>
            <a:ext cx="10820400" cy="28575"/>
          </a:xfrm>
          <a:prstGeom prst="rect">
            <a:avLst/>
          </a:prstGeom>
          <a:solidFill>
            <a:srgbClr val="315D7C"/>
          </a:solidFill>
          <a:ln cap="flat" cmpd="sng" w="9525">
            <a:solidFill>
              <a:srgbClr val="315D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38200" y="1476375"/>
            <a:ext cx="590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1. Generate your personal instance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38200" y="1933575"/>
            <a:ext cx="8972550" cy="552450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066800" y="2076450"/>
            <a:ext cx="833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python3 make_recman.py &lt;your-student-id&gt;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38200" y="2914650"/>
            <a:ext cx="590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2. Build with AddressSanitizer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838200" y="3371850"/>
            <a:ext cx="8972550" cy="552450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066800" y="3514725"/>
            <a:ext cx="833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make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38200" y="4352925"/>
            <a:ext cx="590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3. Run a benign sample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38200" y="4810125"/>
            <a:ext cx="8972550" cy="552450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066800" y="4953000"/>
            <a:ext cx="833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./recman tests/sample1.txt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838200" y="5838825"/>
            <a:ext cx="1019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Your main working files: recman.c, triggers/bug1.txt through triggers/bug5.txt, and writeup.md</a:t>
            </a:r>
            <a:endParaRPr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1144250" y="6448425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6636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685800" y="438150"/>
            <a:ext cx="10820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AddressSanitizer Reports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5800" y="1076325"/>
            <a:ext cx="10820400" cy="28575"/>
          </a:xfrm>
          <a:prstGeom prst="rect">
            <a:avLst/>
          </a:prstGeom>
          <a:solidFill>
            <a:srgbClr val="315D7C"/>
          </a:solidFill>
          <a:ln cap="flat" cmpd="sng" w="9525">
            <a:solidFill>
              <a:srgbClr val="315D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838200" y="1438275"/>
            <a:ext cx="990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When ASan stops the program, start with the first error it reports.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066800" y="2190750"/>
            <a:ext cx="2428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Error class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3733800" y="2190750"/>
            <a:ext cx="6762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Examples include stack-buffer-overflow and heap-use-after-free.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066800" y="2733675"/>
            <a:ext cx="9429750" cy="9525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066800" y="3019425"/>
            <a:ext cx="2428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Function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733800" y="3019425"/>
            <a:ext cx="6762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This identifies the code path that triggered the error.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066800" y="3562350"/>
            <a:ext cx="9429750" cy="9525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066800" y="3848100"/>
            <a:ext cx="2428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Source location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733800" y="3848100"/>
            <a:ext cx="6762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Use the file and line number to inspect the unsafe operation.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066800" y="4391025"/>
            <a:ext cx="9429750" cy="9525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066800" y="4676775"/>
            <a:ext cx="2428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Your input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733800" y="4676775"/>
            <a:ext cx="6762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Connect the command sequence to the failure in your writeup.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066800" y="5829300"/>
            <a:ext cx="8953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Save the relevant report lines before you patch the program.</a:t>
            </a:r>
            <a:endParaRPr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1144250" y="6448425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6636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685800" y="438150"/>
            <a:ext cx="10820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Checkpoints and Submission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85800" y="1076325"/>
            <a:ext cx="10820400" cy="28575"/>
          </a:xfrm>
          <a:prstGeom prst="rect">
            <a:avLst/>
          </a:prstGeom>
          <a:solidFill>
            <a:srgbClr val="315D7C"/>
          </a:solidFill>
          <a:ln cap="flat" cmpd="sng" w="9525">
            <a:solidFill>
              <a:srgbClr val="315D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838200" y="1438275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8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Before you leave the lab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885825" y="2076450"/>
            <a:ext cx="323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>
                <a:solidFill>
                  <a:srgbClr val="315D7C"/>
                </a:solidFill>
                <a:latin typeface="Georgia"/>
                <a:ea typeface="Georgia"/>
                <a:cs typeface="Georgia"/>
                <a:sym typeface="Georgia"/>
              </a:rPr>
              <a:t>□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1333500" y="2095500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Your program builds and the supplied samples run.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885825" y="2809875"/>
            <a:ext cx="323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>
                <a:solidFill>
                  <a:srgbClr val="315D7C"/>
                </a:solidFill>
                <a:latin typeface="Georgia"/>
                <a:ea typeface="Georgia"/>
                <a:cs typeface="Georgia"/>
                <a:sym typeface="Georgia"/>
              </a:rPr>
              <a:t>□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333500" y="28289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You can show a TA one real ASan crash from your generated build.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885825" y="3543300"/>
            <a:ext cx="323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>
                <a:solidFill>
                  <a:srgbClr val="315D7C"/>
                </a:solidFill>
                <a:latin typeface="Georgia"/>
                <a:ea typeface="Georgia"/>
                <a:cs typeface="Georgia"/>
                <a:sym typeface="Georgia"/>
              </a:rPr>
              <a:t>□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1333500" y="3562350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After each patch, the trigger no longer aborts and the samples still work.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38200" y="4476750"/>
            <a:ext cx="9906000" cy="19050"/>
          </a:xfrm>
          <a:prstGeom prst="rect">
            <a:avLst/>
          </a:prstGeom>
          <a:solidFill>
            <a:srgbClr val="EEF3F7"/>
          </a:solidFill>
          <a:ln cap="flat" cmpd="sng" w="9525">
            <a:solidFill>
              <a:srgbClr val="EE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838200" y="48387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324F"/>
                </a:solidFill>
                <a:latin typeface="Georgia"/>
                <a:ea typeface="Georgia"/>
                <a:cs typeface="Georgia"/>
                <a:sym typeface="Georgia"/>
              </a:rPr>
              <a:t>Submission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143250" y="4848225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Run </a:t>
            </a:r>
            <a:r>
              <a:rPr lang="en-US" sz="1275">
                <a:solidFill>
                  <a:srgbClr val="9900FF"/>
                </a:solidFill>
                <a:latin typeface="Georgia"/>
                <a:ea typeface="Georgia"/>
                <a:cs typeface="Georgia"/>
                <a:sym typeface="Georgia"/>
              </a:rPr>
              <a:t>make tar</a:t>
            </a:r>
            <a:r>
              <a:rPr lang="en-US" sz="1275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to create lab1-submission.tgz.</a:t>
            </a:r>
            <a:endParaRPr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838200" y="5372100"/>
            <a:ext cx="971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The archive contains </a:t>
            </a:r>
            <a:r>
              <a:rPr lang="en-US" sz="1275">
                <a:solidFill>
                  <a:srgbClr val="38761D"/>
                </a:solidFill>
                <a:latin typeface="Georgia"/>
                <a:ea typeface="Georgia"/>
                <a:cs typeface="Georgia"/>
                <a:sym typeface="Georgia"/>
              </a:rPr>
              <a:t>recman.c</a:t>
            </a: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, your </a:t>
            </a:r>
            <a:r>
              <a:rPr lang="en-US" sz="1275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trigger files</a:t>
            </a: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lang="en-US" sz="1275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writeup.md</a:t>
            </a:r>
            <a:r>
              <a:rPr lang="en-US" sz="1275">
                <a:solidFill>
                  <a:srgbClr val="1D273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1144250" y="6448425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6636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685800" y="438150"/>
            <a:ext cx="108204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Memory Addresses and the Stack</a:t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685800" y="1076325"/>
            <a:ext cx="10820400" cy="28500"/>
          </a:xfrm>
          <a:prstGeom prst="rect">
            <a:avLst/>
          </a:prstGeom>
          <a:solidFill>
            <a:srgbClr val="4A789B"/>
          </a:solidFill>
          <a:ln cap="flat" cmpd="sng" w="9525">
            <a:solidFill>
              <a:srgbClr val="4A7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11144250" y="64484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838200" y="139065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The stack holds the active function calls in a running program.</a:t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1381125" y="19621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Course model: Linux on x86-64</a:t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1238250" y="2400300"/>
            <a:ext cx="18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higher addresses</a:t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1238250" y="5286375"/>
            <a:ext cx="18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lower addresses</a:t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3238500" y="2362200"/>
            <a:ext cx="3048000" cy="3333900"/>
          </a:xfrm>
          <a:prstGeom prst="rect">
            <a:avLst/>
          </a:prstGeom>
          <a:solidFill>
            <a:srgbClr val="F5F8FA"/>
          </a:solidFill>
          <a:ln cap="flat" cmpd="sng" w="14275">
            <a:solidFill>
              <a:srgbClr val="153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3524250" y="2667000"/>
            <a:ext cx="24765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5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3600450" y="2733675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Earlier stack data</a:t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524250" y="3238500"/>
            <a:ext cx="2476500" cy="8763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3600450" y="3305175"/>
            <a:ext cx="2324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Current function frame</a:t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3524250" y="4400550"/>
            <a:ext cx="2476500" cy="28500"/>
          </a:xfrm>
          <a:prstGeom prst="rect">
            <a:avLst/>
          </a:prstGeom>
          <a:solidFill>
            <a:srgbClr val="15344F"/>
          </a:solidFill>
          <a:ln cap="flat" cmpd="sng" w="9525">
            <a:solidFill>
              <a:srgbClr val="153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3476625" y="4495800"/>
            <a:ext cx="25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stack pointer: boundary of active stack</a:t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7191375" y="2762250"/>
            <a:ext cx="3333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When a function needs more stack space, the stack grows toward lower addresses.</a:t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7191375" y="3771900"/>
            <a:ext cx="3333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In this course, “above” means a higher address and “below” means a lower address. A compiler can arrange details differently, but the boundary rule for an array never changes.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685800" y="438150"/>
            <a:ext cx="108204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A Function Call Creates a Stack Frame</a:t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685800" y="1076325"/>
            <a:ext cx="10820400" cy="28500"/>
          </a:xfrm>
          <a:prstGeom prst="rect">
            <a:avLst/>
          </a:prstGeom>
          <a:solidFill>
            <a:srgbClr val="4A789B"/>
          </a:solidFill>
          <a:ln cap="flat" cmpd="sng" w="9525">
            <a:solidFill>
              <a:srgbClr val="4A7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11144250" y="64484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38200" y="1390650"/>
            <a:ext cx="10191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Each active function has its own frame. A called function receives a new frame below its caller.</a:t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838200" y="2143125"/>
            <a:ext cx="3524400" cy="1809600"/>
          </a:xfrm>
          <a:prstGeom prst="rect">
            <a:avLst/>
          </a:prstGeom>
          <a:solidFill>
            <a:srgbClr val="F2F5F7"/>
          </a:solidFill>
          <a:ln cap="flat" cmpd="sng" w="9525">
            <a:solidFill>
              <a:srgbClr val="D5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1104900" y="2371725"/>
            <a:ext cx="29910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int main(void)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    greet("Ada");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    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5676900" y="2095500"/>
            <a:ext cx="238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Before greet runs</a:t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5314950" y="2476500"/>
            <a:ext cx="2571900" cy="2286000"/>
          </a:xfrm>
          <a:prstGeom prst="rect">
            <a:avLst/>
          </a:prstGeom>
          <a:solidFill>
            <a:srgbClr val="F5F8FA"/>
          </a:solidFill>
          <a:ln cap="flat" cmpd="sng" w="14275">
            <a:solidFill>
              <a:srgbClr val="153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5581650" y="3143250"/>
            <a:ext cx="2038500" cy="7431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5657850" y="3209925"/>
            <a:ext cx="18861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main frame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9096375" y="2095500"/>
            <a:ext cx="238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While greet runs</a:t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8715375" y="2476500"/>
            <a:ext cx="2571900" cy="3143400"/>
          </a:xfrm>
          <a:prstGeom prst="rect">
            <a:avLst/>
          </a:prstGeom>
          <a:solidFill>
            <a:srgbClr val="F5F8FA"/>
          </a:solidFill>
          <a:ln cap="flat" cmpd="sng" w="14275">
            <a:solidFill>
              <a:srgbClr val="153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8982075" y="2781300"/>
            <a:ext cx="20385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5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9058275" y="2847975"/>
            <a:ext cx="188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main frame</a:t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8982075" y="3429000"/>
            <a:ext cx="2038500" cy="9525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9058275" y="3495675"/>
            <a:ext cx="1886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greet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local variables</a:t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8982075" y="4381500"/>
            <a:ext cx="20385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5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9058275" y="4448175"/>
            <a:ext cx="188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saved return information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5286375" y="5924550"/>
            <a:ext cx="6000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When greet returns, its frame disappears and main continues.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-US"/>
              <a:t>Program Memory Layout</a:t>
            </a:r>
            <a:endParaRPr/>
          </a:p>
        </p:txBody>
      </p:sp>
      <p:sp>
        <p:nvSpPr>
          <p:cNvPr id="158" name="Google Shape;158;p11"/>
          <p:cNvSpPr txBox="1"/>
          <p:nvPr>
            <p:ph idx="1" type="body"/>
          </p:nvPr>
        </p:nvSpPr>
        <p:spPr>
          <a:xfrm>
            <a:off x="415600" y="1536633"/>
            <a:ext cx="5680500" cy="5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Text segment : stores executable program</a:t>
            </a:r>
            <a:endParaRPr/>
          </a:p>
          <a:p>
            <a:pPr indent="-425450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executable </a:t>
            </a:r>
            <a:endParaRPr/>
          </a:p>
          <a:p>
            <a:pPr indent="-425450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Read - only</a:t>
            </a:r>
            <a:endParaRPr/>
          </a:p>
          <a:p>
            <a:pPr indent="-4572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Data segment: static/global variables initialized by programmer</a:t>
            </a:r>
            <a:endParaRPr/>
          </a:p>
          <a:p>
            <a:pPr indent="-4572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BSS (block started by symbol) segment:</a:t>
            </a:r>
            <a:endParaRPr/>
          </a:p>
          <a:p>
            <a:pPr indent="-425450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Stores uninitialized global/static variables</a:t>
            </a:r>
            <a:endParaRPr/>
          </a:p>
          <a:p>
            <a:pPr indent="-4572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Heap : Provides space for dynamic memory allocation</a:t>
            </a:r>
            <a:endParaRPr/>
          </a:p>
          <a:p>
            <a:pPr indent="-4572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Stack</a:t>
            </a:r>
            <a:endParaRPr b="1"/>
          </a:p>
        </p:txBody>
      </p:sp>
      <p:pic>
        <p:nvPicPr>
          <p:cNvPr id="159" name="Google Shape;1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60167"/>
            <a:ext cx="5689600" cy="421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-US"/>
              <a:t>Program Memory Layout</a:t>
            </a:r>
            <a:endParaRPr/>
          </a:p>
        </p:txBody>
      </p:sp>
      <p:sp>
        <p:nvSpPr>
          <p:cNvPr id="165" name="Google Shape;165;p12"/>
          <p:cNvSpPr txBox="1"/>
          <p:nvPr>
            <p:ph idx="1" type="body"/>
          </p:nvPr>
        </p:nvSpPr>
        <p:spPr>
          <a:xfrm>
            <a:off x="415600" y="1536633"/>
            <a:ext cx="5680500" cy="5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Stack</a:t>
            </a:r>
            <a:endParaRPr b="1"/>
          </a:p>
          <a:p>
            <a:pPr indent="-425450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Stores data for function calls</a:t>
            </a:r>
            <a:endParaRPr/>
          </a:p>
          <a:p>
            <a:pPr indent="-425450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Stores local variables </a:t>
            </a:r>
            <a:endParaRPr/>
          </a:p>
          <a:p>
            <a:pPr indent="-425450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By default non-executable</a:t>
            </a:r>
            <a:endParaRPr/>
          </a:p>
        </p:txBody>
      </p:sp>
      <p:pic>
        <p:nvPicPr>
          <p:cNvPr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60167"/>
            <a:ext cx="5689600" cy="421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-US"/>
              <a:t>Program Memory Layout</a:t>
            </a:r>
            <a:endParaRPr/>
          </a:p>
        </p:txBody>
      </p:sp>
      <p:pic>
        <p:nvPicPr>
          <p:cNvPr id="172" name="Google Shape;1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60167"/>
            <a:ext cx="5689600" cy="4215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560167"/>
            <a:ext cx="5994399" cy="379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-US"/>
              <a:t>Stack and Function Invocation</a:t>
            </a:r>
            <a:endParaRPr/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8336" y="1907600"/>
            <a:ext cx="6338064" cy="393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474567"/>
            <a:ext cx="4203700" cy="25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-US"/>
              <a:t>Stack and Function Invocation</a:t>
            </a:r>
            <a:endParaRPr/>
          </a:p>
        </p:txBody>
      </p:sp>
      <p:pic>
        <p:nvPicPr>
          <p:cNvPr id="186" name="Google Shape;1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61" y="1550333"/>
            <a:ext cx="2902033" cy="1744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0333" y="1399600"/>
            <a:ext cx="4779666" cy="29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498267"/>
            <a:ext cx="4195097" cy="3156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-US"/>
              <a:t>Buffer Overflow</a:t>
            </a:r>
            <a:endParaRPr/>
          </a:p>
        </p:txBody>
      </p:sp>
      <p:pic>
        <p:nvPicPr>
          <p:cNvPr id="194" name="Google Shape;1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00" y="1560167"/>
            <a:ext cx="6111933" cy="344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1167" y="1560167"/>
            <a:ext cx="4897633" cy="33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685800" y="438150"/>
            <a:ext cx="108204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What char buf[10] Creates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685800" y="1076325"/>
            <a:ext cx="10820400" cy="28500"/>
          </a:xfrm>
          <a:prstGeom prst="rect">
            <a:avLst/>
          </a:prstGeom>
          <a:solidFill>
            <a:srgbClr val="4A789B"/>
          </a:solidFill>
          <a:ln cap="flat" cmpd="sng" w="9525">
            <a:solidFill>
              <a:srgbClr val="4A7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11144250" y="64484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838200" y="139065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This declaration reserves ten consecutive bytes inside the current stack frame.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838200" y="2038350"/>
            <a:ext cx="3143400" cy="819300"/>
          </a:xfrm>
          <a:prstGeom prst="rect">
            <a:avLst/>
          </a:prstGeom>
          <a:solidFill>
            <a:srgbClr val="F2F5F7"/>
          </a:solidFill>
          <a:ln cap="flat" cmpd="sng" w="9525">
            <a:solidFill>
              <a:srgbClr val="D5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1104900" y="2266950"/>
            <a:ext cx="26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char buf[10];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5715000" y="2095500"/>
            <a:ext cx="447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Each cell holds one char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224790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232410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buf[0]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224790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+0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295275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302895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buf[1]</a:t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295275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+1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365760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373380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buf[2]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365760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+2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436245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443865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buf[3]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436245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+3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506730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514350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buf[4]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506730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+4</a:t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577215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584835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buf[5]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577215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+5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647700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655320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buf[6]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647700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+6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718185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725805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buf[7]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718185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+7</a:t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788670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796290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buf[8]</a:t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788670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+8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8591550" y="3429000"/>
            <a:ext cx="705000" cy="6669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8667750" y="349567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buf[9]</a:t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8591550" y="4229100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+9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2190750" y="4591050"/>
            <a:ext cx="1047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first element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7781925" y="4591050"/>
            <a:ext cx="1428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last valid element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1381125" y="5334000"/>
            <a:ext cx="9429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9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A C string needs one extra byte for its terminating '\0'. Therefore buf can hold at most nine visible characters as a string.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>
            <a:off x="685800" y="438150"/>
            <a:ext cx="108204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How a Stack Buffer Overflow Happens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685800" y="1076325"/>
            <a:ext cx="10820400" cy="28500"/>
          </a:xfrm>
          <a:prstGeom prst="rect">
            <a:avLst/>
          </a:prstGeom>
          <a:solidFill>
            <a:srgbClr val="4A789B"/>
          </a:solidFill>
          <a:ln cap="flat" cmpd="sng" w="9525">
            <a:solidFill>
              <a:srgbClr val="4A7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11144250" y="64484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838200" y="139065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An overflow occurs when a copy writes beyond the last byte reserved for the array.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838200" y="2076450"/>
            <a:ext cx="4333800" cy="1190700"/>
          </a:xfrm>
          <a:prstGeom prst="rect">
            <a:avLst/>
          </a:prstGeom>
          <a:solidFill>
            <a:srgbClr val="F2F5F7"/>
          </a:solidFill>
          <a:ln cap="flat" cmpd="sng" w="9525">
            <a:solidFill>
              <a:srgbClr val="D5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1104900" y="2305050"/>
            <a:ext cx="38004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char buf[10];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strcpy(buf, "AAAAAAAAAA");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933450" y="3590925"/>
            <a:ext cx="4143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2">
                <a:solidFill>
                  <a:srgbClr val="B94A48"/>
                </a:solidFill>
                <a:latin typeface="Georgia"/>
                <a:ea typeface="Georgia"/>
                <a:cs typeface="Georgia"/>
                <a:sym typeface="Georgia"/>
              </a:rPr>
              <a:t>10 visible characters + '\0' = 11 bytes copied</a:t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6486525" y="2133600"/>
            <a:ext cx="390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5344F"/>
                </a:solidFill>
                <a:latin typeface="Georgia"/>
                <a:ea typeface="Georgia"/>
                <a:cs typeface="Georgia"/>
                <a:sym typeface="Georgia"/>
              </a:rPr>
              <a:t>Only 10 bytes exist inside buf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611505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619125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611505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651510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659130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651510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691515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699135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691515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731520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739140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731520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771525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779145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771525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811530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819150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811530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851535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859155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851535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891540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899160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891540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931545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939165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931545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9715500" y="2952750"/>
            <a:ext cx="400200" cy="705000"/>
          </a:xfrm>
          <a:prstGeom prst="rect">
            <a:avLst/>
          </a:prstGeom>
          <a:solidFill>
            <a:srgbClr val="EAF0F4"/>
          </a:solidFill>
          <a:ln cap="flat" cmpd="sng" w="9525">
            <a:solidFill>
              <a:srgbClr val="87A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9791700" y="3019425"/>
            <a:ext cx="247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">
                <a:solidFill>
                  <a:srgbClr val="26374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9715500" y="3752850"/>
            <a:ext cx="400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64717C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10248900" y="2952750"/>
            <a:ext cx="762000" cy="705000"/>
          </a:xfrm>
          <a:prstGeom prst="rect">
            <a:avLst/>
          </a:prstGeom>
          <a:solidFill>
            <a:srgbClr val="FCEDEC"/>
          </a:solidFill>
          <a:ln cap="flat" cmpd="sng" w="14275">
            <a:solidFill>
              <a:srgbClr val="B94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10325100" y="3019425"/>
            <a:ext cx="609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B94A48"/>
                </a:solidFill>
                <a:latin typeface="Georgia"/>
                <a:ea typeface="Georgia"/>
                <a:cs typeface="Georgia"/>
                <a:sym typeface="Georgia"/>
              </a:rPr>
              <a:t>\0</a:t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10248900" y="3752850"/>
            <a:ext cx="762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">
                <a:solidFill>
                  <a:srgbClr val="B94A48"/>
                </a:solidFill>
                <a:latin typeface="Georgia"/>
                <a:ea typeface="Georgia"/>
                <a:cs typeface="Georgia"/>
                <a:sym typeface="Georgia"/>
              </a:rPr>
              <a:t>byte 11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10172700" y="4200525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B94A48"/>
                </a:solidFill>
                <a:latin typeface="Georgia"/>
                <a:ea typeface="Georgia"/>
                <a:cs typeface="Georgia"/>
                <a:sym typeface="Georgia"/>
              </a:rPr>
              <a:t>outside buf</a:t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6115050" y="3905250"/>
            <a:ext cx="4000500" cy="19200"/>
          </a:xfrm>
          <a:prstGeom prst="rect">
            <a:avLst/>
          </a:prstGeom>
          <a:solidFill>
            <a:srgbClr val="15344F"/>
          </a:solidFill>
          <a:ln cap="flat" cmpd="sng" w="9525">
            <a:solidFill>
              <a:srgbClr val="153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1333500" y="52197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>
                <a:solidFill>
                  <a:srgbClr val="B94A48"/>
                </a:solidFill>
                <a:latin typeface="Georgia"/>
                <a:ea typeface="Georgia"/>
                <a:cs typeface="Georgia"/>
                <a:sym typeface="Georgia"/>
              </a:rPr>
              <a:t>The extra '\0' byte writes into nearby stack memory. The exact neighbor depends on the compiler, but the write is always outside buf.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